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tup" id="{95fc16fd-ce29-9234-b6f5-8a3c8693038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4028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000" b="1" dirty="0">
                <a:solidFill>
                  <a:schemeClr val="tx1"/>
                </a:solidFill>
              </a:rPr>
              <a:t> 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8778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 </a:t>
            </a: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71600" y="2788920"/>
            <a:ext cx="9509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 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417320" y="3794760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621792" y="6364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586B"/>
                </a:solidFill>
              </a:rPr>
              <a:t>PCMCI+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setup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Three sensors on a reactor cooling loop, read once a minute for 300 minutes. We generated the data, so the true graph is known from the start.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THE THREE SENSORS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2286000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34086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coolant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688336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7340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reactor temperature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3090672"/>
            <a:ext cx="310896" cy="31089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4553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136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vessel pressure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HOW THE DATA WAS MADE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286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F(t)  =  0.60 F(t−1)                + 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651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2B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T(t)  =  0.65 T(t−1) + 0.50 F(t−1) + ε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17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P(t)  =  0.80 T(t)                  + ε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346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ε is fresh noise, independent across sensors and across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" y="3767328"/>
            <a:ext cx="6949440" cy="2240280"/>
          </a:xfrm>
          <a:prstGeom prst="roundRect">
            <a:avLst>
              <a:gd name="adj" fmla="val 4082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DDC97"/>
                </a:solidFill>
              </a:rPr>
              <a:t>THE TRUE GRAPH — FOUR LINKS, WHICH THE ALGORITHM MUST REDISCOVER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395728" y="4480560"/>
            <a:ext cx="1234440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41648" y="4480560"/>
            <a:ext cx="1234440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389069" y="4531889"/>
            <a:ext cx="1248060" cy="329349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34989" y="4531889"/>
            <a:ext cx="1248060" cy="329349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395728" y="4914900"/>
            <a:ext cx="1234440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041648" y="4914900"/>
            <a:ext cx="1234440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840480" y="5116068"/>
            <a:ext cx="0" cy="2286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5116068"/>
            <a:ext cx="0" cy="2286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02996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2996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02996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2996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2996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2996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7588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7588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7588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7588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7588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67588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321808" y="431596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21808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21808" y="475030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21808" y="47503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321808" y="5184648"/>
            <a:ext cx="329184" cy="329184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321808" y="5184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5623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 → F and T → T one minute later, F → T one minute later, and T → P inside the same minute.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63840" y="3767328"/>
            <a:ext cx="3685032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56448" y="3950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SETTINGS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8156448" y="42976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3DF"/>
                </a:solidFill>
              </a:rPr>
              <a:t>τmax = 2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156448" y="44988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look back at most two minutes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8156448" y="4709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3DF"/>
                </a:solidFill>
              </a:rPr>
              <a:t>N = 300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156448" y="491032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rows of data, 298 usable after cutting the lag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8156448" y="5120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3DF"/>
                </a:solidFill>
              </a:rPr>
              <a:t>α = 0.01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8156448" y="532180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link is cut when the test cannot reject independence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8156448" y="5532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3DF"/>
                </a:solidFill>
              </a:rPr>
              <a:t>partial correlation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8156448" y="573328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dependence measure used in every test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pair we will follow: T and P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slide from here shows where this one pair stands. At the start the algorithm knows none of this.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852160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WHAT THE ALGORITHM STARTS WITH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67328" y="2834640"/>
            <a:ext cx="128016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3740125" y="2951472"/>
            <a:ext cx="1335573" cy="6849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3692793" y="3017959"/>
            <a:ext cx="1431991" cy="14687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984248" y="2834640"/>
            <a:ext cx="306324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1976511" y="2898232"/>
            <a:ext cx="3079000" cy="789487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1957045" y="2951472"/>
            <a:ext cx="3118653" cy="15993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740125" y="2947299"/>
            <a:ext cx="1335573" cy="6849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767328" y="3749040"/>
            <a:ext cx="128016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3740125" y="3865872"/>
            <a:ext cx="1335573" cy="6849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976511" y="2895961"/>
            <a:ext cx="3079000" cy="789487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984248" y="3749040"/>
            <a:ext cx="306324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976511" y="3812632"/>
            <a:ext cx="3079000" cy="789487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692793" y="3011412"/>
            <a:ext cx="1431991" cy="14687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740125" y="3861699"/>
            <a:ext cx="1335573" cy="684909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67328" y="4663440"/>
            <a:ext cx="128016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957045" y="2947299"/>
            <a:ext cx="3118653" cy="1599309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976511" y="3810361"/>
            <a:ext cx="3079000" cy="789487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84248" y="4663440"/>
            <a:ext cx="3063240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303520" y="3081528"/>
            <a:ext cx="0" cy="41148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303520" y="3995928"/>
            <a:ext cx="0" cy="411480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303520" y="3081528"/>
            <a:ext cx="0" cy="132588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52704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2704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52704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2704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527048" y="44531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2704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1012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1012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1012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1012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310128" y="44531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1012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093208" y="2624328"/>
            <a:ext cx="420624" cy="420624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93208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093208" y="35387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93208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093208" y="4453128"/>
            <a:ext cx="420624" cy="420624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09320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914400" y="50292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Every node at every past lag is a candidate cause of every present node. The three amber arrows are the ones that involve T and P.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812280" y="1691640"/>
            <a:ext cx="4736592" cy="4023360"/>
          </a:xfrm>
          <a:prstGeom prst="roundRect">
            <a:avLst>
              <a:gd name="adj" fmla="val 2273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104888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WHAT THE ALGORITHM MUST WORK OUT ABOUT THIS PAIR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104888" y="2487168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315200" y="26151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6B6B"/>
                </a:solidFill>
              </a:rPr>
              <a:t>Cut  T(t−1) → P(t)</a:t>
            </a:r>
            <a:endParaRPr lang="en-US" sz="1450" dirty="0"/>
          </a:p>
        </p:txBody>
      </p:sp>
      <p:sp>
        <p:nvSpPr>
          <p:cNvPr id="53" name="Text 51"/>
          <p:cNvSpPr txBox="1"/>
          <p:nvPr/>
        </p:nvSpPr>
        <p:spPr>
          <a:xfrm>
            <a:off x="7315200" y="291693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Their plain correlation is 0.617, which looks like a strong lagged cause. It is not one.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04888" y="35661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3DDC97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0" y="36941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DDC97"/>
                </a:solidFill>
              </a:rPr>
              <a:t>Keep  T(t) — P(t)</a:t>
            </a:r>
            <a:endParaRPr lang="en-US" sz="1450" dirty="0"/>
          </a:p>
        </p:txBody>
      </p:sp>
      <p:sp>
        <p:nvSpPr>
          <p:cNvPr id="56" name="Text 54"/>
          <p:cNvSpPr txBox="1"/>
          <p:nvPr/>
        </p:nvSpPr>
        <p:spPr>
          <a:xfrm>
            <a:off x="7315200" y="39959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The only real link between the two sensors, and it acts inside a single minute.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104888" y="4645152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6510">
            <a:solidFill>
              <a:srgbClr val="9B8C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315200" y="4773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9B8CFF"/>
                </a:solidFill>
              </a:rPr>
              <a:t>Point it  T(t) → P(t)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7315200" y="50749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Surviving a test gives an edge, not an arrow. Direction comes last.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algorithm in four pictures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estimation parts, then orientation. Each stage removes something from the picture before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EVERY CANDIDATE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01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80260" y="2651760"/>
            <a:ext cx="4251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 flipV="1">
            <a:off x="2050214" y="2757215"/>
            <a:ext cx="486791" cy="31989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2008118" y="2804578"/>
            <a:ext cx="573087" cy="75320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280160" y="2651760"/>
            <a:ext cx="12252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 flipV="1">
            <a:off x="1271022" y="2711701"/>
            <a:ext cx="1244029" cy="40875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 flipV="1">
            <a:off x="1250114" y="2757215"/>
            <a:ext cx="1286891" cy="84567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50214" y="2752194"/>
            <a:ext cx="486791" cy="31989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080260" y="3177540"/>
            <a:ext cx="4251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050214" y="3282995"/>
            <a:ext cx="486791" cy="31989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271022" y="2708847"/>
            <a:ext cx="1244029" cy="40875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80160" y="3177540"/>
            <a:ext cx="12252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1271022" y="3237481"/>
            <a:ext cx="1244029" cy="40875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008118" y="2797301"/>
            <a:ext cx="573087" cy="75320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50214" y="3277974"/>
            <a:ext cx="486791" cy="31989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080260" y="3703320"/>
            <a:ext cx="4251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250114" y="2752194"/>
            <a:ext cx="1286891" cy="84567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71022" y="3234627"/>
            <a:ext cx="1244029" cy="40875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280160" y="3703320"/>
            <a:ext cx="12252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697480" y="2834640"/>
            <a:ext cx="0" cy="15087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697480" y="3360420"/>
            <a:ext cx="0" cy="15087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697480" y="2834640"/>
            <a:ext cx="0" cy="67665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509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509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09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09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09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509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7510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7510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7510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7510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7510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7510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551176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551176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551176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55117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551176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551176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86384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Nothing has been ruled out. 21 possible links.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300984" y="301752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38144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639312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B8CFF"/>
                </a:solidFill>
              </a:rPr>
              <a:t>AFTER PART 1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896612" y="2651760"/>
            <a:ext cx="4251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866566" y="2752194"/>
            <a:ext cx="486791" cy="31989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4896612" y="3177540"/>
            <a:ext cx="425196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4824470" y="2797301"/>
            <a:ext cx="573087" cy="753201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4866566" y="3277974"/>
            <a:ext cx="486791" cy="319891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5513832" y="2834640"/>
            <a:ext cx="0" cy="15087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5513832" y="3360420"/>
            <a:ext cx="0" cy="15087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5513832" y="2834640"/>
            <a:ext cx="0" cy="67665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37673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7673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7673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673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7673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37673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5674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5674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674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674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5674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674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5367528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367528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367528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367528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367528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367528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3602736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short lagged parent list per target. Same-instant links are untouched — part 1 never looks at them.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117336" y="301752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54496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455664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3DDC97"/>
                </a:solidFill>
              </a:rPr>
              <a:t>AFTER PART 2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7712964" y="2651760"/>
            <a:ext cx="425196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682918" y="2752194"/>
            <a:ext cx="486791" cy="319891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12964" y="3177540"/>
            <a:ext cx="425196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30184" y="3360420"/>
            <a:ext cx="0" cy="15087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5836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5836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65836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5836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5836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5836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73837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3837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73837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3837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73837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3837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183880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1838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8183880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8183880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183880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18388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419088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Survivors of the MCI test. Adjacencies only, still no arrowheads.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933688" y="301752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070848" y="1627632"/>
            <a:ext cx="2606040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927201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2B33D"/>
                </a:solidFill>
              </a:rPr>
              <a:t>AFTER ORIENTATION</a:t>
            </a:r>
            <a:endParaRPr lang="en-US" sz="1150" dirty="0"/>
          </a:p>
        </p:txBody>
      </p:sp>
      <p:sp>
        <p:nvSpPr>
          <p:cNvPr id="108" name="Shape 106"/>
          <p:cNvSpPr/>
          <p:nvPr/>
        </p:nvSpPr>
        <p:spPr>
          <a:xfrm>
            <a:off x="10529316" y="2651760"/>
            <a:ext cx="425196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10499270" y="2752194"/>
            <a:ext cx="486791" cy="319891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10529316" y="3177540"/>
            <a:ext cx="425196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11146536" y="3360420"/>
            <a:ext cx="0" cy="15087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94000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94000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94000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4000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94000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94000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102001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102001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102001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2001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102001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02001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11000232" y="250545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1000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11000232" y="303123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11000232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11000232" y="3557016"/>
            <a:ext cx="292608" cy="292608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1000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23544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 orients the lagged links, one triple settles the last edge.</a:t>
            </a:r>
            <a:endParaRPr lang="en-US" sz="1200" dirty="0"/>
          </a:p>
        </p:txBody>
      </p:sp>
      <p:sp>
        <p:nvSpPr>
          <p:cNvPr id="131" name="Shape 129"/>
          <p:cNvSpPr/>
          <p:nvPr/>
        </p:nvSpPr>
        <p:spPr>
          <a:xfrm>
            <a:off x="621792" y="562356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22960" y="575157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amber marks T and P. The lagged arrow T(t−1) → P(t) survives part 1, dies in part 2, and the same-instant edge is the one that finally gets an arrowhead.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test, drawn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removal in the whole algorithm is this picture. Only the contents of Z change.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4206240" cy="411480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WHAT THE TEST DOES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C3DF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16736" y="220370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Pick a pair of columns, X and Y, and a set of other columns called Z.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C3DF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07238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From X, strip out everything the columns in Z can predict. Do the same to 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C3DF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316736" y="394106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Correlate the two leftovers. That number is the partial correlation.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FC3DF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80974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Near zero means Z explained the whole relationship, so the link is cut and this Z is kept as the pair’s separating set.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20640" y="1627632"/>
            <a:ext cx="31089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BEFORE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40680" y="2286000"/>
            <a:ext cx="1325880" cy="1051560"/>
          </a:xfrm>
          <a:prstGeom prst="ellipse">
            <a:avLst/>
          </a:prstGeom>
          <a:solidFill>
            <a:srgbClr val="6FC3DF">
              <a:alpha val="28000"/>
            </a:srgbClr>
          </a:solidFill>
          <a:ln w="20320">
            <a:solidFill>
              <a:srgbClr val="6FC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2286000"/>
            <a:ext cx="1325880" cy="1051560"/>
          </a:xfrm>
          <a:prstGeom prst="ellipse">
            <a:avLst/>
          </a:prstGeom>
          <a:solidFill>
            <a:srgbClr val="F2B33D">
              <a:alpha val="28000"/>
            </a:srgbClr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FC3DF"/>
                </a:solidFill>
              </a:rPr>
              <a:t>X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B33D"/>
                </a:solidFill>
              </a:rPr>
              <a:t>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shared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458200" y="1627632"/>
            <a:ext cx="3090672" cy="1920240"/>
          </a:xfrm>
          <a:prstGeom prst="roundRect">
            <a:avLst>
              <a:gd name="adj" fmla="val 4762"/>
            </a:avLst>
          </a:prstGeom>
          <a:solidFill>
            <a:srgbClr val="251D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3252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F6B6B"/>
                </a:solidFill>
              </a:rPr>
              <a:t>NOTHING LEFT  →  CUT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915400" y="2331720"/>
            <a:ext cx="1005840" cy="914400"/>
          </a:xfrm>
          <a:prstGeom prst="ellipse">
            <a:avLst/>
          </a:prstGeom>
          <a:solidFill>
            <a:srgbClr val="6FC3DF">
              <a:alpha val="20000"/>
            </a:srgbClr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49840" y="2331720"/>
            <a:ext cx="1005840" cy="914400"/>
          </a:xfrm>
          <a:prstGeom prst="ellipse">
            <a:avLst/>
          </a:prstGeom>
          <a:solidFill>
            <a:srgbClr val="F2B33D">
              <a:alpha val="20000"/>
            </a:srgbClr>
          </a:solidFill>
          <a:ln w="17780">
            <a:solidFill>
              <a:srgbClr val="F2B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32520" y="32918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6B"/>
                </a:solidFill>
              </a:rPr>
              <a:t>write Z down as the separating 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3822192"/>
            <a:ext cx="310896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9496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8B97A8"/>
                </a:solidFill>
              </a:rPr>
              <a:t>CUTTING AWAY Z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5262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C3DF"/>
                </a:solidFill>
              </a:rPr>
              <a:t>X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669280" y="448056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6FC3DF">
              <a:alpha val="45000"/>
            </a:srgbClr>
          </a:solidFill>
          <a:ln w="12700">
            <a:solidFill>
              <a:srgbClr val="6FC3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24144" y="4544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explained by 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32320" y="4480560"/>
            <a:ext cx="914400" cy="347472"/>
          </a:xfrm>
          <a:prstGeom prst="roundRect">
            <a:avLst>
              <a:gd name="adj" fmla="val 18421"/>
            </a:avLst>
          </a:prstGeom>
          <a:solidFill>
            <a:schemeClr val="bg1"/>
          </a:solidFill>
          <a:ln w="16510">
            <a:solidFill>
              <a:srgbClr val="6FC3D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68896" y="4544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FC3DF"/>
                </a:solidFill>
              </a:rPr>
              <a:t>leftover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5074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5029200"/>
            <a:ext cx="1417320" cy="347472"/>
          </a:xfrm>
          <a:prstGeom prst="roundRect">
            <a:avLst>
              <a:gd name="adj" fmla="val 18421"/>
            </a:avLst>
          </a:prstGeom>
          <a:solidFill>
            <a:srgbClr val="F2B33D">
              <a:alpha val="45000"/>
            </a:srgbClr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724144" y="5093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explained by Z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132320" y="5029200"/>
            <a:ext cx="914400" cy="347472"/>
          </a:xfrm>
          <a:prstGeom prst="roundRect">
            <a:avLst>
              <a:gd name="adj" fmla="val 18421"/>
            </a:avLst>
          </a:prstGeom>
          <a:solidFill>
            <a:schemeClr val="bg1"/>
          </a:solidFill>
          <a:ln w="16510">
            <a:solidFill>
              <a:srgbClr val="F2B3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68896" y="509320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33D"/>
                </a:solidFill>
              </a:rPr>
              <a:t>leftover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394960" y="5486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test looks only at the two leftovers.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58200" y="3822192"/>
            <a:ext cx="3090672" cy="1920240"/>
          </a:xfrm>
          <a:prstGeom prst="roundRect">
            <a:avLst>
              <a:gd name="adj" fmla="val 4762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732520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DDC97"/>
                </a:solidFill>
              </a:rPr>
              <a:t>SOMETHING LEFT  →  KEEP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98280" y="4526280"/>
            <a:ext cx="1005840" cy="914400"/>
          </a:xfrm>
          <a:prstGeom prst="ellipse">
            <a:avLst/>
          </a:prstGeom>
          <a:solidFill>
            <a:srgbClr val="6FC3DF">
              <a:alpha val="20000"/>
            </a:srgbClr>
          </a:solidFill>
          <a:ln w="17780">
            <a:solidFill>
              <a:srgbClr val="6FC3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75520" y="4526280"/>
            <a:ext cx="1005840" cy="914400"/>
          </a:xfrm>
          <a:prstGeom prst="ellipse">
            <a:avLst/>
          </a:prstGeom>
          <a:solidFill>
            <a:srgbClr val="F2B33D">
              <a:alpha val="20000"/>
            </a:srgbClr>
          </a:solidFill>
          <a:ln w="17780">
            <a:solidFill>
              <a:srgbClr val="F2B33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32520" y="5504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DC97"/>
                </a:solidFill>
              </a:rPr>
              <a:t>the link survives into the next 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1 — building the parent list of P(t)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One target at a time. Only lagged nodes are candidates, so the same-instant node T(t) is not even in the running.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337560" cy="411480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B8CFF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9B8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8CFF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Correlate every candidate with the target, with nothing held fixed. Rank them, strongest first.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9B8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8CFF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Take the strongest, T(t−1), and hold it fixed. Re-test every other candidate against the target.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8CFF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Whatever collapses to near zero leaves the list for good. The rest stay.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9B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B8CFF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Now hold pairs fixed, then triples, always strongest first, until no candidate has enough others left to pair with.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976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ROUND p = 0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07822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66158" y="2840101"/>
            <a:ext cx="527869" cy="75881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08020" y="3324659"/>
            <a:ext cx="441942" cy="31764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40680" y="3749040"/>
            <a:ext cx="374904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676500" y="2798879"/>
            <a:ext cx="1173462" cy="84342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698923" y="3282017"/>
            <a:ext cx="1127438" cy="405173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709160" y="3749040"/>
            <a:ext cx="1106424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982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982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982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982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3982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3982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2978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297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12978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297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1297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297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613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613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8613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613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8613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8613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2611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Nothing held fixed. All six candidates survive — plain correlation cuts nothing.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547104" y="3017520"/>
            <a:ext cx="25603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294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122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ROUND p = 1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880758" y="2840101"/>
            <a:ext cx="527869" cy="75881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7922620" y="3324659"/>
            <a:ext cx="441942" cy="31764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191100" y="2798879"/>
            <a:ext cx="1173462" cy="84342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55280" y="3749040"/>
            <a:ext cx="374904" cy="0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8014716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213523" y="3282017"/>
            <a:ext cx="1127438" cy="405173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57" name="Text 55"/>
          <p:cNvSpPr txBox="1"/>
          <p:nvPr/>
        </p:nvSpPr>
        <p:spPr>
          <a:xfrm>
            <a:off x="7649225" y="33565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7223760" y="3749040"/>
            <a:ext cx="1106424" cy="0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648956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9128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9128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9128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128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9128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128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64438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6443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644384" y="308610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6443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6443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6443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3759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3759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3759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3759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83759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3759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7757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held fixed. P(t−1), T(t−2) and P(t−2) collapse and leave.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9061704" y="3017520"/>
            <a:ext cx="25603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44000" y="1627632"/>
            <a:ext cx="2377440" cy="411480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326880" y="1810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ROUND p = 2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0395358" y="2840101"/>
            <a:ext cx="527869" cy="758812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10437220" y="3324659"/>
            <a:ext cx="441942" cy="317646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705700" y="2798879"/>
            <a:ext cx="1173462" cy="843426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85" name="Text 83"/>
          <p:cNvSpPr txBox="1"/>
          <p:nvPr/>
        </p:nvSpPr>
        <p:spPr>
          <a:xfrm>
            <a:off x="10164415" y="309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942746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42746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42746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42746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942746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42746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0158984" y="256032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1015898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F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10158984" y="308610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1015898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10158984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15898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10890504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890504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890504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890504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10890504" y="3611880"/>
            <a:ext cx="274320" cy="27432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890504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9290304" y="4114800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and F(t−1) held fixed. F(t−2) collapses. Two candidates remain.</a:t>
            </a:r>
            <a:endParaRPr lang="en-US" sz="1150" dirty="0"/>
          </a:p>
        </p:txBody>
      </p:sp>
      <p:sp>
        <p:nvSpPr>
          <p:cNvPr id="105" name="Shape 103"/>
          <p:cNvSpPr/>
          <p:nvPr/>
        </p:nvSpPr>
        <p:spPr>
          <a:xfrm>
            <a:off x="621792" y="58704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22960" y="5998464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T(t−1) was the strongest candidate, so it is the first thing put into Z — and it survives every round. Part 1 hands on B(P) = { F(t−1), T(t−1) }.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that list is rough, not the answer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Part 1 conditions on lagged nodes only, so it cannot block a path that passes through the present minute.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029200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B8CFF"/>
                </a:solidFill>
              </a:rPr>
              <a:t>WHAT PART 1 KEPT FOR P(t)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4028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573" y="3006006"/>
            <a:ext cx="817382" cy="1021727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883578" y="3636751"/>
            <a:ext cx="717329" cy="448331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1732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173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14600" y="33375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146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1460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146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11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18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11880" y="40233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709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Both arrows passed every lagged test, so both are on the list.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870448" y="3246120"/>
            <a:ext cx="457200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87568" y="3657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DC97"/>
                </a:solidFill>
              </a:rPr>
              <a:t>truth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37960" y="1691640"/>
            <a:ext cx="5010912" cy="36576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30568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3DDC97"/>
                </a:solidFill>
              </a:rPr>
              <a:t>WHAT IS ACTUALLY THERE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445752" y="3136392"/>
            <a:ext cx="768096" cy="768096"/>
          </a:xfrm>
          <a:prstGeom prst="ellipse">
            <a:avLst/>
          </a:prstGeom>
          <a:solidFill>
            <a:srgbClr val="F2B33D">
              <a:alpha val="15000"/>
            </a:srgbClr>
          </a:solidFill>
          <a:ln w="19050">
            <a:solidFill>
              <a:srgbClr val="F2B33D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717804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726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18618" y="2950951"/>
            <a:ext cx="717329" cy="448331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951976" y="3520440"/>
            <a:ext cx="64922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29800" y="3739896"/>
            <a:ext cx="0" cy="237744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45236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523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45236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5236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45236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5236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54964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496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54964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49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549640" y="40233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54964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646920" y="26517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646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9646920" y="3337560"/>
            <a:ext cx="365760" cy="36576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469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646920" y="4023360"/>
            <a:ext cx="365760" cy="3657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64692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10305288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2B33D"/>
                </a:solidFill>
              </a:rPr>
              <a:t>the mediator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6830568" y="47091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Neither lagged node touches P directly. Both reach it through T(t), which sits at lag 0 — invisible to part 1.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621792" y="55321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22960" y="566013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This is why T(t−1) → P(t) is still standing. To cut it, something has to put T(t) into Z. That is exactly what part 2 adds.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2 — rebuilding Z for our link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Link under test: T(t−1) → P(t), in amber. Z is no longer a few candidates — it is assembled from three fixed sources.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11880" y="23317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3DDC97">
              <a:alpha val="14000"/>
            </a:srgbClr>
          </a:solidFill>
          <a:ln w="19050">
            <a:solidFill>
              <a:srgbClr val="3DDC97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71600" y="2331720"/>
            <a:ext cx="822960" cy="1874520"/>
          </a:xfrm>
          <a:prstGeom prst="roundRect">
            <a:avLst>
              <a:gd name="adj" fmla="val 15556"/>
            </a:avLst>
          </a:prstGeom>
          <a:solidFill>
            <a:srgbClr val="9B8CFF">
              <a:alpha val="14000"/>
            </a:srgbClr>
          </a:solidFill>
          <a:ln w="19050">
            <a:solidFill>
              <a:srgbClr val="9B8CF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852160" y="338328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F2B33D">
              <a:alpha val="14000"/>
            </a:srgbClr>
          </a:solidFill>
          <a:ln w="19050">
            <a:solidFill>
              <a:srgbClr val="F2B33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263407" y="3907435"/>
            <a:ext cx="1751908" cy="822324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88536" y="2743200"/>
            <a:ext cx="1700784" cy="0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63407" y="2855875"/>
            <a:ext cx="1751908" cy="822324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88536" y="3794760"/>
            <a:ext cx="1700784" cy="0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4059936"/>
            <a:ext cx="0" cy="512064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2514600"/>
            <a:ext cx="457200" cy="45720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54480" y="3566160"/>
            <a:ext cx="457200" cy="45720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54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461772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94760" y="2514600"/>
            <a:ext cx="457200" cy="45720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94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94760" y="356616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947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94760" y="461772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947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2514600"/>
            <a:ext cx="457200" cy="45720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3566160"/>
            <a:ext cx="457200" cy="45720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4617720"/>
            <a:ext cx="457200" cy="4572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t−2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1188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t−1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20848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49440" y="16642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87184" y="18288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61504" y="17922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parents of the TARGET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87184" y="2103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P(t) is the target, so B(P) goes in — minus the source itself. B(P) = {F(t−1), T(t−1)}, and T(t−1) is the link under test, so only F(t−1) is left.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949440" y="30358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87184" y="32004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9B8CFF"/>
          </a:solidFill>
          <a:ln w="12700">
            <a:solidFill>
              <a:srgbClr val="9B8C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61504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parents of the SOURCE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187184" y="3474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is the source, so B(T) goes in as well, slid back to its own time slice.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9440" y="4407408"/>
            <a:ext cx="4599432" cy="1261872"/>
          </a:xfrm>
          <a:prstGeom prst="roundRect">
            <a:avLst>
              <a:gd name="adj" fmla="val 72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87184" y="457200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2B33D"/>
          </a:solidFill>
          <a:ln w="12700">
            <a:solidFill>
              <a:srgbClr val="F2B3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461504" y="4535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S — same-instant neighbors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187184" y="4846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Nodes still adjacent to P at lag 0. S is empty in the first round and takes one more neighbor in each round after that.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21792" y="5806440"/>
            <a:ext cx="603504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2960" y="59344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Once T(t) enters the amber box, our link can finally be cut.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parent list moves with the node it belongs to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Part 1 reports every list as if its owner sat at time t. When that owner is the source of a lagged link, the list slides back with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480560" cy="3566160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AS PART 1 REPORTS IT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2514600"/>
            <a:ext cx="731520" cy="1417320"/>
          </a:xfrm>
          <a:prstGeom prst="roundRect">
            <a:avLst>
              <a:gd name="adj" fmla="val 17500"/>
            </a:avLst>
          </a:prstGeom>
          <a:solidFill>
            <a:srgbClr val="9B8CFF">
              <a:alpha val="14000"/>
            </a:srgbClr>
          </a:solidFill>
          <a:ln w="19050">
            <a:solidFill>
              <a:srgbClr val="9B8CF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3716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3450" y="2999166"/>
            <a:ext cx="768939" cy="443619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55264" y="3566160"/>
            <a:ext cx="704088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62763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2763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2763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2763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2763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2763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1635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1635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1635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1635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1635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1635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0507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0507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3364992"/>
            <a:ext cx="402336" cy="40233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050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0507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00507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617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B(T) = { F(t−1), T(t−1) }, written for T sitting at time t.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577840" y="3200400"/>
            <a:ext cx="548640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20640" y="36118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DC97"/>
                </a:solidFill>
              </a:rPr>
              <a:t>slide back by τ = 1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0" y="1783080"/>
            <a:ext cx="4480560" cy="3566160"/>
          </a:xfrm>
          <a:prstGeom prst="roundRect">
            <a:avLst>
              <a:gd name="adj" fmla="val 2564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3DDC97"/>
                </a:solidFill>
              </a:rPr>
              <a:t>AS PART 2 USES IT FOR OUR LINK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0" y="2514600"/>
            <a:ext cx="731520" cy="1417320"/>
          </a:xfrm>
          <a:prstGeom prst="roundRect">
            <a:avLst>
              <a:gd name="adj" fmla="val 17500"/>
            </a:avLst>
          </a:prstGeom>
          <a:solidFill>
            <a:srgbClr val="9B8CFF">
              <a:alpha val="14000"/>
            </a:srgbClr>
          </a:solidFill>
          <a:ln w="19050">
            <a:solidFill>
              <a:srgbClr val="9B8CFF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740664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069770" y="2999166"/>
            <a:ext cx="768939" cy="443619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01584" y="3566160"/>
            <a:ext cx="704088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66267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66267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66267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626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6267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6267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85139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5139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851392" y="3364992"/>
            <a:ext cx="402336" cy="402336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85139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85139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85139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0040112" y="26791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040112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0040112" y="33649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04011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040112" y="4050792"/>
            <a:ext cx="402336" cy="402336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40112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7132320" y="46177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Here T is the source at t − 1, so the same list enters as { F(t−2), T(t−2) }.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621792" y="553212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22960" y="566013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Stationarity is what makes the slide legal: one graph describes every minute, so a parent list can be moved along the time axis.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Part 2 — the rounds, and the moment our link dies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Grey ring = held fixed in Z for that round. Red dashes = cut in that round.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108960" cy="393192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3DDC97"/>
                </a:solidFill>
              </a:rPr>
              <a:t>THE PROCEDURE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21284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25399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289304" y="220370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Start from the lagged links part 1 kept, plus every same-instant pair.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6968" y="308152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312267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</a:rPr>
              <a:t>2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7238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Round p: for each surviving link, build Z from both parent lists plus every S of size p drawn from the target’s same-instant neighbors.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95020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9913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</a:rPr>
              <a:t>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4106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 link dies at the first Z that zeroes its leftover. That Z is stored as the pair’s separating set.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" y="4818888"/>
            <a:ext cx="274320" cy="274320"/>
          </a:xfrm>
          <a:prstGeom prst="ellipse">
            <a:avLst/>
          </a:prstGeom>
          <a:solidFill>
            <a:schemeClr val="bg1"/>
          </a:solidFill>
          <a:ln w="17780">
            <a:solidFill>
              <a:srgbClr val="3DDC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86968" y="48600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DC97"/>
                </a:solidFill>
              </a:rPr>
              <a:t>4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89304" y="4809744"/>
            <a:ext cx="2340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Raise p and repeat until no target has enough neighbors left to fill 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6908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WHAT ENTERS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86791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2229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667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3228" y="2697480"/>
            <a:ext cx="397764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222025" y="2796821"/>
            <a:ext cx="461813" cy="32187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253228" y="3223260"/>
            <a:ext cx="397764" cy="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180764" y="2838647"/>
            <a:ext cx="546506" cy="761796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222025" y="3322601"/>
            <a:ext cx="461813" cy="321870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33872" y="2871216"/>
            <a:ext cx="0" cy="169164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33872" y="3396996"/>
            <a:ext cx="0" cy="169164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18795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8795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8795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8795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8795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8795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94233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4233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4233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4233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4233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423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96712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96712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696712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96712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696712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69671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4032504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Six lagged links from part 1, plus the three same-instant pairs.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82512" y="3017520"/>
            <a:ext cx="25603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64808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ROUND p = 0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831836" y="2697480"/>
            <a:ext cx="39776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800633" y="2796821"/>
            <a:ext cx="461813" cy="32187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831836" y="3223260"/>
            <a:ext cx="39776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759372" y="2838647"/>
            <a:ext cx="546506" cy="761796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800633" y="3322601"/>
            <a:ext cx="461813" cy="321870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412480" y="3396996"/>
            <a:ext cx="0" cy="169164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412480" y="2871216"/>
            <a:ext cx="0" cy="169164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8284464" y="28277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766560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7665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6766560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76656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76656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7665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7520940" y="256032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5209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F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520940" y="308610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52094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52094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52094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75320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27532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275320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275320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8275320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2753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611112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 is empty, but both parent lists are already in Z. The two false same-instant links collapse. Our link survives.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8961120" y="3017520"/>
            <a:ext cx="25603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43416" y="1627632"/>
            <a:ext cx="2441448" cy="3931920"/>
          </a:xfrm>
          <a:prstGeom prst="roundRect">
            <a:avLst>
              <a:gd name="adj" fmla="val 3745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9226296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F2B33D"/>
                </a:solidFill>
              </a:rPr>
              <a:t>ROUND p = 1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10410444" y="2697480"/>
            <a:ext cx="39776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0379241" y="2796821"/>
            <a:ext cx="461813" cy="32187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0410444" y="3223260"/>
            <a:ext cx="39776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10337980" y="2838647"/>
            <a:ext cx="546506" cy="761796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86" name="Text 84"/>
          <p:cNvSpPr txBox="1"/>
          <p:nvPr/>
        </p:nvSpPr>
        <p:spPr>
          <a:xfrm>
            <a:off x="10483217" y="3091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0379241" y="3322601"/>
            <a:ext cx="461813" cy="321870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10482131" y="3355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10991088" y="3396996"/>
            <a:ext cx="0" cy="169164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34516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34516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345168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934516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934516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934516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1009954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1009954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10099548" y="308610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009954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09954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009954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10853928" y="256032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8539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10853928" y="308610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0853928" y="30861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10853928" y="361188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853928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9189720" y="41148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 takes T(t). Both remaining arrows into P were only passing through it, so both are cut — ours included.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621792" y="568756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822960" y="5815584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T(t−1) → P(t) is gone, and the Z that killed it contained T(t). That note is written down — orientation is about to need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Orientation — and our edge finally gets an arrowhead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skeleton has four edges and no arrowheads. Direction comes from the clock, then from one triple.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3DDC97"/>
                </a:solidFill>
              </a:rPr>
              <a:t>TIME SETTLES THREE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9738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4892" y="2697480"/>
            <a:ext cx="55321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6396" y="2803187"/>
            <a:ext cx="611442" cy="35549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4892" y="3268980"/>
            <a:ext cx="55321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37560" y="3479292"/>
            <a:ext cx="0" cy="141732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9786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9786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9786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9786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9786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9786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8084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8084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8084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8084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8084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18084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63824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63824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63824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63824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63824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63824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Anything crossing a time slice can only point forward. Three edges are directed without a single test.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42232" y="310896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81144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2B33D"/>
                </a:solidFill>
              </a:rPr>
              <a:t>THE TRIPLE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86500" y="3268980"/>
            <a:ext cx="553212" cy="0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059168" y="3479292"/>
            <a:ext cx="0" cy="141732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8004" y="3374687"/>
            <a:ext cx="611442" cy="355490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6435709" y="3424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286500" y="2697480"/>
            <a:ext cx="553212" cy="0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258004" y="2803187"/>
            <a:ext cx="611442" cy="355490"/>
          </a:xfrm>
          <a:prstGeom prst="line">
            <a:avLst/>
          </a:prstGeom>
          <a:noFill/>
          <a:ln w="17780">
            <a:solidFill>
              <a:srgbClr val="3B465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91947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919472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1947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919472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91947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90245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0245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902452" y="30952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90245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902452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0245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885432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85432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885432" y="30952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885432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885432" y="3666744"/>
            <a:ext cx="347472" cy="34747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2B33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885432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P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056632" y="4041648"/>
            <a:ext cx="2057400" cy="292608"/>
          </a:xfrm>
          <a:prstGeom prst="roundRect">
            <a:avLst>
              <a:gd name="adj" fmla="val 43750"/>
            </a:avLst>
          </a:prstGeom>
          <a:solidFill>
            <a:schemeClr val="bg1"/>
          </a:solidFill>
          <a:ln w="16510">
            <a:solidFill>
              <a:srgbClr val="F2B33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56632" y="40919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B33D"/>
                </a:solidFill>
              </a:rPr>
              <a:t>T(t)  ∈  the cutting set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526280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→ T(t) — P(t). The outer two are not adjacent, because we cut them in round 1, and T(t) was in the Z that cut them.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7863840" y="310896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65008" y="1627632"/>
            <a:ext cx="3456432" cy="3703320"/>
          </a:xfrm>
          <a:prstGeom prst="roundRect">
            <a:avLst>
              <a:gd name="adj" fmla="val 2646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302752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B8CFF"/>
                </a:solidFill>
              </a:rPr>
              <a:t>THE ONLY WAY LEFT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008108" y="2697480"/>
            <a:ext cx="55321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979612" y="2803187"/>
            <a:ext cx="611442" cy="35549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008108" y="3268980"/>
            <a:ext cx="55321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780776" y="3479292"/>
            <a:ext cx="0" cy="141732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64108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64108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864108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4108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64108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64108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62406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962406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962406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962406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962406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62406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0607040" y="2523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60704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10607040" y="30952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607040" y="3095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0607040" y="3666744"/>
            <a:ext cx="347472" cy="34747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6070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8247888" y="44622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If the edge read P(t) → T(t), then T(t) would be a collider. A node inside the cutting set is never a collider, so the arrow points the other way.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621792" y="548640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2A2416"/>
          </a:solidFill>
          <a:ln w="15240">
            <a:solidFill>
              <a:srgbClr val="F2B3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22960" y="5614416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2B33D"/>
                </a:solidFill>
              </a:rPr>
              <a:t>OUR PAIR   </a:t>
            </a:r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T(t) → P(t). The pair we picked on the second slide is finished, and the direction is the one the data was generated with.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21792" y="34747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pair, from start to finish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21792" y="1024128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Four moments in the life of one relationship — and the same four moments happened to every other link in parallel.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CANDIDATE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401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t−1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48225" y="3103717"/>
            <a:ext cx="490471" cy="280269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7480" y="3191256"/>
            <a:ext cx="0" cy="100584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64331" y="3065249"/>
            <a:ext cx="1257305" cy="359230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9601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602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7602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7602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602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602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602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0320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603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60320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T(t−1) → P(t) and T(t) — P(t) both start as guesses, among 21.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00984" y="283464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38144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39312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9B8CFF"/>
                </a:solidFill>
              </a:rPr>
              <a:t>SURVIVES PART 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64577" y="3103717"/>
            <a:ext cx="490471" cy="280269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513832" y="3191256"/>
            <a:ext cx="0" cy="100584"/>
          </a:xfrm>
          <a:prstGeom prst="line">
            <a:avLst/>
          </a:prstGeom>
          <a:noFill/>
          <a:ln w="12700">
            <a:solidFill>
              <a:srgbClr val="3B465A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7764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764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7764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764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7764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7764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65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65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65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765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65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65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76672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76672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376672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376672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376672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76672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3602736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The lagged arrow is on B(P), because part 1 cannot see the mediator T(t).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117336" y="283464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54496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55664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6B6B"/>
                </a:solidFill>
              </a:rPr>
              <a:t>CUT IN PART 2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680929" y="3103717"/>
            <a:ext cx="490471" cy="280269"/>
          </a:xfrm>
          <a:prstGeom prst="line">
            <a:avLst/>
          </a:prstGeom>
          <a:noFill/>
          <a:ln w="17780">
            <a:solidFill>
              <a:srgbClr val="FF6B6B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7798148" y="31158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6B6B"/>
                </a:solidFill>
              </a:rPr>
              <a:t>✕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330184" y="3191256"/>
            <a:ext cx="0" cy="100584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928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928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592824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928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5928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5928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3929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929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392924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3929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73929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929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8193024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193024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193024" y="2880360"/>
            <a:ext cx="274320" cy="274320"/>
          </a:xfrm>
          <a:prstGeom prst="ellipse">
            <a:avLst/>
          </a:prstGeom>
          <a:solidFill>
            <a:srgbClr val="2E3646"/>
          </a:solidFill>
          <a:ln w="20320">
            <a:solidFill>
              <a:srgbClr val="4C586B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1930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F3"/>
                </a:solidFill>
              </a:rPr>
              <a:t>T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8193024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93024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6419088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With T(t) in S, the lagged arrow drops to nothing and is cut. T(t) is recorded.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8933688" y="2834640"/>
            <a:ext cx="301752" cy="310896"/>
          </a:xfrm>
          <a:prstGeom prst="rightArrow">
            <a:avLst/>
          </a:prstGeom>
          <a:solidFill>
            <a:srgbClr val="2E3646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70848" y="1627632"/>
            <a:ext cx="2606040" cy="29260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272016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3DDC97"/>
                </a:solidFill>
              </a:rPr>
              <a:t>ORIENTED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10520172" y="3017520"/>
            <a:ext cx="443484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11146536" y="3191256"/>
            <a:ext cx="0" cy="100584"/>
          </a:xfrm>
          <a:prstGeom prst="line">
            <a:avLst/>
          </a:prstGeom>
          <a:noFill/>
          <a:ln w="38100">
            <a:solidFill>
              <a:srgbClr val="F2B33D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4091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94091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94091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4091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94091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4091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102092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2092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102092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02092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102092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2092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11009376" y="24231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1009376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11009376" y="28803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1009376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11009376" y="3337560"/>
            <a:ext cx="274320" cy="274320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1009376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03" name="Text 101"/>
          <p:cNvSpPr txBox="1"/>
          <p:nvPr/>
        </p:nvSpPr>
        <p:spPr>
          <a:xfrm>
            <a:off x="9235440" y="37673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That record makes the triple a non-collider, which forces T(t) → P(t).</a:t>
            </a:r>
            <a:endParaRPr lang="en-US" sz="1150" dirty="0"/>
          </a:p>
        </p:txBody>
      </p:sp>
      <p:sp>
        <p:nvSpPr>
          <p:cNvPr id="104" name="Shape 102"/>
          <p:cNvSpPr/>
          <p:nvPr/>
        </p:nvSpPr>
        <p:spPr>
          <a:xfrm>
            <a:off x="621792" y="4709160"/>
            <a:ext cx="6675120" cy="1554480"/>
          </a:xfrm>
          <a:prstGeom prst="roundRect">
            <a:avLst>
              <a:gd name="adj" fmla="val 5882"/>
            </a:avLst>
          </a:prstGeom>
          <a:solidFill>
            <a:srgbClr val="15241E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14400" y="4873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3DDC97"/>
                </a:solidFill>
              </a:rPr>
              <a:t>RECOVERED GRAPH — the same four links as the equations on slide 1, nothing extra, nothing missing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816352" y="5349240"/>
            <a:ext cx="117043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4325112" y="5349240"/>
            <a:ext cx="117043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>
            <a:off x="2811938" y="5387100"/>
            <a:ext cx="1179504" cy="278792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4320698" y="5387100"/>
            <a:ext cx="1179504" cy="278792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2816352" y="5705856"/>
            <a:ext cx="117043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4325112" y="5705856"/>
            <a:ext cx="1170432" cy="0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4160520" y="5870448"/>
            <a:ext cx="0" cy="18288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3" name="Shape 111"/>
          <p:cNvSpPr/>
          <p:nvPr/>
        </p:nvSpPr>
        <p:spPr>
          <a:xfrm>
            <a:off x="5669280" y="5870448"/>
            <a:ext cx="0" cy="18288"/>
          </a:xfrm>
          <a:prstGeom prst="line">
            <a:avLst/>
          </a:prstGeom>
          <a:noFill/>
          <a:ln w="28575">
            <a:solidFill>
              <a:srgbClr val="3DDC97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252374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252374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252374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252374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252374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252374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403250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03250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403250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403250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403250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403250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5541264" y="5221224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9B8CFF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541264" y="5221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8CFF"/>
                </a:solidFill>
              </a:rPr>
              <a:t>F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5541264" y="5577840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F2B33D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5541264" y="5577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</a:rPr>
              <a:t>T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5541264" y="5934456"/>
            <a:ext cx="256032" cy="256032"/>
          </a:xfrm>
          <a:prstGeom prst="ellipse">
            <a:avLst/>
          </a:prstGeom>
          <a:solidFill>
            <a:schemeClr val="bg1"/>
          </a:solidFill>
          <a:ln w="20320">
            <a:solidFill>
              <a:srgbClr val="3DDC97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5541264" y="59344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97"/>
                </a:solidFill>
              </a:rPr>
              <a:t>P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7589520" y="4709160"/>
            <a:ext cx="3959352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rgbClr val="2A3242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7882128" y="4873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8B97A8"/>
                </a:solidFill>
              </a:rPr>
              <a:t>WHAT EACH PART BOUGHT</a:t>
            </a:r>
            <a:endParaRPr lang="en-US" sz="1150" dirty="0"/>
          </a:p>
        </p:txBody>
      </p:sp>
      <p:sp>
        <p:nvSpPr>
          <p:cNvPr id="134" name="Text 132"/>
          <p:cNvSpPr txBox="1"/>
          <p:nvPr/>
        </p:nvSpPr>
        <p:spPr>
          <a:xfrm>
            <a:off x="7882128" y="523036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9B8CFF"/>
                </a:solidFill>
              </a:rPr>
              <a:t>Part 1  a small, relevant Z for every later test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DC97"/>
                </a:solidFill>
              </a:rPr>
              <a:t>Part 2  a cut for every link that was only indirect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2B33D"/>
                </a:solidFill>
              </a:rPr>
              <a:t>Orientation  an arrowhead on what is left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38251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4C586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usal Graphite">
  <a:themeElements>
    <a:clrScheme name="Causal Graphite">
      <a:dk1>
        <a:srgbClr val="E9EDF3"/>
      </a:dk1>
      <a:lt1>
        <a:srgbClr val="0F1218"/>
      </a:lt1>
      <a:dk2>
        <a:srgbClr val="8B97A8"/>
      </a:dk2>
      <a:lt2>
        <a:srgbClr val="1A1F2A"/>
      </a:lt2>
      <a:accent1>
        <a:srgbClr val="3DDC97"/>
      </a:accent1>
      <a:accent2>
        <a:srgbClr val="F2B33D"/>
      </a:accent2>
      <a:accent3>
        <a:srgbClr val="9B8CFF"/>
      </a:accent3>
      <a:accent4>
        <a:srgbClr val="FF6B6B"/>
      </a:accent4>
      <a:accent5>
        <a:srgbClr val="6FC3DF"/>
      </a:accent5>
      <a:accent6>
        <a:srgbClr val="2A3242"/>
      </a:accent6>
      <a:hlink>
        <a:srgbClr val="6FC3DF"/>
      </a:hlink>
      <a:folHlink>
        <a:srgbClr val="9B8CFF"/>
      </a:folHlink>
    </a:clrScheme>
    <a:fontScheme name="Causal Graphi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PCMCI+ — causal discovery for time series</dc:title>
  <dc:subject>PptxGenJS Presentation</dc:subject>
  <dc:creator>Satyam</dc:creator>
  <cp:lastModifiedBy>Satyam</cp:lastModifiedBy>
  <cp:revision>1</cp:revision>
  <dcterms:created xsi:type="dcterms:W3CDTF">2026-10-08T20:41:39Z</dcterms:created>
  <dcterms:modified xsi:type="dcterms:W3CDTF">2026-10-08T20:41:39Z</dcterms:modified>
</cp:coreProperties>
</file>