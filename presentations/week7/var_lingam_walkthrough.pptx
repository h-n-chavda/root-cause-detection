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three sensors and the same generating equations as the PCMCI+ half. The only difference is that the shocks are uniform, not Gaussian.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 slide. The whole algorithm exists because lag-0 links carry no time ordering.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identity B_tau = (I - B0) M_tau is the whole reason the algorithm works. Everything else is estimation.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slide. Panels 1 and 4 are the before and after of the same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M1 is a prediction object. Row P carries contamination from the instantaneous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Dependence is a normalised HSIC. Zero means independent.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 and T tie because there is no lag-0 edge between them. Any order with P last yields the same B0.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Adaptive lasso or bootstrap thresholds replace the fixed cut-off in production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failure mode is the live one on the Tennessee Eastman data, where VAR residuals are close to Gaussian.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 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 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 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 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 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 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 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 </a:t>
            </a: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C586B"/>
                </a:solidFill>
              </a:rPr>
              <a:t>VAR-LiNGAM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795528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795528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setup — the same reactor, one new assumption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Three sensors on a reactor cooling loop, read once a minute for 300 minutes. Only the noise distribution has changed.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9164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5623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THE THREE SENSORS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60120" y="2286000"/>
            <a:ext cx="310896" cy="310896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351288"/>
            <a:ext cx="31089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B8CFF"/>
                </a:solidFill>
              </a:rPr>
              <a:t>F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3134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9EDF3"/>
                </a:solidFill>
              </a:rPr>
              <a:t>coolant flow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331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7A8"/>
                </a:solidFill>
              </a:rPr>
              <a:t>l/min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" y="2688336"/>
            <a:ext cx="310896" cy="310896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2753624"/>
            <a:ext cx="31089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B8CFF"/>
                </a:solidFill>
              </a:rPr>
              <a:t>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715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9EDF3"/>
                </a:solidFill>
              </a:rPr>
              <a:t>reactor temperature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7340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7A8"/>
                </a:solidFill>
              </a:rPr>
              <a:t>°C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60120" y="3090672"/>
            <a:ext cx="310896" cy="310896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155960"/>
            <a:ext cx="31089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B8CFF"/>
                </a:solidFill>
              </a:rPr>
              <a:t>P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1181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9EDF3"/>
                </a:solidFill>
              </a:rPr>
              <a:t>vessel pressure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1363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7A8"/>
                </a:solidFill>
              </a:rPr>
              <a:t>bar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99632" y="169164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73952" y="185623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HOW THE DATA WAS MADE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2286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9EDF3"/>
                </a:solidFill>
              </a:rPr>
              <a:t>F(t)  =  0.60 F(t−1)   +  ε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9EDF3"/>
                </a:solidFill>
              </a:rPr>
              <a:t>T(t)  =  0.65 T(t−1)  +  0.50 F(t−1)   +  ε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017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2B33D"/>
                </a:solidFill>
              </a:rPr>
              <a:t>P(t)  =  0.80 T(t)   +  ε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378440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2B33D"/>
                </a:solidFill>
              </a:rPr>
              <a:t>same minute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316382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8B97A8"/>
                </a:solidFill>
              </a:rPr>
              <a:t>ε is uniform noise, independent across sensors and across time — not Gaussian. That one change is what VAR-LiNGAM feeds on.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" y="3767328"/>
            <a:ext cx="6949440" cy="2240280"/>
          </a:xfrm>
          <a:prstGeom prst="roundRect">
            <a:avLst>
              <a:gd name="adj" fmla="val 2449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96112" y="393192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THE FIRST SIX MINUTES OF THE RECORDING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42245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B97A8"/>
                </a:solidFill>
              </a:rPr>
              <a:t>minute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514600" y="42245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B97A8"/>
                </a:solidFill>
              </a:rPr>
              <a:t>F   l/min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114800" y="42245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B97A8"/>
                </a:solidFill>
              </a:rPr>
              <a:t>T   °C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715000" y="42245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B97A8"/>
                </a:solidFill>
              </a:rPr>
              <a:t>P   bar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14400" y="4480560"/>
            <a:ext cx="6309360" cy="0"/>
          </a:xfrm>
          <a:prstGeom prst="line">
            <a:avLst/>
          </a:prstGeom>
          <a:noFill/>
          <a:ln w="12700">
            <a:solidFill>
              <a:srgbClr val="2A324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45354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B97A8"/>
                </a:solidFill>
              </a:rPr>
              <a:t>1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514600" y="45354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40.69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114800" y="45354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309.52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715000" y="45354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B33D"/>
                </a:solidFill>
              </a:rPr>
              <a:t>11.83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14400" y="47548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B97A8"/>
                </a:solidFill>
              </a:rPr>
              <a:t>2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2514600" y="47548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39.88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114800" y="47548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308.72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715000" y="47548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B33D"/>
                </a:solidFill>
              </a:rPr>
              <a:t>10.89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914400" y="49743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B97A8"/>
                </a:solidFill>
              </a:rPr>
              <a:t>3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2514600" y="49743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38.37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114800" y="49743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308.85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715000" y="49743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B33D"/>
                </a:solidFill>
              </a:rPr>
              <a:t>11.91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14400" y="51937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B97A8"/>
                </a:solidFill>
              </a:rPr>
              <a:t>4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2514600" y="51937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40.17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4114800" y="51937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309.60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5715000" y="51937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B33D"/>
                </a:solidFill>
              </a:rPr>
              <a:t>11.69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914400" y="54132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B97A8"/>
                </a:solidFill>
              </a:rPr>
              <a:t>5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2514600" y="54132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39.67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4114800" y="54132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308.63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5715000" y="54132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B33D"/>
                </a:solidFill>
              </a:rPr>
              <a:t>11.11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914400" y="56327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B97A8"/>
                </a:solidFill>
              </a:rPr>
              <a:t>6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2514600" y="56327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39.19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4114800" y="56327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308.00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5715000" y="56327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B33D"/>
                </a:solidFill>
              </a:rPr>
              <a:t>9.03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914400" y="5760720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B97A8"/>
                </a:solidFill>
              </a:rPr>
              <a:t>300 rows in total · 299 usable once one lag is cut off the front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863840" y="3767328"/>
            <a:ext cx="3685032" cy="2240280"/>
          </a:xfrm>
          <a:prstGeom prst="roundRect">
            <a:avLst>
              <a:gd name="adj" fmla="val 2449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138160" y="393192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SETTINGS</a:t>
            </a:r>
            <a:endParaRPr lang="en-US" sz="1150" dirty="0"/>
          </a:p>
        </p:txBody>
      </p:sp>
      <p:sp>
        <p:nvSpPr>
          <p:cNvPr id="59" name="Text 57"/>
          <p:cNvSpPr txBox="1"/>
          <p:nvPr/>
        </p:nvSpPr>
        <p:spPr>
          <a:xfrm>
            <a:off x="8156448" y="420624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9EDF3"/>
                </a:solidFill>
              </a:rPr>
              <a:t>τmax = 1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8156448" y="442569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one minute of memory covers the true delays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8156448" y="465429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9EDF3"/>
                </a:solidFill>
              </a:rPr>
              <a:t>N = 300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8156448" y="487375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rows, estimated by ordinary least squares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8156448" y="510235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DDC97"/>
                </a:solidFill>
              </a:rPr>
              <a:t>excess kurtosis  −1.14, −1.09, −0.60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8156448" y="532180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the residuals are flat-topped, far from Gaussian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8156448" y="555040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9EDF3"/>
                </a:solidFill>
              </a:rPr>
              <a:t>prune at |b| &lt; 0.05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8156448" y="576986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anything smaller is read as estimation noise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795528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Two kinds of link, and why one of them needs a new idea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lagged link is ordered by the clock. A same-minute link is not, so the algorithm has to read the shape of the noise instead.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3703320" cy="3931920"/>
          </a:xfrm>
          <a:prstGeom prst="roundRect">
            <a:avLst>
              <a:gd name="adj" fmla="val 1481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922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LAGGED  —  THE CLOCK DECIDES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220529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B97A8"/>
                </a:solidFill>
              </a:rPr>
              <a:t>t − 1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08176" y="2414016"/>
            <a:ext cx="384048" cy="38404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08176" y="2494666"/>
            <a:ext cx="3840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B8CFF"/>
                </a:solidFill>
              </a:rPr>
              <a:t>F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408176" y="3035808"/>
            <a:ext cx="384048" cy="38404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08176" y="3116458"/>
            <a:ext cx="3840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B8CFF"/>
                </a:solidFill>
              </a:rPr>
              <a:t>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408176" y="3657600"/>
            <a:ext cx="384048" cy="38404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08176" y="3738250"/>
            <a:ext cx="3840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B8CFF"/>
                </a:solidFill>
              </a:rPr>
              <a:t>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2220529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B97A8"/>
                </a:solidFill>
              </a:rPr>
              <a:t>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91256" y="2414016"/>
            <a:ext cx="384048" cy="38404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91256" y="2494666"/>
            <a:ext cx="3840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B8CFF"/>
                </a:solidFill>
              </a:rPr>
              <a:t>F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191256" y="3035808"/>
            <a:ext cx="384048" cy="38404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91256" y="3116458"/>
            <a:ext cx="3840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B8CFF"/>
                </a:solidFill>
              </a:rPr>
              <a:t>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191256" y="3657600"/>
            <a:ext cx="384048" cy="38404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91256" y="3738250"/>
            <a:ext cx="3840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B8CFF"/>
                </a:solidFill>
              </a:rPr>
              <a:t>P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792224" y="2606040"/>
            <a:ext cx="1399032" cy="0"/>
          </a:xfrm>
          <a:prstGeom prst="line">
            <a:avLst/>
          </a:prstGeom>
          <a:noFill/>
          <a:ln w="19050">
            <a:solidFill>
              <a:srgbClr val="9B8CF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792224" y="3227832"/>
            <a:ext cx="1399032" cy="0"/>
          </a:xfrm>
          <a:prstGeom prst="line">
            <a:avLst/>
          </a:prstGeom>
          <a:noFill/>
          <a:ln w="19050">
            <a:solidFill>
              <a:srgbClr val="9B8CF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781516" y="2669268"/>
            <a:ext cx="1420448" cy="495336"/>
          </a:xfrm>
          <a:prstGeom prst="line">
            <a:avLst/>
          </a:prstGeom>
          <a:noFill/>
          <a:ln w="19050">
            <a:solidFill>
              <a:srgbClr val="9B8CFF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914400" y="427939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E9EDF3"/>
                </a:solidFill>
              </a:rPr>
              <a:t>A cause in an earlier minute cannot be the effect of a later one. Nothing has to be tested — the direction is given.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26280" y="1627632"/>
            <a:ext cx="3703320" cy="3931920"/>
          </a:xfrm>
          <a:prstGeom prst="roundRect">
            <a:avLst>
              <a:gd name="adj" fmla="val 1481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17922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SAME MINUTE  —  THE CLOCK IS SILENT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294376" y="2414016"/>
            <a:ext cx="384048" cy="38404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94376" y="2494666"/>
            <a:ext cx="3840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2B33D"/>
                </a:solidFill>
              </a:rPr>
              <a:t>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031736" y="2414016"/>
            <a:ext cx="384048" cy="38404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31736" y="2494666"/>
            <a:ext cx="3840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2B33D"/>
                </a:solidFill>
              </a:rPr>
              <a:t>P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678424" y="2606040"/>
            <a:ext cx="1353312" cy="0"/>
          </a:xfrm>
          <a:prstGeom prst="line">
            <a:avLst/>
          </a:prstGeom>
          <a:noFill/>
          <a:ln w="25400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294376" y="3236976"/>
            <a:ext cx="384048" cy="38404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294376" y="3317626"/>
            <a:ext cx="3840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2B33D"/>
                </a:solidFill>
              </a:rPr>
              <a:t>T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031736" y="3236976"/>
            <a:ext cx="384048" cy="38404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031736" y="3317626"/>
            <a:ext cx="3840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2B33D"/>
                </a:solidFill>
              </a:rPr>
              <a:t>P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 flipH="1">
            <a:off x="5678424" y="3429000"/>
            <a:ext cx="1353312" cy="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480060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2B33D"/>
                </a:solidFill>
              </a:rPr>
              <a:t>corr( n</a:t>
            </a:r>
            <a:pPr algn="ctr" indent="0" marL="0">
              <a:lnSpc>
                <a:spcPct val="100000"/>
              </a:lnSpc>
              <a:buNone/>
            </a:pPr>
            <a:r>
              <a:rPr lang="en-US" sz="1350" b="1" baseline="-40000" dirty="0">
                <a:solidFill>
                  <a:srgbClr val="F2B33D"/>
                </a:solidFill>
              </a:rPr>
              <a:t>T</a:t>
            </a:r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2B33D"/>
                </a:solidFill>
              </a:rPr>
              <a:t> , n</a:t>
            </a:r>
            <a:pPr algn="ctr" indent="0" marL="0">
              <a:lnSpc>
                <a:spcPct val="100000"/>
              </a:lnSpc>
              <a:buNone/>
            </a:pPr>
            <a:r>
              <a:rPr lang="en-US" sz="1350" b="1" baseline="-40000" dirty="0">
                <a:solidFill>
                  <a:srgbClr val="F2B33D"/>
                </a:solidFill>
              </a:rPr>
              <a:t>P</a:t>
            </a:r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2B33D"/>
                </a:solidFill>
              </a:rPr>
              <a:t> )  =  0.771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4800600" y="43434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E9EDF3"/>
                </a:solidFill>
              </a:rPr>
              <a:t>One number, two stories. A correlation is symmetric, so least squares alone can never choose between these two arrows.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458200" y="1627632"/>
            <a:ext cx="3090672" cy="3931920"/>
          </a:xfrm>
          <a:prstGeom prst="roundRect">
            <a:avLst>
              <a:gd name="adj" fmla="val 1775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732520" y="179222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THE NEW INGREDIENT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750808" y="22402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B97A8"/>
                </a:solidFill>
              </a:rPr>
              <a:t>one shock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759952" y="2914101"/>
            <a:ext cx="174439" cy="213147"/>
          </a:xfrm>
          <a:prstGeom prst="rect">
            <a:avLst/>
          </a:prstGeom>
          <a:solidFill>
            <a:srgbClr val="6FC3DF"/>
          </a:solidFill>
          <a:ln w="3810">
            <a:solidFill>
              <a:srgbClr val="6FC3D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52679" y="2661910"/>
            <a:ext cx="174439" cy="465338"/>
          </a:xfrm>
          <a:prstGeom prst="rect">
            <a:avLst/>
          </a:prstGeom>
          <a:solidFill>
            <a:srgbClr val="6FC3DF"/>
          </a:solidFill>
          <a:ln w="3810">
            <a:solidFill>
              <a:srgbClr val="6FC3D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45407" y="2758562"/>
            <a:ext cx="174439" cy="368686"/>
          </a:xfrm>
          <a:prstGeom prst="rect">
            <a:avLst/>
          </a:prstGeom>
          <a:solidFill>
            <a:srgbClr val="6FC3DF"/>
          </a:solidFill>
          <a:ln w="3810">
            <a:solidFill>
              <a:srgbClr val="6FC3D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338134" y="2720157"/>
            <a:ext cx="174439" cy="407091"/>
          </a:xfrm>
          <a:prstGeom prst="rect">
            <a:avLst/>
          </a:prstGeom>
          <a:solidFill>
            <a:srgbClr val="6FC3DF"/>
          </a:solidFill>
          <a:ln w="3810">
            <a:solidFill>
              <a:srgbClr val="6FC3D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530862" y="2603663"/>
            <a:ext cx="174439" cy="523585"/>
          </a:xfrm>
          <a:prstGeom prst="rect">
            <a:avLst/>
          </a:prstGeom>
          <a:solidFill>
            <a:srgbClr val="6FC3DF"/>
          </a:solidFill>
          <a:ln w="3810">
            <a:solidFill>
              <a:srgbClr val="6FC3D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723589" y="2739360"/>
            <a:ext cx="174439" cy="387888"/>
          </a:xfrm>
          <a:prstGeom prst="rect">
            <a:avLst/>
          </a:prstGeom>
          <a:solidFill>
            <a:srgbClr val="6FC3DF"/>
          </a:solidFill>
          <a:ln w="3810">
            <a:solidFill>
              <a:srgbClr val="6FC3D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916316" y="2681112"/>
            <a:ext cx="174439" cy="446136"/>
          </a:xfrm>
          <a:prstGeom prst="rect">
            <a:avLst/>
          </a:prstGeom>
          <a:solidFill>
            <a:srgbClr val="6FC3DF"/>
          </a:solidFill>
          <a:ln w="3810">
            <a:solidFill>
              <a:srgbClr val="6FC3D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109044" y="2487168"/>
            <a:ext cx="174439" cy="640080"/>
          </a:xfrm>
          <a:prstGeom prst="rect">
            <a:avLst/>
          </a:prstGeom>
          <a:solidFill>
            <a:srgbClr val="6FC3DF"/>
          </a:solidFill>
          <a:ln w="3810">
            <a:solidFill>
              <a:srgbClr val="6FC3D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01771" y="2661910"/>
            <a:ext cx="174439" cy="465338"/>
          </a:xfrm>
          <a:prstGeom prst="rect">
            <a:avLst/>
          </a:prstGeom>
          <a:solidFill>
            <a:srgbClr val="6FC3DF"/>
          </a:solidFill>
          <a:ln w="3810">
            <a:solidFill>
              <a:srgbClr val="6FC3D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494498" y="2526213"/>
            <a:ext cx="174439" cy="601035"/>
          </a:xfrm>
          <a:prstGeom prst="rect">
            <a:avLst/>
          </a:prstGeom>
          <a:solidFill>
            <a:srgbClr val="6FC3DF"/>
          </a:solidFill>
          <a:ln w="3810">
            <a:solidFill>
              <a:srgbClr val="6FC3D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687226" y="2603663"/>
            <a:ext cx="174439" cy="523585"/>
          </a:xfrm>
          <a:prstGeom prst="rect">
            <a:avLst/>
          </a:prstGeom>
          <a:solidFill>
            <a:srgbClr val="6FC3DF"/>
          </a:solidFill>
          <a:ln w="3810">
            <a:solidFill>
              <a:srgbClr val="6FC3D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879953" y="2836012"/>
            <a:ext cx="174439" cy="291236"/>
          </a:xfrm>
          <a:prstGeom prst="rect">
            <a:avLst/>
          </a:prstGeom>
          <a:solidFill>
            <a:srgbClr val="6FC3DF"/>
          </a:solidFill>
          <a:ln w="3810">
            <a:solidFill>
              <a:srgbClr val="6FC3D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072681" y="2661910"/>
            <a:ext cx="174439" cy="465338"/>
          </a:xfrm>
          <a:prstGeom prst="rect">
            <a:avLst/>
          </a:prstGeom>
          <a:solidFill>
            <a:srgbClr val="6FC3DF"/>
          </a:solidFill>
          <a:ln w="3810">
            <a:solidFill>
              <a:srgbClr val="6FC3D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750808" y="316382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B97A8"/>
                </a:solidFill>
              </a:rPr>
              <a:t>two shocks added together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759952" y="3936218"/>
            <a:ext cx="174439" cy="114574"/>
          </a:xfrm>
          <a:prstGeom prst="rect">
            <a:avLst/>
          </a:prstGeom>
          <a:solidFill>
            <a:srgbClr val="F2B33D"/>
          </a:solidFill>
          <a:ln w="3810">
            <a:solidFill>
              <a:srgbClr val="F2B33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952679" y="3788359"/>
            <a:ext cx="174439" cy="262433"/>
          </a:xfrm>
          <a:prstGeom prst="rect">
            <a:avLst/>
          </a:prstGeom>
          <a:solidFill>
            <a:srgbClr val="F2B33D"/>
          </a:solidFill>
          <a:ln w="3810">
            <a:solidFill>
              <a:srgbClr val="F2B33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145407" y="3788359"/>
            <a:ext cx="174439" cy="262433"/>
          </a:xfrm>
          <a:prstGeom prst="rect">
            <a:avLst/>
          </a:prstGeom>
          <a:solidFill>
            <a:srgbClr val="F2B33D"/>
          </a:solidFill>
          <a:ln w="3810">
            <a:solidFill>
              <a:srgbClr val="F2B33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338134" y="3706429"/>
            <a:ext cx="174439" cy="344363"/>
          </a:xfrm>
          <a:prstGeom prst="rect">
            <a:avLst/>
          </a:prstGeom>
          <a:solidFill>
            <a:srgbClr val="F2B33D"/>
          </a:solidFill>
          <a:ln w="3810">
            <a:solidFill>
              <a:srgbClr val="F2B3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530862" y="3574572"/>
            <a:ext cx="174439" cy="476220"/>
          </a:xfrm>
          <a:prstGeom prst="rect">
            <a:avLst/>
          </a:prstGeom>
          <a:solidFill>
            <a:srgbClr val="F2B33D"/>
          </a:solidFill>
          <a:ln w="3810">
            <a:solidFill>
              <a:srgbClr val="F2B33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723589" y="3427354"/>
            <a:ext cx="174439" cy="623438"/>
          </a:xfrm>
          <a:prstGeom prst="rect">
            <a:avLst/>
          </a:prstGeom>
          <a:solidFill>
            <a:srgbClr val="F2B33D"/>
          </a:solidFill>
          <a:ln w="3810">
            <a:solidFill>
              <a:srgbClr val="F2B33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916316" y="3476640"/>
            <a:ext cx="174439" cy="574152"/>
          </a:xfrm>
          <a:prstGeom prst="rect">
            <a:avLst/>
          </a:prstGeom>
          <a:solidFill>
            <a:srgbClr val="F2B33D"/>
          </a:solidFill>
          <a:ln w="3810">
            <a:solidFill>
              <a:srgbClr val="F2B33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109044" y="3410712"/>
            <a:ext cx="174439" cy="640080"/>
          </a:xfrm>
          <a:prstGeom prst="rect">
            <a:avLst/>
          </a:prstGeom>
          <a:solidFill>
            <a:srgbClr val="F2B33D"/>
          </a:solidFill>
          <a:ln w="3810">
            <a:solidFill>
              <a:srgbClr val="F2B33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301771" y="3509284"/>
            <a:ext cx="174439" cy="541508"/>
          </a:xfrm>
          <a:prstGeom prst="rect">
            <a:avLst/>
          </a:prstGeom>
          <a:solidFill>
            <a:srgbClr val="F2B33D"/>
          </a:solidFill>
          <a:ln w="3810">
            <a:solidFill>
              <a:srgbClr val="F2B33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494498" y="3640501"/>
            <a:ext cx="174439" cy="410291"/>
          </a:xfrm>
          <a:prstGeom prst="rect">
            <a:avLst/>
          </a:prstGeom>
          <a:solidFill>
            <a:srgbClr val="F2B33D"/>
          </a:solidFill>
          <a:ln w="3810">
            <a:solidFill>
              <a:srgbClr val="F2B33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687226" y="3739073"/>
            <a:ext cx="174439" cy="311719"/>
          </a:xfrm>
          <a:prstGeom prst="rect">
            <a:avLst/>
          </a:prstGeom>
          <a:solidFill>
            <a:srgbClr val="F2B33D"/>
          </a:solidFill>
          <a:ln w="3810">
            <a:solidFill>
              <a:srgbClr val="F2B33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879953" y="3821003"/>
            <a:ext cx="174439" cy="229789"/>
          </a:xfrm>
          <a:prstGeom prst="rect">
            <a:avLst/>
          </a:prstGeom>
          <a:solidFill>
            <a:srgbClr val="F2B33D"/>
          </a:solidFill>
          <a:ln w="3810">
            <a:solidFill>
              <a:srgbClr val="F2B33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072681" y="3936218"/>
            <a:ext cx="174439" cy="114574"/>
          </a:xfrm>
          <a:prstGeom prst="rect">
            <a:avLst/>
          </a:prstGeom>
          <a:solidFill>
            <a:srgbClr val="F2B33D"/>
          </a:solidFill>
          <a:ln w="3810">
            <a:solidFill>
              <a:srgbClr val="F2B33D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750808" y="42062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Adding independent shocks pulls the shape toward a bell. So the direction whose leftover stays un-bell-like, and independent of its predictor, is the one that un-mixed the data.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21792" y="5760720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2A2416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22960" y="58887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2B33D"/>
                </a:solidFill>
              </a:rPr>
              <a:t>OUR PAIR</a:t>
            </a:r>
            <a:endParaRPr lang="en-US" sz="1150" dirty="0"/>
          </a:p>
        </p:txBody>
      </p:sp>
      <p:sp>
        <p:nvSpPr>
          <p:cNvPr id="71" name="Text 69"/>
          <p:cNvSpPr txBox="1"/>
          <p:nvPr/>
        </p:nvSpPr>
        <p:spPr>
          <a:xfrm>
            <a:off x="1920240" y="5888736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9EDF3"/>
                </a:solidFill>
              </a:rPr>
              <a:t>We follow T and P again — the same pair the PCMCI+ half followed, settled here by a completely different argument.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795528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model, written down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Two ways to write the same process. A VAR fits the second one, and the algorithm is the trip back to the first.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5577840" cy="1783080"/>
          </a:xfrm>
          <a:prstGeom prst="roundRect">
            <a:avLst>
              <a:gd name="adj" fmla="val 3077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922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WHAT THE PROCESS ACTUALLY OBEYS  —  STRUCTURAL FORM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9EDF3"/>
                </a:solidFill>
              </a:rPr>
              <a:t>x(t)  =  B₀ x(t)  +  Στ Bτ x(t−τ)  +  e(t)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151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B33D"/>
                </a:solidFill>
              </a:rPr>
              <a:t>B₀  same-minute weights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6151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B8CFF"/>
                </a:solidFill>
              </a:rPr>
              <a:t>Bτ  lagged weights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B97A8"/>
                </a:solidFill>
              </a:rPr>
              <a:t>e(t)  independent, non-Gaussian shocks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627632"/>
            <a:ext cx="5148072" cy="1783080"/>
          </a:xfrm>
          <a:prstGeom prst="roundRect">
            <a:avLst>
              <a:gd name="adj" fmla="val 3077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792224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WHAT A VAR CAN FIT  —  REDUCED FORM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693408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9EDF3"/>
                </a:solidFill>
              </a:rPr>
              <a:t>x(t)  =  Στ Mτ x(t−τ)  +  n(t)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693408" y="261518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7A8"/>
                </a:solidFill>
              </a:rPr>
              <a:t>No term on the right is dated t, so this is pure prediction from the past. Everything that happens inside the minute is pushed into the residual n(t).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" y="3611880"/>
            <a:ext cx="5577840" cy="2468880"/>
          </a:xfrm>
          <a:prstGeom prst="roundRect">
            <a:avLst>
              <a:gd name="adj" fmla="val 2222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" y="37764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THE BRIDGE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" y="420624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2A3242"/>
          </a:solidFill>
          <a:ln w="12700">
            <a:solidFill>
              <a:srgbClr val="6FC3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3251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FC3DF"/>
                </a:solidFill>
              </a:rPr>
              <a:t>e(t)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783080" y="4453128"/>
            <a:ext cx="640080" cy="0"/>
          </a:xfrm>
          <a:prstGeom prst="line">
            <a:avLst/>
          </a:prstGeom>
          <a:noFill/>
          <a:ln w="19050">
            <a:solidFill>
              <a:srgbClr val="8B97A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423160" y="4206240"/>
            <a:ext cx="1691640" cy="502920"/>
          </a:xfrm>
          <a:prstGeom prst="roundRect">
            <a:avLst>
              <a:gd name="adj" fmla="val 18182"/>
            </a:avLst>
          </a:prstGeom>
          <a:solidFill>
            <a:srgbClr val="2A2416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23160" y="43251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2B33D"/>
                </a:solidFill>
              </a:rPr>
              <a:t>( I − B₀ )⁻¹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0" y="4453128"/>
            <a:ext cx="640080" cy="0"/>
          </a:xfrm>
          <a:prstGeom prst="line">
            <a:avLst/>
          </a:prstGeom>
          <a:noFill/>
          <a:ln w="19050">
            <a:solidFill>
              <a:srgbClr val="8B97A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754880" y="420624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2A3242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43251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DDC97"/>
                </a:solidFill>
              </a:rPr>
              <a:t>n(t)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8463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7A8"/>
                </a:solidFill>
              </a:rPr>
              <a:t>the VAR residual is a mixture of the true shocks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51937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B97A8"/>
                </a:solidFill>
              </a:rPr>
              <a:t>Mτ  =  ( I − B₀ )⁻¹ Bτ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280160" y="5513832"/>
            <a:ext cx="4023360" cy="411480"/>
          </a:xfrm>
          <a:prstGeom prst="roundRect">
            <a:avLst>
              <a:gd name="adj" fmla="val 26667"/>
            </a:avLst>
          </a:prstGeom>
          <a:solidFill>
            <a:srgbClr val="15241E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280160" y="56052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DDC97"/>
                </a:solidFill>
              </a:rPr>
              <a:t>Bτ  =  ( I − B₀ )  Mτ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0" y="3611880"/>
            <a:ext cx="5148072" cy="2468880"/>
          </a:xfrm>
          <a:prstGeom prst="roundRect">
            <a:avLst>
              <a:gd name="adj" fmla="val 2222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0" y="3776472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WHAT MUST BE TRUE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720840" y="4169664"/>
            <a:ext cx="100584" cy="100584"/>
          </a:xfrm>
          <a:prstGeom prst="ellipse">
            <a:avLst/>
          </a:prstGeom>
          <a:solidFill>
            <a:srgbClr val="9B8CFF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67728" y="409651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8B97A8"/>
                </a:solidFill>
              </a:rPr>
              <a:t>B₀ is acyclic — the same-minute links admit an ordering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720840" y="4535424"/>
            <a:ext cx="100584" cy="100584"/>
          </a:xfrm>
          <a:prstGeom prst="ellipse">
            <a:avLst/>
          </a:prstGeom>
          <a:solidFill>
            <a:srgbClr val="9B8CFF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67728" y="446227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8B97A8"/>
                </a:solidFill>
              </a:rPr>
              <a:t>the shocks are mutually independent — no hidden common cause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720840" y="4901184"/>
            <a:ext cx="100584" cy="100584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67728" y="482803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9EDF3"/>
                </a:solidFill>
              </a:rPr>
              <a:t>the shocks are non-Gaussian — otherwise the lag-0 order is unidentifiable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720840" y="5266944"/>
            <a:ext cx="100584" cy="100584"/>
          </a:xfrm>
          <a:prstGeom prst="ellipse">
            <a:avLst/>
          </a:prstGeom>
          <a:solidFill>
            <a:srgbClr val="9B8CFF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967728" y="519379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8B97A8"/>
                </a:solidFill>
              </a:rPr>
              <a:t>the process is stationary over the window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720840" y="5632704"/>
            <a:ext cx="100584" cy="100584"/>
          </a:xfrm>
          <a:prstGeom prst="ellipse">
            <a:avLst/>
          </a:prstGeom>
          <a:solidFill>
            <a:srgbClr val="9B8CFF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67728" y="555955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8B97A8"/>
                </a:solidFill>
              </a:rPr>
              <a:t>the lag order τmax is large enough to hold the real delays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795528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algorithm in four pictures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Fit the past, read the leftovers, order the minute, then undo the mixing. Each stage adds something the one before it could not see.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2606040" cy="3840480"/>
          </a:xfrm>
          <a:prstGeom prst="roundRect">
            <a:avLst>
              <a:gd name="adj" fmla="val 2105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922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1 · VAR FIT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21321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B97A8"/>
                </a:solidFill>
              </a:rPr>
              <a:t>t − 1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88720" y="2395728"/>
            <a:ext cx="292608" cy="29260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2457176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B8CFF"/>
                </a:solidFill>
              </a:rPr>
              <a:t>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88720" y="2926080"/>
            <a:ext cx="292608" cy="29260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2987528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B8CFF"/>
                </a:solidFill>
              </a:rPr>
              <a:t>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88720" y="3456432"/>
            <a:ext cx="292608" cy="29260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8720" y="3517880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B8CFF"/>
                </a:solidFill>
              </a:rPr>
              <a:t>P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084832" y="221321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B97A8"/>
                </a:solidFill>
              </a:rPr>
              <a:t>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95728" y="2395728"/>
            <a:ext cx="292608" cy="29260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395728" y="2457176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B8CFF"/>
                </a:solidFill>
              </a:rPr>
              <a:t>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95728" y="2926080"/>
            <a:ext cx="292608" cy="29260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95728" y="2987528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B8CFF"/>
                </a:solidFill>
              </a:rPr>
              <a:t>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95728" y="3456432"/>
            <a:ext cx="292608" cy="29260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395728" y="3517880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B8CFF"/>
                </a:solidFill>
              </a:rPr>
              <a:t>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481328" y="2542032"/>
            <a:ext cx="914400" cy="0"/>
          </a:xfrm>
          <a:prstGeom prst="line">
            <a:avLst/>
          </a:prstGeom>
          <a:noFill/>
          <a:ln w="19050">
            <a:solidFill>
              <a:srgbClr val="9B8CF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481328" y="3072384"/>
            <a:ext cx="914400" cy="0"/>
          </a:xfrm>
          <a:prstGeom prst="line">
            <a:avLst/>
          </a:prstGeom>
          <a:noFill/>
          <a:ln w="19050">
            <a:solidFill>
              <a:srgbClr val="9B8CF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468968" y="2600886"/>
            <a:ext cx="939120" cy="412643"/>
          </a:xfrm>
          <a:prstGeom prst="line">
            <a:avLst/>
          </a:prstGeom>
          <a:noFill/>
          <a:ln w="19050">
            <a:solidFill>
              <a:srgbClr val="9B8CF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44922" y="2638609"/>
            <a:ext cx="987211" cy="867549"/>
          </a:xfrm>
          <a:prstGeom prst="line">
            <a:avLst/>
          </a:prstGeom>
          <a:noFill/>
          <a:ln w="19050">
            <a:solidFill>
              <a:srgbClr val="F2B33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468968" y="3131238"/>
            <a:ext cx="939120" cy="412643"/>
          </a:xfrm>
          <a:prstGeom prst="line">
            <a:avLst/>
          </a:prstGeom>
          <a:noFill/>
          <a:ln w="19050">
            <a:solidFill>
              <a:srgbClr val="F2B33D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822960" y="41605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8B97A8"/>
                </a:solidFill>
              </a:rPr>
              <a:t>Everything the past can explain, with no same-minute term allowed. P picks up two lagged links it does not really have.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00984" y="3017520"/>
            <a:ext cx="274320" cy="310896"/>
          </a:xfrm>
          <a:prstGeom prst="chevron">
            <a:avLst/>
          </a:prstGeom>
          <a:solidFill>
            <a:srgbClr val="2A324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38144" y="1627632"/>
            <a:ext cx="2606040" cy="3840480"/>
          </a:xfrm>
          <a:prstGeom prst="roundRect">
            <a:avLst>
              <a:gd name="adj" fmla="val 2105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712464" y="17922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2 · THE RESIDUALS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3694176" y="221321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B97A8"/>
                </a:solidFill>
              </a:rPr>
              <a:t>t − 1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005072" y="2395728"/>
            <a:ext cx="292608" cy="29260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005072" y="2457176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B8CFF"/>
                </a:solidFill>
              </a:rPr>
              <a:t>F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005072" y="2926080"/>
            <a:ext cx="292608" cy="29260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005072" y="2987528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B8CFF"/>
                </a:solidFill>
              </a:rPr>
              <a:t>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005072" y="3456432"/>
            <a:ext cx="292608" cy="29260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005072" y="3517880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B8CFF"/>
                </a:solidFill>
              </a:rPr>
              <a:t>P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901184" y="221321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B97A8"/>
                </a:solidFill>
              </a:rPr>
              <a:t>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212080" y="2395728"/>
            <a:ext cx="292608" cy="29260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212080" y="2457176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B8CFF"/>
                </a:solidFill>
              </a:rPr>
              <a:t>F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212080" y="2926080"/>
            <a:ext cx="292608" cy="29260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212080" y="2987528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B8CFF"/>
                </a:solidFill>
              </a:rPr>
              <a:t>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212080" y="3456432"/>
            <a:ext cx="292608" cy="29260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212080" y="3517880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B8CFF"/>
                </a:solidFill>
              </a:rPr>
              <a:t>P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605272" y="24231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B97A8"/>
                </a:solidFill>
              </a:rPr>
              <a:t>n</a:t>
            </a:r>
            <a:pPr algn="l" indent="0" marL="0">
              <a:lnSpc>
                <a:spcPct val="100000"/>
              </a:lnSpc>
              <a:buNone/>
            </a:pPr>
            <a:r>
              <a:rPr lang="en-US" sz="1100" baseline="-40000" dirty="0">
                <a:solidFill>
                  <a:srgbClr val="8B97A8"/>
                </a:solidFill>
              </a:rPr>
              <a:t>F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605272" y="29535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DDC97"/>
                </a:solidFill>
              </a:rPr>
              <a:t>n</a:t>
            </a:r>
            <a:pPr algn="l" indent="0" marL="0">
              <a:lnSpc>
                <a:spcPct val="100000"/>
              </a:lnSpc>
              <a:buNone/>
            </a:pPr>
            <a:r>
              <a:rPr lang="en-US" sz="1100" baseline="-40000" dirty="0">
                <a:solidFill>
                  <a:srgbClr val="3DDC97"/>
                </a:solidFill>
              </a:rPr>
              <a:t>T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605272" y="34838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DDC97"/>
                </a:solidFill>
              </a:rPr>
              <a:t>n</a:t>
            </a:r>
            <a:pPr algn="l" indent="0" marL="0">
              <a:lnSpc>
                <a:spcPct val="100000"/>
              </a:lnSpc>
              <a:buNone/>
            </a:pPr>
            <a:r>
              <a:rPr lang="en-US" sz="1100" baseline="-40000" dirty="0">
                <a:solidFill>
                  <a:srgbClr val="3DDC97"/>
                </a:solidFill>
              </a:rPr>
              <a:t>P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358384" y="3227832"/>
            <a:ext cx="0" cy="219456"/>
          </a:xfrm>
          <a:prstGeom prst="line">
            <a:avLst/>
          </a:prstGeom>
          <a:noFill/>
          <a:ln w="19050">
            <a:solidFill>
              <a:srgbClr val="3DDC97"/>
            </a:solidFill>
            <a:prstDash val="dash"/>
            <a:tailEnd type="none"/>
          </a:ln>
        </p:spPr>
      </p:sp>
      <p:sp>
        <p:nvSpPr>
          <p:cNvPr id="47" name="Text 45"/>
          <p:cNvSpPr txBox="1"/>
          <p:nvPr/>
        </p:nvSpPr>
        <p:spPr>
          <a:xfrm>
            <a:off x="3639312" y="41605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8B97A8"/>
                </a:solidFill>
              </a:rPr>
              <a:t>What is left is a mixture of the true shocks. The T and P residuals still move together.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117336" y="3017520"/>
            <a:ext cx="274320" cy="310896"/>
          </a:xfrm>
          <a:prstGeom prst="chevron">
            <a:avLst/>
          </a:prstGeom>
          <a:solidFill>
            <a:srgbClr val="2A324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54496" y="1627632"/>
            <a:ext cx="2606040" cy="3840480"/>
          </a:xfrm>
          <a:prstGeom prst="roundRect">
            <a:avLst>
              <a:gd name="adj" fmla="val 2105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528816" y="17922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3 · LiNGAM ON n(t)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6510528" y="221321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B97A8"/>
                </a:solidFill>
              </a:rPr>
              <a:t>t − 1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821424" y="2395728"/>
            <a:ext cx="292608" cy="29260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821424" y="2457176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B8CFF"/>
                </a:solidFill>
              </a:rPr>
              <a:t>F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821424" y="2926080"/>
            <a:ext cx="292608" cy="29260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821424" y="2987528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2B33D"/>
                </a:solidFill>
              </a:rPr>
              <a:t>T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821424" y="3456432"/>
            <a:ext cx="292608" cy="29260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821424" y="3517880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2B33D"/>
                </a:solidFill>
              </a:rPr>
              <a:t>P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7717536" y="221321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B97A8"/>
                </a:solidFill>
              </a:rPr>
              <a:t>t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028432" y="2395728"/>
            <a:ext cx="292608" cy="29260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028432" y="2457176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B8CFF"/>
                </a:solidFill>
              </a:rPr>
              <a:t>F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028432" y="2926080"/>
            <a:ext cx="292608" cy="29260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028432" y="2987528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2B33D"/>
                </a:solidFill>
              </a:rPr>
              <a:t>T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8028432" y="3456432"/>
            <a:ext cx="292608" cy="29260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028432" y="3517880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2B33D"/>
                </a:solidFill>
              </a:rPr>
              <a:t>P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8174736" y="3218688"/>
            <a:ext cx="0" cy="237744"/>
          </a:xfrm>
          <a:prstGeom prst="line">
            <a:avLst/>
          </a:prstGeom>
          <a:noFill/>
          <a:ln w="25400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66" name="Text 64"/>
          <p:cNvSpPr txBox="1"/>
          <p:nvPr/>
        </p:nvSpPr>
        <p:spPr>
          <a:xfrm>
            <a:off x="6528816" y="384048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2B33D"/>
                </a:solidFill>
              </a:rPr>
              <a:t>order   F  →  T  →  P</a:t>
            </a:r>
            <a:endParaRPr lang="en-US" sz="1150" dirty="0"/>
          </a:p>
        </p:txBody>
      </p:sp>
      <p:sp>
        <p:nvSpPr>
          <p:cNvPr id="67" name="Text 65"/>
          <p:cNvSpPr txBox="1"/>
          <p:nvPr/>
        </p:nvSpPr>
        <p:spPr>
          <a:xfrm>
            <a:off x="6455664" y="41605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8B97A8"/>
                </a:solidFill>
              </a:rPr>
              <a:t>Independence picks the same-minute order, and B₀ becomes triangular in it.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8933688" y="3017520"/>
            <a:ext cx="274320" cy="310896"/>
          </a:xfrm>
          <a:prstGeom prst="chevron">
            <a:avLst/>
          </a:prstGeom>
          <a:solidFill>
            <a:srgbClr val="2A324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070848" y="1627632"/>
            <a:ext cx="2606040" cy="3840480"/>
          </a:xfrm>
          <a:prstGeom prst="roundRect">
            <a:avLst>
              <a:gd name="adj" fmla="val 2105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9345168" y="17922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4 · CONVERT AND PRUNE</a:t>
            </a:r>
            <a:endParaRPr lang="en-US" sz="1150" dirty="0"/>
          </a:p>
        </p:txBody>
      </p:sp>
      <p:sp>
        <p:nvSpPr>
          <p:cNvPr id="71" name="Text 69"/>
          <p:cNvSpPr txBox="1"/>
          <p:nvPr/>
        </p:nvSpPr>
        <p:spPr>
          <a:xfrm>
            <a:off x="9326880" y="221321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B97A8"/>
                </a:solidFill>
              </a:rPr>
              <a:t>t − 1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9637776" y="2395728"/>
            <a:ext cx="292608" cy="29260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637776" y="2457176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B8CFF"/>
                </a:solidFill>
              </a:rPr>
              <a:t>F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9637776" y="2926080"/>
            <a:ext cx="292608" cy="29260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637776" y="2987528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B8CFF"/>
                </a:solidFill>
              </a:rPr>
              <a:t>T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9637776" y="3456432"/>
            <a:ext cx="292608" cy="29260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9637776" y="3517880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B8CFF"/>
                </a:solidFill>
              </a:rPr>
              <a:t>P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10533888" y="221321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B97A8"/>
                </a:solidFill>
              </a:rPr>
              <a:t>t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10844784" y="2395728"/>
            <a:ext cx="292608" cy="29260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0844784" y="2457176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B8CFF"/>
                </a:solidFill>
              </a:rPr>
              <a:t>F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10844784" y="2926080"/>
            <a:ext cx="292608" cy="29260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10844784" y="2987528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B8CFF"/>
                </a:solidFill>
              </a:rPr>
              <a:t>T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10844784" y="3456432"/>
            <a:ext cx="292608" cy="292608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10844784" y="3517880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B8CFF"/>
                </a:solidFill>
              </a:rPr>
              <a:t>P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9930384" y="2542032"/>
            <a:ext cx="914400" cy="0"/>
          </a:xfrm>
          <a:prstGeom prst="line">
            <a:avLst/>
          </a:prstGeom>
          <a:noFill/>
          <a:ln w="19050">
            <a:solidFill>
              <a:srgbClr val="9B8CFF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9930384" y="3072384"/>
            <a:ext cx="914400" cy="0"/>
          </a:xfrm>
          <a:prstGeom prst="line">
            <a:avLst/>
          </a:prstGeom>
          <a:noFill/>
          <a:ln w="19050">
            <a:solidFill>
              <a:srgbClr val="9B8CFF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9918024" y="2600886"/>
            <a:ext cx="939120" cy="412643"/>
          </a:xfrm>
          <a:prstGeom prst="line">
            <a:avLst/>
          </a:prstGeom>
          <a:noFill/>
          <a:ln w="19050">
            <a:solidFill>
              <a:srgbClr val="9B8CFF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10991088" y="3218688"/>
            <a:ext cx="0" cy="237744"/>
          </a:xfrm>
          <a:prstGeom prst="line">
            <a:avLst/>
          </a:prstGeom>
          <a:noFill/>
          <a:ln w="25400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89" name="Text 87"/>
          <p:cNvSpPr txBox="1"/>
          <p:nvPr/>
        </p:nvSpPr>
        <p:spPr>
          <a:xfrm>
            <a:off x="9272016" y="41605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8B97A8"/>
                </a:solidFill>
              </a:rPr>
              <a:t>( I − B₀ ) Mτ removes the contamination, and small weights are dropped.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621792" y="5623560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2A2416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822960" y="57515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2B33D"/>
                </a:solidFill>
              </a:rPr>
              <a:t>OUR PAIR</a:t>
            </a:r>
            <a:endParaRPr lang="en-US" sz="1150" dirty="0"/>
          </a:p>
        </p:txBody>
      </p:sp>
      <p:sp>
        <p:nvSpPr>
          <p:cNvPr id="92" name="Text 90"/>
          <p:cNvSpPr txBox="1"/>
          <p:nvPr/>
        </p:nvSpPr>
        <p:spPr>
          <a:xfrm>
            <a:off x="1920240" y="5751576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9EDF3"/>
                </a:solidFill>
              </a:rPr>
              <a:t>T(t−1) → P(t) appears in picture 1 and is gone by picture 4 — not cut by a test, but cancelled by an identity.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795528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Step 1 — fit the VAR, then look at what is left over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Ordinary least squares, one equation per sensor. The output is a prediction matrix and a residual column for each sensor.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3108960" cy="3931920"/>
          </a:xfrm>
          <a:prstGeom prst="roundRect">
            <a:avLst>
              <a:gd name="adj" fmla="val 1765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922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THE PROCEDURE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86968" y="2212848"/>
            <a:ext cx="274320" cy="274320"/>
          </a:xfrm>
          <a:prstGeom prst="roundRect">
            <a:avLst>
              <a:gd name="adj" fmla="val 166667"/>
            </a:avLst>
          </a:prstGeom>
          <a:solidFill>
            <a:srgbClr val="2A3242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25399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9B8CFF"/>
                </a:solidFill>
              </a:rPr>
              <a:t>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289304" y="220370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9EDF3"/>
                </a:solidFill>
              </a:rPr>
              <a:t>Center every column, then regress x(t) on x(t−1) by ordinary least squares.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86968" y="3081528"/>
            <a:ext cx="274320" cy="274320"/>
          </a:xfrm>
          <a:prstGeom prst="roundRect">
            <a:avLst>
              <a:gd name="adj" fmla="val 166667"/>
            </a:avLst>
          </a:prstGeom>
          <a:solidFill>
            <a:srgbClr val="2A3242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6968" y="312267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9B8CFF"/>
                </a:solidFill>
              </a:rPr>
              <a:t>2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289304" y="307238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9EDF3"/>
                </a:solidFill>
              </a:rPr>
              <a:t>Collect the coefficients into M₁. This is prediction, not yet structure.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86968" y="3950208"/>
            <a:ext cx="274320" cy="274320"/>
          </a:xfrm>
          <a:prstGeom prst="roundRect">
            <a:avLst>
              <a:gd name="adj" fmla="val 166667"/>
            </a:avLst>
          </a:prstGeom>
          <a:solidFill>
            <a:srgbClr val="2A3242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399135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9B8CFF"/>
                </a:solidFill>
              </a:rPr>
              <a:t>3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289304" y="394106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9EDF3"/>
                </a:solidFill>
              </a:rPr>
              <a:t>Keep the residuals n(t) = x(t) − M₁ x(t−1), one column per sensor.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86968" y="4818888"/>
            <a:ext cx="274320" cy="274320"/>
          </a:xfrm>
          <a:prstGeom prst="roundRect">
            <a:avLst>
              <a:gd name="adj" fmla="val 166667"/>
            </a:avLst>
          </a:prstGeom>
          <a:solidFill>
            <a:srgbClr val="2A3242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" y="486003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DDC97"/>
                </a:solidFill>
              </a:rPr>
              <a:t>4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289304" y="480974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9EDF3"/>
                </a:solidFill>
              </a:rPr>
              <a:t>Check that the residuals are non-Gaussian. If they are not, stop — the next step cannot work.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886200" y="1627632"/>
            <a:ext cx="3886200" cy="3931920"/>
          </a:xfrm>
          <a:prstGeom prst="roundRect">
            <a:avLst>
              <a:gd name="adj" fmla="val 1412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60520" y="17922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M₁  —  WHAT THE PAST PREDICTS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26280" y="2377440"/>
            <a:ext cx="3017520" cy="1426464"/>
          </a:xfrm>
          <a:prstGeom prst="roundRect">
            <a:avLst>
              <a:gd name="adj" fmla="val 3205"/>
            </a:avLst>
          </a:prstGeom>
          <a:solidFill>
            <a:srgbClr val="15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26280" y="21396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F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21396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21396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P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142232" y="250545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F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142232" y="298094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T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142232" y="345643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P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24963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0.572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24963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-0.018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24963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0.001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26280" y="2971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0.513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532120" y="2971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0.646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537960" y="2971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-0.037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0" y="3364992"/>
            <a:ext cx="914400" cy="402336"/>
          </a:xfrm>
          <a:prstGeom prst="roundRect">
            <a:avLst>
              <a:gd name="adj" fmla="val 22727"/>
            </a:avLst>
          </a:prstGeom>
          <a:solidFill>
            <a:srgbClr val="2A2416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26280" y="34472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2B33D"/>
                </a:solidFill>
              </a:rPr>
              <a:t>0.436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577840" y="3364992"/>
            <a:ext cx="914400" cy="402336"/>
          </a:xfrm>
          <a:prstGeom prst="roundRect">
            <a:avLst>
              <a:gd name="adj" fmla="val 22727"/>
            </a:avLst>
          </a:prstGeom>
          <a:solidFill>
            <a:srgbClr val="2A2416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532120" y="34472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2B33D"/>
                </a:solidFill>
              </a:rPr>
              <a:t>0.553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537960" y="34472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-0.062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178808" y="391363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rows = target at t  ·  columns = source at t − 1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178808" y="42062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Row P says that both F(t−1) and T(t−1) predict pressure. Neither link exists in the equations that made the data. They are the same-minute arrow T(t) → P(t), seen through one lag.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927848" y="1627632"/>
            <a:ext cx="3621024" cy="3931920"/>
          </a:xfrm>
          <a:prstGeom prst="roundRect">
            <a:avLst>
              <a:gd name="adj" fmla="val 1515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02168" y="179222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CORRELATION OF THE RESIDUALS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549640" y="2377440"/>
            <a:ext cx="2606040" cy="1426464"/>
          </a:xfrm>
          <a:prstGeom prst="roundRect">
            <a:avLst>
              <a:gd name="adj" fmla="val 3205"/>
            </a:avLst>
          </a:prstGeom>
          <a:solidFill>
            <a:srgbClr val="15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549640" y="213969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F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9418320" y="213969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T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10287000" y="213969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P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8165592" y="250545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F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165592" y="298094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T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8165592" y="345643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P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8549640" y="24963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1.000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418320" y="24963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0.003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10287000" y="24963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0.015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8549640" y="29718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0.003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9418320" y="29718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1.000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10332720" y="2889504"/>
            <a:ext cx="777240" cy="402336"/>
          </a:xfrm>
          <a:prstGeom prst="roundRect">
            <a:avLst>
              <a:gd name="adj" fmla="val 22727"/>
            </a:avLst>
          </a:prstGeom>
          <a:solidFill>
            <a:srgbClr val="2A2416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0287000" y="29718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2B33D"/>
                </a:solidFill>
              </a:rPr>
              <a:t>0.771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8549640" y="344728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0.015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464040" y="3364992"/>
            <a:ext cx="777240" cy="402336"/>
          </a:xfrm>
          <a:prstGeom prst="roundRect">
            <a:avLst>
              <a:gd name="adj" fmla="val 22727"/>
            </a:avLst>
          </a:prstGeom>
          <a:solidFill>
            <a:srgbClr val="2A2416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418320" y="344728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2B33D"/>
                </a:solidFill>
              </a:rPr>
              <a:t>0.771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10287000" y="344728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1.000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8220456" y="3931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DDC97"/>
                </a:solidFill>
              </a:rPr>
              <a:t>excess kurtosis   −1.14   −1.09   −0.60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8220456" y="4279392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If the VAR were the whole story these columns would be independent. F is clean, but T and P share 0.771. That leftover dependence is the same-minute link, and it is what step 2 works on.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21792" y="5687568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2A2416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22960" y="58155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2B33D"/>
                </a:solidFill>
              </a:rPr>
              <a:t>OUR PAIR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1920240" y="5815584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9EDF3"/>
                </a:solidFill>
              </a:rPr>
              <a:t>The VAR scores T(t−1) → P(t) at 0.553 and cannot tell that the number is borrowed.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795528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Step 2a — how a direction is decided, drawn once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This one test is the whole of LiNGAM. Regress one residual on another, then ask whether the leftover is independent of what you regressed 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3108960" cy="3931920"/>
          </a:xfrm>
          <a:prstGeom prst="roundRect">
            <a:avLst>
              <a:gd name="adj" fmla="val 1765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922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THE TEST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86968" y="2212848"/>
            <a:ext cx="274320" cy="274320"/>
          </a:xfrm>
          <a:prstGeom prst="roundRect">
            <a:avLst>
              <a:gd name="adj" fmla="val 166667"/>
            </a:avLst>
          </a:prstGeom>
          <a:solidFill>
            <a:srgbClr val="2A3242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25399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9B8CFF"/>
                </a:solidFill>
              </a:rPr>
              <a:t>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289304" y="220370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9EDF3"/>
                </a:solidFill>
              </a:rPr>
              <a:t>Take the two residual columns and assume a direction, say T causes 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86968" y="3081528"/>
            <a:ext cx="274320" cy="274320"/>
          </a:xfrm>
          <a:prstGeom prst="roundRect">
            <a:avLst>
              <a:gd name="adj" fmla="val 166667"/>
            </a:avLst>
          </a:prstGeom>
          <a:solidFill>
            <a:srgbClr val="2A3242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6968" y="312267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9B8CFF"/>
                </a:solidFill>
              </a:rPr>
              <a:t>2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289304" y="307238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9EDF3"/>
                </a:solidFill>
              </a:rPr>
              <a:t>Regress the second residual on the first by least squares and keep the leftover.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86968" y="3950208"/>
            <a:ext cx="274320" cy="274320"/>
          </a:xfrm>
          <a:prstGeom prst="roundRect">
            <a:avLst>
              <a:gd name="adj" fmla="val 166667"/>
            </a:avLst>
          </a:prstGeom>
          <a:solidFill>
            <a:srgbClr val="2A3242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399135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9B8CFF"/>
                </a:solidFill>
              </a:rPr>
              <a:t>3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289304" y="394106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9EDF3"/>
                </a:solidFill>
              </a:rPr>
              <a:t>Measure the dependence between the leftover and the predictor. Zero means independent.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86968" y="4818888"/>
            <a:ext cx="274320" cy="274320"/>
          </a:xfrm>
          <a:prstGeom prst="roundRect">
            <a:avLst>
              <a:gd name="adj" fmla="val 166667"/>
            </a:avLst>
          </a:prstGeom>
          <a:solidFill>
            <a:srgbClr val="2A3242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" y="486003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9B8CFF"/>
                </a:solidFill>
              </a:rPr>
              <a:t>4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289304" y="480974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9EDF3"/>
                </a:solidFill>
              </a:rPr>
              <a:t>Do the same the other way. The direction with the smaller dependence is the cause.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886200" y="1627632"/>
            <a:ext cx="3749040" cy="3931920"/>
          </a:xfrm>
          <a:prstGeom prst="roundRect">
            <a:avLst>
              <a:gd name="adj" fmla="val 1463"/>
            </a:avLst>
          </a:prstGeom>
          <a:solidFill>
            <a:srgbClr val="15241E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60520" y="17922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DIRECTION  A   —   T(t)  →  P(t)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160520" y="2304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9EDF3"/>
                </a:solidFill>
              </a:rPr>
              <a:t>slope  =  0.831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60520" y="2697480"/>
            <a:ext cx="3200400" cy="1371600"/>
          </a:xfrm>
          <a:prstGeom prst="roundRect">
            <a:avLst>
              <a:gd name="adj" fmla="val 3333"/>
            </a:avLst>
          </a:prstGeom>
          <a:solidFill>
            <a:srgbClr val="15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5263" y="3365211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27274" y="2983093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67602" y="3635929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2604" y="3202302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4075" y="3619159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57015" y="3843159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66611" y="3163970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39535" y="3646709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51950" y="3383179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52674" y="3050173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3495" y="3847951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14289" y="3568848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58919" y="2762686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0205" y="3458645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17143" y="3098088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53283" y="3682645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95133" y="2774665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45666" y="2832162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13069" y="3474217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51797" y="3059756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87669" y="2836953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89954" y="2930387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07053" y="2803413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53283" y="2876483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39763" y="2955542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19924" y="2945959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23046" y="3710196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21713" y="2935178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68667" y="3147200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19428" y="3586816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82376" y="3494581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48218" y="2786643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25712" y="3057360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59147" y="3758111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44600" y="3166366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81538" y="3016633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986336" y="3602389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76969" y="2969916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66611" y="3295735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619314" y="2910023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50008" y="3662282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003816" y="2984291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032681" y="3601191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63984" y="3692228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86946" y="3174751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875026" y="2929189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183100" y="3217874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250503" y="2878879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977311" y="3147200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70115" y="2929189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57585" y="3864721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700540" y="2836953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438242" y="3099286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742658" y="2900440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450275" y="3707801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610289" y="3092098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564593" y="3601191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326932" y="3107671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675903" y="3464634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305873" y="2858515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465887" y="3645512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178302" y="3804828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339535" y="3789255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585652" y="2869296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121713" y="3718581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67220" y="3401147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028453" y="3325682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707776" y="3662282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670457" y="3026216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811850" y="2942365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236031" y="3375992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121143" y="3620356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943649" y="3879095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459870" y="3410730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664440" y="3462238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025445" y="3452656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244486" y="3268184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319696" y="3032205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112688" y="3308912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837136" y="3317297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050731" y="3469426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280587" y="3461041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967716" y="3550880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521257" y="3192719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154235" y="3692228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530282" y="3510153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983328" y="3403543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967716" y="3535308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763716" y="3471821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642811" y="3837170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023656" y="3346046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459300" y="3617961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011622" y="3352035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951455" y="3881491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596466" y="3621554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101873" y="2827371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458081" y="3821598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074798" y="3510153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223428" y="3638324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504996" y="3078922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375066" y="3455051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85652" y="3859929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330510" y="3435885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534510" y="3207093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954463" y="3732956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588660" y="3123243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847951" y="3391564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902102" y="3573640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187327" y="3255008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752902" y="3486196"/>
            <a:ext cx="45720" cy="45720"/>
          </a:xfrm>
          <a:prstGeom prst="ellipse">
            <a:avLst/>
          </a:prstGeom>
          <a:solidFill>
            <a:srgbClr val="3DDC97"/>
          </a:solidFill>
          <a:ln w="5080">
            <a:solidFill>
              <a:srgbClr val="3DDC97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4160520" y="40965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B97A8"/>
                </a:solidFill>
              </a:rPr>
              <a:t>leftover  (vertical)   against   predictor  (horizontal)</a:t>
            </a:r>
            <a:endParaRPr lang="en-US" sz="1000" dirty="0"/>
          </a:p>
        </p:txBody>
      </p:sp>
      <p:sp>
        <p:nvSpPr>
          <p:cNvPr id="133" name="Text 131"/>
          <p:cNvSpPr txBox="1"/>
          <p:nvPr/>
        </p:nvSpPr>
        <p:spPr>
          <a:xfrm>
            <a:off x="4160520" y="44074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7A8"/>
                </a:solidFill>
              </a:rPr>
              <a:t>dependence</a:t>
            </a:r>
            <a:endParaRPr lang="en-US" sz="1150" dirty="0"/>
          </a:p>
        </p:txBody>
      </p:sp>
      <p:sp>
        <p:nvSpPr>
          <p:cNvPr id="134" name="Text 132"/>
          <p:cNvSpPr txBox="1"/>
          <p:nvPr/>
        </p:nvSpPr>
        <p:spPr>
          <a:xfrm>
            <a:off x="5897880" y="4389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DDC97"/>
                </a:solidFill>
              </a:rPr>
              <a:t>0.0051</a:t>
            </a:r>
            <a:endParaRPr lang="en-US" sz="1400" dirty="0"/>
          </a:p>
        </p:txBody>
      </p:sp>
      <p:sp>
        <p:nvSpPr>
          <p:cNvPr id="135" name="Text 133"/>
          <p:cNvSpPr txBox="1"/>
          <p:nvPr/>
        </p:nvSpPr>
        <p:spPr>
          <a:xfrm>
            <a:off x="4160520" y="47183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7A8"/>
                </a:solidFill>
              </a:rPr>
              <a:t>leftover kurtosis</a:t>
            </a:r>
            <a:endParaRPr lang="en-US" sz="1150" dirty="0"/>
          </a:p>
        </p:txBody>
      </p:sp>
      <p:sp>
        <p:nvSpPr>
          <p:cNvPr id="136" name="Text 134"/>
          <p:cNvSpPr txBox="1"/>
          <p:nvPr/>
        </p:nvSpPr>
        <p:spPr>
          <a:xfrm>
            <a:off x="5897880" y="47000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DDC97"/>
                </a:solidFill>
              </a:rPr>
              <a:t>-1.20</a:t>
            </a:r>
            <a:endParaRPr lang="en-US" sz="1400" dirty="0"/>
          </a:p>
        </p:txBody>
      </p:sp>
      <p:sp>
        <p:nvSpPr>
          <p:cNvPr id="137" name="Text 135"/>
          <p:cNvSpPr txBox="1"/>
          <p:nvPr/>
        </p:nvSpPr>
        <p:spPr>
          <a:xfrm>
            <a:off x="4160520" y="5029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9EDF3"/>
                </a:solidFill>
              </a:rPr>
              <a:t>An even band. The spread does not change across the plot, and the leftover is still as flat-topped as the original shock.</a:t>
            </a:r>
            <a:endParaRPr lang="en-US" sz="1150" dirty="0"/>
          </a:p>
        </p:txBody>
      </p:sp>
      <p:sp>
        <p:nvSpPr>
          <p:cNvPr id="138" name="Shape 136"/>
          <p:cNvSpPr/>
          <p:nvPr/>
        </p:nvSpPr>
        <p:spPr>
          <a:xfrm>
            <a:off x="6217920" y="2286000"/>
            <a:ext cx="1143000" cy="274320"/>
          </a:xfrm>
          <a:prstGeom prst="roundRect">
            <a:avLst>
              <a:gd name="adj" fmla="val 40000"/>
            </a:avLst>
          </a:prstGeom>
          <a:solidFill>
            <a:srgbClr val="15241E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6217920" y="232257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3DDC97"/>
                </a:solidFill>
              </a:rPr>
              <a:t>KEEP</a:t>
            </a:r>
            <a:endParaRPr lang="en-US" sz="1100" dirty="0"/>
          </a:p>
        </p:txBody>
      </p:sp>
      <p:sp>
        <p:nvSpPr>
          <p:cNvPr id="140" name="Shape 138"/>
          <p:cNvSpPr/>
          <p:nvPr/>
        </p:nvSpPr>
        <p:spPr>
          <a:xfrm>
            <a:off x="7799832" y="1627632"/>
            <a:ext cx="3749040" cy="3931920"/>
          </a:xfrm>
          <a:prstGeom prst="roundRect">
            <a:avLst>
              <a:gd name="adj" fmla="val 1463"/>
            </a:avLst>
          </a:prstGeom>
          <a:solidFill>
            <a:srgbClr val="251D2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8074152" y="17922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DIRECTION  B   —   P(t)  →  T(t)</a:t>
            </a:r>
            <a:endParaRPr lang="en-US" sz="1150" dirty="0"/>
          </a:p>
        </p:txBody>
      </p:sp>
      <p:sp>
        <p:nvSpPr>
          <p:cNvPr id="142" name="Text 140"/>
          <p:cNvSpPr txBox="1"/>
          <p:nvPr/>
        </p:nvSpPr>
        <p:spPr>
          <a:xfrm>
            <a:off x="8074152" y="2304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9EDF3"/>
                </a:solidFill>
              </a:rPr>
              <a:t>slope  =  0.715</a:t>
            </a:r>
            <a:endParaRPr lang="en-US" sz="1300" dirty="0"/>
          </a:p>
        </p:txBody>
      </p:sp>
      <p:sp>
        <p:nvSpPr>
          <p:cNvPr id="143" name="Shape 141"/>
          <p:cNvSpPr/>
          <p:nvPr/>
        </p:nvSpPr>
        <p:spPr>
          <a:xfrm>
            <a:off x="8074152" y="2697480"/>
            <a:ext cx="3200400" cy="1371600"/>
          </a:xfrm>
          <a:prstGeom prst="roundRect">
            <a:avLst>
              <a:gd name="adj" fmla="val 3333"/>
            </a:avLst>
          </a:prstGeom>
          <a:solidFill>
            <a:srgbClr val="15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019733" y="3549683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994447" y="3632335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8508309" y="3435885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0725482" y="3179543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585308" y="3114858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147304" y="3354431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0307318" y="3349639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654500" y="3064548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155110" y="3488591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528149" y="3710196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853053" y="2798622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758004" y="3425105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0436678" y="3716186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0060631" y="3128034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0755566" y="3275372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369924" y="3431094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0704424" y="3619159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990219" y="3471821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537174" y="3276570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960136" y="3251414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749549" y="3542495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695398" y="3464634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0412611" y="3682645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9428872" y="3916229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1089496" y="3316099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430661" y="3531715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9690601" y="2987884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1101529" y="3331671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9871103" y="3502966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0180966" y="2960333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9816953" y="3167564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0000464" y="3827587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9765810" y="3628742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9654500" y="2951948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828986" y="3496976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0247150" y="3517340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0138849" y="2957938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0174949" y="3588014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0132832" y="3270580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0806708" y="3450260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510098" y="3094494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9648484" y="3738945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9513107" y="3155585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8758004" y="3300527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0373502" y="3318495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0951110" y="3386773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0114782" y="3355629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9949321" y="3750924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0731499" y="3234644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0027539" y="3675458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380738" y="2929189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0954119" y="3479009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125026" y="3785662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0899968" y="3431094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8333823" y="3416720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10560022" y="3342452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8550426" y="3457447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9043800" y="3803630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803130" y="3517340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353663" y="3958154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741743" y="3039392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685803" y="3208291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9467981" y="2978301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9525140" y="3894667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072665" y="2859713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9666534" y="3310110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529938" y="3116056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9221294" y="3185532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689382" y="3370003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890943" y="3391564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599130" y="3042986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890373" y="3330473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436108" y="3211885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045589" y="3181938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0108765" y="3108869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0361469" y="3040590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9434889" y="3518538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9792886" y="3644314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0605147" y="3108869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9759794" y="3366409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9699626" y="3229853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203244" y="3393960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881348" y="3404741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9714668" y="3506559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818172" y="3281361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9302520" y="3313703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0397569" y="3077724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902406" y="3414324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0162916" y="3082516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291706" y="3299329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844028" y="3311308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460175" y="3469426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825978" y="3308912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091934" y="3003457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200236" y="3232249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0575063" y="3607180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848256" y="3141211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660517" y="3201104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935499" y="3299329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0508879" y="3373597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619619" y="3584421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225522" y="3296933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925254" y="3193917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046808" y="3700613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290487" y="3092098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194219" y="3740143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10325368" y="3113660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10120799" y="2992676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413830" y="3537704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483023" y="3282559"/>
            <a:ext cx="45720" cy="45720"/>
          </a:xfrm>
          <a:prstGeom prst="ellipse">
            <a:avLst/>
          </a:prstGeom>
          <a:solidFill>
            <a:srgbClr val="FF6B6B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54" name="Text 252"/>
          <p:cNvSpPr txBox="1"/>
          <p:nvPr/>
        </p:nvSpPr>
        <p:spPr>
          <a:xfrm>
            <a:off x="8074152" y="40965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B97A8"/>
                </a:solidFill>
              </a:rPr>
              <a:t>leftover  (vertical)   against   predictor  (horizontal)</a:t>
            </a:r>
            <a:endParaRPr lang="en-US" sz="1000" dirty="0"/>
          </a:p>
        </p:txBody>
      </p:sp>
      <p:sp>
        <p:nvSpPr>
          <p:cNvPr id="255" name="Text 253"/>
          <p:cNvSpPr txBox="1"/>
          <p:nvPr/>
        </p:nvSpPr>
        <p:spPr>
          <a:xfrm>
            <a:off x="8074152" y="44074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7A8"/>
                </a:solidFill>
              </a:rPr>
              <a:t>dependence</a:t>
            </a:r>
            <a:endParaRPr lang="en-US" sz="1150" dirty="0"/>
          </a:p>
        </p:txBody>
      </p:sp>
      <p:sp>
        <p:nvSpPr>
          <p:cNvPr id="256" name="Text 254"/>
          <p:cNvSpPr txBox="1"/>
          <p:nvPr/>
        </p:nvSpPr>
        <p:spPr>
          <a:xfrm>
            <a:off x="9811512" y="4389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6B6B"/>
                </a:solidFill>
              </a:rPr>
              <a:t>0.0464</a:t>
            </a:r>
            <a:endParaRPr lang="en-US" sz="1400" dirty="0"/>
          </a:p>
        </p:txBody>
      </p:sp>
      <p:sp>
        <p:nvSpPr>
          <p:cNvPr id="257" name="Text 255"/>
          <p:cNvSpPr txBox="1"/>
          <p:nvPr/>
        </p:nvSpPr>
        <p:spPr>
          <a:xfrm>
            <a:off x="8074152" y="47183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7A8"/>
                </a:solidFill>
              </a:rPr>
              <a:t>leftover kurtosis</a:t>
            </a:r>
            <a:endParaRPr lang="en-US" sz="1150" dirty="0"/>
          </a:p>
        </p:txBody>
      </p:sp>
      <p:sp>
        <p:nvSpPr>
          <p:cNvPr id="258" name="Text 256"/>
          <p:cNvSpPr txBox="1"/>
          <p:nvPr/>
        </p:nvSpPr>
        <p:spPr>
          <a:xfrm>
            <a:off x="9811512" y="47000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6B6B"/>
                </a:solidFill>
              </a:rPr>
              <a:t>-0.71</a:t>
            </a:r>
            <a:endParaRPr lang="en-US" sz="1400" dirty="0"/>
          </a:p>
        </p:txBody>
      </p:sp>
      <p:sp>
        <p:nvSpPr>
          <p:cNvPr id="259" name="Text 257"/>
          <p:cNvSpPr txBox="1"/>
          <p:nvPr/>
        </p:nvSpPr>
        <p:spPr>
          <a:xfrm>
            <a:off x="8074152" y="5029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9EDF3"/>
                </a:solidFill>
              </a:rPr>
              <a:t>Pinched at both ends. The spread depends on the predictor, and the leftover has drifted toward a bell.</a:t>
            </a:r>
            <a:endParaRPr lang="en-US" sz="1150" dirty="0"/>
          </a:p>
        </p:txBody>
      </p:sp>
      <p:sp>
        <p:nvSpPr>
          <p:cNvPr id="260" name="Shape 258"/>
          <p:cNvSpPr/>
          <p:nvPr/>
        </p:nvSpPr>
        <p:spPr>
          <a:xfrm>
            <a:off x="10131552" y="2286000"/>
            <a:ext cx="1143000" cy="274320"/>
          </a:xfrm>
          <a:prstGeom prst="roundRect">
            <a:avLst>
              <a:gd name="adj" fmla="val 40000"/>
            </a:avLst>
          </a:prstGeom>
          <a:solidFill>
            <a:srgbClr val="251D22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1" name="Text 259"/>
          <p:cNvSpPr txBox="1"/>
          <p:nvPr/>
        </p:nvSpPr>
        <p:spPr>
          <a:xfrm>
            <a:off x="10131552" y="232257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6B6B"/>
                </a:solidFill>
              </a:rPr>
              <a:t>REJECT</a:t>
            </a:r>
            <a:endParaRPr lang="en-US" sz="1100" dirty="0"/>
          </a:p>
        </p:txBody>
      </p:sp>
      <p:sp>
        <p:nvSpPr>
          <p:cNvPr id="262" name="Shape 260"/>
          <p:cNvSpPr/>
          <p:nvPr/>
        </p:nvSpPr>
        <p:spPr>
          <a:xfrm>
            <a:off x="621792" y="5687568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2A2416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63" name="Text 261"/>
          <p:cNvSpPr txBox="1"/>
          <p:nvPr/>
        </p:nvSpPr>
        <p:spPr>
          <a:xfrm>
            <a:off x="822960" y="58155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2B33D"/>
                </a:solidFill>
              </a:rPr>
              <a:t>OUR PAIR</a:t>
            </a:r>
            <a:endParaRPr lang="en-US" sz="1150" dirty="0"/>
          </a:p>
        </p:txBody>
      </p:sp>
      <p:sp>
        <p:nvSpPr>
          <p:cNvPr id="264" name="Text 262"/>
          <p:cNvSpPr txBox="1"/>
          <p:nvPr/>
        </p:nvSpPr>
        <p:spPr>
          <a:xfrm>
            <a:off x="1920240" y="5815584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9EDF3"/>
                </a:solidFill>
              </a:rPr>
              <a:t>Nine times more dependence the wrong way round. T(t) → P(t) — the same arrow the PCMCI+ half reached through a collider rule.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795528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Step 2b — DirectLiNGAM peels off one sensor per round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sensor with no same-minute parent leaves no trace in anything it explains. Find it, remove it, repeat.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3108960" cy="3931920"/>
          </a:xfrm>
          <a:prstGeom prst="roundRect">
            <a:avLst>
              <a:gd name="adj" fmla="val 1765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922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THE PROCEDURE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86968" y="2212848"/>
            <a:ext cx="274320" cy="274320"/>
          </a:xfrm>
          <a:prstGeom prst="roundRect">
            <a:avLst>
              <a:gd name="adj" fmla="val 166667"/>
            </a:avLst>
          </a:prstGeom>
          <a:solidFill>
            <a:srgbClr val="2A3242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25399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9B8CFF"/>
                </a:solidFill>
              </a:rPr>
              <a:t>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289304" y="220370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9EDF3"/>
                </a:solidFill>
              </a:rPr>
              <a:t>For each remaining sensor, regress every other one on it and score the worst dependence left behind.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86968" y="3081528"/>
            <a:ext cx="274320" cy="274320"/>
          </a:xfrm>
          <a:prstGeom prst="roundRect">
            <a:avLst>
              <a:gd name="adj" fmla="val 166667"/>
            </a:avLst>
          </a:prstGeom>
          <a:solidFill>
            <a:srgbClr val="2A3242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6968" y="312267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9B8CFF"/>
                </a:solidFill>
              </a:rPr>
              <a:t>2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289304" y="307238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9EDF3"/>
                </a:solidFill>
              </a:rPr>
              <a:t>The lowest score has no same-minute parent. It goes next in the order.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86968" y="3950208"/>
            <a:ext cx="274320" cy="274320"/>
          </a:xfrm>
          <a:prstGeom prst="roundRect">
            <a:avLst>
              <a:gd name="adj" fmla="val 166667"/>
            </a:avLst>
          </a:prstGeom>
          <a:solidFill>
            <a:srgbClr val="2A3242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399135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9B8CFF"/>
                </a:solidFill>
              </a:rPr>
              <a:t>3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289304" y="394106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9EDF3"/>
                </a:solidFill>
              </a:rPr>
              <a:t>Replace every other column by its leftover after removing that sensor.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86968" y="4818888"/>
            <a:ext cx="274320" cy="274320"/>
          </a:xfrm>
          <a:prstGeom prst="roundRect">
            <a:avLst>
              <a:gd name="adj" fmla="val 166667"/>
            </a:avLst>
          </a:prstGeom>
          <a:solidFill>
            <a:srgbClr val="2A3242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" y="486003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9B8CFF"/>
                </a:solidFill>
              </a:rPr>
              <a:t>4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289304" y="480974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9EDF3"/>
                </a:solidFill>
              </a:rPr>
              <a:t>Repeat on what remains. Then regress each sensor on its predecessors to fill B₀.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886200" y="1627632"/>
            <a:ext cx="2441448" cy="3931920"/>
          </a:xfrm>
          <a:prstGeom prst="roundRect">
            <a:avLst>
              <a:gd name="adj" fmla="val 2247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60520" y="179222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ROUND  1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087368" y="228600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worst dependence as root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87368" y="2596896"/>
            <a:ext cx="2057400" cy="384048"/>
          </a:xfrm>
          <a:prstGeom prst="roundRect">
            <a:avLst>
              <a:gd name="adj" fmla="val 23810"/>
            </a:avLst>
          </a:prstGeom>
          <a:solidFill>
            <a:srgbClr val="15241E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87952" y="2660904"/>
            <a:ext cx="256032" cy="256032"/>
          </a:xfrm>
          <a:prstGeom prst="ellipse">
            <a:avLst/>
          </a:prstGeom>
          <a:solidFill>
            <a:srgbClr val="1A1F2A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87952" y="2714671"/>
            <a:ext cx="25603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DDC97"/>
                </a:solidFill>
              </a:rPr>
              <a:t>F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44568" y="26791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DDC97"/>
                </a:solidFill>
              </a:rPr>
              <a:t>chosen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349240" y="26609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DDC97"/>
                </a:solidFill>
              </a:rPr>
              <a:t>0.0030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087368" y="3072384"/>
            <a:ext cx="2057400" cy="384048"/>
          </a:xfrm>
          <a:prstGeom prst="roundRect">
            <a:avLst>
              <a:gd name="adj" fmla="val 23810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87952" y="3136392"/>
            <a:ext cx="256032" cy="256032"/>
          </a:xfrm>
          <a:prstGeom prst="ellipse">
            <a:avLst/>
          </a:prstGeom>
          <a:solidFill>
            <a:srgbClr val="1A1F2A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87952" y="3190159"/>
            <a:ext cx="25603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6B6B"/>
                </a:solidFill>
              </a:rPr>
              <a:t>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44568" y="31546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not yet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349240" y="3136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6B6B"/>
                </a:solidFill>
              </a:rPr>
              <a:t>0.0051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087368" y="3547872"/>
            <a:ext cx="2057400" cy="384048"/>
          </a:xfrm>
          <a:prstGeom prst="roundRect">
            <a:avLst>
              <a:gd name="adj" fmla="val 23810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87952" y="3611880"/>
            <a:ext cx="256032" cy="256032"/>
          </a:xfrm>
          <a:prstGeom prst="ellipse">
            <a:avLst/>
          </a:prstGeom>
          <a:solidFill>
            <a:srgbClr val="1A1F2A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187952" y="3665647"/>
            <a:ext cx="25603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6B6B"/>
                </a:solidFill>
              </a:rPr>
              <a:t>P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544568" y="36301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not yet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349240" y="36118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6B6B"/>
                </a:solidFill>
              </a:rPr>
              <a:t>0.0464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087368" y="429768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8B97A8"/>
                </a:solidFill>
              </a:rPr>
              <a:t>P leaves 0.0464 behind in T, so it cannot be first. F and T both sit near zero because no same-minute link joins them, so either may go first.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373368" y="3017520"/>
            <a:ext cx="274320" cy="310896"/>
          </a:xfrm>
          <a:prstGeom prst="chevron">
            <a:avLst/>
          </a:prstGeom>
          <a:solidFill>
            <a:srgbClr val="2A324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64808" y="1627632"/>
            <a:ext cx="2441448" cy="3931920"/>
          </a:xfrm>
          <a:prstGeom prst="roundRect">
            <a:avLst>
              <a:gd name="adj" fmla="val 2247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39128" y="179222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ROUND  2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665976" y="228600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worst dependence as root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665976" y="2596896"/>
            <a:ext cx="2057400" cy="384048"/>
          </a:xfrm>
          <a:prstGeom prst="roundRect">
            <a:avLst>
              <a:gd name="adj" fmla="val 23810"/>
            </a:avLst>
          </a:prstGeom>
          <a:solidFill>
            <a:srgbClr val="15241E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0" y="2660904"/>
            <a:ext cx="256032" cy="256032"/>
          </a:xfrm>
          <a:prstGeom prst="ellipse">
            <a:avLst/>
          </a:prstGeom>
          <a:solidFill>
            <a:srgbClr val="1A1F2A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766560" y="2714671"/>
            <a:ext cx="25603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DDC97"/>
                </a:solidFill>
              </a:rPr>
              <a:t>T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123176" y="26791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DDC97"/>
                </a:solidFill>
              </a:rPr>
              <a:t>chosen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7927848" y="26609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DDC97"/>
                </a:solidFill>
              </a:rPr>
              <a:t>0.0050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665976" y="3072384"/>
            <a:ext cx="2057400" cy="384048"/>
          </a:xfrm>
          <a:prstGeom prst="roundRect">
            <a:avLst>
              <a:gd name="adj" fmla="val 23810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66560" y="3136392"/>
            <a:ext cx="256032" cy="256032"/>
          </a:xfrm>
          <a:prstGeom prst="ellipse">
            <a:avLst/>
          </a:prstGeom>
          <a:solidFill>
            <a:srgbClr val="1A1F2A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766560" y="3190159"/>
            <a:ext cx="25603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6B6B"/>
                </a:solidFill>
              </a:rPr>
              <a:t>P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7123176" y="31546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not yet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7927848" y="3136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6B6B"/>
                </a:solidFill>
              </a:rPr>
              <a:t>0.0457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665976" y="429768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8B97A8"/>
                </a:solidFill>
              </a:rPr>
              <a:t>After F is removed, P still leaves 0.0457 in T. T is next.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8951976" y="3017520"/>
            <a:ext cx="274320" cy="310896"/>
          </a:xfrm>
          <a:prstGeom prst="chevron">
            <a:avLst/>
          </a:prstGeom>
          <a:solidFill>
            <a:srgbClr val="2A324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043416" y="1627632"/>
            <a:ext cx="2441448" cy="3931920"/>
          </a:xfrm>
          <a:prstGeom prst="roundRect">
            <a:avLst>
              <a:gd name="adj" fmla="val 2247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317736" y="179222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ROUND  3</a:t>
            </a:r>
            <a:endParaRPr lang="en-US" sz="1150" dirty="0"/>
          </a:p>
        </p:txBody>
      </p:sp>
      <p:sp>
        <p:nvSpPr>
          <p:cNvPr id="55" name="Text 53"/>
          <p:cNvSpPr txBox="1"/>
          <p:nvPr/>
        </p:nvSpPr>
        <p:spPr>
          <a:xfrm>
            <a:off x="9244584" y="228600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worst dependence as root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9244584" y="2596896"/>
            <a:ext cx="2057400" cy="384048"/>
          </a:xfrm>
          <a:prstGeom prst="roundRect">
            <a:avLst>
              <a:gd name="adj" fmla="val 23810"/>
            </a:avLst>
          </a:prstGeom>
          <a:solidFill>
            <a:srgbClr val="15241E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345168" y="2660904"/>
            <a:ext cx="256032" cy="256032"/>
          </a:xfrm>
          <a:prstGeom prst="ellipse">
            <a:avLst/>
          </a:prstGeom>
          <a:solidFill>
            <a:srgbClr val="1A1F2A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345168" y="2714671"/>
            <a:ext cx="25603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DDC97"/>
                </a:solidFill>
              </a:rPr>
              <a:t>P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9701784" y="26791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DDC97"/>
                </a:solidFill>
              </a:rPr>
              <a:t>chosen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10506456" y="26609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DDC97"/>
                </a:solidFill>
              </a:rPr>
              <a:t>—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9244584" y="429768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8B97A8"/>
                </a:solidFill>
              </a:rPr>
              <a:t>Only P is left, so it takes the last place. Order:  F → T → P.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21792" y="5687568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2A2416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22960" y="58155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2B33D"/>
                </a:solidFill>
              </a:rPr>
              <a:t>OUR PAIR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1920240" y="5815584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9EDF3"/>
                </a:solidFill>
              </a:rPr>
              <a:t>Regressing on predecessors gives B₀ = 0.831 for T(t) → P(t), with 0.003 and 0.016 everywhere else below the diagonal.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795528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Steps 3 and 4 — undo the mixing, then prune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B₀ is known, so the contaminated lagged weights can be corrected in one multiplication.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5577840" cy="2103120"/>
          </a:xfrm>
          <a:prstGeom prst="roundRect">
            <a:avLst>
              <a:gd name="adj" fmla="val 2609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922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THE IDENTITY, APPLIED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214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DDC97"/>
                </a:solidFill>
              </a:rPr>
              <a:t>B₁  =  ( I − B₀ )  M₁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2139696" cy="1042416"/>
          </a:xfrm>
          <a:prstGeom prst="roundRect">
            <a:avLst>
              <a:gd name="adj" fmla="val 4386"/>
            </a:avLst>
          </a:prstGeom>
          <a:solidFill>
            <a:srgbClr val="15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61518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627632" y="261518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340864" y="261518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6265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−0.003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627632" y="296265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340864" y="296265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31012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−0.016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73352" y="3291840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2A2416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27632" y="331012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2B33D"/>
                </a:solidFill>
              </a:rPr>
              <a:t>−0.831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340864" y="331012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163824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8B97A8"/>
                </a:solidFill>
              </a:rPr>
              <a:t>·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511296" y="2560320"/>
            <a:ext cx="2139696" cy="1042416"/>
          </a:xfrm>
          <a:prstGeom prst="roundRect">
            <a:avLst>
              <a:gd name="adj" fmla="val 4386"/>
            </a:avLst>
          </a:prstGeom>
          <a:solidFill>
            <a:srgbClr val="15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11296" y="261518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0.572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224528" y="261518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-0.018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261518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0.001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511296" y="296265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0.513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224528" y="296265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0.646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296265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-0.037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557016" y="3291840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2A2416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511296" y="331012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2B33D"/>
                </a:solidFill>
              </a:rPr>
              <a:t>0.436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70248" y="3291840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2A2416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24528" y="331012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2B33D"/>
                </a:solidFill>
              </a:rPr>
              <a:t>0.553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331012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-0.062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76072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8B97A8"/>
                </a:solidFill>
              </a:rPr>
              <a:t>=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792" y="3840480"/>
            <a:ext cx="5577840" cy="1828800"/>
          </a:xfrm>
          <a:prstGeom prst="roundRect">
            <a:avLst>
              <a:gd name="adj" fmla="val 3000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6112" y="40050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THE ROW THAT MATTERS  —  PRESSURE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14400" y="43159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9EDF3"/>
                </a:solidFill>
              </a:rPr>
              <a:t>−0.016 × 0.572  −  0.831 × 0.513  +  0.436   =   0.001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914400" y="46268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9EDF3"/>
                </a:solidFill>
              </a:rPr>
              <a:t>−0.016 × −0.018  −  0.831 × 0.646  +  0.553   =   0.016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914400" y="5029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F2B33D"/>
                </a:solidFill>
              </a:rPr>
              <a:t>Both lagged links into pressure collapse to nothing. They were never separate effects — they were T(t) → P(t) counted twice.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0" y="1627632"/>
            <a:ext cx="5148072" cy="4041648"/>
          </a:xfrm>
          <a:prstGeom prst="roundRect">
            <a:avLst>
              <a:gd name="adj" fmla="val 1357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75120" y="1792224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AFTER PRUNING AT  |b| &lt; 0.05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693408" y="20116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7A8"/>
                </a:solidFill>
              </a:rPr>
              <a:t>B₀   same minute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223760" y="2523744"/>
            <a:ext cx="2139696" cy="1042416"/>
          </a:xfrm>
          <a:prstGeom prst="roundRect">
            <a:avLst>
              <a:gd name="adj" fmla="val 4386"/>
            </a:avLst>
          </a:prstGeom>
          <a:solidFill>
            <a:srgbClr val="15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223760" y="228600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F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7936992" y="228600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T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8650224" y="228600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P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839712" y="258775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F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6839712" y="293522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T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6839712" y="328269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P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7223760" y="257860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0.000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936992" y="257860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0.000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650224" y="257860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0.000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269480" y="2907792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251D22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223760" y="292608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6B6B"/>
                </a:solidFill>
              </a:rPr>
              <a:t>0.003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936992" y="292608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0.000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8650224" y="292608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0.000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269480" y="3255264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251D22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223760" y="327355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6B6B"/>
                </a:solidFill>
              </a:rPr>
              <a:t>0.016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982712" y="3255264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15241E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936992" y="327355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DDC97"/>
                </a:solidFill>
              </a:rPr>
              <a:t>0.831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8650224" y="327355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EDF3"/>
                </a:solidFill>
              </a:rPr>
              <a:t>0.000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9692640" y="2651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DDC97"/>
                </a:solidFill>
              </a:rPr>
              <a:t>one survivor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DDC97"/>
                </a:solidFill>
              </a:rPr>
              <a:t>0.831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6693408" y="369417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7A8"/>
                </a:solidFill>
              </a:rPr>
              <a:t>B₁   one minute back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7223760" y="4206240"/>
            <a:ext cx="2139696" cy="1042416"/>
          </a:xfrm>
          <a:prstGeom prst="roundRect">
            <a:avLst>
              <a:gd name="adj" fmla="val 4386"/>
            </a:avLst>
          </a:prstGeom>
          <a:solidFill>
            <a:srgbClr val="151A2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223760" y="396849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F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7936992" y="396849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T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8650224" y="396849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P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6839712" y="427024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F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6839712" y="461772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T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6839712" y="496519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P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7269480" y="4242816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15241E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223760" y="426110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DDC97"/>
                </a:solidFill>
              </a:rPr>
              <a:t>0.572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7982712" y="4242816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251D22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936992" y="426110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6B6B"/>
                </a:solidFill>
              </a:rPr>
              <a:t>-0.018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8695944" y="4242816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251D22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650224" y="426110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6B6B"/>
                </a:solidFill>
              </a:rPr>
              <a:t>0.001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7269480" y="4590288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15241E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7223760" y="460857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DDC97"/>
                </a:solidFill>
              </a:rPr>
              <a:t>0.511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7982712" y="4590288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15241E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7936992" y="460857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DDC97"/>
                </a:solidFill>
              </a:rPr>
              <a:t>0.646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8695944" y="4590288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251D22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650224" y="460857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6B6B"/>
                </a:solidFill>
              </a:rPr>
              <a:t>-0.037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7269480" y="4937760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251D22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7223760" y="495604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6B6B"/>
                </a:solidFill>
              </a:rPr>
              <a:t>0.001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7982712" y="4937760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251D22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936992" y="495604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6B6B"/>
                </a:solidFill>
              </a:rPr>
              <a:t>0.016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8695944" y="4937760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251D22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8650224" y="495604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6B6B"/>
                </a:solidFill>
              </a:rPr>
              <a:t>-0.031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9692640" y="4334256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DDC97"/>
                </a:solidFill>
              </a:rPr>
              <a:t>three survivors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DDC97"/>
                </a:solidFill>
              </a:rPr>
              <a:t>0.572   0.511   0.646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6693408" y="53400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B97A8"/>
                </a:solidFill>
              </a:rPr>
              <a:t>green kept · red dropped as estimation noise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621792" y="5852160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2A2416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822960" y="59801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2B33D"/>
                </a:solidFill>
              </a:rPr>
              <a:t>OUR PAIR</a:t>
            </a:r>
            <a:endParaRPr lang="en-US" sz="1150" dirty="0"/>
          </a:p>
        </p:txBody>
      </p:sp>
      <p:sp>
        <p:nvSpPr>
          <p:cNvPr id="90" name="Text 88"/>
          <p:cNvSpPr txBox="1"/>
          <p:nvPr/>
        </p:nvSpPr>
        <p:spPr>
          <a:xfrm>
            <a:off x="1920240" y="5980176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9EDF3"/>
                </a:solidFill>
              </a:rPr>
              <a:t>T(t−1) → P(t) falls from 0.553 to 0.016 and is pruned. PCMCI+ cut it with a conditioning set. Here an identity does 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795528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recovered graph, and how to read it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Four weighted links, the same four the equations on slide one put in, with the numbers attached.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6492240" cy="2834640"/>
          </a:xfrm>
          <a:prstGeom prst="roundRect">
            <a:avLst>
              <a:gd name="adj" fmla="val 1935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9222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RECOVERED GRAPH  —  WEIGHTS ESTIMATED, TRUTH IN BRACKETS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767328" y="2227113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B97A8"/>
                </a:solidFill>
              </a:rPr>
              <a:t>minute  t − 1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23360" y="2377440"/>
            <a:ext cx="402336" cy="402336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23360" y="2461931"/>
            <a:ext cx="402336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B8CFF"/>
                </a:solidFill>
              </a:rPr>
              <a:t>F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23360" y="2944368"/>
            <a:ext cx="402336" cy="402336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23360" y="3028859"/>
            <a:ext cx="402336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B8CFF"/>
                </a:solidFill>
              </a:rPr>
              <a:t>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23360" y="3511296"/>
            <a:ext cx="402336" cy="402336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23360" y="3595787"/>
            <a:ext cx="402336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B8CFF"/>
                </a:solidFill>
              </a:rPr>
              <a:t>P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053328" y="2227113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B97A8"/>
                </a:solidFill>
              </a:rPr>
              <a:t>minute  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2377440"/>
            <a:ext cx="402336" cy="402336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2461931"/>
            <a:ext cx="402336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B8CFF"/>
                </a:solidFill>
              </a:rPr>
              <a:t>F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2944368"/>
            <a:ext cx="402336" cy="402336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3028859"/>
            <a:ext cx="402336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B8CFF"/>
                </a:solidFill>
              </a:rPr>
              <a:t>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09360" y="3511296"/>
            <a:ext cx="402336" cy="402336"/>
          </a:xfrm>
          <a:prstGeom prst="ellipse">
            <a:avLst/>
          </a:prstGeom>
          <a:solidFill>
            <a:srgbClr val="1A1F2A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3595787"/>
            <a:ext cx="402336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B8CFF"/>
                </a:solidFill>
              </a:rPr>
              <a:t>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25696" y="2578608"/>
            <a:ext cx="1883664" cy="0"/>
          </a:xfrm>
          <a:prstGeom prst="line">
            <a:avLst/>
          </a:prstGeom>
          <a:noFill/>
          <a:ln w="25400">
            <a:solidFill>
              <a:srgbClr val="9B8CF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425696" y="3145536"/>
            <a:ext cx="1883664" cy="0"/>
          </a:xfrm>
          <a:prstGeom prst="line">
            <a:avLst/>
          </a:prstGeom>
          <a:noFill/>
          <a:ln w="25400">
            <a:solidFill>
              <a:srgbClr val="9B8CF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419781" y="2627031"/>
            <a:ext cx="1895494" cy="470082"/>
          </a:xfrm>
          <a:prstGeom prst="line">
            <a:avLst/>
          </a:prstGeom>
          <a:noFill/>
          <a:ln w="25400">
            <a:solidFill>
              <a:srgbClr val="9B8CF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510528" y="3346704"/>
            <a:ext cx="0" cy="164592"/>
          </a:xfrm>
          <a:prstGeom prst="line">
            <a:avLst/>
          </a:prstGeom>
          <a:noFill/>
          <a:ln w="31750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6693408" y="32735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DDC97"/>
                </a:solidFill>
              </a:rPr>
              <a:t>0.831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22311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7A8"/>
                </a:solidFill>
              </a:rPr>
              <a:t>estimated   (true)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25237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B8CFF"/>
                </a:solidFill>
              </a:rPr>
              <a:t>F(t−1)  →  F(t)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2432304" y="25237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9B8CFF"/>
                </a:solidFill>
              </a:rPr>
              <a:t>0.572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2962656" y="25237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7A8"/>
                </a:solidFill>
              </a:rPr>
              <a:t>(0.60)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28346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B8CFF"/>
                </a:solidFill>
              </a:rPr>
              <a:t>F(t−1)  →  T(t)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2432304" y="28346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9B8CFF"/>
                </a:solidFill>
              </a:rPr>
              <a:t>0.511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2962656" y="28346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7A8"/>
                </a:solidFill>
              </a:rPr>
              <a:t>(0.50)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14400" y="314553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B8CFF"/>
                </a:solidFill>
              </a:rPr>
              <a:t>T(t−1)  →  T(t)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2432304" y="314553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9B8CFF"/>
                </a:solidFill>
              </a:rPr>
              <a:t>0.646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2962656" y="3145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7A8"/>
                </a:solidFill>
              </a:rPr>
              <a:t>(0.65)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914400" y="34564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DDC97"/>
                </a:solidFill>
              </a:rPr>
              <a:t>T(t)  →  P(t)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2432304" y="3456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DDC97"/>
                </a:solidFill>
              </a:rPr>
              <a:t>0.831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2962656" y="34564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7A8"/>
                </a:solidFill>
              </a:rPr>
              <a:t>(0.80)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914400" y="4023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B97A8"/>
                </a:solidFill>
              </a:rPr>
              <a:t>Nothing extra, nothing missing. The same four links the PCMCI+ half recovered, now carrying effect sizes.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269480" y="1627632"/>
            <a:ext cx="4279392" cy="2834640"/>
          </a:xfrm>
          <a:prstGeom prst="roundRect">
            <a:avLst>
              <a:gd name="adj" fmla="val 1935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43800" y="1792224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HOW TO READ A WEIGHT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562088" y="2157984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E9EDF3"/>
                </a:solidFill>
              </a:rPr>
              <a:t>A one-unit change in the parent moves the child by b units, with every other parent held fixed. These are structural coefficients, not correlations.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7562088" y="30175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DDC97"/>
                </a:solidFill>
              </a:rPr>
              <a:t>T(t) → P(t)   b = 0.831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7562088" y="32918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7A8"/>
                </a:solidFill>
              </a:rPr>
              <a:t>One degree hotter raises pressure by 0.83 bar inside the same minute. A lag-0 arrow is relative to the sampling interval — read at one second instead, this link would move to lag 1.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21792" y="4617720"/>
            <a:ext cx="6492240" cy="1645920"/>
          </a:xfrm>
          <a:prstGeom prst="roundRect">
            <a:avLst>
              <a:gd name="adj" fmla="val 3333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96112" y="478231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WHAT EACH STEP BOUGHT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914400" y="50749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B8CFF"/>
                </a:solidFill>
              </a:rPr>
              <a:t>VAR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920240" y="5074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B97A8"/>
                </a:solidFill>
              </a:rPr>
              <a:t>everything the past can explain, and clean residuals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914400" y="5349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DDC97"/>
                </a:solidFill>
              </a:rPr>
              <a:t>LiNGAM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1920240" y="53492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B97A8"/>
                </a:solidFill>
              </a:rPr>
              <a:t>the order inside the minute, and B₀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14400" y="5623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2B33D"/>
                </a:solidFill>
              </a:rPr>
              <a:t>Convert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1920240" y="56235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B97A8"/>
                </a:solidFill>
              </a:rPr>
              <a:t>lagged weights with the same-minute leak removed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914400" y="5897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FC3DF"/>
                </a:solidFill>
              </a:rPr>
              <a:t>Prune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1920240" y="5897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B97A8"/>
                </a:solidFill>
              </a:rPr>
              <a:t>a graph instead of a dense matrix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269480" y="4617720"/>
            <a:ext cx="4279392" cy="1645920"/>
          </a:xfrm>
          <a:prstGeom prst="roundRect">
            <a:avLst>
              <a:gd name="adj" fmla="val 3333"/>
            </a:avLst>
          </a:prstGeom>
          <a:solidFill>
            <a:srgbClr val="1A1F2A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543800" y="478231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B97A8"/>
                </a:solidFill>
              </a:rPr>
              <a:t>WHEN IT BREAKS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7562088" y="5138928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790688" y="506577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7A8"/>
                </a:solidFill>
              </a:rPr>
              <a:t>residuals close to Gaussian — the lag-0 order stops being identifiable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7562088" y="5486400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790688" y="541324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7A8"/>
                </a:solidFill>
              </a:rPr>
              <a:t>a hidden common cause — the shocks are no longer independent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7562088" y="5833872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790688" y="576072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7A8"/>
                </a:solidFill>
              </a:rPr>
              <a:t>τmax too small, or sampling slower than the true delay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795528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usal Graphite">
  <a:themeElements>
    <a:clrScheme name="Causal Graphite">
      <a:dk1>
        <a:srgbClr val="E9EDF3"/>
      </a:dk1>
      <a:lt1>
        <a:srgbClr val="0F1218"/>
      </a:lt1>
      <a:dk2>
        <a:srgbClr val="8B97A8"/>
      </a:dk2>
      <a:lt2>
        <a:srgbClr val="1A1F2A"/>
      </a:lt2>
      <a:accent1>
        <a:srgbClr val="3DDC97"/>
      </a:accent1>
      <a:accent2>
        <a:srgbClr val="F2B33D"/>
      </a:accent2>
      <a:accent3>
        <a:srgbClr val="9B8CFF"/>
      </a:accent3>
      <a:accent4>
        <a:srgbClr val="FF6B6B"/>
      </a:accent4>
      <a:accent5>
        <a:srgbClr val="6FC3DF"/>
      </a:accent5>
      <a:accent6>
        <a:srgbClr val="2A3242"/>
      </a:accent6>
      <a:hlink>
        <a:srgbClr val="6FC3DF"/>
      </a:hlink>
      <a:folHlink>
        <a:srgbClr val="9B8CFF"/>
      </a:folHlink>
    </a:clrScheme>
    <a:fontScheme name="Causal Graphi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VAR-LiNGAM — causal discovery for time series</dc:title>
  <dc:subject>PptxGenJS Presentation</dc:subject>
  <dc:creator>Satyam</dc:creator>
  <cp:lastModifiedBy>Satyam</cp:lastModifiedBy>
  <cp:revision>1</cp:revision>
  <dcterms:created xsi:type="dcterms:W3CDTF">2026-10-08T21:36:58Z</dcterms:created>
  <dcterms:modified xsi:type="dcterms:W3CDTF">2026-10-08T21:36:58Z</dcterms:modified>
</cp:coreProperties>
</file>