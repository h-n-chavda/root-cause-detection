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Tennessee Eastman, 31 variables, 1499 samples. Everything in this deck comes from two runs in the repo; the run IDs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methods were announced last time: PCMCI+, VAR-LiNGAM, LSTE. PC is here as the i.i.d. baseline - it is what the temporal methods are supposed to improve on, so it has to be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this table is column three. The four assumptions are different and non-overlapping, which is what makes the next slide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the rest of the deck hangs off. Every mark is from the EDA report's own per-algorithm verdict. Note the one clean row - linearity - which is why we use ParCorr and not GPDC.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was chosen by preference. tau is swept because the four order criteria disagree; standardisation is on because of the 2525x scale ratio. The prior knowledge is an oracle and we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panels because the two orderings disagree. LSTE is first on SHD and last on recovery. If you only show the left panel you have published a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by row: the EDA prediction, then what happened. Three held. Two things to say out loud: LSTE failed in the direction we were not watching, and VAR-LiNGAM's six identical scores turned out to have a config cause on top of the statistical one - criterion: bic made lingam ignore the tau we swept.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one plainly: LSTE and VAR-LiNGAM are under-covered, and it is because of runtime. One LSTE cell costs four times the whole rest of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transferable ones are the first four. The pre-flight feasibility check is the one that would have saved actual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fixes are written but not run. Nothing on the results slides depends on them, and we should not present them as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783080"/>
            <a:ext cx="41148" cy="201168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755648"/>
            <a:ext cx="10073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 i="0">
                <a:solidFill>
                  <a:srgbClr val="ECEAE4"/>
                </a:solidFill>
                <a:latin typeface="Aptos"/>
              </a:rPr>
              <a:t>Causal Discovery on Tennessee Eastman:</a:t>
            </a:r>
          </a:p>
          <a:p>
            <a:pPr algn="l">
              <a:lnSpc>
                <a:spcPct val="106000"/>
              </a:lnSpc>
            </a:pPr>
            <a:r>
              <a:rPr sz="3600" b="1" i="0">
                <a:solidFill>
                  <a:srgbClr val="ECEAE4"/>
                </a:solidFill>
                <a:latin typeface="Aptos"/>
              </a:rPr>
              <a:t>PCMCI+, VAR-LiNGAM and LSTE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072384"/>
            <a:ext cx="91432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9AA2AA"/>
                </a:solidFill>
                <a:latin typeface="Aptos"/>
              </a:rPr>
              <a:t>What the data told us before we ran anything, and whether the results agreed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43000" y="3584448"/>
            <a:ext cx="3977640" cy="0"/>
          </a:xfrm>
          <a:prstGeom prst="line">
            <a:avLst/>
          </a:prstGeom>
          <a:ln w="9525">
            <a:solidFill>
              <a:srgbClr val="363D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0" y="3749039"/>
            <a:ext cx="6353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E8790"/>
                </a:solidFill>
                <a:latin typeface="Aptos"/>
              </a:rPr>
              <a:t>Tennessee Eastman  ·  31 variables × 1499 samples  ·  commit e8f02e8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42816"/>
            <a:ext cx="54237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B6BDC4"/>
                </a:solidFill>
                <a:latin typeface="Aptos"/>
              </a:rPr>
              <a:t>The exploratory analysis predicted a distinct failure mode for each method. Three of the four predictions held; the fourth failed in the opposite direction, and that is the finding.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358384"/>
            <a:ext cx="25164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EDA  eda-20260831-005002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5732" y="5358384"/>
            <a:ext cx="25164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run  run-20260831-025032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8465" y="5358384"/>
            <a:ext cx="260604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LSTE  run-20260831-025653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A7F72"/>
                </a:solidFill>
                <a:latin typeface="Aptos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What we set out to do, and the 16 runs we did it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Recover the causal graph over Tennessee Eastman process variables from observation alone, and score the recovery against the benchmark's published ground truth.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81051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HOW THE WORK WAS SEQUENCED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2435275" cy="1042415"/>
          </a:xfrm>
          <a:prstGeom prst="rect">
            <a:avLst/>
          </a:prstGeom>
          <a:solidFill>
            <a:srgbClr val="EEECE6"/>
          </a:solidFill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32004" cy="1042415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67712"/>
            <a:ext cx="20878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Characterise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31 x 1499 measured</a:t>
            </a:r>
          </a:p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against every assumption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21075" y="2624327"/>
            <a:ext cx="237744" cy="0"/>
          </a:xfrm>
          <a:prstGeom prst="line">
            <a:avLst/>
          </a:prstGeom>
          <a:ln w="12700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50259" y="2103120"/>
            <a:ext cx="2435275" cy="1042415"/>
          </a:xfrm>
          <a:prstGeom prst="rect">
            <a:avLst/>
          </a:prstGeom>
          <a:solidFill>
            <a:srgbClr val="EEECE6"/>
          </a:solidFill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0259" y="2103120"/>
            <a:ext cx="32004" cy="1042415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1427" y="2267712"/>
            <a:ext cx="20878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1427" y="257860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tau, alpha and scaling</a:t>
            </a:r>
          </a:p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read off the EDA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6975" y="2624327"/>
            <a:ext cx="237744" cy="0"/>
          </a:xfrm>
          <a:prstGeom prst="line">
            <a:avLst/>
          </a:prstGeom>
          <a:ln w="12700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06159" y="2103120"/>
            <a:ext cx="2435275" cy="1042415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6159" y="2103120"/>
            <a:ext cx="32004" cy="1042415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267712"/>
            <a:ext cx="20878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57860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4 methods</a:t>
            </a:r>
          </a:p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16 configurations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32875" y="2624327"/>
            <a:ext cx="237744" cy="0"/>
          </a:xfrm>
          <a:prstGeom prst="line">
            <a:avLst/>
          </a:prstGeom>
          <a:ln w="12700">
            <a:solidFill>
              <a:srgbClr val="C8C6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62059" y="2103120"/>
            <a:ext cx="2435275" cy="1042415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059" y="2103120"/>
            <a:ext cx="32004" cy="1042415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227" y="2267712"/>
            <a:ext cx="20878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227" y="257860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SHD against the</a:t>
            </a:r>
          </a:p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30-edge projected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66159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THE SCOPE OF THIS DECK, IN FOUR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40479"/>
            <a:ext cx="247642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7F72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93107"/>
            <a:ext cx="24764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methods announced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567427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PCMCI+, VAR-LiNGAM, LSTE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43935" y="3840479"/>
            <a:ext cx="0" cy="1024128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45103" y="3840479"/>
            <a:ext cx="247642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7F72"/>
                </a:solidFill>
                <a:latin typeface="Aptos"/>
              </a:rPr>
              <a:t>+1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5103" y="4293107"/>
            <a:ext cx="24764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5103" y="4567427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PC, the i.i.d. reference point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4679" y="3840479"/>
            <a:ext cx="0" cy="1024128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95847" y="3840479"/>
            <a:ext cx="247642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D21"/>
                </a:solidFill>
                <a:latin typeface="Aptos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5847" y="4293107"/>
            <a:ext cx="24764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scored configurations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7" y="4567427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3 PC, 6 PCMCI+, 6 VAR-LiNGAM, 1 LSTE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45423" y="3840479"/>
            <a:ext cx="0" cy="1024128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846591" y="3840479"/>
            <a:ext cx="247642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D21"/>
                </a:solidFill>
                <a:latin typeface="Aptos"/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6591" y="4293107"/>
            <a:ext cx="24764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edges in the target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46591" y="4567427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latent projection of a 32-edge truth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5321808"/>
            <a:ext cx="11002975" cy="31089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468112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SHD counts a missing, extra or reversed edge as 1 and an unoriented edge as 0.5: a CPDAG's undirected edge is an abstention, not an error. Two ground-truth nodes (X27, X31) have no column in the data, so the truth is projected onto the 31 observed variables before anything is scored.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6350508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4360" y="6478524"/>
            <a:ext cx="11002975" cy="160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67A80"/>
                </a:solidFill>
                <a:latin typeface="Aptos"/>
              </a:rPr>
              <a:t>[8] Menghi et al., arXiv:2208.01529, 2022 - CIPCaD-Bench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3D6B99"/>
                </a:solidFill>
                <a:latin typeface="Aptos"/>
              </a:rPr>
              <a:t>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Four methods that disagree about what the data must look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Published assumptions, not our results. The four Assumes lines do not overlap, which is why the exploratory analysis has to come first.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773936"/>
            <a:ext cx="5346039" cy="1975104"/>
          </a:xfrm>
          <a:prstGeom prst="rect">
            <a:avLst/>
          </a:prstGeom>
          <a:solidFill>
            <a:srgbClr val="EEECE6"/>
          </a:solidFill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73936"/>
            <a:ext cx="5346039" cy="32004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5016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PC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5016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D6B99"/>
                </a:solidFill>
                <a:latin typeface="Aptos"/>
              </a:rPr>
              <a:t>baseline, not one of the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87751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D6B99"/>
                </a:solidFill>
                <a:latin typeface="Aptos"/>
              </a:rPr>
              <a:t>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2560320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a CPDAG over the 31 variables, no 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80359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D6B99"/>
                </a:solidFill>
                <a:latin typeface="Aptos"/>
              </a:rPr>
              <a:t>ASSUMES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852927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i.i.d. samples and an invertible covariance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172967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D6B99"/>
                </a:solidFill>
                <a:latin typeface="Aptos"/>
              </a:rPr>
              <a:t>ORIENTS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3145535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v-structures, then Meek's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465575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D6B99"/>
                </a:solidFill>
                <a:latin typeface="Aptos"/>
              </a:rPr>
              <a:t>BUILT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438143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tigramite PC-stable, majority colliders [6]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773936"/>
            <a:ext cx="5346039" cy="197510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1295" y="1773936"/>
            <a:ext cx="5346039" cy="3200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7" y="1938528"/>
            <a:ext cx="5016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PCMCI+  [2]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231136"/>
            <a:ext cx="5016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7F72"/>
                </a:solidFill>
                <a:latin typeface="Aptos"/>
              </a:rPr>
              <a:t>announced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587751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RETURNS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6007" y="2560320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lagged + contemporaneous graph, then a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2880359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ASSUMES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6007" y="2852927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stationarity; autocorrelation is modelled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3172967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ORIENTS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6007" y="3145535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time order for lags, CI rules for the 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465575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BUILT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6007" y="3438143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tigramite with the ParCorr test [6]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950208"/>
            <a:ext cx="5346039" cy="197510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950208"/>
            <a:ext cx="5346039" cy="3200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114800"/>
            <a:ext cx="5016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VAR-LiNGAM  [3]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4407408"/>
            <a:ext cx="5016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7F72"/>
                </a:solidFill>
                <a:latin typeface="Aptos"/>
              </a:rPr>
              <a:t>announced 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76402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RETURNS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9072" y="4736592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VAR coefficients plus contemporaneous B0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05663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ASSUMES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9072" y="5029200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VAR residuals that are non-Gaussian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34924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ORIENTS 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9072" y="5321808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ICA; the non-Gaussian contrast fixes B0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641848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BUILT 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5614416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lingam, adaptive lasso with a bootstrap [7]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1295" y="3950208"/>
            <a:ext cx="5346039" cy="1975104"/>
          </a:xfrm>
          <a:prstGeom prst="rect">
            <a:avLst/>
          </a:prstGeom>
          <a:noFill/>
          <a:ln w="9525">
            <a:solidFill>
              <a:srgbClr val="C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1295" y="3950208"/>
            <a:ext cx="5346039" cy="3200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5887" y="4114800"/>
            <a:ext cx="5016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LSTE  [4,5]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5887" y="4407408"/>
            <a:ext cx="5016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7F72"/>
                </a:solidFill>
                <a:latin typeface="Aptos"/>
              </a:rPr>
              <a:t>announced method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5887" y="476402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RETURNS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6007" y="4736592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one TE test per source, target and lag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5887" y="505663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ASSUMES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6007" y="5029200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stationarity; enough samples for a kNN density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5887" y="534924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ORIENTS BY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6007" y="5321808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time order alone: source precedes 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5887" y="5641848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A7F72"/>
                </a:solidFill>
                <a:latin typeface="Aptos"/>
              </a:rPr>
              <a:t>BUILT 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6007" y="5614416"/>
            <a:ext cx="405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tigramite CMIknn + shuffle test, BH [6,9]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4360" y="6103620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4360" y="6231636"/>
            <a:ext cx="11002975" cy="480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67A80"/>
                </a:solidFill>
                <a:latin typeface="Aptos"/>
              </a:rPr>
              <a:t>[1] Spirtes &amp; Glymour, Social Science Computer Review 9(1), 1991 - PC   [2] Runge, UAI 2020 - PCMCI+   [3] Hyvarinen, Zhang, Shimizu &amp; Hoyer, JMLR 11, 2010 - VAR-LiNGAM   [4] Schreiber, Phys. Rev. Lett. 85(2), 2000 - transfer entropy   [5] Kraskov, Stogbauer &amp; Grassberger, Phys. Rev. E 69:066138, 2004   [6] tigramite 5.2.10.1 - github.com/jakobrunge/tigramite   [7] lingam 1.13.0 - github.com/cdt15/lingam   [9] Benjamini &amp; Hochberg, JRSS-B 57(1), 1995 - FDR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B8860B"/>
                </a:solidFill>
                <a:latin typeface="Aptos"/>
              </a:rPr>
              <a:t>OUR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What the EDA measured: every assumption but one is violated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Seven assumptions, measured on the data before any algorithm ran. One row is good news.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048256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48256"/>
            <a:ext cx="3931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WHAT WE MEASURED ON THIS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6015" y="2011680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2011680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PCMCI+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4272" y="2011680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9" y="2011680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2286000"/>
            <a:ext cx="11002975" cy="0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8076" y="1769364"/>
            <a:ext cx="155448" cy="15544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175564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violated</a:t>
            </a:r>
          </a:p>
        </p:txBody>
      </p:sp>
      <p:sp>
        <p:nvSpPr>
          <p:cNvPr id="16" name="Oval 15"/>
          <p:cNvSpPr/>
          <p:nvPr/>
        </p:nvSpPr>
        <p:spPr>
          <a:xfrm>
            <a:off x="1906524" y="1769364"/>
            <a:ext cx="155448" cy="155448"/>
          </a:xfrm>
          <a:prstGeom prst="ellipse">
            <a:avLst/>
          </a:prstGeom>
          <a:solidFill>
            <a:srgbClr val="FAFAF7"/>
          </a:solidFill>
          <a:ln w="2222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175564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satisfied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1847088"/>
            <a:ext cx="164591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47287" y="175564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not assumed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414016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Independent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44144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lag-1 autocorrelation up to 0.981; Ljung-Box rejects 27 of 31</a:t>
            </a:r>
          </a:p>
        </p:txBody>
      </p:sp>
      <p:sp>
        <p:nvSpPr>
          <p:cNvPr id="22" name="Oval 21"/>
          <p:cNvSpPr/>
          <p:nvPr/>
        </p:nvSpPr>
        <p:spPr>
          <a:xfrm>
            <a:off x="7397496" y="2432304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9912" y="2532888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64040" y="2532888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88167" y="2532888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360" y="2779776"/>
            <a:ext cx="11002975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2834640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Stationarity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86207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ADF calls 30 of 31 stationary, KPSS only 24; the two disagree on 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15783" y="2953512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421624" y="285292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9445752" y="285292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10469880" y="285292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3200400"/>
            <a:ext cx="11002975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3255264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Non-Gaussian VAR residuals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282696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mean |excess kurtosis| 0.141 vs a threshold of 1.0; 0 of 31 clear 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15783" y="3374136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39912" y="3374136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445752" y="3273552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488167" y="3374136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4360" y="3621024"/>
            <a:ext cx="11002975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3675887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Adequate sample 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370332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binding effective n is 36 of 1499 rows - 2.4% of the nominal count</a:t>
            </a:r>
          </a:p>
        </p:txBody>
      </p:sp>
      <p:sp>
        <p:nvSpPr>
          <p:cNvPr id="43" name="Oval 42"/>
          <p:cNvSpPr/>
          <p:nvPr/>
        </p:nvSpPr>
        <p:spPr>
          <a:xfrm>
            <a:off x="7397496" y="3694176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4" name="Oval 43"/>
          <p:cNvSpPr/>
          <p:nvPr/>
        </p:nvSpPr>
        <p:spPr>
          <a:xfrm>
            <a:off x="8421624" y="3694176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9445752" y="3694176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0469880" y="3694176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4360" y="4041648"/>
            <a:ext cx="11002975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4360" y="4096511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Well-conditioned covariance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412394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condition number 3388 vs a threshold of 1000; 9 variables VIF &gt; 10</a:t>
            </a:r>
          </a:p>
        </p:txBody>
      </p:sp>
      <p:sp>
        <p:nvSpPr>
          <p:cNvPr id="50" name="Oval 49"/>
          <p:cNvSpPr/>
          <p:nvPr/>
        </p:nvSpPr>
        <p:spPr>
          <a:xfrm>
            <a:off x="7397496" y="4114800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1" name="Oval 50"/>
          <p:cNvSpPr/>
          <p:nvPr/>
        </p:nvSpPr>
        <p:spPr>
          <a:xfrm>
            <a:off x="8421624" y="4114800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2" name="Oval 51"/>
          <p:cNvSpPr/>
          <p:nvPr/>
        </p:nvSpPr>
        <p:spPr>
          <a:xfrm>
            <a:off x="9445752" y="4114800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488167" y="4215384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94360" y="4462272"/>
            <a:ext cx="11002975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94360" y="4517136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F72"/>
                </a:solidFill>
                <a:latin typeface="Aptos"/>
              </a:rPr>
              <a:t>Linearity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63240" y="454456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0 of 465 pairs have distance correlation exceeding |Pearson| by 0.1</a:t>
            </a:r>
          </a:p>
        </p:txBody>
      </p:sp>
      <p:sp>
        <p:nvSpPr>
          <p:cNvPr id="57" name="Oval 56"/>
          <p:cNvSpPr/>
          <p:nvPr/>
        </p:nvSpPr>
        <p:spPr>
          <a:xfrm>
            <a:off x="7397496" y="4535424"/>
            <a:ext cx="201168" cy="201168"/>
          </a:xfrm>
          <a:prstGeom prst="ellipse">
            <a:avLst/>
          </a:prstGeom>
          <a:solidFill>
            <a:srgbClr val="FAFAF7"/>
          </a:solidFill>
          <a:ln w="2222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8" name="Oval 57"/>
          <p:cNvSpPr/>
          <p:nvPr/>
        </p:nvSpPr>
        <p:spPr>
          <a:xfrm>
            <a:off x="8421624" y="4535424"/>
            <a:ext cx="201168" cy="201168"/>
          </a:xfrm>
          <a:prstGeom prst="ellipse">
            <a:avLst/>
          </a:prstGeom>
          <a:solidFill>
            <a:srgbClr val="FAFAF7"/>
          </a:solidFill>
          <a:ln w="2222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9" name="Oval 58"/>
          <p:cNvSpPr/>
          <p:nvPr/>
        </p:nvSpPr>
        <p:spPr>
          <a:xfrm>
            <a:off x="9445752" y="4535424"/>
            <a:ext cx="201168" cy="201168"/>
          </a:xfrm>
          <a:prstGeom prst="ellipse">
            <a:avLst/>
          </a:prstGeom>
          <a:solidFill>
            <a:srgbClr val="FAFAF7"/>
          </a:solidFill>
          <a:ln w="22225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488167" y="4636008"/>
            <a:ext cx="164592" cy="0"/>
          </a:xfrm>
          <a:prstGeom prst="line">
            <a:avLst/>
          </a:prstGeom>
          <a:ln w="190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94360" y="4882896"/>
            <a:ext cx="11002975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4360" y="4937759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Causal sufficiency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63240" y="496519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X27 and X31 are in the truth but absent from the data; 4 edges lost</a:t>
            </a:r>
          </a:p>
        </p:txBody>
      </p:sp>
      <p:sp>
        <p:nvSpPr>
          <p:cNvPr id="64" name="Oval 63"/>
          <p:cNvSpPr/>
          <p:nvPr/>
        </p:nvSpPr>
        <p:spPr>
          <a:xfrm>
            <a:off x="7397496" y="495604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5" name="Oval 64"/>
          <p:cNvSpPr/>
          <p:nvPr/>
        </p:nvSpPr>
        <p:spPr>
          <a:xfrm>
            <a:off x="8421624" y="495604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6" name="Oval 65"/>
          <p:cNvSpPr/>
          <p:nvPr/>
        </p:nvSpPr>
        <p:spPr>
          <a:xfrm>
            <a:off x="9445752" y="495604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7" name="Oval 66"/>
          <p:cNvSpPr/>
          <p:nvPr/>
        </p:nvSpPr>
        <p:spPr>
          <a:xfrm>
            <a:off x="10469880" y="4956048"/>
            <a:ext cx="201168" cy="201168"/>
          </a:xfrm>
          <a:prstGeom prst="ellipse">
            <a:avLst/>
          </a:prstGeom>
          <a:solidFill>
            <a:srgbClr val="B8860B"/>
          </a:solidFill>
          <a:ln w="952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94360" y="5358384"/>
            <a:ext cx="11002975" cy="0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4360" y="5486400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EDA verdict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551383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the EDA's own outlook, recorded before any run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86015" y="5468112"/>
            <a:ext cx="10241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B8860B"/>
                </a:solidFill>
                <a:latin typeface="Aptos"/>
              </a:rPr>
              <a:t>fails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10144" y="5468112"/>
            <a:ext cx="10241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B8860B"/>
                </a:solidFill>
                <a:latin typeface="Aptos"/>
              </a:rPr>
              <a:t>fails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34272" y="5468112"/>
            <a:ext cx="10241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B8860B"/>
                </a:solidFill>
                <a:latin typeface="Aptos"/>
              </a:rPr>
              <a:t>fails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399" y="5468112"/>
            <a:ext cx="10241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1A7F72"/>
                </a:solidFill>
                <a:latin typeface="Aptos"/>
              </a:rPr>
              <a:t>works, with</a:t>
            </a:r>
          </a:p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1A7F72"/>
                </a:solidFill>
                <a:latin typeface="Aptos"/>
              </a:rPr>
              <a:t>caveats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5961888"/>
            <a:ext cx="11002975" cy="3108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6108192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Only linearity holds, and it holds cleanly - which is why every method here uses its linear or partial-correlation test rather than a nonlinear one. Everything else in this matrix is a prediction of failure, and slide 7 checks each one against what actually happened.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A7F72"/>
                </a:solidFill>
                <a:latin typeface="Aptos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Experimental setup: every parameter read off the EDA, not chosen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Where a value could have been a preference, the slide names the measurement that fixed it instead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810512"/>
            <a:ext cx="34116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DATA AND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969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86584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datasetTE.csv - 1499 rows x 31 variables [8,10]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0339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Standardised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67227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yes; largest / smallest column SD = 2525x, so an unscaled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kernel or distance would be dominated by one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97579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44468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33-node DAG, 32 edges -&gt; projected onto the 31 observed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variables, giving the 30-edge primary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74820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21708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0 missing values, 0 duplicate rows, no constant or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near-constant columns; a regular 1-unit sampling interval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98010" y="1773936"/>
            <a:ext cx="0" cy="3584448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90034" y="1810512"/>
            <a:ext cx="34116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PARAMETERS, AND WHERE EACH CAME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034" y="213969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tau_max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0034" y="2386584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swept over 1, 2, 3 - the VAR order criteria disagree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(AIC 3, BIC 1, HQIC 2, FPE 3), so none was privileged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0034" y="291693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alpha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034" y="3163824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0.01 for PC and PCMCI+ (Fisher-z / ParCorr); 0.05 for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LSTE, then Benjamini-Hochberg over its 2790 tests [9]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0034" y="369417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0034" y="3941064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adaptive lasso, pruning on, 10 bootstrap resamples,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criterion: bic - which overrode the tau we asked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034" y="447141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0034" y="4718304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CMIknn, k = 0.1n, 20-shuffle significance test [5,6]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93684" y="1773936"/>
            <a:ext cx="0" cy="3584448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85708" y="1810512"/>
            <a:ext cx="34116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5708" y="213969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Primary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5708" y="2386584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gt_projected, 30 edges. Also scored against the induced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subgraph and against both targets' CPDAGs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5708" y="291693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Baselines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5708" y="3163824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empty graph = SHD 30. The truth's CPDAG leaves 6 edges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undirectable by any observational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5708" y="3694176"/>
            <a:ext cx="34116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Prior 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5708" y="3941064"/>
            <a:ext cx="34116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4 edges, direction taken from the ground truth file.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An oracle and a best case - not independent 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614416"/>
            <a:ext cx="11002975" cy="31089"/>
          </a:xfrm>
          <a:prstGeom prst="rect">
            <a:avLst/>
          </a:prstGeom>
          <a:solidFill>
            <a:srgbClr val="C8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760720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The prior-knowledge rows are the one place a result could flatter itself, so they are labelled as an oracle everywhere they appear - including on the results chart.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190488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318504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67A80"/>
                </a:solidFill>
                <a:latin typeface="Aptos"/>
              </a:rPr>
              <a:t>[5] Kraskov, Stogbauer &amp; Grassberger, Phys. Rev. E 69:066138, 2004   [6] tigramite 5.2.10.1 - github.com/jakobrunge/tigramite   [8] Menghi et al., arXiv:2208.01529, 2022 - CIPCaD-Bench   [9] Benjamini &amp; Hochberg, JRSS-B 57(1), 1995 - FDR   [10] Downs &amp; Vogel, Computers &amp; Chemical Engineering 17(3), 1993 - 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A7F72"/>
                </a:solidFill>
                <a:latin typeface="Aptos"/>
              </a:rPr>
              <a:t>OUR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Measured results: the SHD ranking and recovery ranking disagree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Ranked by SHD, the best method predicts nothing at all. That is a fact about SHD, so both panels are shown.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810512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STRUCTURAL HAMMING DISTANCE  -  LOWER IS BETTER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7128" y="4937760"/>
            <a:ext cx="4251960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67128" y="4937760"/>
            <a:ext cx="0" cy="5486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74520" y="5020056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79499" y="4937760"/>
            <a:ext cx="0" cy="5486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6891" y="5020056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91870" y="4937760"/>
            <a:ext cx="0" cy="5486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99262" y="5020056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04242" y="4937760"/>
            <a:ext cx="0" cy="5486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11634" y="5020056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6613" y="4937760"/>
            <a:ext cx="0" cy="54864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24005" y="5020056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200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74550" y="4846320"/>
            <a:ext cx="0" cy="182880"/>
          </a:xfrm>
          <a:prstGeom prst="line">
            <a:avLst/>
          </a:prstGeom>
          <a:ln w="19050">
            <a:solidFill>
              <a:srgbClr val="B886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65990" y="5230368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empty-graph baseline = 30.0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185415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414015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tau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7128" y="2176272"/>
            <a:ext cx="607422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4278" y="215798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30.0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7128" y="2532887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0 edges predicted - identical to the empty graph   |   TP 0  FP 0  FN 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916935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145535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best of 3; 47.5-48.5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7128" y="2907791"/>
            <a:ext cx="961752" cy="292608"/>
          </a:xfrm>
          <a:prstGeom prst="rect">
            <a:avLst/>
          </a:prstGeom>
          <a:solidFill>
            <a:srgbClr val="6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58856" y="2889503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47.5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7128" y="3264407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35 edges; best is pc with prior knowledge   |   TP 4  FP 23  FN 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648456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PCMCI+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877056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best of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639312"/>
            <a:ext cx="1154103" cy="292608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321231" y="3785615"/>
            <a:ext cx="202474" cy="0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21231" y="3712463"/>
            <a:ext cx="0" cy="146305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3705" y="3712463"/>
            <a:ext cx="0" cy="146305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33433" y="362102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57.0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7128" y="3995928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52 edges; across tau: 57.0 / 66.0 / 61.0   |   TP 8  FP 36  FN 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379976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608576"/>
            <a:ext cx="15727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all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370832"/>
            <a:ext cx="4019114" cy="292608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5970" y="435254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198.5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67128" y="4727448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195 edges; every configuration scored identically   |   TP 0  FP 176  FN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50468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whiskers span tau = 1, 2, 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05472" y="1773936"/>
            <a:ext cx="0" cy="3803904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89520" y="1810512"/>
            <a:ext cx="40078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TRUE POSITIVES, OF 30 RECOVERABLE EDGES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589520" y="2450592"/>
            <a:ext cx="3440887" cy="0"/>
          </a:xfrm>
          <a:prstGeom prst="line">
            <a:avLst/>
          </a:prstGeom>
          <a:ln w="444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89520" y="2450592"/>
            <a:ext cx="917569" cy="0"/>
          </a:xfrm>
          <a:prstGeom prst="line">
            <a:avLst/>
          </a:prstGeom>
          <a:ln w="4445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424793" y="2368296"/>
            <a:ext cx="164592" cy="164592"/>
          </a:xfrm>
          <a:prstGeom prst="ellipse">
            <a:avLst/>
          </a:prstGeom>
          <a:solidFill>
            <a:srgbClr val="1A7F72"/>
          </a:solidFill>
          <a:ln w="635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2103120"/>
            <a:ext cx="3440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PCMCI+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40135" y="232257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2596896"/>
            <a:ext cx="3943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tau 1, with prior knowledge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589520" y="3236976"/>
            <a:ext cx="3440887" cy="0"/>
          </a:xfrm>
          <a:prstGeom prst="line">
            <a:avLst/>
          </a:prstGeom>
          <a:ln w="444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89520" y="3236976"/>
            <a:ext cx="458784" cy="0"/>
          </a:xfrm>
          <a:prstGeom prst="line">
            <a:avLst/>
          </a:prstGeom>
          <a:ln w="44450">
            <a:solidFill>
              <a:srgbClr val="1A7F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66008" y="3154680"/>
            <a:ext cx="164592" cy="164592"/>
          </a:xfrm>
          <a:prstGeom prst="ellipse">
            <a:avLst/>
          </a:prstGeom>
          <a:solidFill>
            <a:srgbClr val="1A7F72"/>
          </a:solidFill>
          <a:ln w="635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2889504"/>
            <a:ext cx="3440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40135" y="31089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3383280"/>
            <a:ext cx="3943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pc with prior knowledge; also pc_manual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589520" y="4023360"/>
            <a:ext cx="3440887" cy="0"/>
          </a:xfrm>
          <a:prstGeom prst="line">
            <a:avLst/>
          </a:prstGeom>
          <a:ln w="444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507224" y="3941064"/>
            <a:ext cx="164592" cy="164592"/>
          </a:xfrm>
          <a:prstGeom prst="ellipse">
            <a:avLst/>
          </a:prstGeom>
          <a:solidFill>
            <a:srgbClr val="FAFAF7"/>
          </a:solidFill>
          <a:ln w="19050">
            <a:solidFill>
              <a:srgbClr val="9A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3675888"/>
            <a:ext cx="3440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40135" y="389534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3B3B"/>
                </a:solidFill>
                <a:latin typeface="Aptos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4169664"/>
            <a:ext cx="3943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195 edges, none of them right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589520" y="4809744"/>
            <a:ext cx="3440887" cy="0"/>
          </a:xfrm>
          <a:prstGeom prst="line">
            <a:avLst/>
          </a:prstGeom>
          <a:ln w="444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507224" y="4727448"/>
            <a:ext cx="164592" cy="164592"/>
          </a:xfrm>
          <a:prstGeom prst="ellipse">
            <a:avLst/>
          </a:prstGeom>
          <a:solidFill>
            <a:srgbClr val="FAFAF7"/>
          </a:solidFill>
          <a:ln w="19050">
            <a:solidFill>
              <a:srgbClr val="9A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0" y="4462272"/>
            <a:ext cx="34408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40135" y="4681728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3B3B"/>
                </a:solidFill>
                <a:latin typeface="Aptos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4956048"/>
            <a:ext cx="39438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no edges to be right about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20" y="5431536"/>
            <a:ext cx="39438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full bar = all 30 edges recovered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5797296"/>
            <a:ext cx="11002975" cy="31089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5943600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Left: SHD against the 30-edge projected target, lower is better. Right: true positives out of the 30 recoverable edges. The two panels rank the methods differently, and the right one is the one that answers whether we recovered the 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B8860B"/>
                </a:solidFill>
                <a:latin typeface="Aptos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Predicting more edges is not recovering more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Edges predicted against edges recovered. The diagonal is the ceiling; every method sits far below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81051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EDGES PREDICTED AGAINST EDGES RECOVERED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2322576"/>
            <a:ext cx="0" cy="3054096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5376672"/>
            <a:ext cx="5669280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1832" y="5276088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4358640"/>
            <a:ext cx="5669280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1832" y="4258056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3340608"/>
            <a:ext cx="5669280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1832" y="324002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2322576"/>
            <a:ext cx="5669280" cy="0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1832" y="2221992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5449824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5449824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5449824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5449824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5449824"/>
            <a:ext cx="5852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208483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E73"/>
                </a:solidFill>
                <a:latin typeface="Aptos"/>
              </a:rPr>
              <a:t>true positives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66928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6E73"/>
                </a:solidFill>
                <a:latin typeface="Aptos"/>
              </a:rPr>
              <a:t>edges predicted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417320" y="2322576"/>
            <a:ext cx="850392" cy="3054096"/>
          </a:xfrm>
          <a:prstGeom prst="line">
            <a:avLst/>
          </a:prstGeom>
          <a:ln w="15875">
            <a:solidFill>
              <a:srgbClr val="3D6B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67712" y="2322576"/>
            <a:ext cx="4818888" cy="0"/>
          </a:xfrm>
          <a:prstGeom prst="line">
            <a:avLst/>
          </a:prstGeom>
          <a:ln w="15875">
            <a:solidFill>
              <a:srgbClr val="3D6B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61411" y="2011680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D6B99"/>
                </a:solidFill>
                <a:latin typeface="Aptos"/>
              </a:rPr>
              <a:t>ceiling: true positives &lt;= min(edges, 30)</a:t>
            </a:r>
          </a:p>
        </p:txBody>
      </p:sp>
      <p:sp>
        <p:nvSpPr>
          <p:cNvPr id="27" name="Oval 26"/>
          <p:cNvSpPr/>
          <p:nvPr/>
        </p:nvSpPr>
        <p:spPr>
          <a:xfrm>
            <a:off x="2176272" y="2231136"/>
            <a:ext cx="182880" cy="182880"/>
          </a:xfrm>
          <a:prstGeom prst="ellipse">
            <a:avLst/>
          </a:prstGeom>
          <a:solidFill>
            <a:srgbClr val="FAFAF7"/>
          </a:solidFill>
          <a:ln w="2540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304" y="230428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D6B99"/>
                </a:solidFill>
                <a:latin typeface="Aptos"/>
              </a:rPr>
              <a:t>the truth: 30 of 30</a:t>
            </a:r>
          </a:p>
        </p:txBody>
      </p:sp>
      <p:sp>
        <p:nvSpPr>
          <p:cNvPr id="29" name="Oval 28"/>
          <p:cNvSpPr/>
          <p:nvPr/>
        </p:nvSpPr>
        <p:spPr>
          <a:xfrm>
            <a:off x="1325880" y="5285232"/>
            <a:ext cx="182880" cy="182880"/>
          </a:xfrm>
          <a:prstGeom prst="ellipse">
            <a:avLst/>
          </a:prstGeom>
          <a:solidFill>
            <a:srgbClr val="B8860B"/>
          </a:solidFill>
          <a:ln w="63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5336" y="5102352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LSTE  (0, 0)</a:t>
            </a:r>
          </a:p>
        </p:txBody>
      </p:sp>
      <p:sp>
        <p:nvSpPr>
          <p:cNvPr id="31" name="Oval 30"/>
          <p:cNvSpPr/>
          <p:nvPr/>
        </p:nvSpPr>
        <p:spPr>
          <a:xfrm>
            <a:off x="2318003" y="4878019"/>
            <a:ext cx="182880" cy="182880"/>
          </a:xfrm>
          <a:prstGeom prst="ellipse">
            <a:avLst/>
          </a:prstGeom>
          <a:solidFill>
            <a:srgbClr val="6B6E73"/>
          </a:solidFill>
          <a:ln w="6350">
            <a:solidFill>
              <a:srgbClr val="6B6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7460" y="4695139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E73"/>
                </a:solidFill>
                <a:latin typeface="Aptos"/>
              </a:rPr>
              <a:t>PC  (35, 4)</a:t>
            </a:r>
          </a:p>
        </p:txBody>
      </p:sp>
      <p:sp>
        <p:nvSpPr>
          <p:cNvPr id="33" name="Oval 32"/>
          <p:cNvSpPr/>
          <p:nvPr/>
        </p:nvSpPr>
        <p:spPr>
          <a:xfrm>
            <a:off x="2799892" y="4470806"/>
            <a:ext cx="182880" cy="182880"/>
          </a:xfrm>
          <a:prstGeom prst="ellipse">
            <a:avLst/>
          </a:prstGeom>
          <a:solidFill>
            <a:srgbClr val="1A7F72"/>
          </a:solidFill>
          <a:ln w="6350">
            <a:solidFill>
              <a:srgbClr val="1A7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9348" y="4287926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7F72"/>
                </a:solidFill>
                <a:latin typeface="Aptos"/>
              </a:rPr>
              <a:t>PCMCI+  (52, 8)</a:t>
            </a:r>
          </a:p>
        </p:txBody>
      </p:sp>
      <p:sp>
        <p:nvSpPr>
          <p:cNvPr id="35" name="Oval 34"/>
          <p:cNvSpPr/>
          <p:nvPr/>
        </p:nvSpPr>
        <p:spPr>
          <a:xfrm>
            <a:off x="6853428" y="5285232"/>
            <a:ext cx="182880" cy="182880"/>
          </a:xfrm>
          <a:prstGeom prst="ellipse">
            <a:avLst/>
          </a:prstGeom>
          <a:solidFill>
            <a:srgbClr val="9A3B3B"/>
          </a:solidFill>
          <a:ln w="6350">
            <a:solidFill>
              <a:srgbClr val="9A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 i="0">
                <a:solidFill>
                  <a:srgbClr val="1A1D21"/>
                </a:solidFill>
                <a:latin typeface="Apto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0931" y="5047488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A3B3B"/>
                </a:solidFill>
                <a:latin typeface="Aptos"/>
              </a:rPr>
              <a:t>VAR-LiNGAM  (195, 0)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200" y="1773936"/>
            <a:ext cx="0" cy="3803904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99248" y="1810512"/>
            <a:ext cx="389808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WHAT THE EDA SAID, AND WHAT WE FOUND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52944" y="2176272"/>
            <a:ext cx="27432" cy="8229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2176272"/>
            <a:ext cx="3898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2395728"/>
            <a:ext cx="38980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3B3B"/>
                </a:solidFill>
                <a:latin typeface="Aptos"/>
              </a:rPr>
              <a:t>prediction held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2615184"/>
            <a:ext cx="3898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195 edges, none of them right. Two causes: tau never reached the library, and Gaussian residuals leave B0 unidentified.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52944" y="3108960"/>
            <a:ext cx="27432" cy="82296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108960"/>
            <a:ext cx="3898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PCMCI+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3328415"/>
            <a:ext cx="38980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7F72"/>
                </a:solidFill>
                <a:latin typeface="Aptos"/>
              </a:rPr>
              <a:t>prediction held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9248" y="3547872"/>
            <a:ext cx="3898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The most recovery of the four, and the false positives that come with modelling the lag structure.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2944" y="4041648"/>
            <a:ext cx="27432" cy="822960"/>
          </a:xfrm>
          <a:prstGeom prst="rect">
            <a:avLst/>
          </a:prstGeom>
          <a:solidFill>
            <a:srgbClr val="6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9248" y="4041648"/>
            <a:ext cx="3898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261104"/>
            <a:ext cx="38980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6E73"/>
                </a:solidFill>
                <a:latin typeface="Aptos"/>
              </a:rPr>
              <a:t>held, yet ranked first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4480560"/>
            <a:ext cx="3898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Fewer edges predicted, so fewer errors charged. Recall of 7-13% is a scoring artefact, not recovery.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52944" y="4974336"/>
            <a:ext cx="27432" cy="8229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9248" y="4974336"/>
            <a:ext cx="3898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9248" y="5193792"/>
            <a:ext cx="38980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missed, in the other direction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9248" y="5413248"/>
            <a:ext cx="3898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Sits on the origin. 548 of 2790 tests were significant; BH correction rejected none of them.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5961888"/>
            <a:ext cx="11002975" cy="3108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6108192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Prior knowledge is worth 1.0-1.5 SHD wherever it applies, and nothing at all for VAR-LiNGAM. The ground truth is acyclic with no reciprocal pairs, so the controller-loop structure the prior encodes cannot be scored on this dataset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A7F72"/>
                </a:solidFill>
                <a:latin typeface="Aptos"/>
              </a:rPr>
              <a:t>OUR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Why LSTE and VAR-LiNGAM were not run exhaustively: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Coverage is not uniform across the four methods, because the runtimes are not within two orders of magnitude of each other.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810512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RUNTIME PER CONFIGURATION, LOG SCALE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084831"/>
            <a:ext cx="0" cy="2596897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27632" y="4736592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 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03634" y="2084831"/>
            <a:ext cx="0" cy="2596897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9586" y="4736592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10 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95588" y="2084831"/>
            <a:ext cx="0" cy="2596897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11540" y="4736592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100 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87542" y="2084831"/>
            <a:ext cx="0" cy="2596897"/>
          </a:xfrm>
          <a:prstGeom prst="line">
            <a:avLst/>
          </a:prstGeom>
          <a:ln w="6350">
            <a:solidFill>
              <a:srgbClr val="EE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3494" y="4736592"/>
            <a:ext cx="7680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E73"/>
                </a:solidFill>
                <a:latin typeface="Aptos"/>
              </a:rPr>
              <a:t>1000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21992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231136"/>
            <a:ext cx="384756" cy="256032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876" y="2212848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2.7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532887"/>
            <a:ext cx="3584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per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89864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PCMCI+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907791"/>
            <a:ext cx="1349720" cy="256032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2840" y="2889503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32.6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209544"/>
            <a:ext cx="3584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slowest configuration, tau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575304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584448"/>
            <a:ext cx="1856787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907" y="356616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120.7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886200"/>
            <a:ext cx="3584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tau = 1, with the lag-0 bootstrap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251960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4261104"/>
            <a:ext cx="2815551" cy="2560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8671" y="4242816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1434.2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562856"/>
            <a:ext cx="3584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a single configuration, tau = 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5010912"/>
            <a:ext cx="5074920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515721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8860B"/>
                </a:solidFill>
                <a:latin typeface="Aptos"/>
              </a:rPr>
              <a:t>358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449824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all 15 PC, PCMCI+ and VAR-LiNGAM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15721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8860B"/>
                </a:solidFill>
                <a:latin typeface="Aptos"/>
              </a:rPr>
              <a:t>1434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449824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one LSTE 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515721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8860B"/>
                </a:solidFill>
                <a:latin typeface="Aptos"/>
              </a:rPr>
              <a:t>4.0x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5449824"/>
            <a:ext cx="1527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one LSTE cell costs 4x the rest of the grid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0" y="1773936"/>
            <a:ext cx="0" cy="3895344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09360" y="1810512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6B6E73"/>
                </a:solidFill>
                <a:latin typeface="Aptos"/>
              </a:rPr>
              <a:t>WHICH CELLS OF THE GRID WERE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22311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Aptos"/>
              </a:rPr>
              <a:t>t1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5" y="22311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Aptos"/>
              </a:rPr>
              <a:t>t1+PK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24544" y="22311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Aptos"/>
              </a:rPr>
              <a:t>t2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22311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Aptos"/>
              </a:rPr>
              <a:t>t2+PK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2311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Aptos"/>
              </a:rPr>
              <a:t>t3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22311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6E73"/>
                </a:solidFill>
                <a:latin typeface="Aptos"/>
              </a:rPr>
              <a:t>t3+PK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2432303"/>
            <a:ext cx="4773168" cy="0"/>
          </a:xfrm>
          <a:prstGeom prst="line">
            <a:avLst/>
          </a:prstGeom>
          <a:ln w="1270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09360" y="2542032"/>
            <a:ext cx="1335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2798063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3 runs incl. the pc_manual oracle - tau does not apply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90688" y="2505456"/>
            <a:ext cx="457200" cy="256032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57615" y="2505456"/>
            <a:ext cx="457200" cy="256032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24544" y="2505456"/>
            <a:ext cx="457200" cy="256032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91472" y="2505456"/>
            <a:ext cx="457200" cy="256032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58400" y="2505456"/>
            <a:ext cx="457200" cy="256032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25328" y="2505456"/>
            <a:ext cx="457200" cy="256032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3236976"/>
            <a:ext cx="1335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PCMCI+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349300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6 of 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90688" y="3200400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57615" y="3200400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24544" y="3200400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91472" y="3200400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58400" y="3200400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25328" y="3200400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3931920"/>
            <a:ext cx="1335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VAR-LiNGAM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418795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6 of 6, but the lag-0 bootstrap only at tau =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90688" y="3895344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90688" y="4169663"/>
            <a:ext cx="45720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57615" y="3895344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24544" y="3895344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491472" y="3895344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3895344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25328" y="3895344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626864"/>
            <a:ext cx="1335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LSTE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4882896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1 of 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90688" y="4590288"/>
            <a:ext cx="457200" cy="256032"/>
          </a:xfrm>
          <a:prstGeom prst="rect">
            <a:avLst/>
          </a:prstGeom>
          <a:noFill/>
          <a:ln w="9525">
            <a:solidFill>
              <a:srgbClr val="C8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57615" y="4590288"/>
            <a:ext cx="457200" cy="256032"/>
          </a:xfrm>
          <a:prstGeom prst="rect">
            <a:avLst/>
          </a:prstGeom>
          <a:noFill/>
          <a:ln w="9525">
            <a:solidFill>
              <a:srgbClr val="C8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24544" y="4590288"/>
            <a:ext cx="457200" cy="256032"/>
          </a:xfrm>
          <a:prstGeom prst="rect">
            <a:avLst/>
          </a:prstGeom>
          <a:noFill/>
          <a:ln w="9525">
            <a:solidFill>
              <a:srgbClr val="C8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91472" y="4590288"/>
            <a:ext cx="457200" cy="256032"/>
          </a:xfrm>
          <a:prstGeom prst="rect">
            <a:avLst/>
          </a:prstGeom>
          <a:noFill/>
          <a:ln w="9525">
            <a:solidFill>
              <a:srgbClr val="C8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58400" y="4590288"/>
            <a:ext cx="457200" cy="256032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625328" y="4590288"/>
            <a:ext cx="457200" cy="256032"/>
          </a:xfrm>
          <a:prstGeom prst="rect">
            <a:avLst/>
          </a:prstGeom>
          <a:noFill/>
          <a:ln w="9525">
            <a:solidFill>
              <a:srgbClr val="C8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09360" y="5202936"/>
            <a:ext cx="201168" cy="128016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0" y="5175503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run and scored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62672" y="5202936"/>
            <a:ext cx="201168" cy="128016"/>
          </a:xfrm>
          <a:prstGeom prst="rect">
            <a:avLst/>
          </a:prstGeom>
          <a:noFill/>
          <a:ln w="9525">
            <a:solidFill>
              <a:srgbClr val="C8C6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36992" y="5175503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not run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15984" y="5202936"/>
            <a:ext cx="201168" cy="12801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90304" y="5175503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does not apply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369296" y="5202936"/>
            <a:ext cx="201168" cy="128016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369296" y="5340095"/>
            <a:ext cx="201168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643616" y="5175503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+ bootstrap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5943600"/>
            <a:ext cx="11002975" cy="3108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6089904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The LSTE and VAR-LiNGAM conclusions therefore rest on less evidence than the PCMCI+ ones. LSTE ran at tau = 3 only with no prior-knowledge variant; VAR-LiNGAM's bootstrap ran at tau = 1 only, at 10 resamples. Both gaps are cost, not choice.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A7F72"/>
                </a:solidFill>
                <a:latin typeface="Aptos"/>
              </a:rPr>
              <a:t>OUR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Key learnings from the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What we would carry into the next dataset, in the order we would apply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828800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1810512"/>
            <a:ext cx="47882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The EDA earned its place, and its one miss is the useful 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2286000"/>
            <a:ext cx="47882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It called VAR-LiNGAM, PCMCI+ and PC correctly before a single run. It missed LSTE by sizing the estimator's power and not the correction stacked on top of 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017520"/>
            <a:ext cx="5208879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88455" y="1828800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079" y="1810512"/>
            <a:ext cx="47882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An identical score in every cell means a knob was not connected.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9079" y="2286000"/>
            <a:ext cx="47882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VAR-LiNGAM returned SHD 198.5 six times. With criterion: bic set, lingam picks its own lag order and ignores the tau we asked for, so the sweep refitted one VAR(1) six times.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88455" y="3017520"/>
            <a:ext cx="5208880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200400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182112"/>
            <a:ext cx="47882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SHD alone ranks the empty graph first, so baselines are not optional.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3657600"/>
            <a:ext cx="47882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The empty graph scores 30.0 and 6 edges of the truth's CPDAG cannot be oriented by any observational method. Both belong on the chart, not in a footnote.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89120"/>
            <a:ext cx="5208879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88455" y="3200400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9079" y="3182112"/>
            <a:ext cx="47882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A shuffle test has a p-value floor, and it is checkable before the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9079" y="3657600"/>
            <a:ext cx="47882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20 shuffles cannot produce a p below 1/21, and BH over 2790 tests will not reject at that floor. Pure arithmetic, now a pre-flight guard rather than 24 minutes of compute.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88455" y="4389120"/>
            <a:ext cx="5208880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4572000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553712"/>
            <a:ext cx="47882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An edge needs a selection rule, not just a non-zero coefficient.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" y="5029200"/>
            <a:ext cx="47882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The adaptive lasso left coefficients as small as |b| = 0.0003 on standardised data, and every one became an edge. Selection now goes by bootstrap frequency.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455" y="4572000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72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9079" y="4553712"/>
            <a:ext cx="47882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The failures are in the data, not in the wrappers we wrote.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9079" y="5029200"/>
            <a:ext cx="47882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On the suite's synthetic case - Laplace innovations, independent samples - the same code recovers the generating graph. Nothing here is a broken wrapper.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998464"/>
            <a:ext cx="11002975" cy="31089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144768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1A1D21"/>
                </a:solidFill>
                <a:latin typeface="Aptos"/>
              </a:rPr>
              <a:t>The first four transfer to any dataset. The last two are about this codebase, and both are already fixed in the working tree.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82133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A7F72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695" y="2743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E73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1D21"/>
                </a:solidFill>
                <a:latin typeface="Aptos"/>
              </a:rPr>
              <a:t>Conclusion, and the one next step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9264"/>
            <a:ext cx="1007310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6B6E73"/>
                </a:solidFill>
                <a:latin typeface="Aptos"/>
              </a:rPr>
              <a:t>Two of the three next steps are cheap. The third is the only one that changes an outcome.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517904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792224"/>
            <a:ext cx="3387242" cy="31089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338724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What we did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38724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Implemented and ran PCMCI+, VAR-LiNGAM and LSTE on Tennessee Eastman, with PC as an i.i.d.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63824"/>
            <a:ext cx="338724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16 scored configurations, every assumption measured first and every violation recorded with its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2226" y="1792224"/>
            <a:ext cx="3387242" cy="31089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2226" y="1938528"/>
            <a:ext cx="338724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What we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2226" y="2267712"/>
            <a:ext cx="338724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No method beats the empty-graph baseline in a way that means anything: the best recall is 8 of 30 edges.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2226" y="3163824"/>
            <a:ext cx="338724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Each failure traces to a quantity measured before the run - Gaussian residuals, effective n of 36, a condition number of 3388.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0092" y="1792224"/>
            <a:ext cx="3387242" cy="3108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0092" y="1938528"/>
            <a:ext cx="338724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Aptos"/>
              </a:rPr>
              <a:t>What it cost us to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092" y="2267712"/>
            <a:ext cx="338724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A 24-minute LSTE run that could not have produced an edge at any significance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0092" y="3163824"/>
            <a:ext cx="338724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A six-cell VAR-LiNGAM grid that refitted the same VAR(1) six times, because a config key overrode the lag order we swept.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4059935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420624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30">
                <a:solidFill>
                  <a:srgbClr val="1A7F72"/>
                </a:solidFill>
                <a:latin typeface="Aptos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80559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Re-run the two fixed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498847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coded, not yet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480559"/>
            <a:ext cx="6522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LSTE with more shuffles or FDR off; VAR-LiNGAM with bootstrap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01183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Close the coverage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919471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cost-bound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901183"/>
            <a:ext cx="6522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LSTE across tau 1-3 and with prior knowledge; the bootstrap at every tau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21807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Aptos"/>
              </a:rPr>
              <a:t>Attack the binding constraint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340095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ptos"/>
              </a:rPr>
              <a:t>the real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5321807"/>
            <a:ext cx="6522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E73"/>
                </a:solidFill>
                <a:latin typeface="Aptos"/>
              </a:rPr>
              <a:t>Effective n of 36 defeats everything here; a longer segment beats tuning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797295"/>
            <a:ext cx="11002975" cy="329184"/>
          </a:xfrm>
          <a:prstGeom prst="rect">
            <a:avLst/>
          </a:prstGeom>
          <a:solidFill>
            <a:srgbClr val="F5E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5870447"/>
            <a:ext cx="107103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D21"/>
                </a:solidFill>
                <a:latin typeface="Aptos"/>
              </a:rPr>
              <a:t>UNVERIFIED - the two fixes above are in the working tree, not in the run this deck reports. No number on any earlier slide comes from them.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72783"/>
            <a:ext cx="1100297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1" i="0">
                <a:solidFill>
                  <a:srgbClr val="1A1D21"/>
                </a:solidFill>
                <a:latin typeface="Aptos"/>
              </a:rPr>
              <a:t>The headline is not that four methods failed, but that we could say which would fail, and why, before running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