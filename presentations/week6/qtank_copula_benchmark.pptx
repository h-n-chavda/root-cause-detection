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4" r:id="rId25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C99AAC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Shapiro-Wilk</c:v>
                </c:pt>
                <c:pt idx="1">
                  <c:v>D'Agostino K²</c:v>
                </c:pt>
                <c:pt idx="2">
                  <c:v>Jarque-Bera</c:v>
                </c:pt>
                <c:pt idx="3">
                  <c:v>Anderson-Darling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7A1F3D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Shapiro-Wilk</c:v>
                </c:pt>
                <c:pt idx="1">
                  <c:v>D'Agostino K²</c:v>
                </c:pt>
                <c:pt idx="2">
                  <c:v>Jarque-Bera</c:v>
                </c:pt>
                <c:pt idx="3">
                  <c:v>Anderson-Darling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columns rejected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262626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P_minus, 960 rows</c:v>
                </c:pt>
              </c:strCache>
            </c:strRef>
          </c:tx>
          <c:spPr>
            <a:solidFill>
              <a:srgbClr val="7A1F3D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PC</c:v>
                </c:pt>
                <c:pt idx="1">
                  <c:v>PCMCI+</c:v>
                </c:pt>
                <c:pt idx="2">
                  <c:v>VAR-LiNGAM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0.6667</c:v>
                </c:pt>
                <c:pt idx="1">
                  <c:v>0.875</c:v>
                </c:pt>
                <c:pt idx="2">
                  <c:v>0.6667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P_plus, 960 rows</c:v>
                </c:pt>
              </c:strCache>
            </c:strRef>
          </c:tx>
          <c:spPr>
            <a:solidFill>
              <a:srgbClr val="C99AAC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PC</c:v>
                </c:pt>
                <c:pt idx="1">
                  <c:v>PCMCI+</c:v>
                </c:pt>
                <c:pt idx="2">
                  <c:v>VAR-LiNGAM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0.7692</c:v>
                </c:pt>
                <c:pt idx="1">
                  <c:v>0.8889</c:v>
                </c:pt>
                <c:pt idx="2">
                  <c:v>0.8889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P_minus, 2880 rows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PC</c:v>
                </c:pt>
                <c:pt idx="1">
                  <c:v>PCMCI+</c:v>
                </c:pt>
                <c:pt idx="2">
                  <c:v>VAR-LiNGAM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0.5714</c:v>
                </c:pt>
                <c:pt idx="1">
                  <c:v>0.8235</c:v>
                </c:pt>
                <c:pt idx="2">
                  <c:v>0.6316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P_plus, 2880 rows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PC</c:v>
                </c:pt>
                <c:pt idx="1">
                  <c:v>PCMCI+</c:v>
                </c:pt>
                <c:pt idx="2">
                  <c:v>VAR-LiNGAM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0.5455</c:v>
                </c:pt>
                <c:pt idx="1">
                  <c:v>0.8235</c:v>
                </c:pt>
                <c:pt idx="2">
                  <c:v>0.7619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262626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PC
P_minus 960</c:v>
                </c:pt>
                <c:pt idx="1">
                  <c:v>PCMCI+
P_minus 960</c:v>
                </c:pt>
                <c:pt idx="2">
                  <c:v>VAR-LiNGAM
P_minus 960</c:v>
                </c:pt>
                <c:pt idx="3">
                  <c:v>PC
P_plus 960</c:v>
                </c:pt>
                <c:pt idx="4">
                  <c:v>PCMCI+
P_plus 960</c:v>
                </c:pt>
                <c:pt idx="5">
                  <c:v>VAR-LiNGAM
P_plus 960</c:v>
                </c:pt>
                <c:pt idx="6">
                  <c:v>PC
P_minus 2880</c:v>
                </c:pt>
                <c:pt idx="7">
                  <c:v>PCMCI+
P_minus 2880</c:v>
                </c:pt>
                <c:pt idx="8">
                  <c:v>VAR-LiNGAM
P_minus 2880</c:v>
                </c:pt>
                <c:pt idx="9">
                  <c:v>PC
P_plus 2880</c:v>
                </c:pt>
                <c:pt idx="10">
                  <c:v>PCMCI+
P_plus 2880</c:v>
                </c:pt>
                <c:pt idx="11">
                  <c:v>VAR-LiNGAM
P_plus 2880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0.6667</c:v>
                </c:pt>
                <c:pt idx="1">
                  <c:v>0.875</c:v>
                </c:pt>
                <c:pt idx="2">
                  <c:v>0.6667</c:v>
                </c:pt>
                <c:pt idx="3">
                  <c:v>0.7692</c:v>
                </c:pt>
                <c:pt idx="4">
                  <c:v>0.8889</c:v>
                </c:pt>
                <c:pt idx="5">
                  <c:v>0.8889</c:v>
                </c:pt>
                <c:pt idx="6">
                  <c:v>0.5714</c:v>
                </c:pt>
                <c:pt idx="7">
                  <c:v>0.8235</c:v>
                </c:pt>
                <c:pt idx="8">
                  <c:v>0.6316</c:v>
                </c:pt>
                <c:pt idx="9">
                  <c:v>0.5455</c:v>
                </c:pt>
                <c:pt idx="10">
                  <c:v>0.8235</c:v>
                </c:pt>
                <c:pt idx="11">
                  <c:v>0.7619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copula</c:v>
                </c:pt>
              </c:strCache>
            </c:strRef>
          </c:tx>
          <c:spPr>
            <a:solidFill>
              <a:srgbClr val="7A1F3D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PC
P_minus 960</c:v>
                </c:pt>
                <c:pt idx="1">
                  <c:v>PCMCI+
P_minus 960</c:v>
                </c:pt>
                <c:pt idx="2">
                  <c:v>VAR-LiNGAM
P_minus 960</c:v>
                </c:pt>
                <c:pt idx="3">
                  <c:v>PC
P_plus 960</c:v>
                </c:pt>
                <c:pt idx="4">
                  <c:v>PCMCI+
P_plus 960</c:v>
                </c:pt>
                <c:pt idx="5">
                  <c:v>VAR-LiNGAM
P_plus 960</c:v>
                </c:pt>
                <c:pt idx="6">
                  <c:v>PC
P_minus 2880</c:v>
                </c:pt>
                <c:pt idx="7">
                  <c:v>PCMCI+
P_minus 2880</c:v>
                </c:pt>
                <c:pt idx="8">
                  <c:v>VAR-LiNGAM
P_minus 2880</c:v>
                </c:pt>
                <c:pt idx="9">
                  <c:v>PC
P_plus 2880</c:v>
                </c:pt>
                <c:pt idx="10">
                  <c:v>PCMCI+
P_plus 2880</c:v>
                </c:pt>
                <c:pt idx="11">
                  <c:v>VAR-LiNGAM
P_plus 2880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0.7143</c:v>
                </c:pt>
                <c:pt idx="1">
                  <c:v>0.8571</c:v>
                </c:pt>
                <c:pt idx="2">
                  <c:v>0.6316</c:v>
                </c:pt>
                <c:pt idx="3">
                  <c:v>0.7692</c:v>
                </c:pt>
                <c:pt idx="4">
                  <c:v>0.8235</c:v>
                </c:pt>
                <c:pt idx="5">
                  <c:v>0.8</c:v>
                </c:pt>
                <c:pt idx="6">
                  <c:v>0.6667</c:v>
                </c:pt>
                <c:pt idx="7">
                  <c:v>0.7778</c:v>
                </c:pt>
                <c:pt idx="8">
                  <c:v>0.7059</c:v>
                </c:pt>
                <c:pt idx="9">
                  <c:v>0.6154</c:v>
                </c:pt>
                <c:pt idx="10">
                  <c:v>0.8235</c:v>
                </c:pt>
                <c:pt idx="11">
                  <c:v>0.7368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262626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PC
P_minus 960</c:v>
                </c:pt>
                <c:pt idx="1">
                  <c:v>PCMCI+
P_minus 960</c:v>
                </c:pt>
                <c:pt idx="2">
                  <c:v>VAR-LiNGAM
P_minus 960</c:v>
                </c:pt>
                <c:pt idx="3">
                  <c:v>PC
P_plus 960</c:v>
                </c:pt>
                <c:pt idx="4">
                  <c:v>PCMCI+
P_plus 960</c:v>
                </c:pt>
                <c:pt idx="5">
                  <c:v>VAR-LiNGAM
P_plus 960</c:v>
                </c:pt>
                <c:pt idx="6">
                  <c:v>PC
P_minus 2880</c:v>
                </c:pt>
                <c:pt idx="7">
                  <c:v>PCMCI+
P_minus 2880</c:v>
                </c:pt>
                <c:pt idx="8">
                  <c:v>VAR-LiNGAM
P_minus 2880</c:v>
                </c:pt>
                <c:pt idx="9">
                  <c:v>PC
P_plus 2880</c:v>
                </c:pt>
                <c:pt idx="10">
                  <c:v>PCMCI+
P_plus 2880</c:v>
                </c:pt>
                <c:pt idx="11">
                  <c:v>VAR-LiNGAM
P_plus 2880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4.4</c:v>
                </c:pt>
                <c:pt idx="1">
                  <c:v>1.2</c:v>
                </c:pt>
                <c:pt idx="2">
                  <c:v>135.0</c:v>
                </c:pt>
                <c:pt idx="3">
                  <c:v>4.6</c:v>
                </c:pt>
                <c:pt idx="4">
                  <c:v>1.4</c:v>
                </c:pt>
                <c:pt idx="5">
                  <c:v>134.3</c:v>
                </c:pt>
                <c:pt idx="6">
                  <c:v>21.2</c:v>
                </c:pt>
                <c:pt idx="7">
                  <c:v>3.8</c:v>
                </c:pt>
                <c:pt idx="8">
                  <c:v>300.1</c:v>
                </c:pt>
                <c:pt idx="9">
                  <c:v>22.7</c:v>
                </c:pt>
                <c:pt idx="10">
                  <c:v>3.8</c:v>
                </c:pt>
                <c:pt idx="11">
                  <c:v>288.7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copula</c:v>
                </c:pt>
              </c:strCache>
            </c:strRef>
          </c:tx>
          <c:spPr>
            <a:solidFill>
              <a:srgbClr val="7A1F3D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PC
P_minus 960</c:v>
                </c:pt>
                <c:pt idx="1">
                  <c:v>PCMCI+
P_minus 960</c:v>
                </c:pt>
                <c:pt idx="2">
                  <c:v>VAR-LiNGAM
P_minus 960</c:v>
                </c:pt>
                <c:pt idx="3">
                  <c:v>PC
P_plus 960</c:v>
                </c:pt>
                <c:pt idx="4">
                  <c:v>PCMCI+
P_plus 960</c:v>
                </c:pt>
                <c:pt idx="5">
                  <c:v>VAR-LiNGAM
P_plus 960</c:v>
                </c:pt>
                <c:pt idx="6">
                  <c:v>PC
P_minus 2880</c:v>
                </c:pt>
                <c:pt idx="7">
                  <c:v>PCMCI+
P_minus 2880</c:v>
                </c:pt>
                <c:pt idx="8">
                  <c:v>VAR-LiNGAM
P_minus 2880</c:v>
                </c:pt>
                <c:pt idx="9">
                  <c:v>PC
P_plus 2880</c:v>
                </c:pt>
                <c:pt idx="10">
                  <c:v>PCMCI+
P_plus 2880</c:v>
                </c:pt>
                <c:pt idx="11">
                  <c:v>VAR-LiNGAM
P_plus 2880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3.4</c:v>
                </c:pt>
                <c:pt idx="1">
                  <c:v>2.0</c:v>
                </c:pt>
                <c:pt idx="2">
                  <c:v>239.7</c:v>
                </c:pt>
                <c:pt idx="3">
                  <c:v>8.5</c:v>
                </c:pt>
                <c:pt idx="4">
                  <c:v>5.3</c:v>
                </c:pt>
                <c:pt idx="5">
                  <c:v>249.3</c:v>
                </c:pt>
                <c:pt idx="6">
                  <c:v>30.9</c:v>
                </c:pt>
                <c:pt idx="7">
                  <c:v>7.3</c:v>
                </c:pt>
                <c:pt idx="8">
                  <c:v>516.4</c:v>
                </c:pt>
                <c:pt idx="9">
                  <c:v>33.6</c:v>
                </c:pt>
                <c:pt idx="10">
                  <c:v>4.5</c:v>
                </c:pt>
                <c:pt idx="11">
                  <c:v>468.7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ax val="1000.0"/>
          <c:min val="1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262626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Helvetica"/>
              </a:rPr>
              <a:t>ROOT-CAUSE DETECTION  · 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262626"/>
                </a:solidFill>
                <a:latin typeface="Helvetica"/>
              </a:rPr>
              <a:t>Causal discovery on the quadruple-tank process: raw data versus Gaussian-copula-transformed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Helvetica"/>
              </a:rPr>
              <a:t>PC, PCMCI+, VAR-LiNGAM and LSTE on datasets P_minus and P_plus.</a:t>
            </a:r>
          </a:p>
          <a:p>
            <a:pPr algn="l"/>
            <a:r>
              <a:rPr sz="1500" b="0" i="0">
                <a:solidFill>
                  <a:srgbClr val="262626"/>
                </a:solidFill>
                <a:latin typeface="Helvetica"/>
              </a:rPr>
              <a:t>Results produced on 2 October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Helvetica"/>
              </a:rPr>
              <a:t>Runs: run-parcorr-tau20-s3, run-parcorr-tau20-full, run-copula-tau20-s3, run-copula-tau20-full, run-copula-lste-s3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Two pumps, four tanks, one disturbance: eight directed links are the answer key for every result that follows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datasets/QTank_Dynamics.m; Johansson, IEEE TCST 2000; datasets/generated/ground_truth_edges.json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48640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534009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Physical rig (Johansson quadruple-tank process)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1920240"/>
            <a:ext cx="13716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029968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7744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Helvetica"/>
              </a:rPr>
              <a:t>upper left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1920240"/>
            <a:ext cx="13716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029968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37744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Helvetica"/>
              </a:rPr>
              <a:t>upper right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3566160"/>
            <a:ext cx="13716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8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2336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Helvetica"/>
              </a:rPr>
              <a:t>lower left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3566160"/>
            <a:ext cx="13716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3675888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02336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Helvetica"/>
              </a:rPr>
              <a:t>lower right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103120"/>
            <a:ext cx="548640" cy="4572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210312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788920" y="2331720"/>
            <a:ext cx="228600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66160" y="2331720"/>
            <a:ext cx="228600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4937760"/>
            <a:ext cx="1188720" cy="45720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1188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pump v1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4937760"/>
            <a:ext cx="1188720" cy="45720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937760"/>
            <a:ext cx="1188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pump v2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280160" y="4434840"/>
            <a:ext cx="502920" cy="50292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874520" y="2788920"/>
            <a:ext cx="2103120" cy="224028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4800600" y="4434840"/>
            <a:ext cx="411480" cy="50292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606040" y="2788920"/>
            <a:ext cx="2011680" cy="2240280"/>
          </a:xfrm>
          <a:prstGeom prst="line">
            <a:avLst/>
          </a:prstGeom>
          <a:ln w="2222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03120" y="2788920"/>
            <a:ext cx="0" cy="777240"/>
          </a:xfrm>
          <a:prstGeom prst="line">
            <a:avLst/>
          </a:prstGeom>
          <a:ln w="31750">
            <a:solidFill>
              <a:srgbClr val="7A1F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80560" y="2788920"/>
            <a:ext cx="0" cy="777240"/>
          </a:xfrm>
          <a:prstGeom prst="line">
            <a:avLst/>
          </a:prstGeom>
          <a:ln w="31750">
            <a:solidFill>
              <a:srgbClr val="7A1F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5577840"/>
            <a:ext cx="5486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Each pump splits its flow between one lower tank and the diagonally opposite upper tank. Upper tanks drain into the tank below (burgundy). d feeds both upper tanks.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1325880"/>
            <a:ext cx="533369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1325880"/>
            <a:ext cx="518739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Same system as a causal graph: 7 nodes, 8 directed links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05489" y="3630168"/>
            <a:ext cx="0" cy="504748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0116143" y="2619071"/>
            <a:ext cx="507337" cy="1528416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038365" y="3630168"/>
            <a:ext cx="0" cy="504748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74111" y="2470509"/>
            <a:ext cx="2232737" cy="827016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98048" y="2557772"/>
            <a:ext cx="664195" cy="652490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8181610" y="2557772"/>
            <a:ext cx="664195" cy="652490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237005" y="2470509"/>
            <a:ext cx="2232737" cy="827016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20373" y="2619071"/>
            <a:ext cx="507337" cy="1528416"/>
          </a:xfrm>
          <a:prstGeom prst="line">
            <a:avLst/>
          </a:prstGeom>
          <a:ln w="3175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095707" y="2137867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47" name="Oval 46"/>
          <p:cNvSpPr/>
          <p:nvPr/>
        </p:nvSpPr>
        <p:spPr>
          <a:xfrm>
            <a:off x="8775039" y="2137867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48" name="Oval 47"/>
          <p:cNvSpPr/>
          <p:nvPr/>
        </p:nvSpPr>
        <p:spPr>
          <a:xfrm>
            <a:off x="10454371" y="2137867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49" name="Oval 48"/>
          <p:cNvSpPr/>
          <p:nvPr/>
        </p:nvSpPr>
        <p:spPr>
          <a:xfrm>
            <a:off x="7758601" y="3136392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50" name="Oval 49"/>
          <p:cNvSpPr/>
          <p:nvPr/>
        </p:nvSpPr>
        <p:spPr>
          <a:xfrm>
            <a:off x="9791477" y="3136392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51" name="Oval 50"/>
          <p:cNvSpPr/>
          <p:nvPr/>
        </p:nvSpPr>
        <p:spPr>
          <a:xfrm>
            <a:off x="7758601" y="4134916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52" name="Oval 51"/>
          <p:cNvSpPr/>
          <p:nvPr/>
        </p:nvSpPr>
        <p:spPr>
          <a:xfrm>
            <a:off x="9791477" y="4134916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6355080" y="4937760"/>
          <a:ext cx="5333694" cy="1234440"/>
        </p:xfrm>
        <a:graphic>
          <a:graphicData uri="http://schemas.openxmlformats.org/drawingml/2006/table">
            <a:tbl>
              <a:tblPr firstRow="0" bandRow="0"/>
              <a:tblGrid>
                <a:gridCol w="1106993"/>
                <a:gridCol w="2616529"/>
                <a:gridCol w="1610172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7A1F3D"/>
                          </a:solidFill>
                          <a:latin typeface="Helvetica"/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7A1F3D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7A1F3D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v1, v2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pump voltages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binary PRBS inputs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disturbance flow into upper tanks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binary PRBS input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h1, h2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lower-tank levels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continuous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h3, h4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upper-tank levels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Helvetica"/>
                        </a:rPr>
                        <a:t>continuous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DATA AND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Two operating points, two sampling rates, one window of 20 lags; every run is scored against the same 8 edges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datasets/generated/ground_truth_edges.json; datasets/run_algorithms.py; docs/QTP_EXPECTATIONS.md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58368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643737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Benchmark settings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74520"/>
          <a:ext cx="6583679" cy="3456432"/>
        </p:xfrm>
        <a:graphic>
          <a:graphicData uri="http://schemas.openxmlformats.org/drawingml/2006/table">
            <a:tbl>
              <a:tblPr firstRow="0" bandRow="0"/>
              <a:tblGrid>
                <a:gridCol w="1519310"/>
                <a:gridCol w="506436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Datasets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P_minus (minimum phase), P_plus (non-minimum phase); same simulator and inputs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Variables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v1, v2, d (binary PRBS inputs); h1, h2, h3, h4 (tank levels)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Ground truth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8 directed edges; no lag information recorded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Sampling, full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Ts = 5 s, 2880 rows (4 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Sampling, stride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Ts = 15 s, 960 rows (same 4 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tau_max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20 samples = 100 s (full) or 300 s (stride 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Standardisation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every column z-scored before each algorithm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Scoring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lags collapsed to unique directed edges; self-loops dropped; precision, recall, F1, SHD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52360" y="1325880"/>
            <a:ext cx="423641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1325880"/>
            <a:ext cx="409011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Ground-truth edges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325880"/>
            <a:ext cx="414497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cause → effect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452360" y="1874520"/>
          <a:ext cx="4236413" cy="2962656"/>
        </p:xfrm>
        <a:graphic>
          <a:graphicData uri="http://schemas.openxmlformats.org/drawingml/2006/table">
            <a:tbl>
              <a:tblPr firstRow="0" bandRow="0"/>
              <a:tblGrid>
                <a:gridCol w="492606"/>
                <a:gridCol w="985212"/>
                <a:gridCol w="985212"/>
                <a:gridCol w="1773383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Cause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Effect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Mechanism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pump flow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pump flow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v2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pump flow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v2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pump flow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disturbance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disturbance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drainage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h2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drainage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Four algorithms with identical settings on raw and transformed data; LSTE is restricted to 8 lags by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datasets/run_algorithms.py (CONFIGS); run_summary.json of each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1103955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Configuration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74520"/>
          <a:ext cx="11185853" cy="2286000"/>
        </p:xfrm>
        <a:graphic>
          <a:graphicData uri="http://schemas.openxmlformats.org/drawingml/2006/table">
            <a:tbl>
              <a:tblPr firstRow="0" bandRow="0"/>
              <a:tblGrid>
                <a:gridCol w="1789736"/>
                <a:gridCol w="2237171"/>
                <a:gridCol w="1901595"/>
                <a:gridCol w="2684605"/>
                <a:gridCol w="257274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Algorithm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Independence test / estimator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Settings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A1F3D"/>
                          </a:solidFill>
                          <a:latin typeface="Helvetica"/>
                        </a:rPr>
                        <a:t>Runs in this deck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PC (lagged, PC-stable)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constraint-based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ParCorr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pc_alpha 0.01, tau_max 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raw + copula, 960 and 2880 rows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constraint-based, autocorrelation-aware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ParCorr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pc_alpha 0.01, tau_max 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raw + copula, 960 and 2880 rows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functional (non-Gaussian ICA)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none; VAR + ICA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lags 20, bootstrap 100, edge threshold 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raw + copula, 960 and 2880 rows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LSTE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information-theoretic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CMIknn, shuffle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tau_max 8, 100 shuffles, alpha 0.05, FDR BH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Helvetica"/>
                        </a:rPr>
                        <a:t>copula, 960 rows, P_minus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52628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Helvetica"/>
              </a:rPr>
              <a:t>–  ParCorr assumes linear dependence with Gaussian residuals; the copula transform targets the second assumption.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Helvetica"/>
              </a:rPr>
              <a:t>–  LSTE at tau_max 20 was not run: 980 CMIknn tests per dataset at that window did not finish in earlier attempts. Cost at tau 20 is UNVERIFIED.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Helvetica"/>
              </a:rPr>
              <a:t>–  The raw-data LSTE reference (run-lste-quick) returned 0 edges; its runtime was not recorded.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DATA PREPROCESSING ·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The copula transform maps each tank level to a near-Gaussian marginal; the three binary inputs stay two-valued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src/causal_bench/eda/copula.py; results/eda-20261002-072603/figures (P_minus, 2880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455767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53094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Before: raw marginals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364327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P_minus, 2880 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325880"/>
            <a:ext cx="5455767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6159" y="1325880"/>
            <a:ext cx="53094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After: per-column Gaussian copula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325880"/>
            <a:ext cx="5364327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same rows</a:t>
            </a:r>
          </a:p>
        </p:txBody>
      </p:sp>
      <p:pic>
        <p:nvPicPr>
          <p:cNvPr id="13" name="Picture 12" descr="step1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5455767" cy="2067105"/>
          </a:xfrm>
          <a:prstGeom prst="rect">
            <a:avLst/>
          </a:prstGeom>
        </p:spPr>
      </p:pic>
      <p:pic>
        <p:nvPicPr>
          <p:cNvPr id="14" name="Picture 13" descr="step3_histograms_transfor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74520"/>
            <a:ext cx="5455767" cy="20671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078785"/>
            <a:ext cx="11185855" cy="2139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262626"/>
                </a:solidFill>
                <a:latin typeface="Helvetica"/>
              </a:rPr>
              <a:t>–  Transform: QuantileTransformer(output_distribution="normal"), one transformer per column, n_quantiles = sample size. Dependence between columns is left unchanged.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62626"/>
                </a:solidFill>
                <a:latin typeface="Helvetica"/>
              </a:rPr>
              <a:t>–  v1, v2, d are PRBS inputs with two values; they map to two normal quantiles and remain two-valued. No marginal transform makes a two-valued column continuous.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DATA PREPROCESSING ·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Formal normality tests still reject on most columns after the transform; only Anderson-Darling rejections fall, from 7 to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results/eda-20261002-072603/eda_summary.json (P_minus); results/eda-20261002-072543/eda_summary.json (P_plus); alpha 0.05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40080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625449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Columns rejected by each normality test (of 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6309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P_minus, before vs after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18288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269480" y="1325880"/>
            <a:ext cx="441929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2" y="1325880"/>
            <a:ext cx="427299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Both 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325880"/>
            <a:ext cx="43278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rejections of 7 columns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69480" y="1874520"/>
          <a:ext cx="4419294" cy="1975104"/>
        </p:xfrm>
        <a:graphic>
          <a:graphicData uri="http://schemas.openxmlformats.org/drawingml/2006/table">
            <a:tbl>
              <a:tblPr firstRow="0" bandRow="0"/>
              <a:tblGrid>
                <a:gridCol w="1473098"/>
                <a:gridCol w="736549"/>
                <a:gridCol w="736549"/>
                <a:gridCol w="736549"/>
                <a:gridCol w="73654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7A1F3D"/>
                          </a:solidFill>
                          <a:latin typeface="Helvetica"/>
                        </a:rP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7A1F3D"/>
                          </a:solidFill>
                          <a:latin typeface="Helvetica"/>
                        </a:rPr>
                        <a:t>P− before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7A1F3D"/>
                          </a:solidFill>
                          <a:latin typeface="Helvetica"/>
                        </a:rPr>
                        <a:t>P− after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7A1F3D"/>
                          </a:solidFill>
                          <a:latin typeface="Helvetica"/>
                        </a:rPr>
                        <a:t>P+ before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7A1F3D"/>
                          </a:solidFill>
                          <a:latin typeface="Helvetica"/>
                        </a:rPr>
                        <a:t>P+ after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Shapiro-Wilk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D'Agostino K²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Jarque-Bera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Anderson-Darling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Practically Gaussian*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69480" y="3977640"/>
            <a:ext cx="441929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Helvetica"/>
              </a:rPr>
              <a:t>* |skew| &lt; 0.5 and |excess kurtosis| &lt; 1. Counts the four tank levels before and after.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434840"/>
            <a:ext cx="4419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At n = 2880 the formal tests reject on departures too small to matter; the effect-size row is the operative one.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The three binary inputs fail every test before and after, as expected.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DATA PREPROCESSING ·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No MAD outliers in either dataset; after the transform 3 to 4 percent of rows exceed the Hotelling T² control limit, against 5 percent expected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results/eda-20261002-072603/figures/step4_t2_control_chart.png; eda_summary.json of both EDA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498079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735177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Hotelling T² per observation after the 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740663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P_minus; UCL at alpha 0.05</a:t>
            </a:r>
          </a:p>
        </p:txBody>
      </p:sp>
      <p:pic>
        <p:nvPicPr>
          <p:cNvPr id="10" name="Picture 9" descr="step4_t2_contro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7498079" cy="29575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366759" y="1325880"/>
            <a:ext cx="3322016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1" y="1325880"/>
            <a:ext cx="317571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Outliers and T² exceedance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366759" y="1874520"/>
          <a:ext cx="3322015" cy="2084832"/>
        </p:xfrm>
        <a:graphic>
          <a:graphicData uri="http://schemas.openxmlformats.org/drawingml/2006/table">
            <a:tbl>
              <a:tblPr firstRow="0" bandRow="0"/>
              <a:tblGrid>
                <a:gridCol w="1740103"/>
                <a:gridCol w="790956"/>
                <a:gridCol w="790956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7A1F3D"/>
                          </a:solidFill>
                          <a:latin typeface="Helvetica"/>
                        </a:rPr>
                        <a:t>Measure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7A1F3D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7A1F3D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MAD outliers (|z| &gt; 3.5)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IQR outliers (1.5 IQR)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T² UCL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14.12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14.12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Fraction above UCL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0.028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0.042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Expected under null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0.050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Helvetica"/>
                        </a:rPr>
                        <a:t>0.050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366759" y="4251960"/>
            <a:ext cx="33220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Nothing is removed: outlier counts are diagnostic only, so the time index stays intact.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The exceedance fraction below 0.05 is consistent with a successful marginal transform; it says nothing about causal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RESULTS ON RAW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PCMCI+ scores highest on both datasets at both row counts; stride 3 beats the full series for every algorithm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results/qtank/run-parcorr-tau20-s3/scores.json; run-parcorr-tau20-full/scores.json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03504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588873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F1 against the 8 true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943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raw data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1828800"/>
          <a:ext cx="60350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812280" y="1325880"/>
            <a:ext cx="487649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1325880"/>
            <a:ext cx="473019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All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325880"/>
            <a:ext cx="4785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raw data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12280" y="1874520"/>
          <a:ext cx="4876492" cy="3566160"/>
        </p:xfrm>
        <a:graphic>
          <a:graphicData uri="http://schemas.openxmlformats.org/drawingml/2006/table">
            <a:tbl>
              <a:tblPr firstRow="0" bandRow="0"/>
              <a:tblGrid>
                <a:gridCol w="598867"/>
                <a:gridCol w="855525"/>
                <a:gridCol w="1112183"/>
                <a:gridCol w="598867"/>
                <a:gridCol w="684420"/>
                <a:gridCol w="513315"/>
                <a:gridCol w="51331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Rows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Dataset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Algorithm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Prec.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SHD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498348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PC has the lowest recall everywhere (0.38 to 0.62): it finds the pump links and misses the drainage links.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The denser 5 s series lowers F1 for PC and VAR-LiNGAM; a 20-lag window then spans only 100 s against a 90 s time constant.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RESULTS AFTER THE COPULA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The transform moves F1 by at most 0.10 in either direction and leaves the ranking unchanged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results/qtank/COPULA_RESULTS.md; run-copula-tau20-s3, run-copula-tau20-full, run-copula-lste-s3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03504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588873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F1, raw vs copula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943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960 rows (left pair) and 2880 rows (right pair) per algorithm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1828800"/>
          <a:ext cx="60350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812280" y="1325880"/>
            <a:ext cx="487649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1325880"/>
            <a:ext cx="473019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Change raw → copula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12280" y="1874520"/>
          <a:ext cx="4876492" cy="3712464"/>
        </p:xfrm>
        <a:graphic>
          <a:graphicData uri="http://schemas.openxmlformats.org/drawingml/2006/table">
            <a:tbl>
              <a:tblPr firstRow="0" bandRow="0"/>
              <a:tblGrid>
                <a:gridCol w="475755"/>
                <a:gridCol w="753279"/>
                <a:gridCol w="951511"/>
                <a:gridCol w="555048"/>
                <a:gridCol w="555048"/>
                <a:gridCol w="475755"/>
                <a:gridCol w="555048"/>
                <a:gridCol w="555048"/>
              </a:tblGrid>
              <a:tr h="26517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7A1F3D"/>
                          </a:solidFill>
                          <a:latin typeface="Helvetica"/>
                        </a:rPr>
                        <a:t>Rows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7A1F3D"/>
                          </a:solidFill>
                          <a:latin typeface="Helvetica"/>
                        </a:rPr>
                        <a:t>Dataset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7A1F3D"/>
                          </a:solidFill>
                          <a:latin typeface="Helvetica"/>
                        </a:rPr>
                        <a:t>Algorithm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7A1F3D"/>
                          </a:solidFill>
                          <a:latin typeface="Helvetica"/>
                        </a:rPr>
                        <a:t>F1 raw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7A1F3D"/>
                          </a:solidFill>
                          <a:latin typeface="Helvetica"/>
                        </a:rPr>
                        <a:t>F1 cop.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7A1F3D"/>
                          </a:solidFill>
                          <a:latin typeface="Helvetica"/>
                        </a:rPr>
                        <a:t>ΔF1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7A1F3D"/>
                          </a:solidFill>
                          <a:latin typeface="Helvetica"/>
                        </a:rPr>
                        <a:t>SHD raw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7A1F3D"/>
                          </a:solidFill>
                          <a:latin typeface="Helvetica"/>
                        </a:rPr>
                        <a:t>SHD cop.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+0.05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-0.02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-0.04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+0.00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-0.07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-0.09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+0.10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-0.05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+0.07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+0.07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+0.00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-0.03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LSTE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+0.00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62626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166360"/>
            <a:ext cx="6035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262626"/>
                </a:solidFill>
                <a:latin typeface="Helvetica"/>
              </a:rPr>
              <a:t>–  PC: F1 unchanged or higher in all four cases (+0.04, 0.00, +0.10, +0.07); false positives fall on P_minus.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62626"/>
                </a:solidFill>
                <a:latin typeface="Helvetica"/>
              </a:rPr>
              <a:t>–  PCMCI+: within 0.07 of raw in every case; SHD unchanged or +1. VAR-LiNGAM: mixed, from −0.09 to +0.08.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62626"/>
                </a:solidFill>
                <a:latin typeface="Helvetica"/>
              </a:rPr>
              <a:t>–  LSTE on copula P_minus: 0 edges in 1313 s. P_plus was not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RECOVERED GRAPHS · PC · P_MINUS (MINIMUM PHASE)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PC on P_minus: F1 rises from 0.67 to 0.71 after the transform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directed_edges in results/qtank/run-parcorr-tau20-s3/graphs and run-copula-tau20-s3/graphs, lags collapsed; scores.json of both runs; 960 rows, tau_max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08176"/>
            <a:ext cx="502920" cy="0"/>
          </a:xfrm>
          <a:prstGeom prst="line">
            <a:avLst/>
          </a:prstGeom>
          <a:ln w="3175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Found (true link recovered)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9383" y="1408176"/>
            <a:ext cx="502920" cy="0"/>
          </a:xfrm>
          <a:prstGeom prst="line">
            <a:avLst/>
          </a:prstGeom>
          <a:ln w="3175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66311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Invented (not in ground truth)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6" y="1408176"/>
            <a:ext cx="502920" cy="0"/>
          </a:xfrm>
          <a:prstGeom prst="line">
            <a:avLst/>
          </a:prstGeom>
          <a:ln w="3175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62774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Reversed (true link, wrong direction)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92309" y="1408176"/>
            <a:ext cx="502920" cy="0"/>
          </a:xfrm>
          <a:prstGeom prst="line">
            <a:avLst/>
          </a:prstGeom>
          <a:ln w="3175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59237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Missed (true link not found)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8 links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9550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45665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02027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59214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97312" y="3001935"/>
            <a:ext cx="383191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771073" y="3001935"/>
            <a:ext cx="383192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867631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84771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6813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27" name="Oval 26"/>
          <p:cNvSpPr/>
          <p:nvPr/>
        </p:nvSpPr>
        <p:spPr>
          <a:xfrm>
            <a:off x="200146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3036124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29" name="Oval 28"/>
          <p:cNvSpPr/>
          <p:nvPr/>
        </p:nvSpPr>
        <p:spPr>
          <a:xfrm>
            <a:off x="1375230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30" name="Oval 29"/>
          <p:cNvSpPr/>
          <p:nvPr/>
        </p:nvSpPr>
        <p:spPr>
          <a:xfrm>
            <a:off x="2627707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31" name="Oval 30"/>
          <p:cNvSpPr/>
          <p:nvPr/>
        </p:nvSpPr>
        <p:spPr>
          <a:xfrm>
            <a:off x="1375230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32" name="Oval 31"/>
          <p:cNvSpPr/>
          <p:nvPr/>
        </p:nvSpPr>
        <p:spPr>
          <a:xfrm>
            <a:off x="2627707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2978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6130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PC, raw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2978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0.67 · SHD 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79272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662432" y="4218475"/>
            <a:ext cx="866828" cy="877127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17370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743928" y="5290718"/>
            <a:ext cx="703837" cy="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591131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726518" y="2973295"/>
            <a:ext cx="1224731" cy="934541"/>
          </a:xfrm>
          <a:prstGeom prst="line">
            <a:avLst/>
          </a:prstGeom>
          <a:ln w="3810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648860" y="2871524"/>
            <a:ext cx="1224731" cy="934541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104829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469608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765723" y="3026827"/>
            <a:ext cx="321140" cy="1993064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22085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4786871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48" name="Oval 47"/>
          <p:cNvSpPr/>
          <p:nvPr/>
        </p:nvSpPr>
        <p:spPr>
          <a:xfrm>
            <a:off x="5821527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49" name="Oval 48"/>
          <p:cNvSpPr/>
          <p:nvPr/>
        </p:nvSpPr>
        <p:spPr>
          <a:xfrm>
            <a:off x="6856182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50" name="Oval 49"/>
          <p:cNvSpPr/>
          <p:nvPr/>
        </p:nvSpPr>
        <p:spPr>
          <a:xfrm>
            <a:off x="5195288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51" name="Oval 50"/>
          <p:cNvSpPr/>
          <p:nvPr/>
        </p:nvSpPr>
        <p:spPr>
          <a:xfrm>
            <a:off x="6447765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52" name="Oval 51"/>
          <p:cNvSpPr/>
          <p:nvPr/>
        </p:nvSpPr>
        <p:spPr>
          <a:xfrm>
            <a:off x="5195288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53" name="Oval 52"/>
          <p:cNvSpPr/>
          <p:nvPr/>
        </p:nvSpPr>
        <p:spPr>
          <a:xfrm>
            <a:off x="6447765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22978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5   ·   invented 2   ·   reversed 1   ·   missed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43036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16188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PC, copula-transformed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43036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0.71 · SHD 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99330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82490" y="4218475"/>
            <a:ext cx="866828" cy="877127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037428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546576" y="2973295"/>
            <a:ext cx="1224731" cy="934541"/>
          </a:xfrm>
          <a:prstGeom prst="line">
            <a:avLst/>
          </a:prstGeom>
          <a:ln w="3810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9411189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9468918" y="2871524"/>
            <a:ext cx="1224731" cy="934541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924887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289666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0585781" y="3026827"/>
            <a:ext cx="321140" cy="1993064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542143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60692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69" name="Oval 68"/>
          <p:cNvSpPr/>
          <p:nvPr/>
        </p:nvSpPr>
        <p:spPr>
          <a:xfrm>
            <a:off x="9641585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70" name="Oval 69"/>
          <p:cNvSpPr/>
          <p:nvPr/>
        </p:nvSpPr>
        <p:spPr>
          <a:xfrm>
            <a:off x="10676240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71" name="Oval 70"/>
          <p:cNvSpPr/>
          <p:nvPr/>
        </p:nvSpPr>
        <p:spPr>
          <a:xfrm>
            <a:off x="9015346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72" name="Oval 71"/>
          <p:cNvSpPr/>
          <p:nvPr/>
        </p:nvSpPr>
        <p:spPr>
          <a:xfrm>
            <a:off x="10267823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73" name="Oval 72"/>
          <p:cNvSpPr/>
          <p:nvPr/>
        </p:nvSpPr>
        <p:spPr>
          <a:xfrm>
            <a:off x="9015346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74" name="Oval 73"/>
          <p:cNvSpPr/>
          <p:nvPr/>
        </p:nvSpPr>
        <p:spPr>
          <a:xfrm>
            <a:off x="10267823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43036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5   ·   invented 1   ·   reversed 1   ·   missed 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Helvetica"/>
              </a:rPr>
              <a:t>Change raw → copula.  True links gained: none.  True links lost: none.  Wrong links added: none.  Wrong links removed: h1→h2.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RECOVERED GRAPHS · PC · P_PLUS (NON-MINIMUM PHASE)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PC on P_plus: F1 unchanged at 0.77 after the transform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directed_edges in results/qtank/run-parcorr-tau20-s3/graphs and run-copula-tau20-s3/graphs, lags collapsed; scores.json of both runs; 960 rows, tau_max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08176"/>
            <a:ext cx="502920" cy="0"/>
          </a:xfrm>
          <a:prstGeom prst="line">
            <a:avLst/>
          </a:prstGeom>
          <a:ln w="3175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Found (true link recovered)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9383" y="1408176"/>
            <a:ext cx="502920" cy="0"/>
          </a:xfrm>
          <a:prstGeom prst="line">
            <a:avLst/>
          </a:prstGeom>
          <a:ln w="3175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66311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Invented (not in ground truth)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6" y="1408176"/>
            <a:ext cx="502920" cy="0"/>
          </a:xfrm>
          <a:prstGeom prst="line">
            <a:avLst/>
          </a:prstGeom>
          <a:ln w="3175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62774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Reversed (true link, wrong direction)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92309" y="1408176"/>
            <a:ext cx="502920" cy="0"/>
          </a:xfrm>
          <a:prstGeom prst="line">
            <a:avLst/>
          </a:prstGeom>
          <a:ln w="3175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59237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Missed (true link not found)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8 links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9550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45665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02027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59214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97312" y="3001935"/>
            <a:ext cx="383191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771073" y="3001935"/>
            <a:ext cx="383192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867631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84771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6813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27" name="Oval 26"/>
          <p:cNvSpPr/>
          <p:nvPr/>
        </p:nvSpPr>
        <p:spPr>
          <a:xfrm>
            <a:off x="200146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3036124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29" name="Oval 28"/>
          <p:cNvSpPr/>
          <p:nvPr/>
        </p:nvSpPr>
        <p:spPr>
          <a:xfrm>
            <a:off x="1375230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30" name="Oval 29"/>
          <p:cNvSpPr/>
          <p:nvPr/>
        </p:nvSpPr>
        <p:spPr>
          <a:xfrm>
            <a:off x="2627707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31" name="Oval 30"/>
          <p:cNvSpPr/>
          <p:nvPr/>
        </p:nvSpPr>
        <p:spPr>
          <a:xfrm>
            <a:off x="1375230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32" name="Oval 31"/>
          <p:cNvSpPr/>
          <p:nvPr/>
        </p:nvSpPr>
        <p:spPr>
          <a:xfrm>
            <a:off x="2627707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2978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6130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PC, raw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2978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0.77 · SHD 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79272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217370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5591131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687689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04829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69608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765723" y="3026827"/>
            <a:ext cx="321140" cy="1993064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22085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786871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45" name="Oval 44"/>
          <p:cNvSpPr/>
          <p:nvPr/>
        </p:nvSpPr>
        <p:spPr>
          <a:xfrm>
            <a:off x="5821527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46" name="Oval 45"/>
          <p:cNvSpPr/>
          <p:nvPr/>
        </p:nvSpPr>
        <p:spPr>
          <a:xfrm>
            <a:off x="6856182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47" name="Oval 46"/>
          <p:cNvSpPr/>
          <p:nvPr/>
        </p:nvSpPr>
        <p:spPr>
          <a:xfrm>
            <a:off x="5195288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48" name="Oval 47"/>
          <p:cNvSpPr/>
          <p:nvPr/>
        </p:nvSpPr>
        <p:spPr>
          <a:xfrm>
            <a:off x="6447765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49" name="Oval 48"/>
          <p:cNvSpPr/>
          <p:nvPr/>
        </p:nvSpPr>
        <p:spPr>
          <a:xfrm>
            <a:off x="5195288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50" name="Oval 49"/>
          <p:cNvSpPr/>
          <p:nvPr/>
        </p:nvSpPr>
        <p:spPr>
          <a:xfrm>
            <a:off x="6447765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2978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5   ·   invented 0   ·   reversed 0   ·   missed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43036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16188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PC, copula-transformed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43036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0.77 · SHD 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099330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37428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9411189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9507747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924887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89666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0585781" y="3026827"/>
            <a:ext cx="321140" cy="1993064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42143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860692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64" name="Oval 63"/>
          <p:cNvSpPr/>
          <p:nvPr/>
        </p:nvSpPr>
        <p:spPr>
          <a:xfrm>
            <a:off x="9641585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65" name="Oval 64"/>
          <p:cNvSpPr/>
          <p:nvPr/>
        </p:nvSpPr>
        <p:spPr>
          <a:xfrm>
            <a:off x="10676240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66" name="Oval 65"/>
          <p:cNvSpPr/>
          <p:nvPr/>
        </p:nvSpPr>
        <p:spPr>
          <a:xfrm>
            <a:off x="9015346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67" name="Oval 66"/>
          <p:cNvSpPr/>
          <p:nvPr/>
        </p:nvSpPr>
        <p:spPr>
          <a:xfrm>
            <a:off x="10267823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68" name="Oval 67"/>
          <p:cNvSpPr/>
          <p:nvPr/>
        </p:nvSpPr>
        <p:spPr>
          <a:xfrm>
            <a:off x="9015346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69" name="Oval 68"/>
          <p:cNvSpPr/>
          <p:nvPr/>
        </p:nvSpPr>
        <p:spPr>
          <a:xfrm>
            <a:off x="10267823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43036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5   ·   invented 0   ·   reversed 0   ·   missed 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Helvetica"/>
              </a:rPr>
              <a:t>Change raw → copula.  True links gained: none.  True links lost: none.  Wrong links added: none.  Wrong links removed: none.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RECOVERED GRAPHS · PCMCI+ · P_MINUS (MINIMUM PHASE)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PCMCI+ on P_minus: F1 falls from 0.88 to 0.86 after the transform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directed_edges in results/qtank/run-parcorr-tau20-s3/graphs and run-copula-tau20-s3/graphs, lags collapsed; scores.json of both runs; 960 rows, tau_max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08176"/>
            <a:ext cx="502920" cy="0"/>
          </a:xfrm>
          <a:prstGeom prst="line">
            <a:avLst/>
          </a:prstGeom>
          <a:ln w="3175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Found (true link recovered)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9383" y="1408176"/>
            <a:ext cx="502920" cy="0"/>
          </a:xfrm>
          <a:prstGeom prst="line">
            <a:avLst/>
          </a:prstGeom>
          <a:ln w="3175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66311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Invented (not in ground truth)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6" y="1408176"/>
            <a:ext cx="502920" cy="0"/>
          </a:xfrm>
          <a:prstGeom prst="line">
            <a:avLst/>
          </a:prstGeom>
          <a:ln w="3175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62774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Reversed (true link, wrong direction)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92309" y="1408176"/>
            <a:ext cx="502920" cy="0"/>
          </a:xfrm>
          <a:prstGeom prst="line">
            <a:avLst/>
          </a:prstGeom>
          <a:ln w="3175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59237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Missed (true link not found)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8 links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9550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45665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02027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59214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97312" y="3001935"/>
            <a:ext cx="383191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771073" y="3001935"/>
            <a:ext cx="383192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867631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84771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6813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27" name="Oval 26"/>
          <p:cNvSpPr/>
          <p:nvPr/>
        </p:nvSpPr>
        <p:spPr>
          <a:xfrm>
            <a:off x="200146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3036124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29" name="Oval 28"/>
          <p:cNvSpPr/>
          <p:nvPr/>
        </p:nvSpPr>
        <p:spPr>
          <a:xfrm>
            <a:off x="1375230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30" name="Oval 29"/>
          <p:cNvSpPr/>
          <p:nvPr/>
        </p:nvSpPr>
        <p:spPr>
          <a:xfrm>
            <a:off x="2627707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31" name="Oval 30"/>
          <p:cNvSpPr/>
          <p:nvPr/>
        </p:nvSpPr>
        <p:spPr>
          <a:xfrm>
            <a:off x="1375230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32" name="Oval 31"/>
          <p:cNvSpPr/>
          <p:nvPr/>
        </p:nvSpPr>
        <p:spPr>
          <a:xfrm>
            <a:off x="2627707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2978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6130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PCMCI+, raw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2978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0.88 · SHD 2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6765723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22085" y="4297680"/>
            <a:ext cx="0" cy="718718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79272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17370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591131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5687689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04829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469608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786871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45" name="Oval 44"/>
          <p:cNvSpPr/>
          <p:nvPr/>
        </p:nvSpPr>
        <p:spPr>
          <a:xfrm>
            <a:off x="5821527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46" name="Oval 45"/>
          <p:cNvSpPr/>
          <p:nvPr/>
        </p:nvSpPr>
        <p:spPr>
          <a:xfrm>
            <a:off x="6856182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47" name="Oval 46"/>
          <p:cNvSpPr/>
          <p:nvPr/>
        </p:nvSpPr>
        <p:spPr>
          <a:xfrm>
            <a:off x="5195288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48" name="Oval 47"/>
          <p:cNvSpPr/>
          <p:nvPr/>
        </p:nvSpPr>
        <p:spPr>
          <a:xfrm>
            <a:off x="6447765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49" name="Oval 48"/>
          <p:cNvSpPr/>
          <p:nvPr/>
        </p:nvSpPr>
        <p:spPr>
          <a:xfrm>
            <a:off x="5195288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50" name="Oval 49"/>
          <p:cNvSpPr/>
          <p:nvPr/>
        </p:nvSpPr>
        <p:spPr>
          <a:xfrm>
            <a:off x="6447765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2978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7   ·   invented 0   ·   reversed 0   ·   missed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43036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16188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PCMCI+, copula-transformed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43036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0.86 · SHD 2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10585781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99330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037428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9411189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9507747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924887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89666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42143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860692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64" name="Oval 63"/>
          <p:cNvSpPr/>
          <p:nvPr/>
        </p:nvSpPr>
        <p:spPr>
          <a:xfrm>
            <a:off x="9641585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65" name="Oval 64"/>
          <p:cNvSpPr/>
          <p:nvPr/>
        </p:nvSpPr>
        <p:spPr>
          <a:xfrm>
            <a:off x="10676240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66" name="Oval 65"/>
          <p:cNvSpPr/>
          <p:nvPr/>
        </p:nvSpPr>
        <p:spPr>
          <a:xfrm>
            <a:off x="9015346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67" name="Oval 66"/>
          <p:cNvSpPr/>
          <p:nvPr/>
        </p:nvSpPr>
        <p:spPr>
          <a:xfrm>
            <a:off x="10267823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68" name="Oval 67"/>
          <p:cNvSpPr/>
          <p:nvPr/>
        </p:nvSpPr>
        <p:spPr>
          <a:xfrm>
            <a:off x="9015346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69" name="Oval 68"/>
          <p:cNvSpPr/>
          <p:nvPr/>
        </p:nvSpPr>
        <p:spPr>
          <a:xfrm>
            <a:off x="10267823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43036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6   ·   invented 0   ·   reversed 0   ·   missed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Helvetica"/>
              </a:rPr>
              <a:t>Change raw → copula.  True links gained: none.  True links lost: h4→h2.  Wrong links added: none.  Wrong links removed: none.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RECOVERED GRAPHS · PCMCI+ · P_PLUS (NON-MINIMUM PHASE)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PCMCI+ on P_plus: F1 falls from 0.89 to 0.82 after the transform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directed_edges in results/qtank/run-parcorr-tau20-s3/graphs and run-copula-tau20-s3/graphs, lags collapsed; scores.json of both runs; 960 rows, tau_max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08176"/>
            <a:ext cx="502920" cy="0"/>
          </a:xfrm>
          <a:prstGeom prst="line">
            <a:avLst/>
          </a:prstGeom>
          <a:ln w="3175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Found (true link recovered)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9383" y="1408176"/>
            <a:ext cx="502920" cy="0"/>
          </a:xfrm>
          <a:prstGeom prst="line">
            <a:avLst/>
          </a:prstGeom>
          <a:ln w="3175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66311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Invented (not in ground truth)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6" y="1408176"/>
            <a:ext cx="502920" cy="0"/>
          </a:xfrm>
          <a:prstGeom prst="line">
            <a:avLst/>
          </a:prstGeom>
          <a:ln w="3175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62774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Reversed (true link, wrong direction)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92309" y="1408176"/>
            <a:ext cx="502920" cy="0"/>
          </a:xfrm>
          <a:prstGeom prst="line">
            <a:avLst/>
          </a:prstGeom>
          <a:ln w="3175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59237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Missed (true link not found)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8 links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9550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45665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02027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59214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97312" y="3001935"/>
            <a:ext cx="383191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771073" y="3001935"/>
            <a:ext cx="383192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867631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84771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6813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27" name="Oval 26"/>
          <p:cNvSpPr/>
          <p:nvPr/>
        </p:nvSpPr>
        <p:spPr>
          <a:xfrm>
            <a:off x="200146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3036124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29" name="Oval 28"/>
          <p:cNvSpPr/>
          <p:nvPr/>
        </p:nvSpPr>
        <p:spPr>
          <a:xfrm>
            <a:off x="1375230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30" name="Oval 29"/>
          <p:cNvSpPr/>
          <p:nvPr/>
        </p:nvSpPr>
        <p:spPr>
          <a:xfrm>
            <a:off x="2627707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31" name="Oval 30"/>
          <p:cNvSpPr/>
          <p:nvPr/>
        </p:nvSpPr>
        <p:spPr>
          <a:xfrm>
            <a:off x="1375230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32" name="Oval 31"/>
          <p:cNvSpPr/>
          <p:nvPr/>
        </p:nvSpPr>
        <p:spPr>
          <a:xfrm>
            <a:off x="2627707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2978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6130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PCMCI+, raw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2978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0.89 · SHD 2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662432" y="4218475"/>
            <a:ext cx="866828" cy="877127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619956" y="2985449"/>
            <a:ext cx="1360197" cy="207582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469608" y="4297680"/>
            <a:ext cx="0" cy="718718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765723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22085" y="4297680"/>
            <a:ext cx="0" cy="718718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79272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217370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591131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687689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104829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786871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47" name="Oval 46"/>
          <p:cNvSpPr/>
          <p:nvPr/>
        </p:nvSpPr>
        <p:spPr>
          <a:xfrm>
            <a:off x="5821527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48" name="Oval 47"/>
          <p:cNvSpPr/>
          <p:nvPr/>
        </p:nvSpPr>
        <p:spPr>
          <a:xfrm>
            <a:off x="6856182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49" name="Oval 48"/>
          <p:cNvSpPr/>
          <p:nvPr/>
        </p:nvSpPr>
        <p:spPr>
          <a:xfrm>
            <a:off x="5195288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50" name="Oval 49"/>
          <p:cNvSpPr/>
          <p:nvPr/>
        </p:nvSpPr>
        <p:spPr>
          <a:xfrm>
            <a:off x="6447765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51" name="Oval 50"/>
          <p:cNvSpPr/>
          <p:nvPr/>
        </p:nvSpPr>
        <p:spPr>
          <a:xfrm>
            <a:off x="5195288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52" name="Oval 51"/>
          <p:cNvSpPr/>
          <p:nvPr/>
        </p:nvSpPr>
        <p:spPr>
          <a:xfrm>
            <a:off x="6447765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2978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8   ·   invented 2   ·   reversed 0   ·   missed 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43036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6188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PCMCI+, copula-transformed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43036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0.82 · SHD 2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10606151" y="4297680"/>
            <a:ext cx="0" cy="718718"/>
          </a:xfrm>
          <a:prstGeom prst="line">
            <a:avLst/>
          </a:prstGeom>
          <a:ln w="3810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9440014" y="2985449"/>
            <a:ext cx="1360197" cy="207582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89666" y="4297680"/>
            <a:ext cx="0" cy="718718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0585781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099330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037428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9411189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9507747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924887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478135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860692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68" name="Oval 67"/>
          <p:cNvSpPr/>
          <p:nvPr/>
        </p:nvSpPr>
        <p:spPr>
          <a:xfrm>
            <a:off x="9641585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10676240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70" name="Oval 69"/>
          <p:cNvSpPr/>
          <p:nvPr/>
        </p:nvSpPr>
        <p:spPr>
          <a:xfrm>
            <a:off x="9015346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71" name="Oval 70"/>
          <p:cNvSpPr/>
          <p:nvPr/>
        </p:nvSpPr>
        <p:spPr>
          <a:xfrm>
            <a:off x="10267823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72" name="Oval 71"/>
          <p:cNvSpPr/>
          <p:nvPr/>
        </p:nvSpPr>
        <p:spPr>
          <a:xfrm>
            <a:off x="9015346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73" name="Oval 72"/>
          <p:cNvSpPr/>
          <p:nvPr/>
        </p:nvSpPr>
        <p:spPr>
          <a:xfrm>
            <a:off x="10267823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43036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7   ·   invented 1   ·   reversed 1   ·   missed 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Helvetica"/>
              </a:rPr>
              <a:t>Change raw → copula.  True links gained: none.  True links lost: h4→h2.  Wrong links added: h2→h4.  Wrong links removed: h4→h1.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RECOVERED GRAPHS · VAR-LINGAM · P_MINUS (MINIMUM PHASE)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VAR-LiNGAM on P_minus: F1 falls from 0.67 to 0.63 after the transform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directed_edges in results/qtank/run-parcorr-tau20-s3/graphs and run-copula-tau20-s3/graphs, lags collapsed; scores.json of both runs; 960 rows, tau_max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08176"/>
            <a:ext cx="502920" cy="0"/>
          </a:xfrm>
          <a:prstGeom prst="line">
            <a:avLst/>
          </a:prstGeom>
          <a:ln w="3175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Found (true link recovered)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9383" y="1408176"/>
            <a:ext cx="502920" cy="0"/>
          </a:xfrm>
          <a:prstGeom prst="line">
            <a:avLst/>
          </a:prstGeom>
          <a:ln w="3175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66311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Invented (not in ground truth)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6" y="1408176"/>
            <a:ext cx="502920" cy="0"/>
          </a:xfrm>
          <a:prstGeom prst="line">
            <a:avLst/>
          </a:prstGeom>
          <a:ln w="3175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62774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Reversed (true link, wrong direction)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92309" y="1408176"/>
            <a:ext cx="502920" cy="0"/>
          </a:xfrm>
          <a:prstGeom prst="line">
            <a:avLst/>
          </a:prstGeom>
          <a:ln w="3175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59237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Missed (true link not found)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8 links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9550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45665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02027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59214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97312" y="3001935"/>
            <a:ext cx="383191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771073" y="3001935"/>
            <a:ext cx="383192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867631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84771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6813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27" name="Oval 26"/>
          <p:cNvSpPr/>
          <p:nvPr/>
        </p:nvSpPr>
        <p:spPr>
          <a:xfrm>
            <a:off x="200146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3036124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29" name="Oval 28"/>
          <p:cNvSpPr/>
          <p:nvPr/>
        </p:nvSpPr>
        <p:spPr>
          <a:xfrm>
            <a:off x="1375230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30" name="Oval 29"/>
          <p:cNvSpPr/>
          <p:nvPr/>
        </p:nvSpPr>
        <p:spPr>
          <a:xfrm>
            <a:off x="2627707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31" name="Oval 30"/>
          <p:cNvSpPr/>
          <p:nvPr/>
        </p:nvSpPr>
        <p:spPr>
          <a:xfrm>
            <a:off x="1375230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32" name="Oval 31"/>
          <p:cNvSpPr/>
          <p:nvPr/>
        </p:nvSpPr>
        <p:spPr>
          <a:xfrm>
            <a:off x="2627707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2978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6130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VAR-LiNGAM, raw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2978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0.67 · SHD 5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533616" y="4297680"/>
            <a:ext cx="0" cy="718718"/>
          </a:xfrm>
          <a:prstGeom prst="line">
            <a:avLst/>
          </a:prstGeom>
          <a:ln w="3810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619956" y="2985449"/>
            <a:ext cx="1360197" cy="207582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765723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79272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662432" y="4218475"/>
            <a:ext cx="866828" cy="877127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217370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591131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743928" y="5290718"/>
            <a:ext cx="703837" cy="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687689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104829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405600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22085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786871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49" name="Oval 48"/>
          <p:cNvSpPr/>
          <p:nvPr/>
        </p:nvSpPr>
        <p:spPr>
          <a:xfrm>
            <a:off x="5821527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50" name="Oval 49"/>
          <p:cNvSpPr/>
          <p:nvPr/>
        </p:nvSpPr>
        <p:spPr>
          <a:xfrm>
            <a:off x="6856182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51" name="Oval 50"/>
          <p:cNvSpPr/>
          <p:nvPr/>
        </p:nvSpPr>
        <p:spPr>
          <a:xfrm>
            <a:off x="5195288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52" name="Oval 51"/>
          <p:cNvSpPr/>
          <p:nvPr/>
        </p:nvSpPr>
        <p:spPr>
          <a:xfrm>
            <a:off x="6447765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53" name="Oval 52"/>
          <p:cNvSpPr/>
          <p:nvPr/>
        </p:nvSpPr>
        <p:spPr>
          <a:xfrm>
            <a:off x="5195288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54" name="Oval 53"/>
          <p:cNvSpPr/>
          <p:nvPr/>
        </p:nvSpPr>
        <p:spPr>
          <a:xfrm>
            <a:off x="6447765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22978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6   ·   invented 3   ·   reversed 1   ·   missed 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43036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6188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VAR-LiNGAM, copula-transformed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43036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0.63 · SHD 8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9482490" y="4218475"/>
            <a:ext cx="866828" cy="877127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9440014" y="2985449"/>
            <a:ext cx="1360197" cy="207582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0585781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099330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0626283" y="3017098"/>
            <a:ext cx="240136" cy="745164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482490" y="4218475"/>
            <a:ext cx="866828" cy="877127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037428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563986" y="5354726"/>
            <a:ext cx="703837" cy="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9411189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9563986" y="5226710"/>
            <a:ext cx="703837" cy="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9507747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924887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289666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542143" y="4297680"/>
            <a:ext cx="0" cy="718718"/>
          </a:xfrm>
          <a:prstGeom prst="line">
            <a:avLst/>
          </a:prstGeom>
          <a:ln w="3810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60692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74" name="Oval 73"/>
          <p:cNvSpPr/>
          <p:nvPr/>
        </p:nvSpPr>
        <p:spPr>
          <a:xfrm>
            <a:off x="9641585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75" name="Oval 74"/>
          <p:cNvSpPr/>
          <p:nvPr/>
        </p:nvSpPr>
        <p:spPr>
          <a:xfrm>
            <a:off x="10676240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76" name="Oval 75"/>
          <p:cNvSpPr/>
          <p:nvPr/>
        </p:nvSpPr>
        <p:spPr>
          <a:xfrm>
            <a:off x="9015346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77" name="Oval 76"/>
          <p:cNvSpPr/>
          <p:nvPr/>
        </p:nvSpPr>
        <p:spPr>
          <a:xfrm>
            <a:off x="10267823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78" name="Oval 77"/>
          <p:cNvSpPr/>
          <p:nvPr/>
        </p:nvSpPr>
        <p:spPr>
          <a:xfrm>
            <a:off x="9015346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79" name="Oval 78"/>
          <p:cNvSpPr/>
          <p:nvPr/>
        </p:nvSpPr>
        <p:spPr>
          <a:xfrm>
            <a:off x="10267823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43036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6   ·   invented 6   ·   reversed 0   ·   missed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Helvetica"/>
              </a:rPr>
              <a:t>Change raw → copula.  True links gained: none.  True links lost: none.  Wrong links added: h1→h2, h4→h1, v2→h4.  Wrong links removed: h1→h3.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RECOVERED GRAPHS · VAR-LINGAM · P_PLUS (NON-MINIMUM PHASE)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VAR-LiNGAM on P_plus: F1 falls from 0.89 to 0.80 after the transform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directed_edges in results/qtank/run-parcorr-tau20-s3/graphs and run-copula-tau20-s3/graphs, lags collapsed; scores.json of both runs; 960 rows, tau_max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08176"/>
            <a:ext cx="502920" cy="0"/>
          </a:xfrm>
          <a:prstGeom prst="line">
            <a:avLst/>
          </a:prstGeom>
          <a:ln w="3175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Found (true link recovered)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9383" y="1408176"/>
            <a:ext cx="502920" cy="0"/>
          </a:xfrm>
          <a:prstGeom prst="line">
            <a:avLst/>
          </a:prstGeom>
          <a:ln w="3175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66311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Invented (not in ground truth)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6" y="1408176"/>
            <a:ext cx="502920" cy="0"/>
          </a:xfrm>
          <a:prstGeom prst="line">
            <a:avLst/>
          </a:prstGeom>
          <a:ln w="31750">
            <a:solidFill>
              <a:srgbClr val="8E24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62774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Reversed (true link, wrong direction)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92309" y="1408176"/>
            <a:ext cx="502920" cy="0"/>
          </a:xfrm>
          <a:prstGeom prst="line">
            <a:avLst/>
          </a:prstGeom>
          <a:ln w="31750">
            <a:solidFill>
              <a:srgbClr val="9E9E9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59237" y="1280160"/>
            <a:ext cx="2202103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Helvetica"/>
              </a:rPr>
              <a:t>Missed (true link not found)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8 links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9550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45665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02027" y="4297680"/>
            <a:ext cx="0" cy="718718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59214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97312" y="3001935"/>
            <a:ext cx="383191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771073" y="3001935"/>
            <a:ext cx="383192" cy="77549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867631" y="2922409"/>
            <a:ext cx="1224731" cy="934542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84771" y="3026827"/>
            <a:ext cx="321140" cy="1993064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6813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27" name="Oval 26"/>
          <p:cNvSpPr/>
          <p:nvPr/>
        </p:nvSpPr>
        <p:spPr>
          <a:xfrm>
            <a:off x="200146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3036124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29" name="Oval 28"/>
          <p:cNvSpPr/>
          <p:nvPr/>
        </p:nvSpPr>
        <p:spPr>
          <a:xfrm>
            <a:off x="1375230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30" name="Oval 29"/>
          <p:cNvSpPr/>
          <p:nvPr/>
        </p:nvSpPr>
        <p:spPr>
          <a:xfrm>
            <a:off x="2627707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31" name="Oval 30"/>
          <p:cNvSpPr/>
          <p:nvPr/>
        </p:nvSpPr>
        <p:spPr>
          <a:xfrm>
            <a:off x="1375230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32" name="Oval 31"/>
          <p:cNvSpPr/>
          <p:nvPr/>
        </p:nvSpPr>
        <p:spPr>
          <a:xfrm>
            <a:off x="2627707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2978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6130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VAR-LiNGAM, raw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2978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0.89 · SHD 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11539" y="2985449"/>
            <a:ext cx="1360197" cy="207582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619956" y="2985449"/>
            <a:ext cx="1360197" cy="207582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469608" y="4297680"/>
            <a:ext cx="0" cy="718718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765723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22085" y="4297680"/>
            <a:ext cx="0" cy="718718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79272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217370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591131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687689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104829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786871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47" name="Oval 46"/>
          <p:cNvSpPr/>
          <p:nvPr/>
        </p:nvSpPr>
        <p:spPr>
          <a:xfrm>
            <a:off x="5821527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48" name="Oval 47"/>
          <p:cNvSpPr/>
          <p:nvPr/>
        </p:nvSpPr>
        <p:spPr>
          <a:xfrm>
            <a:off x="6856182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49" name="Oval 48"/>
          <p:cNvSpPr/>
          <p:nvPr/>
        </p:nvSpPr>
        <p:spPr>
          <a:xfrm>
            <a:off x="5195288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50" name="Oval 49"/>
          <p:cNvSpPr/>
          <p:nvPr/>
        </p:nvSpPr>
        <p:spPr>
          <a:xfrm>
            <a:off x="6447765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51" name="Oval 50"/>
          <p:cNvSpPr/>
          <p:nvPr/>
        </p:nvSpPr>
        <p:spPr>
          <a:xfrm>
            <a:off x="5195288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52" name="Oval 51"/>
          <p:cNvSpPr/>
          <p:nvPr/>
        </p:nvSpPr>
        <p:spPr>
          <a:xfrm>
            <a:off x="6447765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2978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8   ·   invented 2   ·   reversed 0   ·   missed 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43036" y="1645920"/>
            <a:ext cx="3545738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6188" y="1645920"/>
            <a:ext cx="3399434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VAR-LiNGAM, copula-transformed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43036" y="1645920"/>
            <a:ext cx="34542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F1 0.80 · SHD 5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9482490" y="4218475"/>
            <a:ext cx="866828" cy="877127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9440014" y="2985449"/>
            <a:ext cx="1360197" cy="207582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89666" y="4297680"/>
            <a:ext cx="0" cy="718718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0585781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542143" y="4297680"/>
            <a:ext cx="0" cy="718718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099330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482490" y="4218475"/>
            <a:ext cx="866828" cy="877127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037428" y="3001935"/>
            <a:ext cx="383191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563986" y="5354726"/>
            <a:ext cx="703837" cy="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9411189" y="3001935"/>
            <a:ext cx="383192" cy="775490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9563986" y="5226710"/>
            <a:ext cx="703837" cy="0"/>
          </a:xfrm>
          <a:prstGeom prst="line">
            <a:avLst/>
          </a:prstGeom>
          <a:ln w="38100">
            <a:solidFill>
              <a:srgbClr val="E0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9507747" y="2922409"/>
            <a:ext cx="1224731" cy="934542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924887" y="3026827"/>
            <a:ext cx="321140" cy="1993064"/>
          </a:xfrm>
          <a:prstGeom prst="line">
            <a:avLst/>
          </a:prstGeom>
          <a:ln w="38100">
            <a:solidFill>
              <a:srgbClr val="1B9E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8606929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v1</a:t>
            </a:r>
          </a:p>
        </p:txBody>
      </p:sp>
      <p:sp>
        <p:nvSpPr>
          <p:cNvPr id="71" name="Oval 70"/>
          <p:cNvSpPr/>
          <p:nvPr/>
        </p:nvSpPr>
        <p:spPr>
          <a:xfrm>
            <a:off x="9641585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d</a:t>
            </a:r>
          </a:p>
        </p:txBody>
      </p:sp>
      <p:sp>
        <p:nvSpPr>
          <p:cNvPr id="72" name="Oval 71"/>
          <p:cNvSpPr/>
          <p:nvPr/>
        </p:nvSpPr>
        <p:spPr>
          <a:xfrm>
            <a:off x="10676240" y="2481681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v2</a:t>
            </a:r>
          </a:p>
        </p:txBody>
      </p:sp>
      <p:sp>
        <p:nvSpPr>
          <p:cNvPr id="73" name="Oval 72"/>
          <p:cNvSpPr/>
          <p:nvPr/>
        </p:nvSpPr>
        <p:spPr>
          <a:xfrm>
            <a:off x="9015346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h3</a:t>
            </a:r>
          </a:p>
        </p:txBody>
      </p:sp>
      <p:sp>
        <p:nvSpPr>
          <p:cNvPr id="74" name="Oval 73"/>
          <p:cNvSpPr/>
          <p:nvPr/>
        </p:nvSpPr>
        <p:spPr>
          <a:xfrm>
            <a:off x="10267823" y="37490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h4</a:t>
            </a:r>
          </a:p>
        </p:txBody>
      </p:sp>
      <p:sp>
        <p:nvSpPr>
          <p:cNvPr id="75" name="Oval 74"/>
          <p:cNvSpPr/>
          <p:nvPr/>
        </p:nvSpPr>
        <p:spPr>
          <a:xfrm>
            <a:off x="9015346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h1</a:t>
            </a:r>
          </a:p>
        </p:txBody>
      </p:sp>
      <p:sp>
        <p:nvSpPr>
          <p:cNvPr id="76" name="Oval 75"/>
          <p:cNvSpPr/>
          <p:nvPr/>
        </p:nvSpPr>
        <p:spPr>
          <a:xfrm>
            <a:off x="10267823" y="501639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62626"/>
                </a:solidFill>
                <a:latin typeface="Helvetica"/>
              </a:rPr>
              <a:t>h2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43036" y="5669280"/>
            <a:ext cx="35457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Helvetica"/>
              </a:rPr>
              <a:t>found 8   ·   invented 5   ·   reversed 0   ·   missed 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Helvetica"/>
              </a:rPr>
              <a:t>Change raw → copula.  True links gained: none.  True links lost: none.  Wrong links added: h1→h2, h2→h1, h3→h2, h4→h1.  Wrong links removed: v1→h2.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TIGRAMITE NATIVE PLOTTING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tigramite.plotting draws one graph adequately and does not cover comparison, scoring or long windows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results/qtank/tigramite-plots-run-copula-tau20-s3/README.md and status.md; datasets/tigramite_plots.py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29184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314553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plot_graph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PCMCI+, copula P_minus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40" y="1325880"/>
            <a:ext cx="329184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2" y="1325880"/>
            <a:ext cx="314553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plot_time_series_graph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3258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same graph, 21 lag columns</a:t>
            </a:r>
          </a:p>
        </p:txBody>
      </p:sp>
      <p:pic>
        <p:nvPicPr>
          <p:cNvPr id="13" name="Picture 12" descr="P_minus_pcmci_plu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3291840" cy="2468880"/>
          </a:xfrm>
          <a:prstGeom prst="rect">
            <a:avLst/>
          </a:prstGeom>
        </p:spPr>
      </p:pic>
      <p:pic>
        <p:nvPicPr>
          <p:cNvPr id="14" name="Picture 13" descr="P_minus_pcmci_plus_t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874520"/>
            <a:ext cx="3291840" cy="1234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43484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Helvetica"/>
              </a:rPr>
              <a:t>Edge colour MCI, node colour auto-MCI, lag labels on edges.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1546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Helvetica"/>
              </a:rPr>
              <a:t>21 lag columns × 7 variables; every repeated lag drawn.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1325880"/>
            <a:ext cx="405353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325880"/>
            <a:ext cx="390723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What was tried and what broke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325880"/>
            <a:ext cx="396209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10 functions, 58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874520"/>
            <a:ext cx="40535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All 10 plotting functions ran on the saved graphs after conversion to tigramite's (N, N, tau+1) string array.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plot_time_series_graph and plot_tsg are unreadable at tau_max 20; usable only up to about 5 lags.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Node colour in plot_graph is auto-MCI, which has no meaning for VAR-LiNGAM graphs.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Mediation plots need a fitted LinearMediation model, drop contemporaneous links, and label the path np.int64(1) under NumPy 2.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No multi-algorithm comparison, no ground-truth overlay, no precision/recall/SHD plots.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plot_densityplots imports seaborn, which is not a declared dependency.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Ground truth cannot be drawn at lag 0 without mirrored reverse links; it was drawn at lag 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Helvetica"/>
              </a:rPr>
              <a:t>–  Verdict: use tigramite plots for a single PCMCI+ result at short windows; keep the comparison figures in this deck native or matplotlib.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The copula transform roughly doubles VAR-LiNGAM runtime; PC and PCMCI+ stay under one minute in every configuration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run_summary.json of run-parcorr-tau20-s3, run-parcorr-tau20-full, run-copula-tau20-s3, run-copula-tau20-full, run-copula-lste-s3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21792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60716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Wall-clock seconds per algorithm and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6126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"/>
              </a:rPr>
              <a:t>log scale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1828800"/>
          <a:ext cx="62179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995160" y="1325880"/>
            <a:ext cx="469361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1325880"/>
            <a:ext cx="454731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Copula / raw ratio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995160" y="1874520"/>
          <a:ext cx="4693611" cy="3840480"/>
        </p:xfrm>
        <a:graphic>
          <a:graphicData uri="http://schemas.openxmlformats.org/drawingml/2006/table">
            <a:tbl>
              <a:tblPr firstRow="0" bandRow="0"/>
              <a:tblGrid>
                <a:gridCol w="531352"/>
                <a:gridCol w="885587"/>
                <a:gridCol w="1062705"/>
                <a:gridCol w="797028"/>
                <a:gridCol w="885587"/>
                <a:gridCol w="53135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Rows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Dataset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Algorithm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Raw (s)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Copula (s)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Ratio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4.4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0.8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135.0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239.7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4.6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8.5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5.3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134.3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249.3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7.3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300.1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516.4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22.7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33.6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PCMCI+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4.5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VAR-LiNGAM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288.7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468.7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P_minus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LSTE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UNVERIFIED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1313.1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995160" y="5806440"/>
            <a:ext cx="46936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Helvetica"/>
              </a:rPr>
              <a:t>The copula runs shared the machine with the LSTE run; the share of the ratio due to contention is UNVERIFIED.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Helvetica"/>
              </a:rPr>
              <a:t>OPEN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Helvetica"/>
              </a:rPr>
              <a:t>Four measurements are missing from this benchmark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Helvetica"/>
              </a:rPr>
              <a:t>Source: Plan.md (2026-09-27); results/qtank/run-lste-quick; results/qtank/run-copula-lste-s3/run_summary.json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Helvetica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1103955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1F3D"/>
                </a:solidFill>
                <a:latin typeface="Helvetica"/>
              </a:rPr>
              <a:t>Not run, not completed, or not recorded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74520"/>
          <a:ext cx="11185853" cy="2743200"/>
        </p:xfrm>
        <a:graphic>
          <a:graphicData uri="http://schemas.openxmlformats.org/drawingml/2006/table">
            <a:tbl>
              <a:tblPr firstRow="0" bandRow="0"/>
              <a:tblGrid>
                <a:gridCol w="3195958"/>
                <a:gridCol w="1384915"/>
                <a:gridCol w="3835150"/>
                <a:gridCol w="276983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A1F3D"/>
                          </a:solidFill>
                          <a:latin typeface="Helvetica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A1F3D"/>
                          </a:solidFill>
                          <a:latin typeface="Helvetica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A1F3D"/>
                          </a:solidFill>
                          <a:latin typeface="Helvetica"/>
                        </a:rPr>
                        <a:t>Reason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A1F3D"/>
                          </a:solidFill>
                          <a:latin typeface="Helvetica"/>
                        </a:rPr>
                        <a:t>Cost to close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LSTE on P_plus (copula, tau 8, 100 shuffles)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Not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Stopped after P_minus on request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about 22 min (P_minus took 1313 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LSTE at tau_max 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Not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980 CMIknn tests per dataset; earlier attempts did not finish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UNVERIFIED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CMIknn test for PC and PCMCI+ (Plan.md)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Not completed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Nonparametric test at 500 shuffles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about 2.7 h for both datasets, UNVERIFIED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LSTE raw-data runtime (run-lste-quick)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Not recorded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Run directory holds graphs only, no run_summary.json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Helvetica"/>
                        </a:rPr>
                        <a:t>re-run, same cost as above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Helvetica"/>
              </a:rPr>
              <a:t>DATA AND SETUP · INPUT AND NOISE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62626"/>
                </a:solidFill>
                <a:latin typeface="Helvetica"/>
              </a:rPr>
              <a:t>Three binary excitations drive the plant and two small Gaussian noises perturb it; only the three excitations are recorded as inputs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19088"/>
            <a:ext cx="102714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Helvetica"/>
              </a:rPr>
              <a:t>Source: datasets/generate_qtank_data.py (QTankParams, prbs, simulate); datasets/generated/*_meta.json; Johansson, IEEE TCST 2000 (Q_mat, R_mat)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0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25880"/>
            <a:ext cx="716889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A1F3D"/>
                </a:solidFill>
                <a:latin typeface="Helvetica"/>
              </a:rPr>
              <a:t>The five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7223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"/>
              </a:rPr>
              <a:t>amplitudes as generated, seed 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56232"/>
          <a:ext cx="7315196" cy="2304288"/>
        </p:xfrm>
        <a:graphic>
          <a:graphicData uri="http://schemas.openxmlformats.org/drawingml/2006/table">
            <a:tbl>
              <a:tblPr firstRow="0" bandRow="0"/>
              <a:tblGrid>
                <a:gridCol w="678729"/>
                <a:gridCol w="980387"/>
                <a:gridCol w="829558"/>
                <a:gridCol w="1809946"/>
                <a:gridCol w="980387"/>
                <a:gridCol w="754144"/>
                <a:gridCol w="128204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Signal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Amplitude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Hold / rate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Recorded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A1F3D"/>
                          </a:solidFill>
                          <a:latin typeface="Helvetica"/>
                        </a:rPr>
                        <a:t>Enters</a:t>
                      </a:r>
                    </a:p>
                  </a:txBody>
                  <a:tcPr marL="54864" marR="54864" marT="18288" marB="18288" anchor="ctr">
                    <a:solidFill>
                      <a:srgbClr val="F3EE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pump 1 excitation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PRBS, 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±0.30 V around 3.00 V (P−) / 3.15 V (P+)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30 s = 6 samples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yes, as 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h1 (gam1), h4 (1−gam1)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v2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pump 2 excitation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PRBS, 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±0.30 V around 3.00 V (P−) / 3.15 V (P+)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30 s = 6 samples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yes, as v2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h2 (gam2), h3 (1−gam2)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disturbance flow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PRBS, 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±0.50 flow units, zero mean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50 s = 10 samples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yes, as 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h3 (0.40), h4 (0.60)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pump noise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actuator error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Gaussian, white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sd 0.05 V (R_mat)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every 5 s sample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applied voltage, both pumps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meas. noise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sensor error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Gaussian, white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sd 0.05 cm (Q_mat)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every 5 s sample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inside h1–h4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Helvetica"/>
                        </a:rPr>
                        <a:t>recorded levels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343400"/>
            <a:ext cx="716889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A1F3D"/>
                </a:solidFill>
                <a:latin typeface="Helvetica"/>
              </a:rPr>
              <a:t>First 10 minutes of the recorded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7223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"/>
              </a:rPr>
              <a:t>P_minus, Ts 5 s, zero-order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73752"/>
            <a:ext cx="640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Helvetica"/>
              </a:rPr>
              <a:t>v1 [V]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5239512"/>
            <a:ext cx="6492240" cy="0"/>
          </a:xfrm>
          <a:prstGeom prst="line">
            <a:avLst/>
          </a:prstGeom>
          <a:ln w="952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1143000" y="4910328"/>
            <a:ext cx="6492240" cy="310896"/>
          </a:xfrm>
          <a:custGeom>
            <a:avLst/>
            <a:gdLst/>
            <a:ahLst/>
            <a:cxnLst/>
            <a:rect l="l" t="t" r="r" b="b"/>
            <a:pathLst>
              <a:path w="6492240" h="310896">
                <a:moveTo>
                  <a:pt x="0" y="310896"/>
                </a:moveTo>
                <a:lnTo>
                  <a:pt x="54102" y="310896"/>
                </a:lnTo>
                <a:lnTo>
                  <a:pt x="54102" y="310896"/>
                </a:lnTo>
                <a:lnTo>
                  <a:pt x="108204" y="310896"/>
                </a:lnTo>
                <a:lnTo>
                  <a:pt x="108204" y="310896"/>
                </a:lnTo>
                <a:lnTo>
                  <a:pt x="162306" y="310896"/>
                </a:lnTo>
                <a:lnTo>
                  <a:pt x="162306" y="310896"/>
                </a:lnTo>
                <a:lnTo>
                  <a:pt x="216408" y="310896"/>
                </a:lnTo>
                <a:lnTo>
                  <a:pt x="216408" y="310896"/>
                </a:lnTo>
                <a:lnTo>
                  <a:pt x="270510" y="310896"/>
                </a:lnTo>
                <a:lnTo>
                  <a:pt x="270510" y="310896"/>
                </a:lnTo>
                <a:lnTo>
                  <a:pt x="324612" y="310896"/>
                </a:lnTo>
                <a:lnTo>
                  <a:pt x="324612" y="0"/>
                </a:lnTo>
                <a:lnTo>
                  <a:pt x="378714" y="0"/>
                </a:lnTo>
                <a:lnTo>
                  <a:pt x="378714" y="0"/>
                </a:lnTo>
                <a:lnTo>
                  <a:pt x="432816" y="0"/>
                </a:lnTo>
                <a:lnTo>
                  <a:pt x="432816" y="0"/>
                </a:lnTo>
                <a:lnTo>
                  <a:pt x="486918" y="0"/>
                </a:lnTo>
                <a:lnTo>
                  <a:pt x="486918" y="0"/>
                </a:lnTo>
                <a:lnTo>
                  <a:pt x="541020" y="0"/>
                </a:lnTo>
                <a:lnTo>
                  <a:pt x="541020" y="0"/>
                </a:lnTo>
                <a:lnTo>
                  <a:pt x="595122" y="0"/>
                </a:lnTo>
                <a:lnTo>
                  <a:pt x="595122" y="0"/>
                </a:lnTo>
                <a:lnTo>
                  <a:pt x="649224" y="0"/>
                </a:lnTo>
                <a:lnTo>
                  <a:pt x="649224" y="0"/>
                </a:lnTo>
                <a:lnTo>
                  <a:pt x="703326" y="0"/>
                </a:lnTo>
                <a:lnTo>
                  <a:pt x="703326" y="0"/>
                </a:lnTo>
                <a:lnTo>
                  <a:pt x="757428" y="0"/>
                </a:lnTo>
                <a:lnTo>
                  <a:pt x="757428" y="0"/>
                </a:lnTo>
                <a:lnTo>
                  <a:pt x="811530" y="0"/>
                </a:lnTo>
                <a:lnTo>
                  <a:pt x="811530" y="0"/>
                </a:lnTo>
                <a:lnTo>
                  <a:pt x="865632" y="0"/>
                </a:lnTo>
                <a:lnTo>
                  <a:pt x="865632" y="0"/>
                </a:lnTo>
                <a:lnTo>
                  <a:pt x="919734" y="0"/>
                </a:lnTo>
                <a:lnTo>
                  <a:pt x="919734" y="0"/>
                </a:lnTo>
                <a:lnTo>
                  <a:pt x="973836" y="0"/>
                </a:lnTo>
                <a:lnTo>
                  <a:pt x="973836" y="310896"/>
                </a:lnTo>
                <a:lnTo>
                  <a:pt x="1027938" y="310896"/>
                </a:lnTo>
                <a:lnTo>
                  <a:pt x="1027938" y="310896"/>
                </a:lnTo>
                <a:lnTo>
                  <a:pt x="1082040" y="310896"/>
                </a:lnTo>
                <a:lnTo>
                  <a:pt x="1082040" y="310896"/>
                </a:lnTo>
                <a:lnTo>
                  <a:pt x="1136142" y="310896"/>
                </a:lnTo>
                <a:lnTo>
                  <a:pt x="1136142" y="310896"/>
                </a:lnTo>
                <a:lnTo>
                  <a:pt x="1190244" y="310896"/>
                </a:lnTo>
                <a:lnTo>
                  <a:pt x="1190244" y="310896"/>
                </a:lnTo>
                <a:lnTo>
                  <a:pt x="1244346" y="310896"/>
                </a:lnTo>
                <a:lnTo>
                  <a:pt x="1244346" y="310896"/>
                </a:lnTo>
                <a:lnTo>
                  <a:pt x="1298448" y="310896"/>
                </a:lnTo>
                <a:lnTo>
                  <a:pt x="1298448" y="310896"/>
                </a:lnTo>
                <a:lnTo>
                  <a:pt x="1352550" y="310896"/>
                </a:lnTo>
                <a:lnTo>
                  <a:pt x="1352550" y="310896"/>
                </a:lnTo>
                <a:lnTo>
                  <a:pt x="1406652" y="310896"/>
                </a:lnTo>
                <a:lnTo>
                  <a:pt x="1406652" y="310896"/>
                </a:lnTo>
                <a:lnTo>
                  <a:pt x="1460754" y="310896"/>
                </a:lnTo>
                <a:lnTo>
                  <a:pt x="1460754" y="310896"/>
                </a:lnTo>
                <a:lnTo>
                  <a:pt x="1514856" y="310896"/>
                </a:lnTo>
                <a:lnTo>
                  <a:pt x="1514856" y="310896"/>
                </a:lnTo>
                <a:lnTo>
                  <a:pt x="1568958" y="310896"/>
                </a:lnTo>
                <a:lnTo>
                  <a:pt x="1568958" y="310896"/>
                </a:lnTo>
                <a:lnTo>
                  <a:pt x="1623060" y="310896"/>
                </a:lnTo>
                <a:lnTo>
                  <a:pt x="1623060" y="0"/>
                </a:lnTo>
                <a:lnTo>
                  <a:pt x="1677162" y="0"/>
                </a:lnTo>
                <a:lnTo>
                  <a:pt x="1677162" y="0"/>
                </a:lnTo>
                <a:lnTo>
                  <a:pt x="1731264" y="0"/>
                </a:lnTo>
                <a:lnTo>
                  <a:pt x="1731264" y="0"/>
                </a:lnTo>
                <a:lnTo>
                  <a:pt x="1785366" y="0"/>
                </a:lnTo>
                <a:lnTo>
                  <a:pt x="1785366" y="0"/>
                </a:lnTo>
                <a:lnTo>
                  <a:pt x="1839468" y="0"/>
                </a:lnTo>
                <a:lnTo>
                  <a:pt x="1839468" y="0"/>
                </a:lnTo>
                <a:lnTo>
                  <a:pt x="1893570" y="0"/>
                </a:lnTo>
                <a:lnTo>
                  <a:pt x="1893570" y="0"/>
                </a:lnTo>
                <a:lnTo>
                  <a:pt x="1947672" y="0"/>
                </a:lnTo>
                <a:lnTo>
                  <a:pt x="1947672" y="0"/>
                </a:lnTo>
                <a:lnTo>
                  <a:pt x="2001774" y="0"/>
                </a:lnTo>
                <a:lnTo>
                  <a:pt x="2001774" y="0"/>
                </a:lnTo>
                <a:lnTo>
                  <a:pt x="2055876" y="0"/>
                </a:lnTo>
                <a:lnTo>
                  <a:pt x="2055876" y="0"/>
                </a:lnTo>
                <a:lnTo>
                  <a:pt x="2109978" y="0"/>
                </a:lnTo>
                <a:lnTo>
                  <a:pt x="2109978" y="0"/>
                </a:lnTo>
                <a:lnTo>
                  <a:pt x="2164080" y="0"/>
                </a:lnTo>
                <a:lnTo>
                  <a:pt x="2164080" y="0"/>
                </a:lnTo>
                <a:lnTo>
                  <a:pt x="2218182" y="0"/>
                </a:lnTo>
                <a:lnTo>
                  <a:pt x="2218182" y="0"/>
                </a:lnTo>
                <a:lnTo>
                  <a:pt x="2272284" y="0"/>
                </a:lnTo>
                <a:lnTo>
                  <a:pt x="2272284" y="310896"/>
                </a:lnTo>
                <a:lnTo>
                  <a:pt x="2326386" y="310896"/>
                </a:lnTo>
                <a:lnTo>
                  <a:pt x="2326386" y="310896"/>
                </a:lnTo>
                <a:lnTo>
                  <a:pt x="2380488" y="310896"/>
                </a:lnTo>
                <a:lnTo>
                  <a:pt x="2380488" y="310896"/>
                </a:lnTo>
                <a:lnTo>
                  <a:pt x="2434590" y="310896"/>
                </a:lnTo>
                <a:lnTo>
                  <a:pt x="2434590" y="310896"/>
                </a:lnTo>
                <a:lnTo>
                  <a:pt x="2488692" y="310896"/>
                </a:lnTo>
                <a:lnTo>
                  <a:pt x="2488692" y="310896"/>
                </a:lnTo>
                <a:lnTo>
                  <a:pt x="2542794" y="310896"/>
                </a:lnTo>
                <a:lnTo>
                  <a:pt x="2542794" y="310896"/>
                </a:lnTo>
                <a:lnTo>
                  <a:pt x="2596896" y="310896"/>
                </a:lnTo>
                <a:lnTo>
                  <a:pt x="2596896" y="0"/>
                </a:lnTo>
                <a:lnTo>
                  <a:pt x="2650998" y="0"/>
                </a:lnTo>
                <a:lnTo>
                  <a:pt x="2650998" y="0"/>
                </a:lnTo>
                <a:lnTo>
                  <a:pt x="2705100" y="0"/>
                </a:lnTo>
                <a:lnTo>
                  <a:pt x="2705100" y="0"/>
                </a:lnTo>
                <a:lnTo>
                  <a:pt x="2759202" y="0"/>
                </a:lnTo>
                <a:lnTo>
                  <a:pt x="2759202" y="0"/>
                </a:lnTo>
                <a:lnTo>
                  <a:pt x="2813304" y="0"/>
                </a:lnTo>
                <a:lnTo>
                  <a:pt x="2813304" y="0"/>
                </a:lnTo>
                <a:lnTo>
                  <a:pt x="2867406" y="0"/>
                </a:lnTo>
                <a:lnTo>
                  <a:pt x="2867406" y="0"/>
                </a:lnTo>
                <a:lnTo>
                  <a:pt x="2921508" y="0"/>
                </a:lnTo>
                <a:lnTo>
                  <a:pt x="2921508" y="0"/>
                </a:lnTo>
                <a:lnTo>
                  <a:pt x="2975610" y="0"/>
                </a:lnTo>
                <a:lnTo>
                  <a:pt x="2975610" y="0"/>
                </a:lnTo>
                <a:lnTo>
                  <a:pt x="3029712" y="0"/>
                </a:lnTo>
                <a:lnTo>
                  <a:pt x="3029712" y="0"/>
                </a:lnTo>
                <a:lnTo>
                  <a:pt x="3083814" y="0"/>
                </a:lnTo>
                <a:lnTo>
                  <a:pt x="3083814" y="0"/>
                </a:lnTo>
                <a:lnTo>
                  <a:pt x="3137916" y="0"/>
                </a:lnTo>
                <a:lnTo>
                  <a:pt x="3137916" y="0"/>
                </a:lnTo>
                <a:lnTo>
                  <a:pt x="3192018" y="0"/>
                </a:lnTo>
                <a:lnTo>
                  <a:pt x="3192018" y="0"/>
                </a:lnTo>
                <a:lnTo>
                  <a:pt x="3246120" y="0"/>
                </a:lnTo>
                <a:lnTo>
                  <a:pt x="3246120" y="0"/>
                </a:lnTo>
                <a:lnTo>
                  <a:pt x="3300222" y="0"/>
                </a:lnTo>
                <a:lnTo>
                  <a:pt x="3300222" y="0"/>
                </a:lnTo>
                <a:lnTo>
                  <a:pt x="3354324" y="0"/>
                </a:lnTo>
                <a:lnTo>
                  <a:pt x="3354324" y="0"/>
                </a:lnTo>
                <a:lnTo>
                  <a:pt x="3408426" y="0"/>
                </a:lnTo>
                <a:lnTo>
                  <a:pt x="3408426" y="0"/>
                </a:lnTo>
                <a:lnTo>
                  <a:pt x="3462528" y="0"/>
                </a:lnTo>
                <a:lnTo>
                  <a:pt x="3462528" y="0"/>
                </a:lnTo>
                <a:lnTo>
                  <a:pt x="3516630" y="0"/>
                </a:lnTo>
                <a:lnTo>
                  <a:pt x="3516630" y="0"/>
                </a:lnTo>
                <a:lnTo>
                  <a:pt x="3570732" y="0"/>
                </a:lnTo>
                <a:lnTo>
                  <a:pt x="3570732" y="310896"/>
                </a:lnTo>
                <a:lnTo>
                  <a:pt x="3624834" y="310896"/>
                </a:lnTo>
                <a:lnTo>
                  <a:pt x="3624834" y="310896"/>
                </a:lnTo>
                <a:lnTo>
                  <a:pt x="3678936" y="310896"/>
                </a:lnTo>
                <a:lnTo>
                  <a:pt x="3678936" y="310896"/>
                </a:lnTo>
                <a:lnTo>
                  <a:pt x="3733038" y="310896"/>
                </a:lnTo>
                <a:lnTo>
                  <a:pt x="3733038" y="310896"/>
                </a:lnTo>
                <a:lnTo>
                  <a:pt x="3787140" y="310896"/>
                </a:lnTo>
                <a:lnTo>
                  <a:pt x="3787140" y="310896"/>
                </a:lnTo>
                <a:lnTo>
                  <a:pt x="3841242" y="310896"/>
                </a:lnTo>
                <a:lnTo>
                  <a:pt x="3841242" y="310896"/>
                </a:lnTo>
                <a:lnTo>
                  <a:pt x="3895344" y="310896"/>
                </a:lnTo>
                <a:lnTo>
                  <a:pt x="3895344" y="310896"/>
                </a:lnTo>
                <a:lnTo>
                  <a:pt x="3949446" y="310896"/>
                </a:lnTo>
                <a:lnTo>
                  <a:pt x="3949446" y="310896"/>
                </a:lnTo>
                <a:lnTo>
                  <a:pt x="4003548" y="310896"/>
                </a:lnTo>
                <a:lnTo>
                  <a:pt x="4003548" y="310896"/>
                </a:lnTo>
                <a:lnTo>
                  <a:pt x="4057650" y="310896"/>
                </a:lnTo>
                <a:lnTo>
                  <a:pt x="4057650" y="310896"/>
                </a:lnTo>
                <a:lnTo>
                  <a:pt x="4111752" y="310896"/>
                </a:lnTo>
                <a:lnTo>
                  <a:pt x="4111752" y="310896"/>
                </a:lnTo>
                <a:lnTo>
                  <a:pt x="4165854" y="310896"/>
                </a:lnTo>
                <a:lnTo>
                  <a:pt x="4165854" y="310896"/>
                </a:lnTo>
                <a:lnTo>
                  <a:pt x="4219956" y="310896"/>
                </a:lnTo>
                <a:lnTo>
                  <a:pt x="4219956" y="0"/>
                </a:lnTo>
                <a:lnTo>
                  <a:pt x="4274058" y="0"/>
                </a:lnTo>
                <a:lnTo>
                  <a:pt x="4274058" y="0"/>
                </a:lnTo>
                <a:lnTo>
                  <a:pt x="4328160" y="0"/>
                </a:lnTo>
                <a:lnTo>
                  <a:pt x="4328160" y="0"/>
                </a:lnTo>
                <a:lnTo>
                  <a:pt x="4382262" y="0"/>
                </a:lnTo>
                <a:lnTo>
                  <a:pt x="4382262" y="0"/>
                </a:lnTo>
                <a:lnTo>
                  <a:pt x="4436364" y="0"/>
                </a:lnTo>
                <a:lnTo>
                  <a:pt x="4436364" y="0"/>
                </a:lnTo>
                <a:lnTo>
                  <a:pt x="4490466" y="0"/>
                </a:lnTo>
                <a:lnTo>
                  <a:pt x="4490466" y="0"/>
                </a:lnTo>
                <a:lnTo>
                  <a:pt x="4544568" y="0"/>
                </a:lnTo>
                <a:lnTo>
                  <a:pt x="4544568" y="310896"/>
                </a:lnTo>
                <a:lnTo>
                  <a:pt x="4598670" y="310896"/>
                </a:lnTo>
                <a:lnTo>
                  <a:pt x="4598670" y="310896"/>
                </a:lnTo>
                <a:lnTo>
                  <a:pt x="4652772" y="310896"/>
                </a:lnTo>
                <a:lnTo>
                  <a:pt x="4652772" y="310896"/>
                </a:lnTo>
                <a:lnTo>
                  <a:pt x="4706874" y="310896"/>
                </a:lnTo>
                <a:lnTo>
                  <a:pt x="4706874" y="310896"/>
                </a:lnTo>
                <a:lnTo>
                  <a:pt x="4760976" y="310896"/>
                </a:lnTo>
                <a:lnTo>
                  <a:pt x="4760976" y="310896"/>
                </a:lnTo>
                <a:lnTo>
                  <a:pt x="4815078" y="310896"/>
                </a:lnTo>
                <a:lnTo>
                  <a:pt x="4815078" y="310896"/>
                </a:lnTo>
                <a:lnTo>
                  <a:pt x="4869180" y="310896"/>
                </a:lnTo>
                <a:lnTo>
                  <a:pt x="4869180" y="0"/>
                </a:lnTo>
                <a:lnTo>
                  <a:pt x="4923282" y="0"/>
                </a:lnTo>
                <a:lnTo>
                  <a:pt x="4923282" y="0"/>
                </a:lnTo>
                <a:lnTo>
                  <a:pt x="4977384" y="0"/>
                </a:lnTo>
                <a:lnTo>
                  <a:pt x="4977384" y="0"/>
                </a:lnTo>
                <a:lnTo>
                  <a:pt x="5031486" y="0"/>
                </a:lnTo>
                <a:lnTo>
                  <a:pt x="5031486" y="0"/>
                </a:lnTo>
                <a:lnTo>
                  <a:pt x="5085588" y="0"/>
                </a:lnTo>
                <a:lnTo>
                  <a:pt x="5085588" y="0"/>
                </a:lnTo>
                <a:lnTo>
                  <a:pt x="5139690" y="0"/>
                </a:lnTo>
                <a:lnTo>
                  <a:pt x="5139690" y="0"/>
                </a:lnTo>
                <a:lnTo>
                  <a:pt x="5193792" y="0"/>
                </a:lnTo>
                <a:lnTo>
                  <a:pt x="5193792" y="310896"/>
                </a:lnTo>
                <a:lnTo>
                  <a:pt x="5247894" y="310896"/>
                </a:lnTo>
                <a:lnTo>
                  <a:pt x="5247894" y="310896"/>
                </a:lnTo>
                <a:lnTo>
                  <a:pt x="5301996" y="310896"/>
                </a:lnTo>
                <a:lnTo>
                  <a:pt x="5301996" y="310896"/>
                </a:lnTo>
                <a:lnTo>
                  <a:pt x="5356098" y="310896"/>
                </a:lnTo>
                <a:lnTo>
                  <a:pt x="5356098" y="310896"/>
                </a:lnTo>
                <a:lnTo>
                  <a:pt x="5410200" y="310896"/>
                </a:lnTo>
                <a:lnTo>
                  <a:pt x="5410200" y="310896"/>
                </a:lnTo>
                <a:lnTo>
                  <a:pt x="5464302" y="310896"/>
                </a:lnTo>
                <a:lnTo>
                  <a:pt x="5464302" y="310896"/>
                </a:lnTo>
                <a:lnTo>
                  <a:pt x="5518404" y="310896"/>
                </a:lnTo>
                <a:lnTo>
                  <a:pt x="5518404" y="310896"/>
                </a:lnTo>
                <a:lnTo>
                  <a:pt x="5572506" y="310896"/>
                </a:lnTo>
                <a:lnTo>
                  <a:pt x="5572506" y="310896"/>
                </a:lnTo>
                <a:lnTo>
                  <a:pt x="5626608" y="310896"/>
                </a:lnTo>
                <a:lnTo>
                  <a:pt x="5626608" y="310896"/>
                </a:lnTo>
                <a:lnTo>
                  <a:pt x="5680710" y="310896"/>
                </a:lnTo>
                <a:lnTo>
                  <a:pt x="5680710" y="310896"/>
                </a:lnTo>
                <a:lnTo>
                  <a:pt x="5734812" y="310896"/>
                </a:lnTo>
                <a:lnTo>
                  <a:pt x="5734812" y="310896"/>
                </a:lnTo>
                <a:lnTo>
                  <a:pt x="5788914" y="310896"/>
                </a:lnTo>
                <a:lnTo>
                  <a:pt x="5788914" y="310896"/>
                </a:lnTo>
                <a:lnTo>
                  <a:pt x="5843016" y="310896"/>
                </a:lnTo>
                <a:lnTo>
                  <a:pt x="5843016" y="310896"/>
                </a:lnTo>
                <a:lnTo>
                  <a:pt x="5897118" y="310896"/>
                </a:lnTo>
                <a:lnTo>
                  <a:pt x="5897118" y="310896"/>
                </a:lnTo>
                <a:lnTo>
                  <a:pt x="5951220" y="310896"/>
                </a:lnTo>
                <a:lnTo>
                  <a:pt x="5951220" y="310896"/>
                </a:lnTo>
                <a:lnTo>
                  <a:pt x="6005322" y="310896"/>
                </a:lnTo>
                <a:lnTo>
                  <a:pt x="6005322" y="310896"/>
                </a:lnTo>
                <a:lnTo>
                  <a:pt x="6059424" y="310896"/>
                </a:lnTo>
                <a:lnTo>
                  <a:pt x="6059424" y="310896"/>
                </a:lnTo>
                <a:lnTo>
                  <a:pt x="6113526" y="310896"/>
                </a:lnTo>
                <a:lnTo>
                  <a:pt x="6113526" y="310896"/>
                </a:lnTo>
                <a:lnTo>
                  <a:pt x="6167628" y="310896"/>
                </a:lnTo>
                <a:lnTo>
                  <a:pt x="6167628" y="310896"/>
                </a:lnTo>
                <a:lnTo>
                  <a:pt x="6221730" y="310896"/>
                </a:lnTo>
                <a:lnTo>
                  <a:pt x="6221730" y="310896"/>
                </a:lnTo>
                <a:lnTo>
                  <a:pt x="6275832" y="310896"/>
                </a:lnTo>
                <a:lnTo>
                  <a:pt x="6275832" y="310896"/>
                </a:lnTo>
                <a:lnTo>
                  <a:pt x="6329934" y="310896"/>
                </a:lnTo>
                <a:lnTo>
                  <a:pt x="6329934" y="310896"/>
                </a:lnTo>
                <a:lnTo>
                  <a:pt x="6384036" y="310896"/>
                </a:lnTo>
                <a:lnTo>
                  <a:pt x="6384036" y="310896"/>
                </a:lnTo>
                <a:lnTo>
                  <a:pt x="6438138" y="310896"/>
                </a:lnTo>
                <a:lnTo>
                  <a:pt x="6438138" y="310896"/>
                </a:lnTo>
                <a:lnTo>
                  <a:pt x="6492240" y="310896"/>
                </a:lnTo>
              </a:path>
            </a:pathLst>
          </a:custGeom>
          <a:noFill/>
          <a:ln w="222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294376"/>
            <a:ext cx="640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Helvetica"/>
              </a:rPr>
              <a:t>v2 [V]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43000" y="5660136"/>
            <a:ext cx="6492240" cy="0"/>
          </a:xfrm>
          <a:prstGeom prst="line">
            <a:avLst/>
          </a:prstGeom>
          <a:ln w="952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1143000" y="5330952"/>
            <a:ext cx="6492240" cy="310896"/>
          </a:xfrm>
          <a:custGeom>
            <a:avLst/>
            <a:gdLst/>
            <a:ahLst/>
            <a:cxnLst/>
            <a:rect l="l" t="t" r="r" b="b"/>
            <a:pathLst>
              <a:path w="6492240" h="310896">
                <a:moveTo>
                  <a:pt x="0" y="0"/>
                </a:moveTo>
                <a:lnTo>
                  <a:pt x="54102" y="0"/>
                </a:lnTo>
                <a:lnTo>
                  <a:pt x="54102" y="0"/>
                </a:lnTo>
                <a:lnTo>
                  <a:pt x="108204" y="0"/>
                </a:lnTo>
                <a:lnTo>
                  <a:pt x="108204" y="0"/>
                </a:lnTo>
                <a:lnTo>
                  <a:pt x="162306" y="0"/>
                </a:lnTo>
                <a:lnTo>
                  <a:pt x="162306" y="0"/>
                </a:lnTo>
                <a:lnTo>
                  <a:pt x="216408" y="0"/>
                </a:lnTo>
                <a:lnTo>
                  <a:pt x="216408" y="0"/>
                </a:lnTo>
                <a:lnTo>
                  <a:pt x="270510" y="0"/>
                </a:lnTo>
                <a:lnTo>
                  <a:pt x="270510" y="0"/>
                </a:lnTo>
                <a:lnTo>
                  <a:pt x="324612" y="0"/>
                </a:lnTo>
                <a:lnTo>
                  <a:pt x="324612" y="0"/>
                </a:lnTo>
                <a:lnTo>
                  <a:pt x="378714" y="0"/>
                </a:lnTo>
                <a:lnTo>
                  <a:pt x="378714" y="0"/>
                </a:lnTo>
                <a:lnTo>
                  <a:pt x="432816" y="0"/>
                </a:lnTo>
                <a:lnTo>
                  <a:pt x="432816" y="0"/>
                </a:lnTo>
                <a:lnTo>
                  <a:pt x="486918" y="0"/>
                </a:lnTo>
                <a:lnTo>
                  <a:pt x="486918" y="0"/>
                </a:lnTo>
                <a:lnTo>
                  <a:pt x="541020" y="0"/>
                </a:lnTo>
                <a:lnTo>
                  <a:pt x="541020" y="0"/>
                </a:lnTo>
                <a:lnTo>
                  <a:pt x="595122" y="0"/>
                </a:lnTo>
                <a:lnTo>
                  <a:pt x="595122" y="0"/>
                </a:lnTo>
                <a:lnTo>
                  <a:pt x="649224" y="0"/>
                </a:lnTo>
                <a:lnTo>
                  <a:pt x="649224" y="0"/>
                </a:lnTo>
                <a:lnTo>
                  <a:pt x="703326" y="0"/>
                </a:lnTo>
                <a:lnTo>
                  <a:pt x="703326" y="0"/>
                </a:lnTo>
                <a:lnTo>
                  <a:pt x="757428" y="0"/>
                </a:lnTo>
                <a:lnTo>
                  <a:pt x="757428" y="0"/>
                </a:lnTo>
                <a:lnTo>
                  <a:pt x="811530" y="0"/>
                </a:lnTo>
                <a:lnTo>
                  <a:pt x="811530" y="0"/>
                </a:lnTo>
                <a:lnTo>
                  <a:pt x="865632" y="0"/>
                </a:lnTo>
                <a:lnTo>
                  <a:pt x="865632" y="0"/>
                </a:lnTo>
                <a:lnTo>
                  <a:pt x="919734" y="0"/>
                </a:lnTo>
                <a:lnTo>
                  <a:pt x="919734" y="0"/>
                </a:lnTo>
                <a:lnTo>
                  <a:pt x="973836" y="0"/>
                </a:lnTo>
                <a:lnTo>
                  <a:pt x="973836" y="310896"/>
                </a:lnTo>
                <a:lnTo>
                  <a:pt x="1027938" y="310896"/>
                </a:lnTo>
                <a:lnTo>
                  <a:pt x="1027938" y="310896"/>
                </a:lnTo>
                <a:lnTo>
                  <a:pt x="1082040" y="310896"/>
                </a:lnTo>
                <a:lnTo>
                  <a:pt x="1082040" y="310896"/>
                </a:lnTo>
                <a:lnTo>
                  <a:pt x="1136142" y="310896"/>
                </a:lnTo>
                <a:lnTo>
                  <a:pt x="1136142" y="310896"/>
                </a:lnTo>
                <a:lnTo>
                  <a:pt x="1190244" y="310896"/>
                </a:lnTo>
                <a:lnTo>
                  <a:pt x="1190244" y="310896"/>
                </a:lnTo>
                <a:lnTo>
                  <a:pt x="1244346" y="310896"/>
                </a:lnTo>
                <a:lnTo>
                  <a:pt x="1244346" y="310896"/>
                </a:lnTo>
                <a:lnTo>
                  <a:pt x="1298448" y="310896"/>
                </a:lnTo>
                <a:lnTo>
                  <a:pt x="1298448" y="0"/>
                </a:lnTo>
                <a:lnTo>
                  <a:pt x="1352550" y="0"/>
                </a:lnTo>
                <a:lnTo>
                  <a:pt x="1352550" y="0"/>
                </a:lnTo>
                <a:lnTo>
                  <a:pt x="1406652" y="0"/>
                </a:lnTo>
                <a:lnTo>
                  <a:pt x="1406652" y="0"/>
                </a:lnTo>
                <a:lnTo>
                  <a:pt x="1460754" y="0"/>
                </a:lnTo>
                <a:lnTo>
                  <a:pt x="1460754" y="0"/>
                </a:lnTo>
                <a:lnTo>
                  <a:pt x="1514856" y="0"/>
                </a:lnTo>
                <a:lnTo>
                  <a:pt x="1514856" y="0"/>
                </a:lnTo>
                <a:lnTo>
                  <a:pt x="1568958" y="0"/>
                </a:lnTo>
                <a:lnTo>
                  <a:pt x="1568958" y="0"/>
                </a:lnTo>
                <a:lnTo>
                  <a:pt x="1623060" y="0"/>
                </a:lnTo>
                <a:lnTo>
                  <a:pt x="1623060" y="0"/>
                </a:lnTo>
                <a:lnTo>
                  <a:pt x="1677162" y="0"/>
                </a:lnTo>
                <a:lnTo>
                  <a:pt x="1677162" y="0"/>
                </a:lnTo>
                <a:lnTo>
                  <a:pt x="1731264" y="0"/>
                </a:lnTo>
                <a:lnTo>
                  <a:pt x="1731264" y="0"/>
                </a:lnTo>
                <a:lnTo>
                  <a:pt x="1785366" y="0"/>
                </a:lnTo>
                <a:lnTo>
                  <a:pt x="1785366" y="0"/>
                </a:lnTo>
                <a:lnTo>
                  <a:pt x="1839468" y="0"/>
                </a:lnTo>
                <a:lnTo>
                  <a:pt x="1839468" y="0"/>
                </a:lnTo>
                <a:lnTo>
                  <a:pt x="1893570" y="0"/>
                </a:lnTo>
                <a:lnTo>
                  <a:pt x="1893570" y="0"/>
                </a:lnTo>
                <a:lnTo>
                  <a:pt x="1947672" y="0"/>
                </a:lnTo>
                <a:lnTo>
                  <a:pt x="1947672" y="0"/>
                </a:lnTo>
                <a:lnTo>
                  <a:pt x="2001774" y="0"/>
                </a:lnTo>
                <a:lnTo>
                  <a:pt x="2001774" y="0"/>
                </a:lnTo>
                <a:lnTo>
                  <a:pt x="2055876" y="0"/>
                </a:lnTo>
                <a:lnTo>
                  <a:pt x="2055876" y="0"/>
                </a:lnTo>
                <a:lnTo>
                  <a:pt x="2109978" y="0"/>
                </a:lnTo>
                <a:lnTo>
                  <a:pt x="2109978" y="0"/>
                </a:lnTo>
                <a:lnTo>
                  <a:pt x="2164080" y="0"/>
                </a:lnTo>
                <a:lnTo>
                  <a:pt x="2164080" y="0"/>
                </a:lnTo>
                <a:lnTo>
                  <a:pt x="2218182" y="0"/>
                </a:lnTo>
                <a:lnTo>
                  <a:pt x="2218182" y="0"/>
                </a:lnTo>
                <a:lnTo>
                  <a:pt x="2272284" y="0"/>
                </a:lnTo>
                <a:lnTo>
                  <a:pt x="2272284" y="310896"/>
                </a:lnTo>
                <a:lnTo>
                  <a:pt x="2326386" y="310896"/>
                </a:lnTo>
                <a:lnTo>
                  <a:pt x="2326386" y="310896"/>
                </a:lnTo>
                <a:lnTo>
                  <a:pt x="2380488" y="310896"/>
                </a:lnTo>
                <a:lnTo>
                  <a:pt x="2380488" y="310896"/>
                </a:lnTo>
                <a:lnTo>
                  <a:pt x="2434590" y="310896"/>
                </a:lnTo>
                <a:lnTo>
                  <a:pt x="2434590" y="310896"/>
                </a:lnTo>
                <a:lnTo>
                  <a:pt x="2488692" y="310896"/>
                </a:lnTo>
                <a:lnTo>
                  <a:pt x="2488692" y="310896"/>
                </a:lnTo>
                <a:lnTo>
                  <a:pt x="2542794" y="310896"/>
                </a:lnTo>
                <a:lnTo>
                  <a:pt x="2542794" y="310896"/>
                </a:lnTo>
                <a:lnTo>
                  <a:pt x="2596896" y="310896"/>
                </a:lnTo>
                <a:lnTo>
                  <a:pt x="2596896" y="310896"/>
                </a:lnTo>
                <a:lnTo>
                  <a:pt x="2650998" y="310896"/>
                </a:lnTo>
                <a:lnTo>
                  <a:pt x="2650998" y="310896"/>
                </a:lnTo>
                <a:lnTo>
                  <a:pt x="2705100" y="310896"/>
                </a:lnTo>
                <a:lnTo>
                  <a:pt x="2705100" y="310896"/>
                </a:lnTo>
                <a:lnTo>
                  <a:pt x="2759202" y="310896"/>
                </a:lnTo>
                <a:lnTo>
                  <a:pt x="2759202" y="310896"/>
                </a:lnTo>
                <a:lnTo>
                  <a:pt x="2813304" y="310896"/>
                </a:lnTo>
                <a:lnTo>
                  <a:pt x="2813304" y="310896"/>
                </a:lnTo>
                <a:lnTo>
                  <a:pt x="2867406" y="310896"/>
                </a:lnTo>
                <a:lnTo>
                  <a:pt x="2867406" y="310896"/>
                </a:lnTo>
                <a:lnTo>
                  <a:pt x="2921508" y="310896"/>
                </a:lnTo>
                <a:lnTo>
                  <a:pt x="2921508" y="310896"/>
                </a:lnTo>
                <a:lnTo>
                  <a:pt x="2975610" y="310896"/>
                </a:lnTo>
                <a:lnTo>
                  <a:pt x="2975610" y="310896"/>
                </a:lnTo>
                <a:lnTo>
                  <a:pt x="3029712" y="310896"/>
                </a:lnTo>
                <a:lnTo>
                  <a:pt x="3029712" y="310896"/>
                </a:lnTo>
                <a:lnTo>
                  <a:pt x="3083814" y="310896"/>
                </a:lnTo>
                <a:lnTo>
                  <a:pt x="3083814" y="310896"/>
                </a:lnTo>
                <a:lnTo>
                  <a:pt x="3137916" y="310896"/>
                </a:lnTo>
                <a:lnTo>
                  <a:pt x="3137916" y="310896"/>
                </a:lnTo>
                <a:lnTo>
                  <a:pt x="3192018" y="310896"/>
                </a:lnTo>
                <a:lnTo>
                  <a:pt x="3192018" y="310896"/>
                </a:lnTo>
                <a:lnTo>
                  <a:pt x="3246120" y="310896"/>
                </a:lnTo>
                <a:lnTo>
                  <a:pt x="3246120" y="0"/>
                </a:lnTo>
                <a:lnTo>
                  <a:pt x="3300222" y="0"/>
                </a:lnTo>
                <a:lnTo>
                  <a:pt x="3300222" y="0"/>
                </a:lnTo>
                <a:lnTo>
                  <a:pt x="3354324" y="0"/>
                </a:lnTo>
                <a:lnTo>
                  <a:pt x="3354324" y="0"/>
                </a:lnTo>
                <a:lnTo>
                  <a:pt x="3408426" y="0"/>
                </a:lnTo>
                <a:lnTo>
                  <a:pt x="3408426" y="0"/>
                </a:lnTo>
                <a:lnTo>
                  <a:pt x="3462528" y="0"/>
                </a:lnTo>
                <a:lnTo>
                  <a:pt x="3462528" y="0"/>
                </a:lnTo>
                <a:lnTo>
                  <a:pt x="3516630" y="0"/>
                </a:lnTo>
                <a:lnTo>
                  <a:pt x="3516630" y="0"/>
                </a:lnTo>
                <a:lnTo>
                  <a:pt x="3570732" y="0"/>
                </a:lnTo>
                <a:lnTo>
                  <a:pt x="3570732" y="310896"/>
                </a:lnTo>
                <a:lnTo>
                  <a:pt x="3624834" y="310896"/>
                </a:lnTo>
                <a:lnTo>
                  <a:pt x="3624834" y="310896"/>
                </a:lnTo>
                <a:lnTo>
                  <a:pt x="3678936" y="310896"/>
                </a:lnTo>
                <a:lnTo>
                  <a:pt x="3678936" y="310896"/>
                </a:lnTo>
                <a:lnTo>
                  <a:pt x="3733038" y="310896"/>
                </a:lnTo>
                <a:lnTo>
                  <a:pt x="3733038" y="310896"/>
                </a:lnTo>
                <a:lnTo>
                  <a:pt x="3787140" y="310896"/>
                </a:lnTo>
                <a:lnTo>
                  <a:pt x="3787140" y="310896"/>
                </a:lnTo>
                <a:lnTo>
                  <a:pt x="3841242" y="310896"/>
                </a:lnTo>
                <a:lnTo>
                  <a:pt x="3841242" y="310896"/>
                </a:lnTo>
                <a:lnTo>
                  <a:pt x="3895344" y="310896"/>
                </a:lnTo>
                <a:lnTo>
                  <a:pt x="3895344" y="310896"/>
                </a:lnTo>
                <a:lnTo>
                  <a:pt x="3949446" y="310896"/>
                </a:lnTo>
                <a:lnTo>
                  <a:pt x="3949446" y="310896"/>
                </a:lnTo>
                <a:lnTo>
                  <a:pt x="4003548" y="310896"/>
                </a:lnTo>
                <a:lnTo>
                  <a:pt x="4003548" y="310896"/>
                </a:lnTo>
                <a:lnTo>
                  <a:pt x="4057650" y="310896"/>
                </a:lnTo>
                <a:lnTo>
                  <a:pt x="4057650" y="310896"/>
                </a:lnTo>
                <a:lnTo>
                  <a:pt x="4111752" y="310896"/>
                </a:lnTo>
                <a:lnTo>
                  <a:pt x="4111752" y="310896"/>
                </a:lnTo>
                <a:lnTo>
                  <a:pt x="4165854" y="310896"/>
                </a:lnTo>
                <a:lnTo>
                  <a:pt x="4165854" y="310896"/>
                </a:lnTo>
                <a:lnTo>
                  <a:pt x="4219956" y="310896"/>
                </a:lnTo>
                <a:lnTo>
                  <a:pt x="4219956" y="0"/>
                </a:lnTo>
                <a:lnTo>
                  <a:pt x="4274058" y="0"/>
                </a:lnTo>
                <a:lnTo>
                  <a:pt x="4274058" y="0"/>
                </a:lnTo>
                <a:lnTo>
                  <a:pt x="4328160" y="0"/>
                </a:lnTo>
                <a:lnTo>
                  <a:pt x="4328160" y="0"/>
                </a:lnTo>
                <a:lnTo>
                  <a:pt x="4382262" y="0"/>
                </a:lnTo>
                <a:lnTo>
                  <a:pt x="4382262" y="0"/>
                </a:lnTo>
                <a:lnTo>
                  <a:pt x="4436364" y="0"/>
                </a:lnTo>
                <a:lnTo>
                  <a:pt x="4436364" y="0"/>
                </a:lnTo>
                <a:lnTo>
                  <a:pt x="4490466" y="0"/>
                </a:lnTo>
                <a:lnTo>
                  <a:pt x="4490466" y="0"/>
                </a:lnTo>
                <a:lnTo>
                  <a:pt x="4544568" y="0"/>
                </a:lnTo>
                <a:lnTo>
                  <a:pt x="4544568" y="0"/>
                </a:lnTo>
                <a:lnTo>
                  <a:pt x="4598670" y="0"/>
                </a:lnTo>
                <a:lnTo>
                  <a:pt x="4598670" y="0"/>
                </a:lnTo>
                <a:lnTo>
                  <a:pt x="4652772" y="0"/>
                </a:lnTo>
                <a:lnTo>
                  <a:pt x="4652772" y="0"/>
                </a:lnTo>
                <a:lnTo>
                  <a:pt x="4706874" y="0"/>
                </a:lnTo>
                <a:lnTo>
                  <a:pt x="4706874" y="0"/>
                </a:lnTo>
                <a:lnTo>
                  <a:pt x="4760976" y="0"/>
                </a:lnTo>
                <a:lnTo>
                  <a:pt x="4760976" y="0"/>
                </a:lnTo>
                <a:lnTo>
                  <a:pt x="4815078" y="0"/>
                </a:lnTo>
                <a:lnTo>
                  <a:pt x="4815078" y="0"/>
                </a:lnTo>
                <a:lnTo>
                  <a:pt x="4869180" y="0"/>
                </a:lnTo>
                <a:lnTo>
                  <a:pt x="4869180" y="310896"/>
                </a:lnTo>
                <a:lnTo>
                  <a:pt x="4923282" y="310896"/>
                </a:lnTo>
                <a:lnTo>
                  <a:pt x="4923282" y="310896"/>
                </a:lnTo>
                <a:lnTo>
                  <a:pt x="4977384" y="310896"/>
                </a:lnTo>
                <a:lnTo>
                  <a:pt x="4977384" y="310896"/>
                </a:lnTo>
                <a:lnTo>
                  <a:pt x="5031486" y="310896"/>
                </a:lnTo>
                <a:lnTo>
                  <a:pt x="5031486" y="310896"/>
                </a:lnTo>
                <a:lnTo>
                  <a:pt x="5085588" y="310896"/>
                </a:lnTo>
                <a:lnTo>
                  <a:pt x="5085588" y="310896"/>
                </a:lnTo>
                <a:lnTo>
                  <a:pt x="5139690" y="310896"/>
                </a:lnTo>
                <a:lnTo>
                  <a:pt x="5139690" y="310896"/>
                </a:lnTo>
                <a:lnTo>
                  <a:pt x="5193792" y="310896"/>
                </a:lnTo>
                <a:lnTo>
                  <a:pt x="5193792" y="0"/>
                </a:lnTo>
                <a:lnTo>
                  <a:pt x="5247894" y="0"/>
                </a:lnTo>
                <a:lnTo>
                  <a:pt x="5247894" y="0"/>
                </a:lnTo>
                <a:lnTo>
                  <a:pt x="5301996" y="0"/>
                </a:lnTo>
                <a:lnTo>
                  <a:pt x="5301996" y="0"/>
                </a:lnTo>
                <a:lnTo>
                  <a:pt x="5356098" y="0"/>
                </a:lnTo>
                <a:lnTo>
                  <a:pt x="5356098" y="0"/>
                </a:lnTo>
                <a:lnTo>
                  <a:pt x="5410200" y="0"/>
                </a:lnTo>
                <a:lnTo>
                  <a:pt x="5410200" y="0"/>
                </a:lnTo>
                <a:lnTo>
                  <a:pt x="5464302" y="0"/>
                </a:lnTo>
                <a:lnTo>
                  <a:pt x="5464302" y="0"/>
                </a:lnTo>
                <a:lnTo>
                  <a:pt x="5518404" y="0"/>
                </a:lnTo>
                <a:lnTo>
                  <a:pt x="5518404" y="310896"/>
                </a:lnTo>
                <a:lnTo>
                  <a:pt x="5572506" y="310896"/>
                </a:lnTo>
                <a:lnTo>
                  <a:pt x="5572506" y="310896"/>
                </a:lnTo>
                <a:lnTo>
                  <a:pt x="5626608" y="310896"/>
                </a:lnTo>
                <a:lnTo>
                  <a:pt x="5626608" y="310896"/>
                </a:lnTo>
                <a:lnTo>
                  <a:pt x="5680710" y="310896"/>
                </a:lnTo>
                <a:lnTo>
                  <a:pt x="5680710" y="310896"/>
                </a:lnTo>
                <a:lnTo>
                  <a:pt x="5734812" y="310896"/>
                </a:lnTo>
                <a:lnTo>
                  <a:pt x="5734812" y="310896"/>
                </a:lnTo>
                <a:lnTo>
                  <a:pt x="5788914" y="310896"/>
                </a:lnTo>
                <a:lnTo>
                  <a:pt x="5788914" y="310896"/>
                </a:lnTo>
                <a:lnTo>
                  <a:pt x="5843016" y="310896"/>
                </a:lnTo>
                <a:lnTo>
                  <a:pt x="5843016" y="310896"/>
                </a:lnTo>
                <a:lnTo>
                  <a:pt x="5897118" y="310896"/>
                </a:lnTo>
                <a:lnTo>
                  <a:pt x="5897118" y="310896"/>
                </a:lnTo>
                <a:lnTo>
                  <a:pt x="5951220" y="310896"/>
                </a:lnTo>
                <a:lnTo>
                  <a:pt x="5951220" y="310896"/>
                </a:lnTo>
                <a:lnTo>
                  <a:pt x="6005322" y="310896"/>
                </a:lnTo>
                <a:lnTo>
                  <a:pt x="6005322" y="310896"/>
                </a:lnTo>
                <a:lnTo>
                  <a:pt x="6059424" y="310896"/>
                </a:lnTo>
                <a:lnTo>
                  <a:pt x="6059424" y="310896"/>
                </a:lnTo>
                <a:lnTo>
                  <a:pt x="6113526" y="310896"/>
                </a:lnTo>
                <a:lnTo>
                  <a:pt x="6113526" y="310896"/>
                </a:lnTo>
                <a:lnTo>
                  <a:pt x="6167628" y="310896"/>
                </a:lnTo>
                <a:lnTo>
                  <a:pt x="6167628" y="310896"/>
                </a:lnTo>
                <a:lnTo>
                  <a:pt x="6221730" y="310896"/>
                </a:lnTo>
                <a:lnTo>
                  <a:pt x="6221730" y="310896"/>
                </a:lnTo>
                <a:lnTo>
                  <a:pt x="6275832" y="310896"/>
                </a:lnTo>
                <a:lnTo>
                  <a:pt x="6275832" y="310896"/>
                </a:lnTo>
                <a:lnTo>
                  <a:pt x="6329934" y="310896"/>
                </a:lnTo>
                <a:lnTo>
                  <a:pt x="6329934" y="310896"/>
                </a:lnTo>
                <a:lnTo>
                  <a:pt x="6384036" y="310896"/>
                </a:lnTo>
                <a:lnTo>
                  <a:pt x="6384036" y="310896"/>
                </a:lnTo>
                <a:lnTo>
                  <a:pt x="6438138" y="310896"/>
                </a:lnTo>
                <a:lnTo>
                  <a:pt x="6438138" y="310896"/>
                </a:lnTo>
                <a:lnTo>
                  <a:pt x="6492240" y="310896"/>
                </a:lnTo>
              </a:path>
            </a:pathLst>
          </a:custGeom>
          <a:noFill/>
          <a:ln w="22225">
            <a:solidFill>
              <a:srgbClr val="C99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715000"/>
            <a:ext cx="640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Helvetica"/>
              </a:rPr>
              <a:t>d [flow]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6080760"/>
            <a:ext cx="6492240" cy="0"/>
          </a:xfrm>
          <a:prstGeom prst="line">
            <a:avLst/>
          </a:prstGeom>
          <a:ln w="952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1143000" y="5751576"/>
            <a:ext cx="6492240" cy="310896"/>
          </a:xfrm>
          <a:custGeom>
            <a:avLst/>
            <a:gdLst/>
            <a:ahLst/>
            <a:cxnLst/>
            <a:rect l="l" t="t" r="r" b="b"/>
            <a:pathLst>
              <a:path w="6492240" h="310896">
                <a:moveTo>
                  <a:pt x="0" y="310896"/>
                </a:moveTo>
                <a:lnTo>
                  <a:pt x="54102" y="310896"/>
                </a:lnTo>
                <a:lnTo>
                  <a:pt x="54102" y="310896"/>
                </a:lnTo>
                <a:lnTo>
                  <a:pt x="108204" y="310896"/>
                </a:lnTo>
                <a:lnTo>
                  <a:pt x="108204" y="310896"/>
                </a:lnTo>
                <a:lnTo>
                  <a:pt x="162306" y="310896"/>
                </a:lnTo>
                <a:lnTo>
                  <a:pt x="162306" y="310896"/>
                </a:lnTo>
                <a:lnTo>
                  <a:pt x="216408" y="310896"/>
                </a:lnTo>
                <a:lnTo>
                  <a:pt x="216408" y="310896"/>
                </a:lnTo>
                <a:lnTo>
                  <a:pt x="270510" y="310896"/>
                </a:lnTo>
                <a:lnTo>
                  <a:pt x="270510" y="310896"/>
                </a:lnTo>
                <a:lnTo>
                  <a:pt x="324612" y="310896"/>
                </a:lnTo>
                <a:lnTo>
                  <a:pt x="324612" y="310896"/>
                </a:lnTo>
                <a:lnTo>
                  <a:pt x="378714" y="310896"/>
                </a:lnTo>
                <a:lnTo>
                  <a:pt x="378714" y="310896"/>
                </a:lnTo>
                <a:lnTo>
                  <a:pt x="432816" y="310896"/>
                </a:lnTo>
                <a:lnTo>
                  <a:pt x="432816" y="310896"/>
                </a:lnTo>
                <a:lnTo>
                  <a:pt x="486918" y="310896"/>
                </a:lnTo>
                <a:lnTo>
                  <a:pt x="486918" y="310896"/>
                </a:lnTo>
                <a:lnTo>
                  <a:pt x="541020" y="310896"/>
                </a:lnTo>
                <a:lnTo>
                  <a:pt x="541020" y="310896"/>
                </a:lnTo>
                <a:lnTo>
                  <a:pt x="595122" y="310896"/>
                </a:lnTo>
                <a:lnTo>
                  <a:pt x="595122" y="310896"/>
                </a:lnTo>
                <a:lnTo>
                  <a:pt x="649224" y="310896"/>
                </a:lnTo>
                <a:lnTo>
                  <a:pt x="649224" y="310896"/>
                </a:lnTo>
                <a:lnTo>
                  <a:pt x="703326" y="310896"/>
                </a:lnTo>
                <a:lnTo>
                  <a:pt x="703326" y="310896"/>
                </a:lnTo>
                <a:lnTo>
                  <a:pt x="757428" y="310896"/>
                </a:lnTo>
                <a:lnTo>
                  <a:pt x="757428" y="310896"/>
                </a:lnTo>
                <a:lnTo>
                  <a:pt x="811530" y="310896"/>
                </a:lnTo>
                <a:lnTo>
                  <a:pt x="811530" y="310896"/>
                </a:lnTo>
                <a:lnTo>
                  <a:pt x="865632" y="310896"/>
                </a:lnTo>
                <a:lnTo>
                  <a:pt x="865632" y="310896"/>
                </a:lnTo>
                <a:lnTo>
                  <a:pt x="919734" y="310896"/>
                </a:lnTo>
                <a:lnTo>
                  <a:pt x="919734" y="310896"/>
                </a:lnTo>
                <a:lnTo>
                  <a:pt x="973836" y="310896"/>
                </a:lnTo>
                <a:lnTo>
                  <a:pt x="973836" y="310896"/>
                </a:lnTo>
                <a:lnTo>
                  <a:pt x="1027938" y="310896"/>
                </a:lnTo>
                <a:lnTo>
                  <a:pt x="1027938" y="310896"/>
                </a:lnTo>
                <a:lnTo>
                  <a:pt x="1082040" y="310896"/>
                </a:lnTo>
                <a:lnTo>
                  <a:pt x="1082040" y="0"/>
                </a:lnTo>
                <a:lnTo>
                  <a:pt x="1136142" y="0"/>
                </a:lnTo>
                <a:lnTo>
                  <a:pt x="1136142" y="0"/>
                </a:lnTo>
                <a:lnTo>
                  <a:pt x="1190244" y="0"/>
                </a:lnTo>
                <a:lnTo>
                  <a:pt x="1190244" y="0"/>
                </a:lnTo>
                <a:lnTo>
                  <a:pt x="1244346" y="0"/>
                </a:lnTo>
                <a:lnTo>
                  <a:pt x="1244346" y="0"/>
                </a:lnTo>
                <a:lnTo>
                  <a:pt x="1298448" y="0"/>
                </a:lnTo>
                <a:lnTo>
                  <a:pt x="1298448" y="0"/>
                </a:lnTo>
                <a:lnTo>
                  <a:pt x="1352550" y="0"/>
                </a:lnTo>
                <a:lnTo>
                  <a:pt x="1352550" y="0"/>
                </a:lnTo>
                <a:lnTo>
                  <a:pt x="1406652" y="0"/>
                </a:lnTo>
                <a:lnTo>
                  <a:pt x="1406652" y="0"/>
                </a:lnTo>
                <a:lnTo>
                  <a:pt x="1460754" y="0"/>
                </a:lnTo>
                <a:lnTo>
                  <a:pt x="1460754" y="0"/>
                </a:lnTo>
                <a:lnTo>
                  <a:pt x="1514856" y="0"/>
                </a:lnTo>
                <a:lnTo>
                  <a:pt x="1514856" y="0"/>
                </a:lnTo>
                <a:lnTo>
                  <a:pt x="1568958" y="0"/>
                </a:lnTo>
                <a:lnTo>
                  <a:pt x="1568958" y="0"/>
                </a:lnTo>
                <a:lnTo>
                  <a:pt x="1623060" y="0"/>
                </a:lnTo>
                <a:lnTo>
                  <a:pt x="1623060" y="0"/>
                </a:lnTo>
                <a:lnTo>
                  <a:pt x="1677162" y="0"/>
                </a:lnTo>
                <a:lnTo>
                  <a:pt x="1677162" y="0"/>
                </a:lnTo>
                <a:lnTo>
                  <a:pt x="1731264" y="0"/>
                </a:lnTo>
                <a:lnTo>
                  <a:pt x="1731264" y="0"/>
                </a:lnTo>
                <a:lnTo>
                  <a:pt x="1785366" y="0"/>
                </a:lnTo>
                <a:lnTo>
                  <a:pt x="1785366" y="0"/>
                </a:lnTo>
                <a:lnTo>
                  <a:pt x="1839468" y="0"/>
                </a:lnTo>
                <a:lnTo>
                  <a:pt x="1839468" y="0"/>
                </a:lnTo>
                <a:lnTo>
                  <a:pt x="1893570" y="0"/>
                </a:lnTo>
                <a:lnTo>
                  <a:pt x="1893570" y="0"/>
                </a:lnTo>
                <a:lnTo>
                  <a:pt x="1947672" y="0"/>
                </a:lnTo>
                <a:lnTo>
                  <a:pt x="1947672" y="0"/>
                </a:lnTo>
                <a:lnTo>
                  <a:pt x="2001774" y="0"/>
                </a:lnTo>
                <a:lnTo>
                  <a:pt x="2001774" y="0"/>
                </a:lnTo>
                <a:lnTo>
                  <a:pt x="2055876" y="0"/>
                </a:lnTo>
                <a:lnTo>
                  <a:pt x="2055876" y="0"/>
                </a:lnTo>
                <a:lnTo>
                  <a:pt x="2109978" y="0"/>
                </a:lnTo>
                <a:lnTo>
                  <a:pt x="2109978" y="0"/>
                </a:lnTo>
                <a:lnTo>
                  <a:pt x="2164080" y="0"/>
                </a:lnTo>
                <a:lnTo>
                  <a:pt x="2164080" y="0"/>
                </a:lnTo>
                <a:lnTo>
                  <a:pt x="2218182" y="0"/>
                </a:lnTo>
                <a:lnTo>
                  <a:pt x="2218182" y="0"/>
                </a:lnTo>
                <a:lnTo>
                  <a:pt x="2272284" y="0"/>
                </a:lnTo>
                <a:lnTo>
                  <a:pt x="2272284" y="0"/>
                </a:lnTo>
                <a:lnTo>
                  <a:pt x="2326386" y="0"/>
                </a:lnTo>
                <a:lnTo>
                  <a:pt x="2326386" y="0"/>
                </a:lnTo>
                <a:lnTo>
                  <a:pt x="2380488" y="0"/>
                </a:lnTo>
                <a:lnTo>
                  <a:pt x="2380488" y="0"/>
                </a:lnTo>
                <a:lnTo>
                  <a:pt x="2434590" y="0"/>
                </a:lnTo>
                <a:lnTo>
                  <a:pt x="2434590" y="0"/>
                </a:lnTo>
                <a:lnTo>
                  <a:pt x="2488692" y="0"/>
                </a:lnTo>
                <a:lnTo>
                  <a:pt x="2488692" y="0"/>
                </a:lnTo>
                <a:lnTo>
                  <a:pt x="2542794" y="0"/>
                </a:lnTo>
                <a:lnTo>
                  <a:pt x="2542794" y="0"/>
                </a:lnTo>
                <a:lnTo>
                  <a:pt x="2596896" y="0"/>
                </a:lnTo>
                <a:lnTo>
                  <a:pt x="2596896" y="0"/>
                </a:lnTo>
                <a:lnTo>
                  <a:pt x="2650998" y="0"/>
                </a:lnTo>
                <a:lnTo>
                  <a:pt x="2650998" y="0"/>
                </a:lnTo>
                <a:lnTo>
                  <a:pt x="2705100" y="0"/>
                </a:lnTo>
                <a:lnTo>
                  <a:pt x="2705100" y="0"/>
                </a:lnTo>
                <a:lnTo>
                  <a:pt x="2759202" y="0"/>
                </a:lnTo>
                <a:lnTo>
                  <a:pt x="2759202" y="0"/>
                </a:lnTo>
                <a:lnTo>
                  <a:pt x="2813304" y="0"/>
                </a:lnTo>
                <a:lnTo>
                  <a:pt x="2813304" y="0"/>
                </a:lnTo>
                <a:lnTo>
                  <a:pt x="2867406" y="0"/>
                </a:lnTo>
                <a:lnTo>
                  <a:pt x="2867406" y="0"/>
                </a:lnTo>
                <a:lnTo>
                  <a:pt x="2921508" y="0"/>
                </a:lnTo>
                <a:lnTo>
                  <a:pt x="2921508" y="0"/>
                </a:lnTo>
                <a:lnTo>
                  <a:pt x="2975610" y="0"/>
                </a:lnTo>
                <a:lnTo>
                  <a:pt x="2975610" y="0"/>
                </a:lnTo>
                <a:lnTo>
                  <a:pt x="3029712" y="0"/>
                </a:lnTo>
                <a:lnTo>
                  <a:pt x="3029712" y="0"/>
                </a:lnTo>
                <a:lnTo>
                  <a:pt x="3083814" y="0"/>
                </a:lnTo>
                <a:lnTo>
                  <a:pt x="3083814" y="0"/>
                </a:lnTo>
                <a:lnTo>
                  <a:pt x="3137916" y="0"/>
                </a:lnTo>
                <a:lnTo>
                  <a:pt x="3137916" y="0"/>
                </a:lnTo>
                <a:lnTo>
                  <a:pt x="3192018" y="0"/>
                </a:lnTo>
                <a:lnTo>
                  <a:pt x="3192018" y="0"/>
                </a:lnTo>
                <a:lnTo>
                  <a:pt x="3246120" y="0"/>
                </a:lnTo>
                <a:lnTo>
                  <a:pt x="3246120" y="310896"/>
                </a:lnTo>
                <a:lnTo>
                  <a:pt x="3300222" y="310896"/>
                </a:lnTo>
                <a:lnTo>
                  <a:pt x="3300222" y="310896"/>
                </a:lnTo>
                <a:lnTo>
                  <a:pt x="3354324" y="310896"/>
                </a:lnTo>
                <a:lnTo>
                  <a:pt x="3354324" y="310896"/>
                </a:lnTo>
                <a:lnTo>
                  <a:pt x="3408426" y="310896"/>
                </a:lnTo>
                <a:lnTo>
                  <a:pt x="3408426" y="310896"/>
                </a:lnTo>
                <a:lnTo>
                  <a:pt x="3462528" y="310896"/>
                </a:lnTo>
                <a:lnTo>
                  <a:pt x="3462528" y="310896"/>
                </a:lnTo>
                <a:lnTo>
                  <a:pt x="3516630" y="310896"/>
                </a:lnTo>
                <a:lnTo>
                  <a:pt x="3516630" y="310896"/>
                </a:lnTo>
                <a:lnTo>
                  <a:pt x="3570732" y="310896"/>
                </a:lnTo>
                <a:lnTo>
                  <a:pt x="3570732" y="310896"/>
                </a:lnTo>
                <a:lnTo>
                  <a:pt x="3624834" y="310896"/>
                </a:lnTo>
                <a:lnTo>
                  <a:pt x="3624834" y="310896"/>
                </a:lnTo>
                <a:lnTo>
                  <a:pt x="3678936" y="310896"/>
                </a:lnTo>
                <a:lnTo>
                  <a:pt x="3678936" y="310896"/>
                </a:lnTo>
                <a:lnTo>
                  <a:pt x="3733038" y="310896"/>
                </a:lnTo>
                <a:lnTo>
                  <a:pt x="3733038" y="310896"/>
                </a:lnTo>
                <a:lnTo>
                  <a:pt x="3787140" y="310896"/>
                </a:lnTo>
                <a:lnTo>
                  <a:pt x="3787140" y="0"/>
                </a:lnTo>
                <a:lnTo>
                  <a:pt x="3841242" y="0"/>
                </a:lnTo>
                <a:lnTo>
                  <a:pt x="3841242" y="0"/>
                </a:lnTo>
                <a:lnTo>
                  <a:pt x="3895344" y="0"/>
                </a:lnTo>
                <a:lnTo>
                  <a:pt x="3895344" y="0"/>
                </a:lnTo>
                <a:lnTo>
                  <a:pt x="3949446" y="0"/>
                </a:lnTo>
                <a:lnTo>
                  <a:pt x="3949446" y="0"/>
                </a:lnTo>
                <a:lnTo>
                  <a:pt x="4003548" y="0"/>
                </a:lnTo>
                <a:lnTo>
                  <a:pt x="4003548" y="0"/>
                </a:lnTo>
                <a:lnTo>
                  <a:pt x="4057650" y="0"/>
                </a:lnTo>
                <a:lnTo>
                  <a:pt x="4057650" y="0"/>
                </a:lnTo>
                <a:lnTo>
                  <a:pt x="4111752" y="0"/>
                </a:lnTo>
                <a:lnTo>
                  <a:pt x="4111752" y="0"/>
                </a:lnTo>
                <a:lnTo>
                  <a:pt x="4165854" y="0"/>
                </a:lnTo>
                <a:lnTo>
                  <a:pt x="4165854" y="0"/>
                </a:lnTo>
                <a:lnTo>
                  <a:pt x="4219956" y="0"/>
                </a:lnTo>
                <a:lnTo>
                  <a:pt x="4219956" y="0"/>
                </a:lnTo>
                <a:lnTo>
                  <a:pt x="4274058" y="0"/>
                </a:lnTo>
                <a:lnTo>
                  <a:pt x="4274058" y="0"/>
                </a:lnTo>
                <a:lnTo>
                  <a:pt x="4328160" y="0"/>
                </a:lnTo>
                <a:lnTo>
                  <a:pt x="4328160" y="310896"/>
                </a:lnTo>
                <a:lnTo>
                  <a:pt x="4382262" y="310896"/>
                </a:lnTo>
                <a:lnTo>
                  <a:pt x="4382262" y="310896"/>
                </a:lnTo>
                <a:lnTo>
                  <a:pt x="4436364" y="310896"/>
                </a:lnTo>
                <a:lnTo>
                  <a:pt x="4436364" y="310896"/>
                </a:lnTo>
                <a:lnTo>
                  <a:pt x="4490466" y="310896"/>
                </a:lnTo>
                <a:lnTo>
                  <a:pt x="4490466" y="310896"/>
                </a:lnTo>
                <a:lnTo>
                  <a:pt x="4544568" y="310896"/>
                </a:lnTo>
                <a:lnTo>
                  <a:pt x="4544568" y="310896"/>
                </a:lnTo>
                <a:lnTo>
                  <a:pt x="4598670" y="310896"/>
                </a:lnTo>
                <a:lnTo>
                  <a:pt x="4598670" y="310896"/>
                </a:lnTo>
                <a:lnTo>
                  <a:pt x="4652772" y="310896"/>
                </a:lnTo>
                <a:lnTo>
                  <a:pt x="4652772" y="310896"/>
                </a:lnTo>
                <a:lnTo>
                  <a:pt x="4706874" y="310896"/>
                </a:lnTo>
                <a:lnTo>
                  <a:pt x="4706874" y="310896"/>
                </a:lnTo>
                <a:lnTo>
                  <a:pt x="4760976" y="310896"/>
                </a:lnTo>
                <a:lnTo>
                  <a:pt x="4760976" y="310896"/>
                </a:lnTo>
                <a:lnTo>
                  <a:pt x="4815078" y="310896"/>
                </a:lnTo>
                <a:lnTo>
                  <a:pt x="4815078" y="310896"/>
                </a:lnTo>
                <a:lnTo>
                  <a:pt x="4869180" y="310896"/>
                </a:lnTo>
                <a:lnTo>
                  <a:pt x="4869180" y="0"/>
                </a:lnTo>
                <a:lnTo>
                  <a:pt x="4923282" y="0"/>
                </a:lnTo>
                <a:lnTo>
                  <a:pt x="4923282" y="0"/>
                </a:lnTo>
                <a:lnTo>
                  <a:pt x="4977384" y="0"/>
                </a:lnTo>
                <a:lnTo>
                  <a:pt x="4977384" y="0"/>
                </a:lnTo>
                <a:lnTo>
                  <a:pt x="5031486" y="0"/>
                </a:lnTo>
                <a:lnTo>
                  <a:pt x="5031486" y="0"/>
                </a:lnTo>
                <a:lnTo>
                  <a:pt x="5085588" y="0"/>
                </a:lnTo>
                <a:lnTo>
                  <a:pt x="5085588" y="0"/>
                </a:lnTo>
                <a:lnTo>
                  <a:pt x="5139690" y="0"/>
                </a:lnTo>
                <a:lnTo>
                  <a:pt x="5139690" y="0"/>
                </a:lnTo>
                <a:lnTo>
                  <a:pt x="5193792" y="0"/>
                </a:lnTo>
                <a:lnTo>
                  <a:pt x="5193792" y="0"/>
                </a:lnTo>
                <a:lnTo>
                  <a:pt x="5247894" y="0"/>
                </a:lnTo>
                <a:lnTo>
                  <a:pt x="5247894" y="0"/>
                </a:lnTo>
                <a:lnTo>
                  <a:pt x="5301996" y="0"/>
                </a:lnTo>
                <a:lnTo>
                  <a:pt x="5301996" y="0"/>
                </a:lnTo>
                <a:lnTo>
                  <a:pt x="5356098" y="0"/>
                </a:lnTo>
                <a:lnTo>
                  <a:pt x="5356098" y="0"/>
                </a:lnTo>
                <a:lnTo>
                  <a:pt x="5410200" y="0"/>
                </a:lnTo>
                <a:lnTo>
                  <a:pt x="5410200" y="310896"/>
                </a:lnTo>
                <a:lnTo>
                  <a:pt x="5464302" y="310896"/>
                </a:lnTo>
                <a:lnTo>
                  <a:pt x="5464302" y="310896"/>
                </a:lnTo>
                <a:lnTo>
                  <a:pt x="5518404" y="310896"/>
                </a:lnTo>
                <a:lnTo>
                  <a:pt x="5518404" y="310896"/>
                </a:lnTo>
                <a:lnTo>
                  <a:pt x="5572506" y="310896"/>
                </a:lnTo>
                <a:lnTo>
                  <a:pt x="5572506" y="310896"/>
                </a:lnTo>
                <a:lnTo>
                  <a:pt x="5626608" y="310896"/>
                </a:lnTo>
                <a:lnTo>
                  <a:pt x="5626608" y="310896"/>
                </a:lnTo>
                <a:lnTo>
                  <a:pt x="5680710" y="310896"/>
                </a:lnTo>
                <a:lnTo>
                  <a:pt x="5680710" y="310896"/>
                </a:lnTo>
                <a:lnTo>
                  <a:pt x="5734812" y="310896"/>
                </a:lnTo>
                <a:lnTo>
                  <a:pt x="5734812" y="310896"/>
                </a:lnTo>
                <a:lnTo>
                  <a:pt x="5788914" y="310896"/>
                </a:lnTo>
                <a:lnTo>
                  <a:pt x="5788914" y="310896"/>
                </a:lnTo>
                <a:lnTo>
                  <a:pt x="5843016" y="310896"/>
                </a:lnTo>
                <a:lnTo>
                  <a:pt x="5843016" y="310896"/>
                </a:lnTo>
                <a:lnTo>
                  <a:pt x="5897118" y="310896"/>
                </a:lnTo>
                <a:lnTo>
                  <a:pt x="5897118" y="310896"/>
                </a:lnTo>
                <a:lnTo>
                  <a:pt x="5951220" y="310896"/>
                </a:lnTo>
                <a:lnTo>
                  <a:pt x="5951220" y="0"/>
                </a:lnTo>
                <a:lnTo>
                  <a:pt x="6005322" y="0"/>
                </a:lnTo>
                <a:lnTo>
                  <a:pt x="6005322" y="0"/>
                </a:lnTo>
                <a:lnTo>
                  <a:pt x="6059424" y="0"/>
                </a:lnTo>
                <a:lnTo>
                  <a:pt x="6059424" y="0"/>
                </a:lnTo>
                <a:lnTo>
                  <a:pt x="6113526" y="0"/>
                </a:lnTo>
                <a:lnTo>
                  <a:pt x="6113526" y="0"/>
                </a:lnTo>
                <a:lnTo>
                  <a:pt x="6167628" y="0"/>
                </a:lnTo>
                <a:lnTo>
                  <a:pt x="6167628" y="0"/>
                </a:lnTo>
                <a:lnTo>
                  <a:pt x="6221730" y="0"/>
                </a:lnTo>
                <a:lnTo>
                  <a:pt x="6221730" y="0"/>
                </a:lnTo>
                <a:lnTo>
                  <a:pt x="6275832" y="0"/>
                </a:lnTo>
                <a:lnTo>
                  <a:pt x="6275832" y="0"/>
                </a:lnTo>
                <a:lnTo>
                  <a:pt x="6329934" y="0"/>
                </a:lnTo>
                <a:lnTo>
                  <a:pt x="6329934" y="0"/>
                </a:lnTo>
                <a:lnTo>
                  <a:pt x="6384036" y="0"/>
                </a:lnTo>
                <a:lnTo>
                  <a:pt x="6384036" y="0"/>
                </a:lnTo>
                <a:lnTo>
                  <a:pt x="6438138" y="0"/>
                </a:lnTo>
                <a:lnTo>
                  <a:pt x="6438138" y="0"/>
                </a:lnTo>
                <a:lnTo>
                  <a:pt x="6492240" y="0"/>
                </a:lnTo>
              </a:path>
            </a:pathLst>
          </a:custGeom>
          <a:noFill/>
          <a:ln w="222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6126480"/>
            <a:ext cx="6492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Helvetica"/>
              </a:rPr>
              <a:t>0 s                                                                                   300 s                                                                                   600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325880"/>
            <a:ext cx="3550615" cy="457200"/>
          </a:xfrm>
          <a:prstGeom prst="rect">
            <a:avLst/>
          </a:prstGeom>
          <a:solidFill>
            <a:srgbClr val="F3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1325880"/>
            <a:ext cx="3404311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A1F3D"/>
                </a:solidFill>
                <a:latin typeface="Helvetica"/>
              </a:rPr>
              <a:t>Design choices and 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856232"/>
            <a:ext cx="3550615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>
                <a:solidFill>
                  <a:srgbClr val="262626"/>
                </a:solidFill>
                <a:latin typeface="Helvetica"/>
              </a:rPr>
              <a:t>–  Why PRBS and not Gaussian excitation: the reference identification experiment used binary sequences, and VAR-LiNGAM needs non-Gaussian inputs to orient edges (PRBS excess kurtosis ≈ −2). For PC and PCMCI+ a held Gaussian of equal variance would work about as well.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62626"/>
                </a:solidFill>
                <a:latin typeface="Helvetica"/>
              </a:rPr>
              <a:t>–  Why a 30 s hold: one third of the dominant time constant (about 90 s), so each switch is seen by the tanks while the run still contains about 480 switches.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62626"/>
                </a:solidFill>
                <a:latin typeface="Helvetica"/>
              </a:rPr>
              <a:t>–  Why d holds for 50 s: different from the pumps so the three inputs never synchronise and their effects separate at every lag.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62626"/>
                </a:solidFill>
                <a:latin typeface="Helvetica"/>
              </a:rPr>
              <a:t>–  Why ±0.30 V: keeps levels within a few cm of the operating point, where the square-root outflow is close to linear.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62626"/>
                </a:solidFill>
                <a:latin typeface="Helvetica"/>
              </a:rPr>
              <a:t>–  Why the pump noise is unrecorded: the CSV stores the command, the plant sees command plus noise, so v1 and v2 stay exactly binary and the noise acts as process noise on the levels.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62626"/>
                </a:solidFill>
                <a:latin typeface="Helvetica"/>
              </a:rPr>
              <a:t>–  Why sd 0.05 on both noises: the values of Q_mat and R_mat in the original Matlab model; six times smaller than the excitation.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62626"/>
                </a:solidFill>
                <a:latin typeface="Helvetica"/>
              </a:rPr>
              <a:t>–  Steady states: P− levels (12.4, 12.7, 1.8, 1.4) cm, P+ levels (12.6, 13.0, 4.8, 4.9) cm. Burn-in of 600 s discarded before recording. 2880 rows kept.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62626"/>
                </a:solidFill>
                <a:latin typeface="Helvetica"/>
              </a:rPr>
              <a:t>–  Consequence: the three input columns can never pass a normality test, before or after any marginal transform.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