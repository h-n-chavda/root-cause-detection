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30-minute slot. The deck walks one dataset end to end: preparation, graph construction, the graph, its assessment,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work: the causal graph is not the goal, locating a fault's origin is. We deliver the graph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all three structures imply the same correlation matrix. Correlation cannot distinguish them, so it cannot give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collider is the asymmetry that makes causal discovery possible. Conditioning on a common effect creates dependence rather than removing it. Everything PC orients traces back to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phases. Phase 1 removes edges; phase 2 orients what remains. Note the edge count stops falling after phase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under joint normality, conditional independence is exactly a zero partial correlation. The recursion peels one variable off the conditioning set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 = 0.01 means we keep an edge unless the evidence for independence is strong. Flag the independence assumption here — slide 17 returns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rules, all forced. Each avoids either inventing a collider we ruled out or creating a cycle. What stays undirected is genuinely undetermined by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which variable is which: the sensor mapping is not in the dataset we hold. That is listed as a next step on slide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third point — no rescaling is needed because partial correlation is scale-invariant. It is a consequence of the maths, not an omission.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parameter is the interesting one: 2 is not a budget cut, the answer genuinely stops changing there. Slide 16 shows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465 candidate pairs down to 35. Most of the work, and most of the 4,066 tests, happen at the one-variable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unresolved edges are an honest outcome: colliders imply arrows in both directions, so we claim neither.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deliverable. Teal edges are confirmed by the reference graph, blue are additional candidates. Four natural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precision carefully: the reference graph is the plant's designed topology, so extra edges are candidates for undocumented coupling. If earlier figures for this dataset were reported differently, they reflected a reference-alignment problem since resolved; these are the corrected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α hardly matters. Middle: converged at 2 — a strength. Right: sample spacing matters a lot, which slide 17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limitation. 1,499 samples are not 1,499 independent observations. This is the single biggest thing to fix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method is not tuned to one dataset. Third row scores highest, but its reference graph has feedback loops PC cannot express.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right-hand column equal time. Each gap has a concrete remedy — this is the research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objective: the graph exists, so the root-cause traversal is now buildable.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029968"/>
            <a:ext cx="38404" cy="2157984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993392"/>
            <a:ext cx="821336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ECEAE4"/>
                </a:solidFill>
                <a:latin typeface="Aptos"/>
              </a:rPr>
              <a:t>Causal Discovery for Root-Cause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3675887"/>
            <a:ext cx="6353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9AA2AA"/>
                </a:solidFill>
                <a:latin typeface="Aptos"/>
              </a:rPr>
              <a:t>The PC algorithm applied to the Tennessee Eastman process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15568" y="4187952"/>
            <a:ext cx="3090672" cy="0"/>
          </a:xfrm>
          <a:prstGeom prst="line">
            <a:avLst/>
          </a:prstGeom>
          <a:ln w="9525">
            <a:solidFill>
              <a:srgbClr val="363D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33511" y="5349240"/>
            <a:ext cx="3163824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4,066 independence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5349240"/>
            <a:ext cx="1856231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1,499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7311" y="5349240"/>
            <a:ext cx="173736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31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The graph is a means, not the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Locating the origin of a fault is the objective; the causal graph is what makes that traversal possible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17520"/>
            <a:ext cx="1951878" cy="8686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 w="12700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Process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19518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6E73"/>
                </a:solidFill>
                <a:latin typeface="Aptos"/>
              </a:rPr>
              <a:t>sensor time series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1102" y="3451860"/>
            <a:ext cx="201168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57134" y="3017520"/>
            <a:ext cx="1951878" cy="868680"/>
          </a:xfrm>
          <a:prstGeom prst="roundRect">
            <a:avLst>
              <a:gd name="adj" fmla="val 10000"/>
            </a:avLst>
          </a:prstGeom>
          <a:solidFill>
            <a:srgbClr val="1A7F72"/>
          </a:solidFill>
          <a:ln w="1270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FAFAF7"/>
                </a:solidFill>
                <a:latin typeface="Aptos"/>
              </a:rPr>
              <a:t>Causal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134" y="3977639"/>
            <a:ext cx="19518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6E73"/>
                </a:solidFill>
                <a:latin typeface="Aptos"/>
              </a:rPr>
              <a:t>which variable drives which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3876" y="3451860"/>
            <a:ext cx="201168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19908" y="3017520"/>
            <a:ext cx="1951878" cy="8686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 w="12700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Fault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9908" y="3977639"/>
            <a:ext cx="19518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6E73"/>
                </a:solidFill>
                <a:latin typeface="Aptos"/>
              </a:rPr>
              <a:t>T² process monitoring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6650" y="3451860"/>
            <a:ext cx="201168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82682" y="3017520"/>
            <a:ext cx="1951878" cy="8686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 w="12700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Trace backwards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2682" y="3977639"/>
            <a:ext cx="19518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6E73"/>
                </a:solidFill>
                <a:latin typeface="Aptos"/>
              </a:rPr>
              <a:t>walk the graph upstream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89424" y="3451860"/>
            <a:ext cx="201168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5456" y="3017520"/>
            <a:ext cx="1951878" cy="8686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 w="12700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Root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5456" y="3977639"/>
            <a:ext cx="19518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6E73"/>
                </a:solidFill>
                <a:latin typeface="Aptos"/>
              </a:rPr>
              <a:t>the originating variable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33073" y="4480560"/>
            <a:ext cx="0" cy="365760"/>
          </a:xfrm>
          <a:prstGeom prst="line">
            <a:avLst/>
          </a:prstGeom>
          <a:ln w="12700">
            <a:solidFill>
              <a:srgbClr val="1A7F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1473" y="486460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A7F72"/>
                </a:solidFill>
                <a:latin typeface="Aptos"/>
              </a:rPr>
              <a:t>what this work 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0720"/>
            <a:ext cx="100731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 fault is visible in the data long before its cause is. Reading the graph upstream from a faulting variable is what converts a detection into a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The PC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Correlation cannot see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Three different causal structures, one identical correlation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35640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D21"/>
                </a:solidFill>
                <a:latin typeface="Aptos"/>
              </a:rPr>
              <a:t>Chain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28901" y="3127248"/>
            <a:ext cx="128016" cy="0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95829" y="3127248"/>
            <a:ext cx="128016" cy="0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617421" y="2935224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X</a:t>
            </a:r>
          </a:p>
        </p:txBody>
      </p:sp>
      <p:sp>
        <p:nvSpPr>
          <p:cNvPr id="11" name="Oval 10"/>
          <p:cNvSpPr/>
          <p:nvPr/>
        </p:nvSpPr>
        <p:spPr>
          <a:xfrm>
            <a:off x="2184349" y="2935224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Y</a:t>
            </a:r>
          </a:p>
        </p:txBody>
      </p:sp>
      <p:sp>
        <p:nvSpPr>
          <p:cNvPr id="12" name="Oval 11"/>
          <p:cNvSpPr/>
          <p:nvPr/>
        </p:nvSpPr>
        <p:spPr>
          <a:xfrm>
            <a:off x="2751277" y="2935224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9282" y="2212848"/>
            <a:ext cx="35640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D21"/>
                </a:solidFill>
                <a:latin typeface="Aptos"/>
              </a:rPr>
              <a:t>Fork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836474" y="2933943"/>
            <a:ext cx="262714" cy="273223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3402" y="2933943"/>
            <a:ext cx="262714" cy="273223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059271" y="2583728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Y</a:t>
            </a:r>
          </a:p>
        </p:txBody>
      </p:sp>
      <p:sp>
        <p:nvSpPr>
          <p:cNvPr id="17" name="Oval 16"/>
          <p:cNvSpPr/>
          <p:nvPr/>
        </p:nvSpPr>
        <p:spPr>
          <a:xfrm>
            <a:off x="5492343" y="3173333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X</a:t>
            </a:r>
          </a:p>
        </p:txBody>
      </p:sp>
      <p:sp>
        <p:nvSpPr>
          <p:cNvPr id="18" name="Oval 17"/>
          <p:cNvSpPr/>
          <p:nvPr/>
        </p:nvSpPr>
        <p:spPr>
          <a:xfrm>
            <a:off x="6626199" y="3173333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4204" y="2212848"/>
            <a:ext cx="35640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D21"/>
                </a:solidFill>
                <a:latin typeface="Aptos"/>
              </a:rPr>
              <a:t>Collider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11396" y="3047329"/>
            <a:ext cx="262715" cy="273223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278324" y="3047329"/>
            <a:ext cx="262715" cy="273223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367266" y="2697114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X</a:t>
            </a:r>
          </a:p>
        </p:txBody>
      </p:sp>
      <p:sp>
        <p:nvSpPr>
          <p:cNvPr id="23" name="Oval 22"/>
          <p:cNvSpPr/>
          <p:nvPr/>
        </p:nvSpPr>
        <p:spPr>
          <a:xfrm>
            <a:off x="10501121" y="2697114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Y</a:t>
            </a:r>
          </a:p>
        </p:txBody>
      </p:sp>
      <p:sp>
        <p:nvSpPr>
          <p:cNvPr id="24" name="Oval 23"/>
          <p:cNvSpPr/>
          <p:nvPr/>
        </p:nvSpPr>
        <p:spPr>
          <a:xfrm>
            <a:off x="9934194" y="3286719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617720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B6E73"/>
                </a:solidFill>
                <a:latin typeface="Consola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4617720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B6E73"/>
                </a:solidFill>
                <a:latin typeface="Consolas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9904" y="4617720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B6E73"/>
                </a:solidFill>
                <a:latin typeface="Consolas"/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4617720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B6E73"/>
                </a:solidFill>
                <a:latin typeface="Consolas"/>
              </a:rPr>
              <a:t>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873752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B6E73"/>
                </a:solidFill>
                <a:latin typeface="Consolas"/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4873752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1.00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4873752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0.71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4873752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0.50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29783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B6E73"/>
                </a:solidFill>
                <a:latin typeface="Consolas"/>
              </a:rPr>
              <a:t>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5129783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0.71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5129783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5129783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0.71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385816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B6E73"/>
                </a:solidFill>
                <a:latin typeface="Consolas"/>
              </a:rPr>
              <a:t>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8112" y="5385816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0.50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9904" y="5385816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0.71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11696" y="5385816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1D21"/>
                </a:solidFill>
                <a:latin typeface="Consolas"/>
              </a:rPr>
              <a:t>1.00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5676" y="4858390"/>
            <a:ext cx="1890247" cy="798819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2376373" y="3913632"/>
            <a:ext cx="3713531" cy="64922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089904" y="3913632"/>
            <a:ext cx="161391" cy="64922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089904" y="3913632"/>
            <a:ext cx="4036314" cy="64922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4360" y="5870448"/>
            <a:ext cx="110029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D21"/>
                </a:solidFill>
                <a:latin typeface="Aptos"/>
              </a:rPr>
              <a:t>Identical correlations. Different causes. Direction has to come from somewhere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The PC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Conditioning reveals the one useful asymmetry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It separates chains and forks — but connects colliders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5091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D21"/>
                </a:solidFill>
                <a:latin typeface="Aptos"/>
              </a:rPr>
              <a:t>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5091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X → Y → Z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9757" y="3401568"/>
            <a:ext cx="109728" cy="0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8397" y="3401568"/>
            <a:ext cx="109728" cy="0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608277" y="3209544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X</a:t>
            </a:r>
          </a:p>
        </p:txBody>
      </p:sp>
      <p:sp>
        <p:nvSpPr>
          <p:cNvPr id="12" name="Oval 11"/>
          <p:cNvSpPr/>
          <p:nvPr/>
        </p:nvSpPr>
        <p:spPr>
          <a:xfrm>
            <a:off x="2156917" y="3209544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Y</a:t>
            </a:r>
          </a:p>
        </p:txBody>
      </p:sp>
      <p:sp>
        <p:nvSpPr>
          <p:cNvPr id="13" name="Oval 12"/>
          <p:cNvSpPr/>
          <p:nvPr/>
        </p:nvSpPr>
        <p:spPr>
          <a:xfrm>
            <a:off x="2705557" y="3209544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434840"/>
            <a:ext cx="210549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Consolas"/>
              </a:rPr>
              <a:t>X ⫫ 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9857" y="4434840"/>
            <a:ext cx="12939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6B6E73"/>
                </a:solidFill>
                <a:latin typeface="Aptos"/>
              </a:rPr>
              <a:t>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910327"/>
            <a:ext cx="210549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Consolas"/>
              </a:rPr>
              <a:t>X ⫫ Z | 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9857" y="4910327"/>
            <a:ext cx="12939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A7F72"/>
                </a:solidFill>
                <a:latin typeface="Aptos"/>
              </a:rPr>
              <a:t>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9282" y="2286000"/>
            <a:ext cx="35091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D21"/>
                </a:solidFill>
                <a:latin typeface="Aptos"/>
              </a:rPr>
              <a:t>Fork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9282" y="2560320"/>
            <a:ext cx="35091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X ← Y → Z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827330" y="3219602"/>
            <a:ext cx="244426" cy="254203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375970" y="3219602"/>
            <a:ext cx="244426" cy="254203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031839" y="2869387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Y</a:t>
            </a:r>
          </a:p>
        </p:txBody>
      </p:sp>
      <p:sp>
        <p:nvSpPr>
          <p:cNvPr id="23" name="Oval 22"/>
          <p:cNvSpPr/>
          <p:nvPr/>
        </p:nvSpPr>
        <p:spPr>
          <a:xfrm>
            <a:off x="5483199" y="3439972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X</a:t>
            </a:r>
          </a:p>
        </p:txBody>
      </p:sp>
      <p:sp>
        <p:nvSpPr>
          <p:cNvPr id="24" name="Oval 23"/>
          <p:cNvSpPr/>
          <p:nvPr/>
        </p:nvSpPr>
        <p:spPr>
          <a:xfrm>
            <a:off x="6580479" y="3439972"/>
            <a:ext cx="384048" cy="384048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9010" y="4434840"/>
            <a:ext cx="210549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Consolas"/>
              </a:rPr>
              <a:t>X ⫫ 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779" y="4434840"/>
            <a:ext cx="12939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6B6E73"/>
                </a:solidFill>
                <a:latin typeface="Aptos"/>
              </a:rPr>
              <a:t>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9010" y="4910327"/>
            <a:ext cx="210549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Consolas"/>
              </a:rPr>
              <a:t>X ⫫ Z | 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779" y="4910327"/>
            <a:ext cx="12939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A7F72"/>
                </a:solidFill>
                <a:latin typeface="Aptos"/>
              </a:rPr>
              <a:t>true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2764" y="2139696"/>
            <a:ext cx="3692042" cy="3310128"/>
          </a:xfrm>
          <a:prstGeom prst="roundRect">
            <a:avLst>
              <a:gd name="adj" fmla="val 4000"/>
            </a:avLst>
          </a:prstGeom>
          <a:solidFill>
            <a:srgbClr val="D5E8E4"/>
          </a:solidFill>
          <a:ln w="1270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4204" y="2286000"/>
            <a:ext cx="35091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7F72"/>
                </a:solidFill>
                <a:latin typeface="Aptos"/>
              </a:rPr>
              <a:t>Collider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4204" y="2560320"/>
            <a:ext cx="35091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X → Z ← 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60064" y="3319470"/>
            <a:ext cx="273939" cy="284896"/>
          </a:xfrm>
          <a:prstGeom prst="line">
            <a:avLst/>
          </a:prstGeom>
          <a:ln w="1905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263568" y="3319470"/>
            <a:ext cx="273939" cy="284896"/>
          </a:xfrm>
          <a:prstGeom prst="line">
            <a:avLst/>
          </a:prstGeom>
          <a:ln w="1905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284970" y="2937784"/>
            <a:ext cx="420624" cy="420624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7F72"/>
                </a:solidFill>
                <a:latin typeface="Aptos"/>
              </a:rPr>
              <a:t>X</a:t>
            </a:r>
          </a:p>
        </p:txBody>
      </p:sp>
      <p:sp>
        <p:nvSpPr>
          <p:cNvPr id="35" name="Oval 34"/>
          <p:cNvSpPr/>
          <p:nvPr/>
        </p:nvSpPr>
        <p:spPr>
          <a:xfrm>
            <a:off x="10491978" y="2937784"/>
            <a:ext cx="420624" cy="420624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7F72"/>
                </a:solidFill>
                <a:latin typeface="Aptos"/>
              </a:rPr>
              <a:t>Y</a:t>
            </a:r>
          </a:p>
        </p:txBody>
      </p:sp>
      <p:sp>
        <p:nvSpPr>
          <p:cNvPr id="36" name="Oval 35"/>
          <p:cNvSpPr/>
          <p:nvPr/>
        </p:nvSpPr>
        <p:spPr>
          <a:xfrm>
            <a:off x="9888474" y="3565428"/>
            <a:ext cx="420624" cy="420624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7F72"/>
                </a:solidFill>
                <a:latin typeface="Aptos"/>
              </a:rPr>
              <a:t>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3932" y="4434840"/>
            <a:ext cx="210549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Consolas"/>
              </a:rPr>
              <a:t>X ⫫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9702" y="4434840"/>
            <a:ext cx="12939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A7F72"/>
                </a:solidFill>
                <a:latin typeface="Aptos"/>
              </a:rPr>
              <a:t>true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3932" y="4910327"/>
            <a:ext cx="210549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Consolas"/>
              </a:rPr>
              <a:t>X ⫫ Y | 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49702" y="4910327"/>
            <a:ext cx="12939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6B6E73"/>
                </a:solidFill>
                <a:latin typeface="Aptos"/>
              </a:rPr>
              <a:t>false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5577840"/>
            <a:ext cx="35640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7F72"/>
                </a:solidFill>
                <a:latin typeface="Aptos"/>
              </a:rPr>
              <a:t>← the only column that yields an arrow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961888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Every arrow PC draws traces back to the bottom-right cell: conditioning on a common effect creates dependence instead of removing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The PC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The algorithm in four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One graph, thinned and then oriented — the same five variables throughout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31136"/>
            <a:ext cx="2545003" cy="2231136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30657" y="2760390"/>
            <a:ext cx="1072409" cy="0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01978" y="2850355"/>
            <a:ext cx="438114" cy="310920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93088" y="2861725"/>
            <a:ext cx="1035990" cy="890587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90989" y="2915035"/>
            <a:ext cx="79997" cy="783967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993630" y="2850355"/>
            <a:ext cx="438115" cy="310920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62737" y="2915035"/>
            <a:ext cx="79996" cy="783967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404645" y="2861725"/>
            <a:ext cx="1035990" cy="890587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74687" y="3363212"/>
            <a:ext cx="364445" cy="378463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94591" y="3363212"/>
            <a:ext cx="364445" cy="378463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442214" y="3853647"/>
            <a:ext cx="849295" cy="0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19761" y="260494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2403066" y="260494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20" name="Oval 19"/>
          <p:cNvSpPr/>
          <p:nvPr/>
        </p:nvSpPr>
        <p:spPr>
          <a:xfrm>
            <a:off x="1711413" y="309579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21" name="Oval 20"/>
          <p:cNvSpPr/>
          <p:nvPr/>
        </p:nvSpPr>
        <p:spPr>
          <a:xfrm>
            <a:off x="2291509" y="3698199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D</a:t>
            </a:r>
          </a:p>
        </p:txBody>
      </p:sp>
      <p:sp>
        <p:nvSpPr>
          <p:cNvPr id="22" name="Oval 21"/>
          <p:cNvSpPr/>
          <p:nvPr/>
        </p:nvSpPr>
        <p:spPr>
          <a:xfrm>
            <a:off x="1131318" y="3698199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340864"/>
            <a:ext cx="25450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Complete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51376"/>
            <a:ext cx="25450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E73"/>
                </a:solidFill>
                <a:latin typeface="Consolas"/>
              </a:rPr>
              <a:t>10 edges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74336"/>
            <a:ext cx="25450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every pair adjacent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3683" y="2231136"/>
            <a:ext cx="2545003" cy="2231136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121302" y="2850355"/>
            <a:ext cx="438114" cy="310920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812954" y="2850355"/>
            <a:ext cx="438114" cy="310920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794010" y="3363212"/>
            <a:ext cx="364445" cy="378463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261538" y="3853647"/>
            <a:ext cx="849295" cy="0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223969" y="2861725"/>
            <a:ext cx="1035990" cy="890587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39085" y="260494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33" name="Oval 32"/>
          <p:cNvSpPr/>
          <p:nvPr/>
        </p:nvSpPr>
        <p:spPr>
          <a:xfrm>
            <a:off x="5222389" y="260494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34" name="Oval 33"/>
          <p:cNvSpPr/>
          <p:nvPr/>
        </p:nvSpPr>
        <p:spPr>
          <a:xfrm>
            <a:off x="4530737" y="309579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5110833" y="3698199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D</a:t>
            </a:r>
          </a:p>
        </p:txBody>
      </p:sp>
      <p:sp>
        <p:nvSpPr>
          <p:cNvPr id="36" name="Oval 35"/>
          <p:cNvSpPr/>
          <p:nvPr/>
        </p:nvSpPr>
        <p:spPr>
          <a:xfrm>
            <a:off x="3950642" y="3698199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13683" y="2340864"/>
            <a:ext cx="25450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Skeleton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3683" y="4151376"/>
            <a:ext cx="25450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E73"/>
                </a:solidFill>
                <a:latin typeface="Consolas"/>
              </a:rPr>
              <a:t>5 edges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3683" y="4974336"/>
            <a:ext cx="25450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remove when separated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3007" y="2231136"/>
            <a:ext cx="2545003" cy="2231136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6940626" y="2850355"/>
            <a:ext cx="438114" cy="310920"/>
          </a:xfrm>
          <a:prstGeom prst="line">
            <a:avLst/>
          </a:prstGeom>
          <a:ln w="1905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632278" y="2850355"/>
            <a:ext cx="438114" cy="310920"/>
          </a:xfrm>
          <a:prstGeom prst="line">
            <a:avLst/>
          </a:prstGeom>
          <a:ln w="1905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13334" y="3363212"/>
            <a:ext cx="364445" cy="378463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080862" y="3853647"/>
            <a:ext cx="849294" cy="0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043292" y="2861725"/>
            <a:ext cx="1035990" cy="890587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658409" y="260494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8041713" y="260494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48" name="Oval 47"/>
          <p:cNvSpPr/>
          <p:nvPr/>
        </p:nvSpPr>
        <p:spPr>
          <a:xfrm>
            <a:off x="7350061" y="309579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49" name="Oval 48"/>
          <p:cNvSpPr/>
          <p:nvPr/>
        </p:nvSpPr>
        <p:spPr>
          <a:xfrm>
            <a:off x="7930156" y="3698199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D</a:t>
            </a:r>
          </a:p>
        </p:txBody>
      </p:sp>
      <p:sp>
        <p:nvSpPr>
          <p:cNvPr id="50" name="Oval 49"/>
          <p:cNvSpPr/>
          <p:nvPr/>
        </p:nvSpPr>
        <p:spPr>
          <a:xfrm>
            <a:off x="6769966" y="3698199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3007" y="2340864"/>
            <a:ext cx="25450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Colliders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3007" y="4151376"/>
            <a:ext cx="25450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7F72"/>
                </a:solidFill>
                <a:latin typeface="Consolas"/>
              </a:rPr>
              <a:t>2 arrows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3007" y="4974336"/>
            <a:ext cx="25450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orient unshielded triples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331" y="2231136"/>
            <a:ext cx="2545003" cy="2231136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759950" y="2850355"/>
            <a:ext cx="438114" cy="310920"/>
          </a:xfrm>
          <a:prstGeom prst="line">
            <a:avLst/>
          </a:prstGeom>
          <a:ln w="1905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0451602" y="2850355"/>
            <a:ext cx="438114" cy="310920"/>
          </a:xfrm>
          <a:prstGeom prst="line">
            <a:avLst/>
          </a:prstGeom>
          <a:ln w="1905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432658" y="3363212"/>
            <a:ext cx="364445" cy="378463"/>
          </a:xfrm>
          <a:prstGeom prst="line">
            <a:avLst/>
          </a:prstGeom>
          <a:ln w="1905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9900185" y="3853647"/>
            <a:ext cx="849295" cy="0"/>
          </a:xfrm>
          <a:prstGeom prst="line">
            <a:avLst/>
          </a:prstGeom>
          <a:ln w="1905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9862616" y="2861725"/>
            <a:ext cx="1035990" cy="890587"/>
          </a:xfrm>
          <a:prstGeom prst="line">
            <a:avLst/>
          </a:prstGeom>
          <a:ln w="1397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477733" y="260494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61" name="Oval 60"/>
          <p:cNvSpPr/>
          <p:nvPr/>
        </p:nvSpPr>
        <p:spPr>
          <a:xfrm>
            <a:off x="10861037" y="260494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62" name="Oval 61"/>
          <p:cNvSpPr/>
          <p:nvPr/>
        </p:nvSpPr>
        <p:spPr>
          <a:xfrm>
            <a:off x="10169385" y="3095792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63" name="Oval 62"/>
          <p:cNvSpPr/>
          <p:nvPr/>
        </p:nvSpPr>
        <p:spPr>
          <a:xfrm>
            <a:off x="10749480" y="3698199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D</a:t>
            </a:r>
          </a:p>
        </p:txBody>
      </p:sp>
      <p:sp>
        <p:nvSpPr>
          <p:cNvPr id="64" name="Oval 63"/>
          <p:cNvSpPr/>
          <p:nvPr/>
        </p:nvSpPr>
        <p:spPr>
          <a:xfrm>
            <a:off x="9589289" y="3698199"/>
            <a:ext cx="310896" cy="31089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331" y="2340864"/>
            <a:ext cx="25450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Propagate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331" y="4151376"/>
            <a:ext cx="25450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7F72"/>
                </a:solidFill>
                <a:latin typeface="Consolas"/>
              </a:rPr>
              <a:t>4 arrows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331" y="4974336"/>
            <a:ext cx="25450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follow the consequences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94360" y="48646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94360" y="4590288"/>
            <a:ext cx="53917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1A1D21"/>
                </a:solidFill>
                <a:latin typeface="Aptos"/>
              </a:rPr>
              <a:t>PHASE 1 — WHICH VARIABLES ARE RELATED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05575" y="4590288"/>
            <a:ext cx="53917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1A7F72"/>
                </a:solidFill>
                <a:latin typeface="Aptos"/>
              </a:rPr>
              <a:t>PHASE 2 — WHICH WAY THE INFLUENCE RUNS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095847" y="4553712"/>
            <a:ext cx="0" cy="87782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The PC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What is actually tested: partial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Under joint normality, conditional independence is exactly a partial correlation of 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95728"/>
            <a:ext cx="82133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1A1D21"/>
                </a:solidFill>
                <a:latin typeface="Aptos"/>
              </a:rPr>
              <a:t>ρ(</a:t>
            </a:r>
            <a:r>
              <a:rPr sz="2500" b="1" i="0">
                <a:solidFill>
                  <a:srgbClr val="1A7F72"/>
                </a:solidFill>
                <a:latin typeface="Aptos"/>
              </a:rPr>
              <a:t>X</a:t>
            </a:r>
            <a:r>
              <a:rPr sz="2500" b="0" i="0">
                <a:solidFill>
                  <a:srgbClr val="1A1D21"/>
                </a:solidFill>
                <a:latin typeface="Aptos"/>
              </a:rPr>
              <a:t>,</a:t>
            </a:r>
            <a:r>
              <a:rPr sz="2500" b="1" i="0">
                <a:solidFill>
                  <a:srgbClr val="3D6B99"/>
                </a:solidFill>
                <a:latin typeface="Aptos"/>
              </a:rPr>
              <a:t>Y</a:t>
            </a:r>
            <a:r>
              <a:rPr sz="2500" b="0" i="0">
                <a:solidFill>
                  <a:srgbClr val="1A1D21"/>
                </a:solidFill>
                <a:latin typeface="Aptos"/>
              </a:rPr>
              <a:t> | Z ∪ {</a:t>
            </a:r>
            <a:r>
              <a:rPr sz="2500" b="1" i="0">
                <a:solidFill>
                  <a:srgbClr val="B8860B"/>
                </a:solidFill>
                <a:latin typeface="Aptos"/>
              </a:rPr>
              <a:t>z</a:t>
            </a:r>
            <a:r>
              <a:rPr sz="2500" b="0" i="0">
                <a:solidFill>
                  <a:srgbClr val="1A1D21"/>
                </a:solidFill>
                <a:latin typeface="Aptos"/>
              </a:rPr>
              <a:t>})</a:t>
            </a:r>
            <a:r>
              <a:rPr sz="2500" b="0" i="0">
                <a:solidFill>
                  <a:srgbClr val="6B6E73"/>
                </a:solidFill>
                <a:latin typeface="Aptos"/>
              </a:rPr>
              <a:t>   =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44368"/>
            <a:ext cx="914323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A1D21"/>
                </a:solidFill>
                <a:latin typeface="Aptos"/>
              </a:rPr>
              <a:t>ρ(</a:t>
            </a:r>
            <a:r>
              <a:rPr sz="1900" b="1" i="0">
                <a:solidFill>
                  <a:srgbClr val="1A7F72"/>
                </a:solidFill>
                <a:latin typeface="Aptos"/>
              </a:rPr>
              <a:t>X</a:t>
            </a:r>
            <a:r>
              <a:rPr sz="1900" b="0" i="0">
                <a:solidFill>
                  <a:srgbClr val="1A1D21"/>
                </a:solidFill>
                <a:latin typeface="Aptos"/>
              </a:rPr>
              <a:t>,</a:t>
            </a:r>
            <a:r>
              <a:rPr sz="1900" b="1" i="0">
                <a:solidFill>
                  <a:srgbClr val="3D6B99"/>
                </a:solidFill>
                <a:latin typeface="Aptos"/>
              </a:rPr>
              <a:t>Y</a:t>
            </a:r>
            <a:r>
              <a:rPr sz="1900" b="0" i="0">
                <a:solidFill>
                  <a:srgbClr val="1A1D21"/>
                </a:solidFill>
                <a:latin typeface="Aptos"/>
              </a:rPr>
              <a:t>|Z)</a:t>
            </a:r>
            <a:r>
              <a:rPr sz="1900" b="0" i="0">
                <a:solidFill>
                  <a:srgbClr val="6B6E73"/>
                </a:solidFill>
                <a:latin typeface="Aptos"/>
              </a:rPr>
              <a:t>  −  </a:t>
            </a:r>
            <a:r>
              <a:rPr sz="1900" b="0" i="0">
                <a:solidFill>
                  <a:srgbClr val="1A1D21"/>
                </a:solidFill>
                <a:latin typeface="Aptos"/>
              </a:rPr>
              <a:t>ρ(</a:t>
            </a:r>
            <a:r>
              <a:rPr sz="1900" b="1" i="0">
                <a:solidFill>
                  <a:srgbClr val="1A7F72"/>
                </a:solidFill>
                <a:latin typeface="Aptos"/>
              </a:rPr>
              <a:t>X</a:t>
            </a:r>
            <a:r>
              <a:rPr sz="1900" b="0" i="0">
                <a:solidFill>
                  <a:srgbClr val="1A1D21"/>
                </a:solidFill>
                <a:latin typeface="Aptos"/>
              </a:rPr>
              <a:t>,</a:t>
            </a:r>
            <a:r>
              <a:rPr sz="1900" b="1" i="0">
                <a:solidFill>
                  <a:srgbClr val="B8860B"/>
                </a:solidFill>
                <a:latin typeface="Aptos"/>
              </a:rPr>
              <a:t>z</a:t>
            </a:r>
            <a:r>
              <a:rPr sz="1900" b="0" i="0">
                <a:solidFill>
                  <a:srgbClr val="1A1D21"/>
                </a:solidFill>
                <a:latin typeface="Aptos"/>
              </a:rPr>
              <a:t>|Z)</a:t>
            </a:r>
            <a:r>
              <a:rPr sz="1900" b="0" i="0">
                <a:solidFill>
                  <a:srgbClr val="6B6E73"/>
                </a:solidFill>
                <a:latin typeface="Aptos"/>
              </a:rPr>
              <a:t> · </a:t>
            </a:r>
            <a:r>
              <a:rPr sz="1900" b="0" i="0">
                <a:solidFill>
                  <a:srgbClr val="1A1D21"/>
                </a:solidFill>
                <a:latin typeface="Aptos"/>
              </a:rPr>
              <a:t>ρ(</a:t>
            </a:r>
            <a:r>
              <a:rPr sz="1900" b="1" i="0">
                <a:solidFill>
                  <a:srgbClr val="3D6B99"/>
                </a:solidFill>
                <a:latin typeface="Aptos"/>
              </a:rPr>
              <a:t>Y</a:t>
            </a:r>
            <a:r>
              <a:rPr sz="1900" b="0" i="0">
                <a:solidFill>
                  <a:srgbClr val="1A1D21"/>
                </a:solidFill>
                <a:latin typeface="Aptos"/>
              </a:rPr>
              <a:t>,</a:t>
            </a:r>
            <a:r>
              <a:rPr sz="1900" b="1" i="0">
                <a:solidFill>
                  <a:srgbClr val="B8860B"/>
                </a:solidFill>
                <a:latin typeface="Aptos"/>
              </a:rPr>
              <a:t>z</a:t>
            </a:r>
            <a:r>
              <a:rPr sz="1900" b="0" i="0">
                <a:solidFill>
                  <a:srgbClr val="1A1D21"/>
                </a:solidFill>
                <a:latin typeface="Aptos"/>
              </a:rPr>
              <a:t>|Z)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8" y="3419856"/>
            <a:ext cx="5422392" cy="0"/>
          </a:xfrm>
          <a:prstGeom prst="line">
            <a:avLst/>
          </a:prstGeom>
          <a:ln w="1270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8" y="3511296"/>
            <a:ext cx="914323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A1D21"/>
                </a:solidFill>
                <a:latin typeface="Aptos"/>
              </a:rPr>
              <a:t>√</a:t>
            </a:r>
            <a:r>
              <a:rPr sz="1900" b="0" i="0">
                <a:solidFill>
                  <a:srgbClr val="1A1D21"/>
                </a:solidFill>
                <a:latin typeface="Aptos"/>
              </a:rPr>
              <a:t> ( 1 − ρ(</a:t>
            </a:r>
            <a:r>
              <a:rPr sz="1900" b="1" i="0">
                <a:solidFill>
                  <a:srgbClr val="1A7F72"/>
                </a:solidFill>
                <a:latin typeface="Aptos"/>
              </a:rPr>
              <a:t>X</a:t>
            </a:r>
            <a:r>
              <a:rPr sz="1900" b="0" i="0">
                <a:solidFill>
                  <a:srgbClr val="1A1D21"/>
                </a:solidFill>
                <a:latin typeface="Aptos"/>
              </a:rPr>
              <a:t>,</a:t>
            </a:r>
            <a:r>
              <a:rPr sz="1900" b="1" i="0">
                <a:solidFill>
                  <a:srgbClr val="B8860B"/>
                </a:solidFill>
                <a:latin typeface="Aptos"/>
              </a:rPr>
              <a:t>z</a:t>
            </a:r>
            <a:r>
              <a:rPr sz="1900" b="0" i="0">
                <a:solidFill>
                  <a:srgbClr val="1A1D21"/>
                </a:solidFill>
                <a:latin typeface="Aptos"/>
              </a:rPr>
              <a:t>|Z)² ) ( 1 − ρ(</a:t>
            </a:r>
            <a:r>
              <a:rPr sz="1900" b="1" i="0">
                <a:solidFill>
                  <a:srgbClr val="3D6B99"/>
                </a:solidFill>
                <a:latin typeface="Aptos"/>
              </a:rPr>
              <a:t>Y</a:t>
            </a:r>
            <a:r>
              <a:rPr sz="1900" b="0" i="0">
                <a:solidFill>
                  <a:srgbClr val="1A1D21"/>
                </a:solidFill>
                <a:latin typeface="Aptos"/>
              </a:rPr>
              <a:t>,</a:t>
            </a:r>
            <a:r>
              <a:rPr sz="1900" b="1" i="0">
                <a:solidFill>
                  <a:srgbClr val="B8860B"/>
                </a:solidFill>
                <a:latin typeface="Aptos"/>
              </a:rPr>
              <a:t>z</a:t>
            </a:r>
            <a:r>
              <a:rPr sz="1900" b="0" i="0">
                <a:solidFill>
                  <a:srgbClr val="1A1D21"/>
                </a:solidFill>
                <a:latin typeface="Aptos"/>
              </a:rPr>
              <a:t>|Z)²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15968"/>
            <a:ext cx="821336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7F72"/>
                </a:solidFill>
                <a:latin typeface="Aptos"/>
              </a:rPr>
              <a:t>X</a:t>
            </a:r>
            <a:r>
              <a:rPr sz="1700" b="0" i="0">
                <a:solidFill>
                  <a:srgbClr val="1A1D21"/>
                </a:solidFill>
                <a:latin typeface="Aptos"/>
              </a:rPr>
              <a:t> ⫫ </a:t>
            </a:r>
            <a:r>
              <a:rPr sz="1700" b="1" i="0">
                <a:solidFill>
                  <a:srgbClr val="3D6B99"/>
                </a:solidFill>
                <a:latin typeface="Aptos"/>
              </a:rPr>
              <a:t>Y</a:t>
            </a:r>
            <a:r>
              <a:rPr sz="1700" b="0" i="0">
                <a:solidFill>
                  <a:srgbClr val="1A1D21"/>
                </a:solidFill>
                <a:latin typeface="Aptos"/>
              </a:rPr>
              <a:t> | Z</a:t>
            </a:r>
            <a:r>
              <a:rPr sz="1700" b="0" i="0">
                <a:solidFill>
                  <a:srgbClr val="6B6E73"/>
                </a:solidFill>
                <a:latin typeface="Aptos"/>
              </a:rPr>
              <a:t>     ⟺     </a:t>
            </a:r>
            <a:r>
              <a:rPr sz="1700" b="0" i="0">
                <a:solidFill>
                  <a:srgbClr val="1A1D21"/>
                </a:solidFill>
                <a:latin typeface="Aptos"/>
              </a:rPr>
              <a:t>ρ(</a:t>
            </a:r>
            <a:r>
              <a:rPr sz="1700" b="1" i="0">
                <a:solidFill>
                  <a:srgbClr val="1A7F72"/>
                </a:solidFill>
                <a:latin typeface="Aptos"/>
              </a:rPr>
              <a:t>X</a:t>
            </a:r>
            <a:r>
              <a:rPr sz="1700" b="0" i="0">
                <a:solidFill>
                  <a:srgbClr val="1A1D21"/>
                </a:solidFill>
                <a:latin typeface="Aptos"/>
              </a:rPr>
              <a:t>,</a:t>
            </a:r>
            <a:r>
              <a:rPr sz="1700" b="1" i="0">
                <a:solidFill>
                  <a:srgbClr val="3D6B99"/>
                </a:solidFill>
                <a:latin typeface="Aptos"/>
              </a:rPr>
              <a:t>Y</a:t>
            </a:r>
            <a:r>
              <a:rPr sz="1700" b="0" i="0">
                <a:solidFill>
                  <a:srgbClr val="1A1D21"/>
                </a:solidFill>
                <a:latin typeface="Aptos"/>
              </a:rPr>
              <a:t>|Z)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82896"/>
            <a:ext cx="7283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The definition is recursive: each step peels one variable off the conditioning set, reducing a hard quantity to three easier ones of the same kind. Ordinary correlation is the base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04288"/>
            <a:ext cx="26341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ONE PEEL STEP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01860" y="3111710"/>
            <a:ext cx="286615" cy="298080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805364" y="3111710"/>
            <a:ext cx="286615" cy="298080"/>
          </a:xfrm>
          <a:prstGeom prst="line">
            <a:avLst/>
          </a:prstGeom>
          <a:ln w="19050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842247" y="2745760"/>
            <a:ext cx="402336" cy="40233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X</a:t>
            </a:r>
          </a:p>
        </p:txBody>
      </p:sp>
      <p:sp>
        <p:nvSpPr>
          <p:cNvPr id="17" name="Oval 16"/>
          <p:cNvSpPr/>
          <p:nvPr/>
        </p:nvSpPr>
        <p:spPr>
          <a:xfrm>
            <a:off x="10049255" y="2745760"/>
            <a:ext cx="402336" cy="40233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Y</a:t>
            </a:r>
          </a:p>
        </p:txBody>
      </p:sp>
      <p:sp>
        <p:nvSpPr>
          <p:cNvPr id="18" name="Oval 17"/>
          <p:cNvSpPr/>
          <p:nvPr/>
        </p:nvSpPr>
        <p:spPr>
          <a:xfrm>
            <a:off x="9445751" y="3373404"/>
            <a:ext cx="402336" cy="402336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931920"/>
            <a:ext cx="26341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the tinted symbols above are these three nodes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6567" y="4434840"/>
            <a:ext cx="128016" cy="128016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438912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first variable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16567" y="4745736"/>
            <a:ext cx="128016" cy="128016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470001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second variable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6567" y="5056632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501091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conditioned 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The PC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The decision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Every edge in the graph is the outcome of a hypothesis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87168"/>
            <a:ext cx="44938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1A1D21"/>
                </a:solidFill>
                <a:latin typeface="Aptos"/>
              </a:rPr>
              <a:t>z</a:t>
            </a:r>
            <a:r>
              <a:rPr sz="1700" b="0" i="0">
                <a:solidFill>
                  <a:srgbClr val="1A1D21"/>
                </a:solidFill>
                <a:latin typeface="Aptos"/>
              </a:rPr>
              <a:t>  =  ½ </a:t>
            </a:r>
            <a:r>
              <a:rPr sz="2000" b="0" i="0">
                <a:solidFill>
                  <a:srgbClr val="1A1D21"/>
                </a:solidFill>
                <a:latin typeface="Aptos"/>
              </a:rPr>
              <a:t>√</a:t>
            </a:r>
            <a:r>
              <a:rPr sz="1700" b="0" i="0">
                <a:solidFill>
                  <a:srgbClr val="1A1D21"/>
                </a:solidFill>
                <a:latin typeface="Aptos"/>
              </a:rPr>
              <a:t> ( n − |Z| − 3 )  ·  ln</a:t>
            </a:r>
            <a:r>
              <a:rPr sz="1300" b="0" i="0">
                <a:solidFill>
                  <a:srgbClr val="1A1D21"/>
                </a:solidFill>
                <a:latin typeface="Aptos"/>
              </a:rPr>
              <a:t>  1 + ρ̂ </a:t>
            </a:r>
            <a:r>
              <a:rPr sz="1600" b="0" i="0">
                <a:solidFill>
                  <a:srgbClr val="6B6E73"/>
                </a:solidFill>
                <a:latin typeface="Aptos"/>
              </a:rPr>
              <a:t>⁄</a:t>
            </a:r>
            <a:r>
              <a:rPr sz="1300" b="0" i="0">
                <a:solidFill>
                  <a:srgbClr val="1A1D21"/>
                </a:solidFill>
                <a:latin typeface="Aptos"/>
              </a:rPr>
              <a:t> 1 − ρ̂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72384"/>
            <a:ext cx="4493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1A1D21"/>
                </a:solidFill>
                <a:latin typeface="Aptos"/>
              </a:rPr>
              <a:t>p</a:t>
            </a:r>
            <a:r>
              <a:rPr sz="1700" b="0" i="0">
                <a:solidFill>
                  <a:srgbClr val="1A1D21"/>
                </a:solidFill>
                <a:latin typeface="Aptos"/>
              </a:rPr>
              <a:t>  =  2 ( 1 − Φ( |</a:t>
            </a:r>
            <a:r>
              <a:rPr sz="1700" b="1" i="1">
                <a:solidFill>
                  <a:srgbClr val="1A1D21"/>
                </a:solidFill>
                <a:latin typeface="Aptos"/>
              </a:rPr>
              <a:t>z</a:t>
            </a:r>
            <a:r>
              <a:rPr sz="1700" b="0" i="0">
                <a:solidFill>
                  <a:srgbClr val="1A1D21"/>
                </a:solidFill>
                <a:latin typeface="Aptos"/>
              </a:rPr>
              <a:t>| )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39312"/>
            <a:ext cx="4493895" cy="658368"/>
          </a:xfrm>
          <a:prstGeom prst="roundRect">
            <a:avLst>
              <a:gd name="adj" fmla="val 6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4128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Aptos"/>
              </a:rPr>
              <a:t>Remove the edge when  </a:t>
            </a:r>
            <a:r>
              <a:rPr sz="1500" b="1" i="0">
                <a:solidFill>
                  <a:srgbClr val="1A7F72"/>
                </a:solidFill>
                <a:latin typeface="Aptos"/>
              </a:rPr>
              <a:t>p ≥ α</a:t>
            </a:r>
            <a:r>
              <a:rPr sz="1350" b="0" i="0">
                <a:solidFill>
                  <a:srgbClr val="6B6E73"/>
                </a:solidFill>
                <a:latin typeface="Aptos"/>
              </a:rPr>
              <a:t>      with α = 0.01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626864"/>
            <a:ext cx="32918" cy="8412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26864"/>
            <a:ext cx="431101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B8860B"/>
                </a:solidFill>
                <a:latin typeface="Consolas"/>
              </a:rPr>
              <a:t>n − |Z| − 3</a:t>
            </a:r>
            <a:r>
              <a:rPr sz="1150" b="0" i="0">
                <a:solidFill>
                  <a:srgbClr val="1A1D21"/>
                </a:solidFill>
                <a:latin typeface="Aptos"/>
              </a:rPr>
              <a:t> assumes n independent observations.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We return to this on slide 17 — it is the one assumption these data genuinely stretch.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0" y="4626864"/>
            <a:ext cx="4617720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2523744"/>
            <a:ext cx="0" cy="210312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6675120" y="2523744"/>
            <a:ext cx="4617720" cy="2090551"/>
          </a:xfrm>
          <a:custGeom>
            <a:avLst/>
            <a:gdLst/>
            <a:ahLst/>
            <a:cxnLst/>
            <a:rect l="l" t="t" r="r" b="b"/>
            <a:pathLst>
              <a:path w="4617720" h="2090551">
                <a:moveTo>
                  <a:pt x="0" y="2090551"/>
                </a:moveTo>
                <a:lnTo>
                  <a:pt x="76962" y="2085538"/>
                </a:lnTo>
                <a:lnTo>
                  <a:pt x="153924" y="2078805"/>
                </a:lnTo>
                <a:lnTo>
                  <a:pt x="230886" y="2069872"/>
                </a:lnTo>
                <a:lnTo>
                  <a:pt x="307848" y="2058172"/>
                </a:lnTo>
                <a:lnTo>
                  <a:pt x="384810" y="2043043"/>
                </a:lnTo>
                <a:lnTo>
                  <a:pt x="461772" y="2023729"/>
                </a:lnTo>
                <a:lnTo>
                  <a:pt x="538734" y="1999393"/>
                </a:lnTo>
                <a:lnTo>
                  <a:pt x="615695" y="1969131"/>
                </a:lnTo>
                <a:lnTo>
                  <a:pt x="692657" y="1931997"/>
                </a:lnTo>
                <a:lnTo>
                  <a:pt x="769619" y="1887045"/>
                </a:lnTo>
                <a:lnTo>
                  <a:pt x="846582" y="1833371"/>
                </a:lnTo>
                <a:lnTo>
                  <a:pt x="923544" y="1770175"/>
                </a:lnTo>
                <a:lnTo>
                  <a:pt x="1000506" y="1696821"/>
                </a:lnTo>
                <a:lnTo>
                  <a:pt x="1077468" y="1612915"/>
                </a:lnTo>
                <a:lnTo>
                  <a:pt x="1154430" y="1518374"/>
                </a:lnTo>
                <a:lnTo>
                  <a:pt x="1231392" y="1413490"/>
                </a:lnTo>
                <a:lnTo>
                  <a:pt x="1308354" y="1298994"/>
                </a:lnTo>
                <a:lnTo>
                  <a:pt x="1385316" y="1176098"/>
                </a:lnTo>
                <a:lnTo>
                  <a:pt x="1462277" y="1046509"/>
                </a:lnTo>
                <a:lnTo>
                  <a:pt x="1539239" y="912429"/>
                </a:lnTo>
                <a:lnTo>
                  <a:pt x="1616201" y="776516"/>
                </a:lnTo>
                <a:lnTo>
                  <a:pt x="1693164" y="641810"/>
                </a:lnTo>
                <a:lnTo>
                  <a:pt x="1770126" y="511636"/>
                </a:lnTo>
                <a:lnTo>
                  <a:pt x="1847088" y="389476"/>
                </a:lnTo>
                <a:lnTo>
                  <a:pt x="1924050" y="278813"/>
                </a:lnTo>
                <a:lnTo>
                  <a:pt x="2001012" y="182976"/>
                </a:lnTo>
                <a:lnTo>
                  <a:pt x="2077974" y="104969"/>
                </a:lnTo>
                <a:lnTo>
                  <a:pt x="2154936" y="47317"/>
                </a:lnTo>
                <a:lnTo>
                  <a:pt x="2231898" y="11930"/>
                </a:lnTo>
                <a:lnTo>
                  <a:pt x="2308860" y="0"/>
                </a:lnTo>
                <a:lnTo>
                  <a:pt x="2385822" y="11930"/>
                </a:lnTo>
                <a:lnTo>
                  <a:pt x="2462783" y="47317"/>
                </a:lnTo>
                <a:lnTo>
                  <a:pt x="2539746" y="104969"/>
                </a:lnTo>
                <a:lnTo>
                  <a:pt x="2616707" y="182976"/>
                </a:lnTo>
                <a:lnTo>
                  <a:pt x="2693670" y="278813"/>
                </a:lnTo>
                <a:lnTo>
                  <a:pt x="2770632" y="389476"/>
                </a:lnTo>
                <a:lnTo>
                  <a:pt x="2847594" y="511636"/>
                </a:lnTo>
                <a:lnTo>
                  <a:pt x="2924556" y="641810"/>
                </a:lnTo>
                <a:lnTo>
                  <a:pt x="3001518" y="776516"/>
                </a:lnTo>
                <a:lnTo>
                  <a:pt x="3078480" y="912429"/>
                </a:lnTo>
                <a:lnTo>
                  <a:pt x="3155442" y="1046509"/>
                </a:lnTo>
                <a:lnTo>
                  <a:pt x="3232404" y="1176098"/>
                </a:lnTo>
                <a:lnTo>
                  <a:pt x="3309365" y="1298994"/>
                </a:lnTo>
                <a:lnTo>
                  <a:pt x="3386328" y="1413490"/>
                </a:lnTo>
                <a:lnTo>
                  <a:pt x="3463290" y="1518374"/>
                </a:lnTo>
                <a:lnTo>
                  <a:pt x="3540252" y="1612915"/>
                </a:lnTo>
                <a:lnTo>
                  <a:pt x="3617214" y="1696821"/>
                </a:lnTo>
                <a:lnTo>
                  <a:pt x="3694176" y="1770175"/>
                </a:lnTo>
                <a:lnTo>
                  <a:pt x="3771138" y="1833371"/>
                </a:lnTo>
                <a:lnTo>
                  <a:pt x="3848100" y="1887045"/>
                </a:lnTo>
                <a:lnTo>
                  <a:pt x="3925062" y="1931997"/>
                </a:lnTo>
                <a:lnTo>
                  <a:pt x="4002024" y="1969131"/>
                </a:lnTo>
                <a:lnTo>
                  <a:pt x="4078986" y="1999393"/>
                </a:lnTo>
                <a:lnTo>
                  <a:pt x="4155947" y="2023729"/>
                </a:lnTo>
                <a:lnTo>
                  <a:pt x="4232910" y="2043043"/>
                </a:lnTo>
                <a:lnTo>
                  <a:pt x="4309872" y="2058172"/>
                </a:lnTo>
                <a:lnTo>
                  <a:pt x="4386834" y="2069872"/>
                </a:lnTo>
                <a:lnTo>
                  <a:pt x="4463795" y="2078805"/>
                </a:lnTo>
                <a:lnTo>
                  <a:pt x="4540758" y="2085538"/>
                </a:lnTo>
                <a:lnTo>
                  <a:pt x="4617720" y="2090551"/>
                </a:lnTo>
              </a:path>
            </a:pathLst>
          </a:custGeom>
          <a:noFill/>
          <a:ln w="19050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675120" y="4566787"/>
            <a:ext cx="384810" cy="60077"/>
          </a:xfrm>
          <a:custGeom>
            <a:avLst/>
            <a:gdLst/>
            <a:ahLst/>
            <a:cxnLst/>
            <a:rect l="l" t="t" r="r" b="b"/>
            <a:pathLst>
              <a:path w="384810" h="60077">
                <a:moveTo>
                  <a:pt x="0" y="47508"/>
                </a:moveTo>
                <a:lnTo>
                  <a:pt x="76962" y="42495"/>
                </a:lnTo>
                <a:lnTo>
                  <a:pt x="153924" y="35762"/>
                </a:lnTo>
                <a:lnTo>
                  <a:pt x="230886" y="26829"/>
                </a:lnTo>
                <a:lnTo>
                  <a:pt x="307848" y="15129"/>
                </a:lnTo>
                <a:lnTo>
                  <a:pt x="384810" y="0"/>
                </a:lnTo>
                <a:lnTo>
                  <a:pt x="384810" y="60077"/>
                </a:lnTo>
                <a:lnTo>
                  <a:pt x="0" y="60077"/>
                </a:lnTo>
                <a:close/>
              </a:path>
            </a:pathLst>
          </a:custGeom>
          <a:solidFill>
            <a:srgbClr val="F5EACE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059930" y="2615184"/>
            <a:ext cx="0" cy="2011680"/>
          </a:xfrm>
          <a:prstGeom prst="line">
            <a:avLst/>
          </a:prstGeom>
          <a:ln w="9525">
            <a:solidFill>
              <a:srgbClr val="B8860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10908030" y="4566787"/>
            <a:ext cx="384810" cy="60077"/>
          </a:xfrm>
          <a:custGeom>
            <a:avLst/>
            <a:gdLst/>
            <a:ahLst/>
            <a:cxnLst/>
            <a:rect l="l" t="t" r="r" b="b"/>
            <a:pathLst>
              <a:path w="384810" h="60077">
                <a:moveTo>
                  <a:pt x="0" y="0"/>
                </a:moveTo>
                <a:lnTo>
                  <a:pt x="76962" y="15129"/>
                </a:lnTo>
                <a:lnTo>
                  <a:pt x="153924" y="26829"/>
                </a:lnTo>
                <a:lnTo>
                  <a:pt x="230885" y="35762"/>
                </a:lnTo>
                <a:lnTo>
                  <a:pt x="307848" y="42495"/>
                </a:lnTo>
                <a:lnTo>
                  <a:pt x="384810" y="47508"/>
                </a:lnTo>
                <a:lnTo>
                  <a:pt x="384810" y="60077"/>
                </a:lnTo>
                <a:lnTo>
                  <a:pt x="0" y="60077"/>
                </a:lnTo>
                <a:close/>
              </a:path>
            </a:pathLst>
          </a:custGeom>
          <a:solidFill>
            <a:srgbClr val="F5EACE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908030" y="2615184"/>
            <a:ext cx="0" cy="2011680"/>
          </a:xfrm>
          <a:prstGeom prst="line">
            <a:avLst/>
          </a:prstGeom>
          <a:ln w="9525">
            <a:solidFill>
              <a:srgbClr val="B8860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61019" y="473659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z = 0   (edge is independent)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834639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B8860B"/>
                </a:solidFill>
                <a:latin typeface="Aptos"/>
              </a:rPr>
              <a:t>α ⁄ 2 in each tail
reject independence, keep the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4748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 small p-value means the correlation is too large to be an accident, so the two variables stay connected.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The PC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Four rules decide every arrow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Each one is forced: the alternative would invent a collider already ruled out, or close a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49424"/>
            <a:ext cx="5364327" cy="1700784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14016"/>
            <a:ext cx="49619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1 </a:t>
            </a:r>
            <a:r>
              <a:rPr sz="1350" b="1" i="0">
                <a:solidFill>
                  <a:srgbClr val="1A1D21"/>
                </a:solidFill>
                <a:latin typeface="Aptos"/>
              </a:rPr>
              <a:t>Collider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06624"/>
            <a:ext cx="300402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 — b — c with a, c non-adjacent, and b not in the set that separated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74720"/>
            <a:ext cx="4961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b is a common effect, so both arrows point into 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09017" y="2886408"/>
            <a:ext cx="261197" cy="170783"/>
          </a:xfrm>
          <a:prstGeom prst="line">
            <a:avLst/>
          </a:prstGeom>
          <a:ln w="22225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584505" y="2886408"/>
            <a:ext cx="261197" cy="170783"/>
          </a:xfrm>
          <a:prstGeom prst="line">
            <a:avLst/>
          </a:prstGeom>
          <a:ln w="22225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73855" y="2688336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4349343" y="2999232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15" name="Oval 14"/>
          <p:cNvSpPr/>
          <p:nvPr/>
        </p:nvSpPr>
        <p:spPr>
          <a:xfrm>
            <a:off x="4824831" y="2688336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2249424"/>
            <a:ext cx="5364327" cy="1700784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4175" y="2414016"/>
            <a:ext cx="49619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2 </a:t>
            </a:r>
            <a:r>
              <a:rPr sz="1350" b="1" i="0">
                <a:solidFill>
                  <a:srgbClr val="1A1D21"/>
                </a:solidFill>
                <a:latin typeface="Aptos"/>
              </a:rPr>
              <a:t>No new collider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5" y="2706624"/>
            <a:ext cx="300402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 → b — c with a, c non-adjacent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4175" y="3474720"/>
            <a:ext cx="4961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pointing c → b would create a collider we already ruled out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47664" y="2886408"/>
            <a:ext cx="261197" cy="170783"/>
          </a:xfrm>
          <a:prstGeom prst="line">
            <a:avLst/>
          </a:prstGeom>
          <a:ln w="15875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23152" y="2886408"/>
            <a:ext cx="261197" cy="170783"/>
          </a:xfrm>
          <a:prstGeom prst="line">
            <a:avLst/>
          </a:prstGeom>
          <a:ln w="22225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512503" y="2688336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9987991" y="2999232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10463479" y="2688336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187952"/>
            <a:ext cx="5364327" cy="1700784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352544"/>
            <a:ext cx="49619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3 </a:t>
            </a:r>
            <a:r>
              <a:rPr sz="1350" b="1" i="0">
                <a:solidFill>
                  <a:srgbClr val="1A1D21"/>
                </a:solidFill>
                <a:latin typeface="Aptos"/>
              </a:rPr>
              <a:t>No 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645152"/>
            <a:ext cx="300402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 → c → b with a —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5413248"/>
            <a:ext cx="4961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pointing b → a would close a directed cycle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4109017" y="4824936"/>
            <a:ext cx="261197" cy="170783"/>
          </a:xfrm>
          <a:prstGeom prst="line">
            <a:avLst/>
          </a:prstGeom>
          <a:ln w="15875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84505" y="4824936"/>
            <a:ext cx="261197" cy="170783"/>
          </a:xfrm>
          <a:prstGeom prst="line">
            <a:avLst/>
          </a:prstGeom>
          <a:ln w="15875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129887" y="5065776"/>
            <a:ext cx="694944" cy="0"/>
          </a:xfrm>
          <a:prstGeom prst="line">
            <a:avLst/>
          </a:prstGeom>
          <a:ln w="22225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73855" y="4937760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33" name="Oval 32"/>
          <p:cNvSpPr/>
          <p:nvPr/>
        </p:nvSpPr>
        <p:spPr>
          <a:xfrm>
            <a:off x="4349343" y="4626864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34" name="Oval 33"/>
          <p:cNvSpPr/>
          <p:nvPr/>
        </p:nvSpPr>
        <p:spPr>
          <a:xfrm>
            <a:off x="4824831" y="4937760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3007" y="4187952"/>
            <a:ext cx="5364327" cy="1700784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4175" y="4352544"/>
            <a:ext cx="49619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4 </a:t>
            </a:r>
            <a:r>
              <a:rPr sz="1350" b="1" i="0">
                <a:solidFill>
                  <a:srgbClr val="1A1D21"/>
                </a:solidFill>
                <a:latin typeface="Aptos"/>
              </a:rPr>
              <a:t>Two parents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4175" y="4645152"/>
            <a:ext cx="300402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 — b, a — c, a — d with c → b, d → b, and c, d non-adjacent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4175" y="5413248"/>
            <a:ext cx="4961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every remaining option for a — b creates a collider or a cycle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223234" y="4550491"/>
            <a:ext cx="206169" cy="134457"/>
          </a:xfrm>
          <a:prstGeom prst="line">
            <a:avLst/>
          </a:prstGeom>
          <a:ln w="15875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212608" y="4838881"/>
            <a:ext cx="227421" cy="197757"/>
          </a:xfrm>
          <a:prstGeom prst="line">
            <a:avLst/>
          </a:prstGeom>
          <a:ln w="15875">
            <a:solidFill>
              <a:srgbClr val="1A1D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23399" y="4754880"/>
            <a:ext cx="585216" cy="0"/>
          </a:xfrm>
          <a:prstGeom prst="line">
            <a:avLst/>
          </a:prstGeom>
          <a:ln w="22225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67367" y="4626864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10408615" y="4626864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44" name="Oval 43"/>
          <p:cNvSpPr/>
          <p:nvPr/>
        </p:nvSpPr>
        <p:spPr>
          <a:xfrm>
            <a:off x="9987991" y="4352544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45" name="Oval 44"/>
          <p:cNvSpPr/>
          <p:nvPr/>
        </p:nvSpPr>
        <p:spPr>
          <a:xfrm>
            <a:off x="9987991" y="4992624"/>
            <a:ext cx="256032" cy="256032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1A1D21"/>
                </a:solidFill>
                <a:latin typeface="Aptos"/>
              </a:rPr>
              <a:t>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961888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What remains undirected afterwards is genuinely undetermined by the data — not an omission.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The Tennessee Eastman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A benchmark simulation of a real chemical plant — so a causal structure genuinely exists to be found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87168"/>
            <a:ext cx="1207008" cy="749808"/>
          </a:xfrm>
          <a:prstGeom prst="roundRect">
            <a:avLst>
              <a:gd name="adj" fmla="val 8000"/>
            </a:avLst>
          </a:prstGeom>
          <a:solidFill>
            <a:srgbClr val="EEECE6"/>
          </a:solidFill>
          <a:ln w="12700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Feed streams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30552" y="2862072"/>
            <a:ext cx="310896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96312" y="2487168"/>
            <a:ext cx="1572768" cy="749808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Reactor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23944" y="2862072"/>
            <a:ext cx="310896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9704" y="2487168"/>
            <a:ext cx="1572768" cy="749808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Condenser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17336" y="2862072"/>
            <a:ext cx="310896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83096" y="2487168"/>
            <a:ext cx="1572768" cy="749808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Separator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10727" y="2862072"/>
            <a:ext cx="310897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76488" y="2487168"/>
            <a:ext cx="1572768" cy="749808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Stripper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04119" y="2862072"/>
            <a:ext cx="310896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69880" y="2487168"/>
            <a:ext cx="1097280" cy="749808"/>
          </a:xfrm>
          <a:prstGeom prst="roundRect">
            <a:avLst>
              <a:gd name="adj" fmla="val 8000"/>
            </a:avLst>
          </a:prstGeom>
          <a:solidFill>
            <a:srgbClr val="D5E8E4"/>
          </a:solidFill>
          <a:ln w="1270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2743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7F72"/>
                </a:solidFill>
                <a:latin typeface="Aptos"/>
              </a:rPr>
              <a:t>Product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69480" y="3236976"/>
            <a:ext cx="0" cy="475488"/>
          </a:xfrm>
          <a:prstGeom prst="line">
            <a:avLst/>
          </a:prstGeom>
          <a:ln w="15875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282696" y="3712464"/>
            <a:ext cx="3986784" cy="0"/>
          </a:xfrm>
          <a:prstGeom prst="line">
            <a:avLst/>
          </a:prstGeom>
          <a:ln w="15875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282696" y="3291840"/>
            <a:ext cx="0" cy="420624"/>
          </a:xfrm>
          <a:prstGeom prst="line">
            <a:avLst/>
          </a:prstGeom>
          <a:ln w="15875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29000" y="376732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D6B99"/>
                </a:solidFill>
                <a:latin typeface="Aptos"/>
              </a:rPr>
              <a:t>Recycle (compressor)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4206240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4389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D21"/>
                </a:solidFill>
                <a:latin typeface="Aptos"/>
              </a:rPr>
              <a:t>1,499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64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E73"/>
                </a:solidFill>
                <a:latin typeface="Aptos"/>
              </a:rPr>
              <a:t>time-ordered samples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389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D21"/>
                </a:solidFill>
                <a:latin typeface="Aptos"/>
              </a:rPr>
              <a:t>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864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E73"/>
                </a:solidFill>
                <a:latin typeface="Aptos"/>
              </a:rPr>
              <a:t>process variables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4389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D21"/>
                </a:solidFill>
                <a:latin typeface="Aptos"/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79" y="4864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E73"/>
                </a:solidFill>
                <a:latin typeface="Aptos"/>
              </a:rPr>
              <a:t>reference relationships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352544"/>
            <a:ext cx="29260" cy="1207008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4" y="4352544"/>
            <a:ext cx="2764231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The Tennessee Eastman simulation is the standard benchmark for process monitoring: a real plant topology with published reference relationships. The variable-to-sensor mapping is not part of the data we hold, so the recovered graph is assessed structurally rather than interpreted per sensor.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Preparing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Three decisions, each following from the mathematics rather than from convention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AS PROVIDED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2331720" cy="1700784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743200"/>
            <a:ext cx="18928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D21"/>
                </a:solidFill>
                <a:latin typeface="Aptos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035808"/>
            <a:ext cx="1892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255264"/>
            <a:ext cx="18928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D21"/>
                </a:solidFill>
                <a:latin typeface="Aptos"/>
              </a:rPr>
              <a:t>1,499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547872"/>
            <a:ext cx="1892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767328"/>
            <a:ext cx="18928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D21"/>
                </a:solidFill>
                <a:latin typeface="Aptos"/>
              </a:rPr>
              <a:t>mixed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059935"/>
            <a:ext cx="1892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scales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5615" y="2286000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1A7F72"/>
                </a:solidFill>
                <a:latin typeface="Aptos"/>
              </a:rPr>
              <a:t>AS ANALYSED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5615" y="2560320"/>
            <a:ext cx="2331720" cy="1700784"/>
          </a:xfrm>
          <a:prstGeom prst="roundRect">
            <a:avLst>
              <a:gd name="adj" fmla="val 5000"/>
            </a:avLst>
          </a:prstGeom>
          <a:solidFill>
            <a:srgbClr val="D5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85071" y="2743200"/>
            <a:ext cx="18928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7F72"/>
                </a:solidFill>
                <a:latin typeface="Aptos"/>
              </a:rPr>
              <a:t>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5071" y="3035808"/>
            <a:ext cx="1892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process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5071" y="3255264"/>
            <a:ext cx="18928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7F72"/>
                </a:solidFill>
                <a:latin typeface="Aptos"/>
              </a:rPr>
              <a:t>1,499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5071" y="3547872"/>
            <a:ext cx="1892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5071" y="3767328"/>
            <a:ext cx="18928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7F72"/>
                </a:solidFill>
                <a:latin typeface="Aptos"/>
              </a:rPr>
              <a:t>unchanged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5071" y="4059935"/>
            <a:ext cx="1892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scales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304288"/>
            <a:ext cx="53336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→  </a:t>
            </a:r>
            <a:r>
              <a:rPr sz="1350" b="1" i="0">
                <a:solidFill>
                  <a:srgbClr val="1A1D21"/>
                </a:solidFill>
                <a:latin typeface="Aptos"/>
              </a:rPr>
              <a:t>31 process variables retained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2542032"/>
            <a:ext cx="50959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the file's row-counter column is an index, not a process measurement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962656"/>
            <a:ext cx="53336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→  </a:t>
            </a:r>
            <a:r>
              <a:rPr sz="1350" b="1" i="0">
                <a:solidFill>
                  <a:srgbClr val="1A1D21"/>
                </a:solidFill>
                <a:latin typeface="Aptos"/>
              </a:rPr>
              <a:t>Nothing imputed or discarded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6744" y="3200400"/>
            <a:ext cx="50959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no missing values and no constant variables in the 1,499 samples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621024"/>
            <a:ext cx="53336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→  </a:t>
            </a:r>
            <a:r>
              <a:rPr sz="1350" b="1" i="0">
                <a:solidFill>
                  <a:srgbClr val="1A1D21"/>
                </a:solidFill>
                <a:latin typeface="Aptos"/>
              </a:rPr>
              <a:t>No rescaling applied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3858768"/>
            <a:ext cx="50959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variable scales span a factor of 2,525, and partial correlation is scale-invariant — a property of the statistic, not an oversight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35808" y="3401568"/>
            <a:ext cx="283464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72423" y="3401568"/>
            <a:ext cx="283464" cy="0"/>
          </a:xfrm>
          <a:prstGeom prst="line">
            <a:avLst/>
          </a:prstGeom>
          <a:ln w="952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4360" y="4846320"/>
            <a:ext cx="11002975" cy="786384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5010912"/>
            <a:ext cx="105640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The reference graph covers 33 variables; two of them are absent from the data, so 28 of its 32 relationships are recoverable. Recall is scored against 28, not 32.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Two parameters, both chosen for a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One barely matters; the other turns out not to be a compromise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4493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Significance level  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82112"/>
            <a:ext cx="6353632" cy="0"/>
          </a:xfrm>
          <a:prstGeom prst="line">
            <a:avLst/>
          </a:prstGeom>
          <a:ln w="254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3099816"/>
            <a:ext cx="0" cy="164592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0312" y="3328416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0.05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82768" y="3099816"/>
            <a:ext cx="0" cy="164592"/>
          </a:xfrm>
          <a:prstGeom prst="line">
            <a:avLst/>
          </a:prstGeom>
          <a:ln w="25400">
            <a:solidFill>
              <a:srgbClr val="1A7F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8720" y="3328416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7F72"/>
                </a:solidFill>
                <a:latin typeface="Consolas"/>
              </a:rPr>
              <a:t>0.01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71176" y="3099816"/>
            <a:ext cx="0" cy="164592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7128" y="3328416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10⁻³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59584" y="3099816"/>
            <a:ext cx="0" cy="164592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75536" y="3328416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10⁻⁵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7992" y="3099816"/>
            <a:ext cx="0" cy="164592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63944" y="3328416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10⁻¹⁰</a:t>
            </a:r>
          </a:p>
        </p:txBody>
      </p:sp>
      <p:sp>
        <p:nvSpPr>
          <p:cNvPr id="19" name="Oval 18"/>
          <p:cNvSpPr/>
          <p:nvPr/>
        </p:nvSpPr>
        <p:spPr>
          <a:xfrm>
            <a:off x="2082184" y="3081528"/>
            <a:ext cx="201168" cy="201168"/>
          </a:xfrm>
          <a:prstGeom prst="ellipse">
            <a:avLst/>
          </a:prstGeom>
          <a:solidFill>
            <a:srgbClr val="1A7F72"/>
          </a:solidFill>
          <a:ln w="1587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9808" y="2706624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A7F72"/>
                </a:solidFill>
                <a:latin typeface="Aptos"/>
              </a:rPr>
              <a:t>0.01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3308" y="2560320"/>
            <a:ext cx="3564026" cy="1060704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4476" y="2743200"/>
            <a:ext cx="316169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A stricter threshold demands stronger evidence before keeping an edge, giving a sparser graph.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42816"/>
            <a:ext cx="4493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Largest conditioning set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4956048"/>
            <a:ext cx="6353632" cy="0"/>
          </a:xfrm>
          <a:prstGeom prst="line">
            <a:avLst/>
          </a:prstGeom>
          <a:ln w="254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4360" y="4873752"/>
            <a:ext cx="0" cy="164592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312" y="5102352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82768" y="4873752"/>
            <a:ext cx="0" cy="164592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98720" y="5102352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1176" y="4873752"/>
            <a:ext cx="0" cy="164592"/>
          </a:xfrm>
          <a:prstGeom prst="line">
            <a:avLst/>
          </a:prstGeom>
          <a:ln w="25400">
            <a:solidFill>
              <a:srgbClr val="1A7F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387128" y="5102352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7F72"/>
                </a:solidFill>
                <a:latin typeface="Consolas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59584" y="4873752"/>
            <a:ext cx="0" cy="164592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75536" y="5102352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47992" y="4873752"/>
            <a:ext cx="0" cy="164592"/>
          </a:xfrm>
          <a:prstGeom prst="line">
            <a:avLst/>
          </a:prstGeom>
          <a:ln w="1270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63944" y="5102352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Consolas"/>
              </a:rPr>
              <a:t>29</a:t>
            </a:r>
          </a:p>
        </p:txBody>
      </p:sp>
      <p:sp>
        <p:nvSpPr>
          <p:cNvPr id="35" name="Oval 34"/>
          <p:cNvSpPr/>
          <p:nvPr/>
        </p:nvSpPr>
        <p:spPr>
          <a:xfrm>
            <a:off x="3670592" y="4855464"/>
            <a:ext cx="201168" cy="201168"/>
          </a:xfrm>
          <a:prstGeom prst="ellipse">
            <a:avLst/>
          </a:prstGeom>
          <a:solidFill>
            <a:srgbClr val="1A7F72"/>
          </a:solidFill>
          <a:ln w="1587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8216" y="4480560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A7F72"/>
                </a:solidFill>
                <a:latin typeface="Aptos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33308" y="4334256"/>
            <a:ext cx="3564026" cy="1060704"/>
          </a:xfrm>
          <a:prstGeom prst="roundRect">
            <a:avLst>
              <a:gd name="adj" fmla="val 5000"/>
            </a:avLst>
          </a:prstGeom>
          <a:solidFill>
            <a:srgbClr val="D5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4476" y="4517136"/>
            <a:ext cx="316169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Not a compromise here: the graph stops changing at 2, so searching deeper would cost time and find nothing.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Building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From every possible pair to 35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Each stage conditions on a larger set — and most pairs fall early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77440"/>
            <a:ext cx="6492240" cy="566928"/>
          </a:xfrm>
          <a:prstGeom prst="rect">
            <a:avLst/>
          </a:prstGeom>
          <a:solidFill>
            <a:srgbClr val="DAE4EF"/>
          </a:solidFill>
          <a:ln w="127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39572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D21"/>
                </a:solidFill>
                <a:latin typeface="Aptos"/>
              </a:rPr>
              <a:t>465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70662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All candidate pairs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255264"/>
            <a:ext cx="3029711" cy="566928"/>
          </a:xfrm>
          <a:prstGeom prst="rect">
            <a:avLst/>
          </a:prstGeom>
          <a:solidFill>
            <a:srgbClr val="DAE4EF"/>
          </a:solidFill>
          <a:ln w="127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6952" y="3273552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D21"/>
                </a:solidFill>
                <a:latin typeface="Aptos"/>
              </a:rPr>
              <a:t>217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6952" y="358444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Conditioning on nothing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3467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6E73"/>
                </a:solidFill>
                <a:latin typeface="Consolas"/>
              </a:rPr>
              <a:t>682 tests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2980944"/>
            <a:ext cx="0" cy="237744"/>
          </a:xfrm>
          <a:prstGeom prst="line">
            <a:avLst/>
          </a:prstGeom>
          <a:ln w="952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4360" y="4133087"/>
            <a:ext cx="753937" cy="566928"/>
          </a:xfrm>
          <a:prstGeom prst="rect">
            <a:avLst/>
          </a:prstGeom>
          <a:solidFill>
            <a:srgbClr val="DAE4EF"/>
          </a:solidFill>
          <a:ln w="127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1177" y="415137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D21"/>
                </a:solidFill>
                <a:latin typeface="Aptos"/>
              </a:rPr>
              <a:t>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1177" y="446227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Conditioning on one 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224527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6E73"/>
                </a:solidFill>
                <a:latin typeface="Consolas"/>
              </a:rPr>
              <a:t>2,728 tests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858768"/>
            <a:ext cx="0" cy="237743"/>
          </a:xfrm>
          <a:prstGeom prst="line">
            <a:avLst/>
          </a:prstGeom>
          <a:ln w="952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" y="5010912"/>
            <a:ext cx="488663" cy="566928"/>
          </a:xfrm>
          <a:prstGeom prst="rect">
            <a:avLst/>
          </a:prstGeom>
          <a:solidFill>
            <a:srgbClr val="1A7F72"/>
          </a:solidFill>
          <a:ln w="1270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5903" y="502920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7F72"/>
                </a:solidFill>
                <a:latin typeface="Aptos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5903" y="534009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Conditioning on two 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1023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6E73"/>
                </a:solidFill>
                <a:latin typeface="Consolas"/>
              </a:rPr>
              <a:t>656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4736592"/>
            <a:ext cx="0" cy="237744"/>
          </a:xfrm>
          <a:prstGeom prst="line">
            <a:avLst/>
          </a:prstGeom>
          <a:ln w="952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18320" y="2231136"/>
            <a:ext cx="1828800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418320" y="19751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120">
                <a:solidFill>
                  <a:srgbClr val="6B6E73"/>
                </a:solidFill>
                <a:latin typeface="Aptos"/>
              </a:rPr>
              <a:t>COST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20" y="5577840"/>
            <a:ext cx="1828800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18320" y="56509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A1D21"/>
                </a:solidFill>
                <a:latin typeface="Consolas"/>
              </a:rPr>
              <a:t>4,066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70448"/>
            <a:ext cx="82133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Three quarters of the surviving pairs are separated by a single conditioning variable — that is the algorithm's central bet paying off, and it is where most of the 4,066 tests are spent.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Building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How much direction the data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Of the 35 relationships found, the data fixes the direction of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615184"/>
            <a:ext cx="3840480" cy="713232"/>
          </a:xfrm>
          <a:prstGeom prst="rect">
            <a:avLst/>
          </a:prstGeom>
          <a:solidFill>
            <a:srgbClr val="1A7F72"/>
          </a:solidFill>
          <a:ln w="1270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9806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AFAF7"/>
                </a:solidFill>
                <a:latin typeface="Aptos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615184"/>
            <a:ext cx="576071" cy="713232"/>
          </a:xfrm>
          <a:prstGeom prst="rect">
            <a:avLst/>
          </a:prstGeom>
          <a:solidFill>
            <a:srgbClr val="DAE4EF"/>
          </a:solidFill>
          <a:ln w="127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798064"/>
            <a:ext cx="5760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D21"/>
                </a:solidFill>
                <a:latin typeface="Aptos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2615184"/>
            <a:ext cx="2304287" cy="713232"/>
          </a:xfrm>
          <a:prstGeom prst="rect">
            <a:avLst/>
          </a:prstGeom>
          <a:solidFill>
            <a:srgbClr val="F5EACE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2798064"/>
            <a:ext cx="2304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D21"/>
                </a:solidFill>
                <a:latin typeface="Aptos"/>
              </a:rPr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675887"/>
            <a:ext cx="155448" cy="155448"/>
          </a:xfrm>
          <a:prstGeom prst="rect">
            <a:avLst/>
          </a:prstGeom>
          <a:solidFill>
            <a:srgbClr val="1A7F72"/>
          </a:solidFill>
          <a:ln w="1270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21023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Directed 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621023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the data determines which way the influence 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242816"/>
            <a:ext cx="155448" cy="155448"/>
          </a:xfrm>
          <a:prstGeom prst="rect">
            <a:avLst/>
          </a:prstGeom>
          <a:solidFill>
            <a:srgbClr val="DAE4EF"/>
          </a:solidFill>
          <a:ln w="127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18795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Undirected 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18795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no collider touches the edge, so either direction fits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809744"/>
            <a:ext cx="155448" cy="155448"/>
          </a:xfrm>
          <a:prstGeom prst="rect">
            <a:avLst/>
          </a:prstGeom>
          <a:solidFill>
            <a:srgbClr val="F5EACE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75488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Unresolved 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75488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colliders point both ways, so no direction is claimed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2322576"/>
            <a:ext cx="29260" cy="2834640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322576"/>
            <a:ext cx="35640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B8860B"/>
                </a:solidFill>
                <a:latin typeface="Aptos"/>
              </a:rPr>
              <a:t>WHY 12 STAY UNRESOLVED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97562" y="3071781"/>
            <a:ext cx="419723" cy="312101"/>
          </a:xfrm>
          <a:prstGeom prst="line">
            <a:avLst/>
          </a:prstGeom>
          <a:ln w="22225">
            <a:solidFill>
              <a:srgbClr val="B886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610794" y="3071781"/>
            <a:ext cx="419723" cy="312101"/>
          </a:xfrm>
          <a:prstGeom prst="line">
            <a:avLst/>
          </a:prstGeom>
          <a:ln w="22225">
            <a:solidFill>
              <a:srgbClr val="B886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8897562" y="3071781"/>
            <a:ext cx="419723" cy="312101"/>
          </a:xfrm>
          <a:prstGeom prst="line">
            <a:avLst/>
          </a:prstGeom>
          <a:ln w="12700">
            <a:solidFill>
              <a:srgbClr val="B8860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567928" y="2779776"/>
            <a:ext cx="365760" cy="365760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9281160" y="3310127"/>
            <a:ext cx="365760" cy="365760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9994392" y="2779776"/>
            <a:ext cx="365760" cy="365760"/>
          </a:xfrm>
          <a:prstGeom prst="ellipse">
            <a:avLst/>
          </a:prstGeom>
          <a:solidFill>
            <a:srgbClr val="FAFAF7"/>
          </a:solidFill>
          <a:ln w="15875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A1D21"/>
                </a:solidFill>
                <a:latin typeface="Aptos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840480"/>
            <a:ext cx="356402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Two different triples can each imply an arrowhead, pointing in opposite directions on the same edge. Rather than pick one, we report the relationship and leave its direction open.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815584"/>
            <a:ext cx="7283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A1D21"/>
                </a:solidFill>
                <a:latin typeface="Aptos"/>
              </a:rPr>
              <a:t>An undirected edge is a result, not a gap: it states that these data cannot distinguish the two directions.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3339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A8088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72835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CEAE4"/>
                </a:solidFill>
                <a:latin typeface="Aptos"/>
              </a:rPr>
              <a:t>The recovered causal graph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8163501" y="2338841"/>
            <a:ext cx="598384" cy="99148"/>
          </a:xfrm>
          <a:prstGeom prst="line">
            <a:avLst/>
          </a:prstGeom>
          <a:ln w="24130">
            <a:solidFill>
              <a:srgbClr val="1A7F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014315" y="2433217"/>
            <a:ext cx="147875" cy="178792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3949656" y="4595540"/>
            <a:ext cx="217143" cy="270008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840561" y="5044202"/>
            <a:ext cx="165406" cy="272710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416067" y="2598835"/>
            <a:ext cx="1301344" cy="118825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306625" y="3083019"/>
            <a:ext cx="707361" cy="79233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44883" y="3334841"/>
            <a:ext cx="16461" cy="358818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65331" y="3937768"/>
            <a:ext cx="477327" cy="332345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609042" y="3695439"/>
            <a:ext cx="776857" cy="14186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9218133" y="3417038"/>
            <a:ext cx="208452" cy="190546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5992489" y="4053925"/>
            <a:ext cx="612876" cy="130290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089551" y="2989793"/>
            <a:ext cx="175931" cy="228345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585096" y="2890017"/>
            <a:ext cx="640913" cy="373060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09296" y="3385783"/>
            <a:ext cx="937932" cy="280274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11490" y="3474467"/>
            <a:ext cx="168712" cy="280347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663307" y="4758191"/>
            <a:ext cx="732785" cy="194545"/>
          </a:xfrm>
          <a:prstGeom prst="line">
            <a:avLst/>
          </a:prstGeom>
          <a:ln w="24130">
            <a:solidFill>
              <a:srgbClr val="1A7F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149665" y="2878617"/>
            <a:ext cx="141987" cy="10959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605414" y="2827410"/>
            <a:ext cx="234600" cy="23651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769089" y="2493344"/>
            <a:ext cx="190490" cy="291167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587766" y="3390701"/>
            <a:ext cx="381484" cy="223358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31680" y="2676105"/>
            <a:ext cx="578856" cy="190008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746976" y="3748262"/>
            <a:ext cx="942655" cy="235640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144198" y="2881792"/>
            <a:ext cx="76263" cy="280369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751347" y="3669442"/>
            <a:ext cx="542513" cy="31975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320364" y="2934578"/>
            <a:ext cx="974378" cy="211939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02078" y="2903179"/>
            <a:ext cx="926468" cy="9775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263121" y="2935126"/>
            <a:ext cx="92976" cy="121123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024614" y="4377089"/>
            <a:ext cx="673239" cy="79162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26923" y="4503677"/>
            <a:ext cx="102965" cy="262873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920546" y="4035083"/>
            <a:ext cx="60475" cy="176774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985085" y="2414350"/>
            <a:ext cx="347431" cy="296549"/>
          </a:xfrm>
          <a:prstGeom prst="line">
            <a:avLst/>
          </a:prstGeom>
          <a:ln w="24130">
            <a:solidFill>
              <a:srgbClr val="1A7F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221597" y="4551444"/>
            <a:ext cx="495626" cy="282807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60695" y="3821924"/>
            <a:ext cx="527016" cy="541120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62133" y="2496004"/>
            <a:ext cx="947140" cy="203185"/>
          </a:xfrm>
          <a:prstGeom prst="line">
            <a:avLst/>
          </a:prstGeom>
          <a:ln w="16510">
            <a:solidFill>
              <a:srgbClr val="3D6B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613215" y="3069104"/>
            <a:ext cx="53724" cy="486949"/>
          </a:xfrm>
          <a:prstGeom prst="line">
            <a:avLst/>
          </a:prstGeom>
          <a:ln w="16510">
            <a:solidFill>
              <a:srgbClr val="3D6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127057" y="484952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</a:t>
            </a:r>
          </a:p>
        </p:txBody>
      </p:sp>
      <p:sp>
        <p:nvSpPr>
          <p:cNvPr id="42" name="Oval 41"/>
          <p:cNvSpPr/>
          <p:nvPr/>
        </p:nvSpPr>
        <p:spPr>
          <a:xfrm>
            <a:off x="2622786" y="531266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3</a:t>
            </a:r>
          </a:p>
        </p:txBody>
      </p:sp>
      <p:sp>
        <p:nvSpPr>
          <p:cNvPr id="43" name="Oval 42"/>
          <p:cNvSpPr/>
          <p:nvPr/>
        </p:nvSpPr>
        <p:spPr>
          <a:xfrm>
            <a:off x="1014984" y="2928555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5</a:t>
            </a:r>
          </a:p>
        </p:txBody>
      </p:sp>
      <p:sp>
        <p:nvSpPr>
          <p:cNvPr id="44" name="Oval 43"/>
          <p:cNvSpPr/>
          <p:nvPr/>
        </p:nvSpPr>
        <p:spPr>
          <a:xfrm>
            <a:off x="2000600" y="371178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6620255" y="4079379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8</a:t>
            </a:r>
          </a:p>
        </p:txBody>
      </p:sp>
      <p:sp>
        <p:nvSpPr>
          <p:cNvPr id="46" name="Oval 45"/>
          <p:cNvSpPr/>
          <p:nvPr/>
        </p:nvSpPr>
        <p:spPr>
          <a:xfrm>
            <a:off x="3223195" y="3204117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2857518" y="272949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11</a:t>
            </a:r>
          </a:p>
        </p:txBody>
      </p:sp>
      <p:sp>
        <p:nvSpPr>
          <p:cNvPr id="48" name="Oval 47"/>
          <p:cNvSpPr/>
          <p:nvPr/>
        </p:nvSpPr>
        <p:spPr>
          <a:xfrm>
            <a:off x="4907523" y="2226101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12</a:t>
            </a:r>
          </a:p>
        </p:txBody>
      </p:sp>
      <p:sp>
        <p:nvSpPr>
          <p:cNvPr id="49" name="Oval 48"/>
          <p:cNvSpPr/>
          <p:nvPr/>
        </p:nvSpPr>
        <p:spPr>
          <a:xfrm>
            <a:off x="5421070" y="2490465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14</a:t>
            </a:r>
          </a:p>
        </p:txBody>
      </p:sp>
      <p:sp>
        <p:nvSpPr>
          <p:cNvPr id="50" name="Oval 49"/>
          <p:cNvSpPr/>
          <p:nvPr/>
        </p:nvSpPr>
        <p:spPr>
          <a:xfrm>
            <a:off x="5703278" y="3884440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15</a:t>
            </a:r>
          </a:p>
        </p:txBody>
      </p:sp>
      <p:sp>
        <p:nvSpPr>
          <p:cNvPr id="51" name="Oval 50"/>
          <p:cNvSpPr/>
          <p:nvPr/>
        </p:nvSpPr>
        <p:spPr>
          <a:xfrm>
            <a:off x="5311879" y="3523136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17</a:t>
            </a:r>
          </a:p>
        </p:txBody>
      </p:sp>
      <p:sp>
        <p:nvSpPr>
          <p:cNvPr id="52" name="Oval 51"/>
          <p:cNvSpPr/>
          <p:nvPr/>
        </p:nvSpPr>
        <p:spPr>
          <a:xfrm>
            <a:off x="3309479" y="2764379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18</a:t>
            </a:r>
          </a:p>
        </p:txBody>
      </p:sp>
      <p:sp>
        <p:nvSpPr>
          <p:cNvPr id="53" name="Oval 52"/>
          <p:cNvSpPr/>
          <p:nvPr/>
        </p:nvSpPr>
        <p:spPr>
          <a:xfrm>
            <a:off x="2031308" y="3042396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20</a:t>
            </a:r>
          </a:p>
        </p:txBody>
      </p:sp>
      <p:sp>
        <p:nvSpPr>
          <p:cNvPr id="54" name="Oval 53"/>
          <p:cNvSpPr/>
          <p:nvPr/>
        </p:nvSpPr>
        <p:spPr>
          <a:xfrm>
            <a:off x="2733069" y="4221776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21</a:t>
            </a:r>
          </a:p>
        </p:txBody>
      </p:sp>
      <p:sp>
        <p:nvSpPr>
          <p:cNvPr id="55" name="Oval 54"/>
          <p:cNvSpPr/>
          <p:nvPr/>
        </p:nvSpPr>
        <p:spPr>
          <a:xfrm>
            <a:off x="2313590" y="2674658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22</a:t>
            </a:r>
          </a:p>
        </p:txBody>
      </p:sp>
      <p:sp>
        <p:nvSpPr>
          <p:cNvPr id="56" name="Oval 55"/>
          <p:cNvSpPr/>
          <p:nvPr/>
        </p:nvSpPr>
        <p:spPr>
          <a:xfrm>
            <a:off x="3715078" y="433724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23</a:t>
            </a:r>
          </a:p>
        </p:txBody>
      </p:sp>
      <p:sp>
        <p:nvSpPr>
          <p:cNvPr id="57" name="Oval 56"/>
          <p:cNvSpPr/>
          <p:nvPr/>
        </p:nvSpPr>
        <p:spPr>
          <a:xfrm>
            <a:off x="2949422" y="4774131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24</a:t>
            </a:r>
          </a:p>
        </p:txBody>
      </p:sp>
      <p:sp>
        <p:nvSpPr>
          <p:cNvPr id="58" name="Oval 57"/>
          <p:cNvSpPr/>
          <p:nvPr/>
        </p:nvSpPr>
        <p:spPr>
          <a:xfrm>
            <a:off x="4546826" y="277743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29</a:t>
            </a:r>
          </a:p>
        </p:txBody>
      </p:sp>
      <p:sp>
        <p:nvSpPr>
          <p:cNvPr id="59" name="Oval 58"/>
          <p:cNvSpPr/>
          <p:nvPr/>
        </p:nvSpPr>
        <p:spPr>
          <a:xfrm>
            <a:off x="4459008" y="357340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30</a:t>
            </a:r>
          </a:p>
        </p:txBody>
      </p:sp>
      <p:sp>
        <p:nvSpPr>
          <p:cNvPr id="60" name="Oval 59"/>
          <p:cNvSpPr/>
          <p:nvPr/>
        </p:nvSpPr>
        <p:spPr>
          <a:xfrm>
            <a:off x="2894177" y="375084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32</a:t>
            </a:r>
          </a:p>
        </p:txBody>
      </p:sp>
      <p:sp>
        <p:nvSpPr>
          <p:cNvPr id="61" name="Oval 60"/>
          <p:cNvSpPr/>
          <p:nvPr/>
        </p:nvSpPr>
        <p:spPr>
          <a:xfrm>
            <a:off x="1729690" y="2176272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33</a:t>
            </a:r>
          </a:p>
        </p:txBody>
      </p:sp>
      <p:sp>
        <p:nvSpPr>
          <p:cNvPr id="62" name="Oval 61"/>
          <p:cNvSpPr/>
          <p:nvPr/>
        </p:nvSpPr>
        <p:spPr>
          <a:xfrm>
            <a:off x="8778082" y="2176272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</a:t>
            </a:r>
          </a:p>
        </p:txBody>
      </p:sp>
      <p:sp>
        <p:nvSpPr>
          <p:cNvPr id="63" name="Oval 62"/>
          <p:cNvSpPr/>
          <p:nvPr/>
        </p:nvSpPr>
        <p:spPr>
          <a:xfrm>
            <a:off x="10735056" y="2447540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4</a:t>
            </a:r>
          </a:p>
        </p:txBody>
      </p:sp>
      <p:sp>
        <p:nvSpPr>
          <p:cNvPr id="64" name="Oval 63"/>
          <p:cNvSpPr/>
          <p:nvPr/>
        </p:nvSpPr>
        <p:spPr>
          <a:xfrm>
            <a:off x="9404161" y="3575303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7</a:t>
            </a:r>
          </a:p>
        </p:txBody>
      </p:sp>
      <p:sp>
        <p:nvSpPr>
          <p:cNvPr id="65" name="Oval 64"/>
          <p:cNvSpPr/>
          <p:nvPr/>
        </p:nvSpPr>
        <p:spPr>
          <a:xfrm>
            <a:off x="8316460" y="3555441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13</a:t>
            </a:r>
          </a:p>
        </p:txBody>
      </p:sp>
      <p:sp>
        <p:nvSpPr>
          <p:cNvPr id="66" name="Oval 65"/>
          <p:cNvSpPr/>
          <p:nvPr/>
        </p:nvSpPr>
        <p:spPr>
          <a:xfrm>
            <a:off x="8966237" y="3174998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16</a:t>
            </a:r>
          </a:p>
        </p:txBody>
      </p:sp>
      <p:sp>
        <p:nvSpPr>
          <p:cNvPr id="67" name="Oval 66"/>
          <p:cNvSpPr/>
          <p:nvPr/>
        </p:nvSpPr>
        <p:spPr>
          <a:xfrm>
            <a:off x="7872984" y="2326239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25</a:t>
            </a:r>
          </a:p>
        </p:txBody>
      </p:sp>
      <p:sp>
        <p:nvSpPr>
          <p:cNvPr id="68" name="Oval 67"/>
          <p:cNvSpPr/>
          <p:nvPr/>
        </p:nvSpPr>
        <p:spPr>
          <a:xfrm>
            <a:off x="9124103" y="2594635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26</a:t>
            </a:r>
          </a:p>
        </p:txBody>
      </p:sp>
      <p:sp>
        <p:nvSpPr>
          <p:cNvPr id="69" name="Oval 68"/>
          <p:cNvSpPr/>
          <p:nvPr/>
        </p:nvSpPr>
        <p:spPr>
          <a:xfrm>
            <a:off x="8375904" y="485546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10</a:t>
            </a:r>
          </a:p>
        </p:txBody>
      </p:sp>
      <p:sp>
        <p:nvSpPr>
          <p:cNvPr id="70" name="Oval 69"/>
          <p:cNvSpPr/>
          <p:nvPr/>
        </p:nvSpPr>
        <p:spPr>
          <a:xfrm>
            <a:off x="9409176" y="4581144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28</a:t>
            </a:r>
          </a:p>
        </p:txBody>
      </p:sp>
      <p:sp>
        <p:nvSpPr>
          <p:cNvPr id="71" name="Oval 70"/>
          <p:cNvSpPr/>
          <p:nvPr/>
        </p:nvSpPr>
        <p:spPr>
          <a:xfrm>
            <a:off x="10424160" y="4526279"/>
            <a:ext cx="274320" cy="274320"/>
          </a:xfrm>
          <a:prstGeom prst="ellipse">
            <a:avLst/>
          </a:prstGeom>
          <a:solidFill>
            <a:srgbClr val="14181D"/>
          </a:solidFill>
          <a:ln w="1270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CEAE4"/>
                </a:solidFill>
                <a:latin typeface="Aptos"/>
              </a:rPr>
              <a:t>19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059936"/>
            <a:ext cx="35640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7A828A"/>
                </a:solidFill>
                <a:latin typeface="Aptos"/>
              </a:rPr>
              <a:t>SEPARATE GROUPS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20" y="45902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A828A"/>
                </a:solidFill>
                <a:latin typeface="Aptos"/>
              </a:rPr>
              <a:t>isolated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20" y="1289304"/>
            <a:ext cx="219456" cy="5029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33104" y="1225296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AA2AA"/>
                </a:solidFill>
                <a:latin typeface="Aptos"/>
              </a:rPr>
              <a:t>confirmed by the reference graph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20" y="1563624"/>
            <a:ext cx="219456" cy="50292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33104" y="1499616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AA2AA"/>
                </a:solidFill>
                <a:latin typeface="Aptos"/>
              </a:rPr>
              <a:t>additional candidate relationship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574243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CEAE4"/>
                </a:solidFill>
                <a:latin typeface="Aptos"/>
              </a:rPr>
              <a:t>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608990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29A"/>
                </a:solidFill>
                <a:latin typeface="Aptos"/>
              </a:rPr>
              <a:t>relationships found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37560" y="574243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CEAE4"/>
                </a:solidFill>
                <a:latin typeface="Aptos"/>
              </a:rP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55848" y="608990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29A"/>
                </a:solidFill>
                <a:latin typeface="Aptos"/>
              </a:rPr>
              <a:t>confirmed by the reference graph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80760" y="574243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CEAE4"/>
                </a:solidFill>
                <a:latin typeface="Aptos"/>
              </a:rPr>
              <a:t>24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99048" y="608990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29A"/>
                </a:solidFill>
                <a:latin typeface="Aptos"/>
              </a:rPr>
              <a:t>additional candidates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23960" y="574243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CEAE4"/>
                </a:solidFill>
                <a:latin typeface="Aptos"/>
              </a:rPr>
              <a:t>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42248" y="608990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29A"/>
                </a:solidFill>
                <a:latin typeface="Aptos"/>
              </a:rPr>
              <a:t>with a direction established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Measured against the reference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Where our graph and the plant's documented topology agree, and where they do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340864"/>
            <a:ext cx="3584448" cy="3584448"/>
          </a:xfrm>
          <a:prstGeom prst="rect">
            <a:avLst/>
          </a:prstGeom>
          <a:solidFill>
            <a:srgbClr val="FAFAF7"/>
          </a:solidFill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1130" y="2919000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4248" y="3265882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39913" y="2919000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74248" y="4884665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55541" y="2919000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4248" y="5000293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71168" y="2919000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74248" y="5115920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1130" y="3034628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89876" y="3265882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24286" y="3034628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9876" y="4769038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1130" y="3150255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05503" y="3265882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86795" y="3150255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05503" y="5231547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68012" y="3497137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52385" y="3612764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3640" y="3497137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52385" y="3728392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99267" y="3497137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52385" y="3844019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02423" y="3728392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3640" y="5347175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30522" y="3959646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14894" y="4075274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6149" y="3959646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14894" y="4190901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61777" y="3959646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14894" y="4306529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18050" y="3959646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14894" y="5462802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33677" y="4422156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77404" y="5578429"/>
            <a:ext cx="115627" cy="115627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86795" y="2340864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6112" y="5231547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93031" y="2803373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58621" y="4537783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93031" y="2919000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74248" y="4537783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8659" y="2919000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74248" y="4653411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3640" y="3034628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89876" y="3728392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30522" y="3034628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89876" y="4075274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14894" y="3150255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05503" y="3959646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52385" y="3265882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1130" y="3497137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24286" y="3265882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821130" y="4769038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33677" y="3265882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821130" y="5578429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61777" y="3497137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52385" y="4306529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18050" y="3612764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68012" y="5462802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30522" y="3728392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83640" y="4075274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33677" y="3959646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14894" y="5578429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86795" y="4075274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30522" y="5231547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093031" y="4306529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861777" y="4537783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18050" y="4306529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861777" y="5462802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324286" y="4537783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093031" y="4769038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39913" y="4653411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8659" y="4884665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55541" y="4653411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08659" y="5000293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555541" y="4884665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439913" y="5000293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33677" y="4884665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439913" y="5578429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86795" y="5115920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71168" y="5231547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133677" y="5462802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018050" y="5578429"/>
            <a:ext cx="115627" cy="115627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671168" y="2340864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96112" y="5115920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39913" y="2456491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11739" y="4884665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555541" y="2572118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27366" y="5000293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86795" y="2687746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2994" y="5231547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49305" y="3265882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821130" y="5694057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902423" y="3381510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936758" y="5347175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24286" y="3497137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052385" y="4769038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018050" y="3844019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399267" y="5462802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133677" y="4190901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746149" y="5578429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249305" y="4653411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208659" y="5694057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64932" y="4769038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324286" y="5809684"/>
            <a:ext cx="115627" cy="115627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49808" y="213969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12064" y="2322576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27944" y="213969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2064" y="2900712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06081" y="213969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2064" y="3478849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484218" y="213969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16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2064" y="4056986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62355" y="213969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21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12064" y="4635123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21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40491" y="213969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12064" y="5213259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26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218628" y="213969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33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2064" y="5791396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33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6112" y="6053328"/>
            <a:ext cx="35844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each square is one pair of variables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54880" y="2414016"/>
            <a:ext cx="146304" cy="146304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992624" y="237744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E73"/>
                </a:solidFill>
                <a:latin typeface="Aptos"/>
              </a:rPr>
              <a:t>both agree  (11)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54880" y="2724912"/>
            <a:ext cx="146304" cy="146304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992624" y="268833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E73"/>
                </a:solidFill>
                <a:latin typeface="Aptos"/>
              </a:rPr>
              <a:t>ours only  (24)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754880" y="3035808"/>
            <a:ext cx="146304" cy="146304"/>
          </a:xfrm>
          <a:prstGeom prst="rect">
            <a:avLst/>
          </a:prstGeom>
          <a:solidFill>
            <a:srgbClr val="C8C6C0"/>
          </a:solidFill>
          <a:ln w="6350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92624" y="299923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E73"/>
                </a:solidFill>
                <a:latin typeface="Aptos"/>
              </a:rPr>
              <a:t>reference only  (17)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784848" y="234086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D21"/>
                </a:solidFill>
                <a:latin typeface="Aptos"/>
              </a:rPr>
              <a:t>0.31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863840" y="239572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Precision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63840" y="2633472"/>
            <a:ext cx="37334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of the relationships we report, this share is in the reference graph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784848" y="307238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D21"/>
                </a:solidFill>
                <a:latin typeface="Aptos"/>
              </a:rPr>
              <a:t>0.39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63840" y="312724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Recall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63840" y="3364992"/>
            <a:ext cx="37334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of the 28 recoverable reference relationships, this share was found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6784848" y="2962656"/>
            <a:ext cx="4812487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6784848" y="380390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D21"/>
                </a:solidFill>
                <a:latin typeface="Aptos"/>
              </a:rPr>
              <a:t>0.35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63840" y="385876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F1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863840" y="4096512"/>
            <a:ext cx="37334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the balance of the two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6784848" y="3694176"/>
            <a:ext cx="4812487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784848" y="453542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D21"/>
                </a:solidFill>
                <a:latin typeface="Aptos"/>
              </a:rPr>
              <a:t>48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863840" y="459028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SHD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863840" y="4828032"/>
            <a:ext cx="37334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structural edits between our graph and the reference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784848" y="4425696"/>
            <a:ext cx="4812487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6784848" y="5358384"/>
            <a:ext cx="4812487" cy="3291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784848" y="5486400"/>
            <a:ext cx="4812487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D21"/>
                </a:solidFill>
                <a:latin typeface="Aptos"/>
              </a:rPr>
              <a:t>The reference graph records the plant's designed relationships. Edges we report that it does not contain are therefore candidates for undocumented coupling, not automatically mistakes — which is why the additional 24 are shown in their own colour rather than as errors.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What the answer depends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Same vertical scale on all three, so the slopes can be compared directly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Significance level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4700016"/>
            <a:ext cx="3411626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2615184"/>
            <a:ext cx="0" cy="2084832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" y="4700016"/>
            <a:ext cx="3411626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2024" y="4617720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05072"/>
            <a:ext cx="3411626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2024" y="3922776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0.20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3310128"/>
            <a:ext cx="3411626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2024" y="3227832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2615184"/>
            <a:ext cx="3411626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2024" y="2532888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0.40</a:t>
            </a:r>
          </a:p>
        </p:txBody>
      </p:sp>
      <p:sp>
        <p:nvSpPr>
          <p:cNvPr id="18" name="Freeform 17"/>
          <p:cNvSpPr/>
          <p:nvPr/>
        </p:nvSpPr>
        <p:spPr>
          <a:xfrm>
            <a:off x="594360" y="2844515"/>
            <a:ext cx="3411626" cy="396118"/>
          </a:xfrm>
          <a:custGeom>
            <a:avLst/>
            <a:gdLst/>
            <a:ahLst/>
            <a:cxnLst/>
            <a:rect l="l" t="t" r="r" b="b"/>
            <a:pathLst>
              <a:path w="3411626" h="396118">
                <a:moveTo>
                  <a:pt x="0" y="396118"/>
                </a:moveTo>
                <a:lnTo>
                  <a:pt x="852906" y="125090"/>
                </a:lnTo>
                <a:lnTo>
                  <a:pt x="1705813" y="0"/>
                </a:lnTo>
                <a:lnTo>
                  <a:pt x="2558719" y="20848"/>
                </a:lnTo>
                <a:lnTo>
                  <a:pt x="3411626" y="187635"/>
                </a:lnTo>
              </a:path>
            </a:pathLst>
          </a:custGeom>
          <a:noFill/>
          <a:ln w="254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4068" y="3190341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0.05</a:t>
            </a:r>
          </a:p>
        </p:txBody>
      </p:sp>
      <p:sp>
        <p:nvSpPr>
          <p:cNvPr id="21" name="Oval 20"/>
          <p:cNvSpPr/>
          <p:nvPr/>
        </p:nvSpPr>
        <p:spPr>
          <a:xfrm>
            <a:off x="1396974" y="2919313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370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0.01</a:t>
            </a:r>
          </a:p>
        </p:txBody>
      </p:sp>
      <p:sp>
        <p:nvSpPr>
          <p:cNvPr id="23" name="Oval 22"/>
          <p:cNvSpPr/>
          <p:nvPr/>
        </p:nvSpPr>
        <p:spPr>
          <a:xfrm>
            <a:off x="2249881" y="2794223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9277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10⁻³</a:t>
            </a:r>
          </a:p>
        </p:txBody>
      </p:sp>
      <p:sp>
        <p:nvSpPr>
          <p:cNvPr id="25" name="Oval 24"/>
          <p:cNvSpPr/>
          <p:nvPr/>
        </p:nvSpPr>
        <p:spPr>
          <a:xfrm>
            <a:off x="3102787" y="2815071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2183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10⁻⁵</a:t>
            </a:r>
          </a:p>
        </p:txBody>
      </p:sp>
      <p:sp>
        <p:nvSpPr>
          <p:cNvPr id="27" name="Oval 26"/>
          <p:cNvSpPr/>
          <p:nvPr/>
        </p:nvSpPr>
        <p:spPr>
          <a:xfrm>
            <a:off x="3955694" y="2981858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5090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10⁻¹⁰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065776"/>
            <a:ext cx="341162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flat — the answer barely moves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0034" y="2304288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Conditioning set size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90034" y="4700016"/>
            <a:ext cx="3411626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90034" y="2615184"/>
            <a:ext cx="0" cy="2084832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90034" y="4700016"/>
            <a:ext cx="3411626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987698" y="4617720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0.10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390034" y="4005072"/>
            <a:ext cx="3411626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87698" y="3922776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0.20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90034" y="3310128"/>
            <a:ext cx="3411626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87698" y="3227832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0.30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390034" y="2615184"/>
            <a:ext cx="3411626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987698" y="2532888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0.40</a:t>
            </a:r>
          </a:p>
        </p:txBody>
      </p:sp>
      <p:sp>
        <p:nvSpPr>
          <p:cNvPr id="41" name="Freeform 40"/>
          <p:cNvSpPr/>
          <p:nvPr/>
        </p:nvSpPr>
        <p:spPr>
          <a:xfrm>
            <a:off x="4390034" y="2969605"/>
            <a:ext cx="3411626" cy="1348191"/>
          </a:xfrm>
          <a:custGeom>
            <a:avLst/>
            <a:gdLst/>
            <a:ahLst/>
            <a:cxnLst/>
            <a:rect l="l" t="t" r="r" b="b"/>
            <a:pathLst>
              <a:path w="3411626" h="1348191">
                <a:moveTo>
                  <a:pt x="0" y="1348191"/>
                </a:moveTo>
                <a:lnTo>
                  <a:pt x="852907" y="55595"/>
                </a:lnTo>
                <a:lnTo>
                  <a:pt x="1705813" y="0"/>
                </a:lnTo>
                <a:lnTo>
                  <a:pt x="2558720" y="0"/>
                </a:lnTo>
                <a:lnTo>
                  <a:pt x="3411626" y="0"/>
                </a:lnTo>
              </a:path>
            </a:pathLst>
          </a:custGeom>
          <a:noFill/>
          <a:ln w="254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39742" y="4267504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79138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0</a:t>
            </a:r>
          </a:p>
        </p:txBody>
      </p:sp>
      <p:sp>
        <p:nvSpPr>
          <p:cNvPr id="44" name="Oval 43"/>
          <p:cNvSpPr/>
          <p:nvPr/>
        </p:nvSpPr>
        <p:spPr>
          <a:xfrm>
            <a:off x="5192649" y="2974908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2045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6045555" y="2919313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84951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6898462" y="2919313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7858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3</a:t>
            </a:r>
          </a:p>
        </p:txBody>
      </p:sp>
      <p:sp>
        <p:nvSpPr>
          <p:cNvPr id="50" name="Oval 49"/>
          <p:cNvSpPr/>
          <p:nvPr/>
        </p:nvSpPr>
        <p:spPr>
          <a:xfrm>
            <a:off x="7751368" y="2919313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0764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0034" y="5065776"/>
            <a:ext cx="341162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A7F72"/>
                </a:solidFill>
                <a:latin typeface="Aptos"/>
              </a:rPr>
              <a:t>converged at 2 — deeper changes nothing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5708" y="2304288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Using every nth sample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185708" y="4700016"/>
            <a:ext cx="3411627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185708" y="2615184"/>
            <a:ext cx="0" cy="2084832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185708" y="4700016"/>
            <a:ext cx="3411627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83372" y="4617720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0.10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185708" y="4005072"/>
            <a:ext cx="3411627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783372" y="3922776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0.20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185708" y="3310128"/>
            <a:ext cx="3411627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783372" y="3227832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0.30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185708" y="2615184"/>
            <a:ext cx="3411627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783372" y="2532888"/>
            <a:ext cx="329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0.40</a:t>
            </a:r>
          </a:p>
        </p:txBody>
      </p:sp>
      <p:sp>
        <p:nvSpPr>
          <p:cNvPr id="64" name="Freeform 63"/>
          <p:cNvSpPr/>
          <p:nvPr/>
        </p:nvSpPr>
        <p:spPr>
          <a:xfrm>
            <a:off x="8185708" y="2775021"/>
            <a:ext cx="3411627" cy="764438"/>
          </a:xfrm>
          <a:custGeom>
            <a:avLst/>
            <a:gdLst/>
            <a:ahLst/>
            <a:cxnLst/>
            <a:rect l="l" t="t" r="r" b="b"/>
            <a:pathLst>
              <a:path w="3411627" h="764438">
                <a:moveTo>
                  <a:pt x="0" y="194584"/>
                </a:moveTo>
                <a:lnTo>
                  <a:pt x="1137209" y="0"/>
                </a:lnTo>
                <a:lnTo>
                  <a:pt x="2274418" y="764438"/>
                </a:lnTo>
                <a:lnTo>
                  <a:pt x="3411627" y="187635"/>
                </a:lnTo>
              </a:path>
            </a:pathLst>
          </a:custGeom>
          <a:noFill/>
          <a:ln w="254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35416" y="2919313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74812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1</a:t>
            </a:r>
          </a:p>
        </p:txBody>
      </p:sp>
      <p:sp>
        <p:nvSpPr>
          <p:cNvPr id="67" name="Oval 66"/>
          <p:cNvSpPr/>
          <p:nvPr/>
        </p:nvSpPr>
        <p:spPr>
          <a:xfrm>
            <a:off x="9272625" y="2724729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12021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5</a:t>
            </a:r>
          </a:p>
        </p:txBody>
      </p:sp>
      <p:sp>
        <p:nvSpPr>
          <p:cNvPr id="69" name="Oval 68"/>
          <p:cNvSpPr/>
          <p:nvPr/>
        </p:nvSpPr>
        <p:spPr>
          <a:xfrm>
            <a:off x="10409834" y="3489167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230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20</a:t>
            </a:r>
          </a:p>
        </p:txBody>
      </p:sp>
      <p:sp>
        <p:nvSpPr>
          <p:cNvPr id="71" name="Oval 70"/>
          <p:cNvSpPr/>
          <p:nvPr/>
        </p:nvSpPr>
        <p:spPr>
          <a:xfrm>
            <a:off x="11547043" y="2912364"/>
            <a:ext cx="100584" cy="100584"/>
          </a:xfrm>
          <a:prstGeom prst="ellipse">
            <a:avLst/>
          </a:prstGeom>
          <a:solidFill>
            <a:srgbClr val="3D6B99"/>
          </a:solidFill>
          <a:ln w="635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86439" y="4791455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E73"/>
                </a:solidFill>
                <a:latin typeface="Aptos"/>
              </a:rPr>
              <a:t>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85708" y="5065776"/>
            <a:ext cx="341162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sensitive — and slide 17 explains why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5448" y="239572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6E73"/>
                </a:solidFill>
                <a:latin typeface="Aptos"/>
              </a:rPr>
              <a:t>F1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5687568"/>
            <a:ext cx="11002975" cy="32918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5833872"/>
            <a:ext cx="100731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Thinning to every 5th sample raises precision from 0.31 to 0.40. Beyond that, too few samples remain for the tests to resolve anything.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B8860B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1,499 samples are not 1,499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The one assumption behind every test on the previous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743200"/>
            <a:ext cx="7635240" cy="1572768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94360" y="2743200"/>
            <a:ext cx="7635240" cy="1572768"/>
          </a:xfrm>
          <a:custGeom>
            <a:avLst/>
            <a:gdLst/>
            <a:ahLst/>
            <a:cxnLst/>
            <a:rect l="l" t="t" r="r" b="b"/>
            <a:pathLst>
              <a:path w="7635240" h="1572768">
                <a:moveTo>
                  <a:pt x="0" y="690054"/>
                </a:moveTo>
                <a:lnTo>
                  <a:pt x="19135" y="695701"/>
                </a:lnTo>
                <a:lnTo>
                  <a:pt x="38271" y="688139"/>
                </a:lnTo>
                <a:lnTo>
                  <a:pt x="57407" y="690521"/>
                </a:lnTo>
                <a:lnTo>
                  <a:pt x="76543" y="740760"/>
                </a:lnTo>
                <a:lnTo>
                  <a:pt x="95679" y="839119"/>
                </a:lnTo>
                <a:lnTo>
                  <a:pt x="114815" y="935061"/>
                </a:lnTo>
                <a:lnTo>
                  <a:pt x="133951" y="1067864"/>
                </a:lnTo>
                <a:lnTo>
                  <a:pt x="153087" y="1110041"/>
                </a:lnTo>
                <a:lnTo>
                  <a:pt x="172223" y="1109283"/>
                </a:lnTo>
                <a:lnTo>
                  <a:pt x="191359" y="1043685"/>
                </a:lnTo>
                <a:lnTo>
                  <a:pt x="210495" y="874282"/>
                </a:lnTo>
                <a:lnTo>
                  <a:pt x="229631" y="855841"/>
                </a:lnTo>
                <a:lnTo>
                  <a:pt x="248767" y="824248"/>
                </a:lnTo>
                <a:lnTo>
                  <a:pt x="267903" y="869774"/>
                </a:lnTo>
                <a:lnTo>
                  <a:pt x="287039" y="942894"/>
                </a:lnTo>
                <a:lnTo>
                  <a:pt x="306175" y="892559"/>
                </a:lnTo>
                <a:lnTo>
                  <a:pt x="325310" y="835502"/>
                </a:lnTo>
                <a:lnTo>
                  <a:pt x="344446" y="709075"/>
                </a:lnTo>
                <a:lnTo>
                  <a:pt x="363582" y="569954"/>
                </a:lnTo>
                <a:lnTo>
                  <a:pt x="382718" y="596228"/>
                </a:lnTo>
                <a:lnTo>
                  <a:pt x="401854" y="489214"/>
                </a:lnTo>
                <a:lnTo>
                  <a:pt x="420990" y="613488"/>
                </a:lnTo>
                <a:lnTo>
                  <a:pt x="440126" y="763512"/>
                </a:lnTo>
                <a:lnTo>
                  <a:pt x="459262" y="784570"/>
                </a:lnTo>
                <a:lnTo>
                  <a:pt x="478398" y="755142"/>
                </a:lnTo>
                <a:lnTo>
                  <a:pt x="497534" y="867771"/>
                </a:lnTo>
                <a:lnTo>
                  <a:pt x="516670" y="1065531"/>
                </a:lnTo>
                <a:lnTo>
                  <a:pt x="535806" y="1091480"/>
                </a:lnTo>
                <a:lnTo>
                  <a:pt x="554942" y="1028344"/>
                </a:lnTo>
                <a:lnTo>
                  <a:pt x="574078" y="1004265"/>
                </a:lnTo>
                <a:lnTo>
                  <a:pt x="593214" y="1041044"/>
                </a:lnTo>
                <a:lnTo>
                  <a:pt x="612350" y="1141243"/>
                </a:lnTo>
                <a:lnTo>
                  <a:pt x="631486" y="1153593"/>
                </a:lnTo>
                <a:lnTo>
                  <a:pt x="650621" y="1142931"/>
                </a:lnTo>
                <a:lnTo>
                  <a:pt x="669757" y="1058016"/>
                </a:lnTo>
                <a:lnTo>
                  <a:pt x="688893" y="1021505"/>
                </a:lnTo>
                <a:lnTo>
                  <a:pt x="708029" y="985501"/>
                </a:lnTo>
                <a:lnTo>
                  <a:pt x="727165" y="929441"/>
                </a:lnTo>
                <a:lnTo>
                  <a:pt x="746301" y="763764"/>
                </a:lnTo>
                <a:lnTo>
                  <a:pt x="765437" y="681179"/>
                </a:lnTo>
                <a:lnTo>
                  <a:pt x="784573" y="519046"/>
                </a:lnTo>
                <a:lnTo>
                  <a:pt x="803709" y="527121"/>
                </a:lnTo>
                <a:lnTo>
                  <a:pt x="822845" y="491349"/>
                </a:lnTo>
                <a:lnTo>
                  <a:pt x="841981" y="689871"/>
                </a:lnTo>
                <a:lnTo>
                  <a:pt x="861117" y="906545"/>
                </a:lnTo>
                <a:lnTo>
                  <a:pt x="880253" y="982212"/>
                </a:lnTo>
                <a:lnTo>
                  <a:pt x="899389" y="949417"/>
                </a:lnTo>
                <a:lnTo>
                  <a:pt x="918525" y="896220"/>
                </a:lnTo>
                <a:lnTo>
                  <a:pt x="937661" y="853156"/>
                </a:lnTo>
                <a:lnTo>
                  <a:pt x="956796" y="814507"/>
                </a:lnTo>
                <a:lnTo>
                  <a:pt x="975932" y="800591"/>
                </a:lnTo>
                <a:lnTo>
                  <a:pt x="995068" y="943515"/>
                </a:lnTo>
                <a:lnTo>
                  <a:pt x="1014204" y="1107548"/>
                </a:lnTo>
                <a:lnTo>
                  <a:pt x="1033340" y="1195841"/>
                </a:lnTo>
                <a:lnTo>
                  <a:pt x="1052476" y="1255538"/>
                </a:lnTo>
                <a:lnTo>
                  <a:pt x="1071612" y="1192236"/>
                </a:lnTo>
                <a:lnTo>
                  <a:pt x="1090748" y="996628"/>
                </a:lnTo>
                <a:lnTo>
                  <a:pt x="1109884" y="890808"/>
                </a:lnTo>
                <a:lnTo>
                  <a:pt x="1129020" y="736617"/>
                </a:lnTo>
                <a:lnTo>
                  <a:pt x="1148156" y="671828"/>
                </a:lnTo>
                <a:lnTo>
                  <a:pt x="1167292" y="677495"/>
                </a:lnTo>
                <a:lnTo>
                  <a:pt x="1186428" y="627629"/>
                </a:lnTo>
                <a:lnTo>
                  <a:pt x="1205564" y="513192"/>
                </a:lnTo>
                <a:lnTo>
                  <a:pt x="1224700" y="561640"/>
                </a:lnTo>
                <a:lnTo>
                  <a:pt x="1243836" y="584633"/>
                </a:lnTo>
                <a:lnTo>
                  <a:pt x="1262972" y="581046"/>
                </a:lnTo>
                <a:lnTo>
                  <a:pt x="1282107" y="544984"/>
                </a:lnTo>
                <a:lnTo>
                  <a:pt x="1301243" y="394813"/>
                </a:lnTo>
                <a:lnTo>
                  <a:pt x="1320379" y="249926"/>
                </a:lnTo>
                <a:lnTo>
                  <a:pt x="1339515" y="402228"/>
                </a:lnTo>
                <a:lnTo>
                  <a:pt x="1358651" y="631686"/>
                </a:lnTo>
                <a:lnTo>
                  <a:pt x="1377787" y="762319"/>
                </a:lnTo>
                <a:lnTo>
                  <a:pt x="1396923" y="697423"/>
                </a:lnTo>
                <a:lnTo>
                  <a:pt x="1416059" y="750492"/>
                </a:lnTo>
                <a:lnTo>
                  <a:pt x="1435195" y="788160"/>
                </a:lnTo>
                <a:lnTo>
                  <a:pt x="1454331" y="915106"/>
                </a:lnTo>
                <a:lnTo>
                  <a:pt x="1473467" y="1155516"/>
                </a:lnTo>
                <a:lnTo>
                  <a:pt x="1492603" y="1211692"/>
                </a:lnTo>
                <a:lnTo>
                  <a:pt x="1511739" y="1182624"/>
                </a:lnTo>
                <a:lnTo>
                  <a:pt x="1530875" y="1016712"/>
                </a:lnTo>
                <a:lnTo>
                  <a:pt x="1550011" y="926766"/>
                </a:lnTo>
                <a:lnTo>
                  <a:pt x="1569147" y="888289"/>
                </a:lnTo>
                <a:lnTo>
                  <a:pt x="1588283" y="873283"/>
                </a:lnTo>
                <a:lnTo>
                  <a:pt x="1607418" y="835790"/>
                </a:lnTo>
                <a:lnTo>
                  <a:pt x="1626554" y="889409"/>
                </a:lnTo>
                <a:lnTo>
                  <a:pt x="1645690" y="841708"/>
                </a:lnTo>
                <a:lnTo>
                  <a:pt x="1664826" y="766461"/>
                </a:lnTo>
                <a:lnTo>
                  <a:pt x="1683962" y="739435"/>
                </a:lnTo>
                <a:lnTo>
                  <a:pt x="1703098" y="699791"/>
                </a:lnTo>
                <a:lnTo>
                  <a:pt x="1722234" y="819771"/>
                </a:lnTo>
                <a:lnTo>
                  <a:pt x="1741370" y="1058577"/>
                </a:lnTo>
                <a:lnTo>
                  <a:pt x="1760506" y="1161038"/>
                </a:lnTo>
                <a:lnTo>
                  <a:pt x="1779642" y="1147794"/>
                </a:lnTo>
                <a:lnTo>
                  <a:pt x="1798778" y="1067777"/>
                </a:lnTo>
                <a:lnTo>
                  <a:pt x="1817914" y="965772"/>
                </a:lnTo>
                <a:lnTo>
                  <a:pt x="1837050" y="801642"/>
                </a:lnTo>
                <a:lnTo>
                  <a:pt x="1856186" y="573278"/>
                </a:lnTo>
                <a:lnTo>
                  <a:pt x="1875322" y="671095"/>
                </a:lnTo>
                <a:lnTo>
                  <a:pt x="1894458" y="986548"/>
                </a:lnTo>
                <a:lnTo>
                  <a:pt x="1913593" y="900469"/>
                </a:lnTo>
                <a:lnTo>
                  <a:pt x="1932729" y="775632"/>
                </a:lnTo>
                <a:lnTo>
                  <a:pt x="1951865" y="815794"/>
                </a:lnTo>
                <a:lnTo>
                  <a:pt x="1971001" y="993174"/>
                </a:lnTo>
                <a:lnTo>
                  <a:pt x="1990137" y="1076088"/>
                </a:lnTo>
                <a:lnTo>
                  <a:pt x="2009273" y="1041626"/>
                </a:lnTo>
                <a:lnTo>
                  <a:pt x="2028409" y="1074756"/>
                </a:lnTo>
                <a:lnTo>
                  <a:pt x="2047545" y="1062737"/>
                </a:lnTo>
                <a:lnTo>
                  <a:pt x="2066681" y="1059260"/>
                </a:lnTo>
                <a:lnTo>
                  <a:pt x="2085817" y="987499"/>
                </a:lnTo>
                <a:lnTo>
                  <a:pt x="2104953" y="883411"/>
                </a:lnTo>
                <a:lnTo>
                  <a:pt x="2124089" y="737303"/>
                </a:lnTo>
                <a:lnTo>
                  <a:pt x="2143225" y="712114"/>
                </a:lnTo>
                <a:lnTo>
                  <a:pt x="2162361" y="807032"/>
                </a:lnTo>
                <a:lnTo>
                  <a:pt x="2181497" y="837667"/>
                </a:lnTo>
                <a:lnTo>
                  <a:pt x="2200633" y="731055"/>
                </a:lnTo>
                <a:lnTo>
                  <a:pt x="2219769" y="787062"/>
                </a:lnTo>
                <a:lnTo>
                  <a:pt x="2238904" y="855168"/>
                </a:lnTo>
                <a:lnTo>
                  <a:pt x="2258040" y="794469"/>
                </a:lnTo>
                <a:lnTo>
                  <a:pt x="2277176" y="608971"/>
                </a:lnTo>
                <a:lnTo>
                  <a:pt x="2296312" y="563356"/>
                </a:lnTo>
                <a:lnTo>
                  <a:pt x="2315448" y="624207"/>
                </a:lnTo>
                <a:lnTo>
                  <a:pt x="2334584" y="770323"/>
                </a:lnTo>
                <a:lnTo>
                  <a:pt x="2353720" y="904785"/>
                </a:lnTo>
                <a:lnTo>
                  <a:pt x="2372856" y="1015612"/>
                </a:lnTo>
                <a:lnTo>
                  <a:pt x="2391992" y="1012647"/>
                </a:lnTo>
                <a:lnTo>
                  <a:pt x="2411128" y="939115"/>
                </a:lnTo>
                <a:lnTo>
                  <a:pt x="2430264" y="899294"/>
                </a:lnTo>
                <a:lnTo>
                  <a:pt x="2449400" y="846662"/>
                </a:lnTo>
                <a:lnTo>
                  <a:pt x="2468536" y="921408"/>
                </a:lnTo>
                <a:lnTo>
                  <a:pt x="2487672" y="954195"/>
                </a:lnTo>
                <a:lnTo>
                  <a:pt x="2506808" y="1015151"/>
                </a:lnTo>
                <a:lnTo>
                  <a:pt x="2525944" y="1069589"/>
                </a:lnTo>
                <a:lnTo>
                  <a:pt x="2545080" y="1114935"/>
                </a:lnTo>
                <a:lnTo>
                  <a:pt x="2564215" y="1108808"/>
                </a:lnTo>
                <a:lnTo>
                  <a:pt x="2583351" y="1054325"/>
                </a:lnTo>
                <a:lnTo>
                  <a:pt x="2602487" y="1044396"/>
                </a:lnTo>
                <a:lnTo>
                  <a:pt x="2621623" y="998652"/>
                </a:lnTo>
                <a:lnTo>
                  <a:pt x="2640759" y="1004952"/>
                </a:lnTo>
                <a:lnTo>
                  <a:pt x="2659895" y="962792"/>
                </a:lnTo>
                <a:lnTo>
                  <a:pt x="2679031" y="888181"/>
                </a:lnTo>
                <a:lnTo>
                  <a:pt x="2698167" y="853710"/>
                </a:lnTo>
                <a:lnTo>
                  <a:pt x="2717303" y="831092"/>
                </a:lnTo>
                <a:lnTo>
                  <a:pt x="2736439" y="892067"/>
                </a:lnTo>
                <a:lnTo>
                  <a:pt x="2755575" y="1027924"/>
                </a:lnTo>
                <a:lnTo>
                  <a:pt x="2774711" y="1288756"/>
                </a:lnTo>
                <a:lnTo>
                  <a:pt x="2793847" y="1383182"/>
                </a:lnTo>
                <a:lnTo>
                  <a:pt x="2812983" y="1471844"/>
                </a:lnTo>
                <a:lnTo>
                  <a:pt x="2832119" y="1201312"/>
                </a:lnTo>
                <a:lnTo>
                  <a:pt x="2851255" y="913257"/>
                </a:lnTo>
                <a:lnTo>
                  <a:pt x="2870390" y="776924"/>
                </a:lnTo>
                <a:lnTo>
                  <a:pt x="2889526" y="745626"/>
                </a:lnTo>
                <a:lnTo>
                  <a:pt x="2908662" y="861907"/>
                </a:lnTo>
                <a:lnTo>
                  <a:pt x="2927798" y="1014131"/>
                </a:lnTo>
                <a:lnTo>
                  <a:pt x="2946934" y="1031606"/>
                </a:lnTo>
                <a:lnTo>
                  <a:pt x="2966070" y="1019699"/>
                </a:lnTo>
                <a:lnTo>
                  <a:pt x="2985206" y="1001026"/>
                </a:lnTo>
                <a:lnTo>
                  <a:pt x="3004342" y="995524"/>
                </a:lnTo>
                <a:lnTo>
                  <a:pt x="3023478" y="1164705"/>
                </a:lnTo>
                <a:lnTo>
                  <a:pt x="3042614" y="1357111"/>
                </a:lnTo>
                <a:lnTo>
                  <a:pt x="3061750" y="1476122"/>
                </a:lnTo>
                <a:lnTo>
                  <a:pt x="3080886" y="1414018"/>
                </a:lnTo>
                <a:lnTo>
                  <a:pt x="3100022" y="1225229"/>
                </a:lnTo>
                <a:lnTo>
                  <a:pt x="3119158" y="1109455"/>
                </a:lnTo>
                <a:lnTo>
                  <a:pt x="3138294" y="1121678"/>
                </a:lnTo>
                <a:lnTo>
                  <a:pt x="3157430" y="1253034"/>
                </a:lnTo>
                <a:lnTo>
                  <a:pt x="3176566" y="1237264"/>
                </a:lnTo>
                <a:lnTo>
                  <a:pt x="3195701" y="1165774"/>
                </a:lnTo>
                <a:lnTo>
                  <a:pt x="3214837" y="1235702"/>
                </a:lnTo>
                <a:lnTo>
                  <a:pt x="3233973" y="1365928"/>
                </a:lnTo>
                <a:lnTo>
                  <a:pt x="3253109" y="1496069"/>
                </a:lnTo>
                <a:lnTo>
                  <a:pt x="3272245" y="1481686"/>
                </a:lnTo>
                <a:lnTo>
                  <a:pt x="3291381" y="1385910"/>
                </a:lnTo>
                <a:lnTo>
                  <a:pt x="3310517" y="1233910"/>
                </a:lnTo>
                <a:lnTo>
                  <a:pt x="3329653" y="1163604"/>
                </a:lnTo>
                <a:lnTo>
                  <a:pt x="3348789" y="1178460"/>
                </a:lnTo>
                <a:lnTo>
                  <a:pt x="3367925" y="1262213"/>
                </a:lnTo>
                <a:lnTo>
                  <a:pt x="3387061" y="1437705"/>
                </a:lnTo>
                <a:lnTo>
                  <a:pt x="3406197" y="1498351"/>
                </a:lnTo>
                <a:lnTo>
                  <a:pt x="3425333" y="1429550"/>
                </a:lnTo>
                <a:lnTo>
                  <a:pt x="3444469" y="1377796"/>
                </a:lnTo>
                <a:lnTo>
                  <a:pt x="3463605" y="1321523"/>
                </a:lnTo>
                <a:lnTo>
                  <a:pt x="3482741" y="1284939"/>
                </a:lnTo>
                <a:lnTo>
                  <a:pt x="3501876" y="1239886"/>
                </a:lnTo>
                <a:lnTo>
                  <a:pt x="3521012" y="1269307"/>
                </a:lnTo>
                <a:lnTo>
                  <a:pt x="3540148" y="1385163"/>
                </a:lnTo>
                <a:lnTo>
                  <a:pt x="3559284" y="1377974"/>
                </a:lnTo>
                <a:lnTo>
                  <a:pt x="3578420" y="1274917"/>
                </a:lnTo>
                <a:lnTo>
                  <a:pt x="3597556" y="1087939"/>
                </a:lnTo>
                <a:lnTo>
                  <a:pt x="3616692" y="898692"/>
                </a:lnTo>
                <a:lnTo>
                  <a:pt x="3635828" y="874971"/>
                </a:lnTo>
                <a:lnTo>
                  <a:pt x="3654964" y="963859"/>
                </a:lnTo>
                <a:lnTo>
                  <a:pt x="3674100" y="987554"/>
                </a:lnTo>
                <a:lnTo>
                  <a:pt x="3693236" y="959198"/>
                </a:lnTo>
                <a:lnTo>
                  <a:pt x="3712372" y="885936"/>
                </a:lnTo>
                <a:lnTo>
                  <a:pt x="3731508" y="730802"/>
                </a:lnTo>
                <a:lnTo>
                  <a:pt x="3750644" y="821539"/>
                </a:lnTo>
                <a:lnTo>
                  <a:pt x="3769780" y="1033378"/>
                </a:lnTo>
                <a:lnTo>
                  <a:pt x="3788916" y="944218"/>
                </a:lnTo>
                <a:lnTo>
                  <a:pt x="3808052" y="815775"/>
                </a:lnTo>
                <a:lnTo>
                  <a:pt x="3827187" y="852316"/>
                </a:lnTo>
                <a:lnTo>
                  <a:pt x="3846323" y="973904"/>
                </a:lnTo>
                <a:lnTo>
                  <a:pt x="3865459" y="1139608"/>
                </a:lnTo>
                <a:lnTo>
                  <a:pt x="3884595" y="1279769"/>
                </a:lnTo>
                <a:lnTo>
                  <a:pt x="3903731" y="1323476"/>
                </a:lnTo>
                <a:lnTo>
                  <a:pt x="3922867" y="1226831"/>
                </a:lnTo>
                <a:lnTo>
                  <a:pt x="3942003" y="1270222"/>
                </a:lnTo>
                <a:lnTo>
                  <a:pt x="3961139" y="1318727"/>
                </a:lnTo>
                <a:lnTo>
                  <a:pt x="3980275" y="1324189"/>
                </a:lnTo>
                <a:lnTo>
                  <a:pt x="3999411" y="1400920"/>
                </a:lnTo>
                <a:lnTo>
                  <a:pt x="4018547" y="1372342"/>
                </a:lnTo>
                <a:lnTo>
                  <a:pt x="4037683" y="1290390"/>
                </a:lnTo>
                <a:lnTo>
                  <a:pt x="4056819" y="1379398"/>
                </a:lnTo>
                <a:lnTo>
                  <a:pt x="4075955" y="1376191"/>
                </a:lnTo>
                <a:lnTo>
                  <a:pt x="4095091" y="1189913"/>
                </a:lnTo>
                <a:lnTo>
                  <a:pt x="4114227" y="1028539"/>
                </a:lnTo>
                <a:lnTo>
                  <a:pt x="4133363" y="1036577"/>
                </a:lnTo>
                <a:lnTo>
                  <a:pt x="4152498" y="1234517"/>
                </a:lnTo>
                <a:lnTo>
                  <a:pt x="4171634" y="1304655"/>
                </a:lnTo>
                <a:lnTo>
                  <a:pt x="4190770" y="1234364"/>
                </a:lnTo>
                <a:lnTo>
                  <a:pt x="4209906" y="1176181"/>
                </a:lnTo>
                <a:lnTo>
                  <a:pt x="4229042" y="1079699"/>
                </a:lnTo>
                <a:lnTo>
                  <a:pt x="4248178" y="1018117"/>
                </a:lnTo>
                <a:lnTo>
                  <a:pt x="4267314" y="853268"/>
                </a:lnTo>
                <a:lnTo>
                  <a:pt x="4286450" y="784768"/>
                </a:lnTo>
                <a:lnTo>
                  <a:pt x="4305586" y="752542"/>
                </a:lnTo>
                <a:lnTo>
                  <a:pt x="4324722" y="753433"/>
                </a:lnTo>
                <a:lnTo>
                  <a:pt x="4343858" y="838023"/>
                </a:lnTo>
                <a:lnTo>
                  <a:pt x="4362994" y="909409"/>
                </a:lnTo>
                <a:lnTo>
                  <a:pt x="4382130" y="982788"/>
                </a:lnTo>
                <a:lnTo>
                  <a:pt x="4401266" y="1011163"/>
                </a:lnTo>
                <a:lnTo>
                  <a:pt x="4420402" y="907435"/>
                </a:lnTo>
                <a:lnTo>
                  <a:pt x="4439538" y="893854"/>
                </a:lnTo>
                <a:lnTo>
                  <a:pt x="4458673" y="852733"/>
                </a:lnTo>
                <a:lnTo>
                  <a:pt x="4477809" y="908221"/>
                </a:lnTo>
                <a:lnTo>
                  <a:pt x="4496945" y="1000208"/>
                </a:lnTo>
                <a:lnTo>
                  <a:pt x="4516081" y="906738"/>
                </a:lnTo>
                <a:lnTo>
                  <a:pt x="4535217" y="783521"/>
                </a:lnTo>
                <a:lnTo>
                  <a:pt x="4554353" y="653609"/>
                </a:lnTo>
                <a:lnTo>
                  <a:pt x="4573489" y="671250"/>
                </a:lnTo>
                <a:lnTo>
                  <a:pt x="4592625" y="632797"/>
                </a:lnTo>
                <a:lnTo>
                  <a:pt x="4611761" y="678918"/>
                </a:lnTo>
                <a:lnTo>
                  <a:pt x="4630897" y="865268"/>
                </a:lnTo>
                <a:lnTo>
                  <a:pt x="4650033" y="965958"/>
                </a:lnTo>
                <a:lnTo>
                  <a:pt x="4669169" y="1157423"/>
                </a:lnTo>
                <a:lnTo>
                  <a:pt x="4688305" y="1251905"/>
                </a:lnTo>
                <a:lnTo>
                  <a:pt x="4707441" y="1387595"/>
                </a:lnTo>
                <a:lnTo>
                  <a:pt x="4726577" y="1444353"/>
                </a:lnTo>
                <a:lnTo>
                  <a:pt x="4745713" y="1409342"/>
                </a:lnTo>
                <a:lnTo>
                  <a:pt x="4764849" y="1403017"/>
                </a:lnTo>
                <a:lnTo>
                  <a:pt x="4783984" y="1425930"/>
                </a:lnTo>
                <a:lnTo>
                  <a:pt x="4803120" y="1486342"/>
                </a:lnTo>
                <a:lnTo>
                  <a:pt x="4822256" y="1416168"/>
                </a:lnTo>
                <a:lnTo>
                  <a:pt x="4841392" y="1197466"/>
                </a:lnTo>
                <a:lnTo>
                  <a:pt x="4860528" y="1154215"/>
                </a:lnTo>
                <a:lnTo>
                  <a:pt x="4879664" y="1028730"/>
                </a:lnTo>
                <a:lnTo>
                  <a:pt x="4898800" y="966795"/>
                </a:lnTo>
                <a:lnTo>
                  <a:pt x="4917936" y="799791"/>
                </a:lnTo>
                <a:lnTo>
                  <a:pt x="4937072" y="809251"/>
                </a:lnTo>
                <a:lnTo>
                  <a:pt x="4956208" y="939800"/>
                </a:lnTo>
                <a:lnTo>
                  <a:pt x="4975344" y="930892"/>
                </a:lnTo>
                <a:lnTo>
                  <a:pt x="4994480" y="825402"/>
                </a:lnTo>
                <a:lnTo>
                  <a:pt x="5013616" y="898460"/>
                </a:lnTo>
                <a:lnTo>
                  <a:pt x="5032752" y="1098822"/>
                </a:lnTo>
                <a:lnTo>
                  <a:pt x="5051888" y="1309478"/>
                </a:lnTo>
                <a:lnTo>
                  <a:pt x="5071024" y="1416758"/>
                </a:lnTo>
                <a:lnTo>
                  <a:pt x="5090160" y="1432077"/>
                </a:lnTo>
                <a:lnTo>
                  <a:pt x="5109295" y="1505773"/>
                </a:lnTo>
                <a:lnTo>
                  <a:pt x="5128431" y="1336141"/>
                </a:lnTo>
                <a:lnTo>
                  <a:pt x="5147567" y="1074978"/>
                </a:lnTo>
                <a:lnTo>
                  <a:pt x="5166703" y="984537"/>
                </a:lnTo>
                <a:lnTo>
                  <a:pt x="5185839" y="1068913"/>
                </a:lnTo>
                <a:lnTo>
                  <a:pt x="5204975" y="1130944"/>
                </a:lnTo>
                <a:lnTo>
                  <a:pt x="5224111" y="1244368"/>
                </a:lnTo>
                <a:lnTo>
                  <a:pt x="5243247" y="1239057"/>
                </a:lnTo>
                <a:lnTo>
                  <a:pt x="5262383" y="1174578"/>
                </a:lnTo>
                <a:lnTo>
                  <a:pt x="5281519" y="1155667"/>
                </a:lnTo>
                <a:lnTo>
                  <a:pt x="5300655" y="1145268"/>
                </a:lnTo>
                <a:lnTo>
                  <a:pt x="5319791" y="1100679"/>
                </a:lnTo>
                <a:lnTo>
                  <a:pt x="5338927" y="1076815"/>
                </a:lnTo>
                <a:lnTo>
                  <a:pt x="5358063" y="1001896"/>
                </a:lnTo>
                <a:lnTo>
                  <a:pt x="5377199" y="814241"/>
                </a:lnTo>
                <a:lnTo>
                  <a:pt x="5396335" y="756498"/>
                </a:lnTo>
                <a:lnTo>
                  <a:pt x="5415470" y="777044"/>
                </a:lnTo>
                <a:lnTo>
                  <a:pt x="5434606" y="935797"/>
                </a:lnTo>
                <a:lnTo>
                  <a:pt x="5453742" y="1201953"/>
                </a:lnTo>
                <a:lnTo>
                  <a:pt x="5472878" y="1210853"/>
                </a:lnTo>
                <a:lnTo>
                  <a:pt x="5492014" y="1141487"/>
                </a:lnTo>
                <a:lnTo>
                  <a:pt x="5511150" y="1002590"/>
                </a:lnTo>
                <a:lnTo>
                  <a:pt x="5530286" y="880745"/>
                </a:lnTo>
                <a:lnTo>
                  <a:pt x="5549422" y="947936"/>
                </a:lnTo>
                <a:lnTo>
                  <a:pt x="5568558" y="1070436"/>
                </a:lnTo>
                <a:lnTo>
                  <a:pt x="5587694" y="1179906"/>
                </a:lnTo>
                <a:lnTo>
                  <a:pt x="5606830" y="1251143"/>
                </a:lnTo>
                <a:lnTo>
                  <a:pt x="5625966" y="1320142"/>
                </a:lnTo>
                <a:lnTo>
                  <a:pt x="5645102" y="1334003"/>
                </a:lnTo>
                <a:lnTo>
                  <a:pt x="5664238" y="1166966"/>
                </a:lnTo>
                <a:lnTo>
                  <a:pt x="5683374" y="1014007"/>
                </a:lnTo>
                <a:lnTo>
                  <a:pt x="5702510" y="920853"/>
                </a:lnTo>
                <a:lnTo>
                  <a:pt x="5721646" y="1022650"/>
                </a:lnTo>
                <a:lnTo>
                  <a:pt x="5740781" y="1146510"/>
                </a:lnTo>
                <a:lnTo>
                  <a:pt x="5759917" y="1303743"/>
                </a:lnTo>
                <a:lnTo>
                  <a:pt x="5779053" y="1278284"/>
                </a:lnTo>
                <a:lnTo>
                  <a:pt x="5798189" y="1169144"/>
                </a:lnTo>
                <a:lnTo>
                  <a:pt x="5817325" y="1059469"/>
                </a:lnTo>
                <a:lnTo>
                  <a:pt x="5836461" y="1024095"/>
                </a:lnTo>
                <a:lnTo>
                  <a:pt x="5855597" y="1014997"/>
                </a:lnTo>
                <a:lnTo>
                  <a:pt x="5874733" y="933005"/>
                </a:lnTo>
                <a:lnTo>
                  <a:pt x="5893869" y="1072245"/>
                </a:lnTo>
                <a:lnTo>
                  <a:pt x="5913005" y="1263495"/>
                </a:lnTo>
                <a:lnTo>
                  <a:pt x="5932141" y="1419784"/>
                </a:lnTo>
                <a:lnTo>
                  <a:pt x="5951277" y="1572768"/>
                </a:lnTo>
                <a:lnTo>
                  <a:pt x="5970413" y="1486115"/>
                </a:lnTo>
                <a:lnTo>
                  <a:pt x="5989549" y="1300604"/>
                </a:lnTo>
                <a:lnTo>
                  <a:pt x="6008685" y="1323809"/>
                </a:lnTo>
                <a:lnTo>
                  <a:pt x="6027821" y="1458614"/>
                </a:lnTo>
                <a:lnTo>
                  <a:pt x="6046956" y="1424267"/>
                </a:lnTo>
                <a:lnTo>
                  <a:pt x="6066092" y="1366070"/>
                </a:lnTo>
                <a:lnTo>
                  <a:pt x="6085228" y="1325461"/>
                </a:lnTo>
                <a:lnTo>
                  <a:pt x="6104364" y="1275409"/>
                </a:lnTo>
                <a:lnTo>
                  <a:pt x="6123500" y="1105915"/>
                </a:lnTo>
                <a:lnTo>
                  <a:pt x="6142636" y="944093"/>
                </a:lnTo>
                <a:lnTo>
                  <a:pt x="6161772" y="826345"/>
                </a:lnTo>
                <a:lnTo>
                  <a:pt x="6180908" y="731260"/>
                </a:lnTo>
                <a:lnTo>
                  <a:pt x="6200044" y="702014"/>
                </a:lnTo>
                <a:lnTo>
                  <a:pt x="6219180" y="728050"/>
                </a:lnTo>
                <a:lnTo>
                  <a:pt x="6238316" y="674044"/>
                </a:lnTo>
                <a:lnTo>
                  <a:pt x="6257452" y="639259"/>
                </a:lnTo>
                <a:lnTo>
                  <a:pt x="6276588" y="762555"/>
                </a:lnTo>
                <a:lnTo>
                  <a:pt x="6295724" y="941246"/>
                </a:lnTo>
                <a:lnTo>
                  <a:pt x="6314860" y="1075121"/>
                </a:lnTo>
                <a:lnTo>
                  <a:pt x="6333996" y="1158276"/>
                </a:lnTo>
                <a:lnTo>
                  <a:pt x="6353132" y="1221035"/>
                </a:lnTo>
                <a:lnTo>
                  <a:pt x="6372267" y="1301737"/>
                </a:lnTo>
                <a:lnTo>
                  <a:pt x="6391403" y="1302160"/>
                </a:lnTo>
                <a:lnTo>
                  <a:pt x="6410539" y="1324572"/>
                </a:lnTo>
                <a:lnTo>
                  <a:pt x="6429675" y="1362816"/>
                </a:lnTo>
                <a:lnTo>
                  <a:pt x="6448811" y="1439589"/>
                </a:lnTo>
                <a:lnTo>
                  <a:pt x="6467947" y="1293870"/>
                </a:lnTo>
                <a:lnTo>
                  <a:pt x="6487083" y="1203628"/>
                </a:lnTo>
                <a:lnTo>
                  <a:pt x="6506219" y="1300110"/>
                </a:lnTo>
                <a:lnTo>
                  <a:pt x="6525355" y="1518043"/>
                </a:lnTo>
                <a:lnTo>
                  <a:pt x="6544491" y="1467817"/>
                </a:lnTo>
                <a:lnTo>
                  <a:pt x="6563627" y="1255421"/>
                </a:lnTo>
                <a:lnTo>
                  <a:pt x="6582763" y="1206974"/>
                </a:lnTo>
                <a:lnTo>
                  <a:pt x="6601899" y="1145077"/>
                </a:lnTo>
                <a:lnTo>
                  <a:pt x="6621035" y="1206269"/>
                </a:lnTo>
                <a:lnTo>
                  <a:pt x="6640171" y="1300498"/>
                </a:lnTo>
                <a:lnTo>
                  <a:pt x="6659307" y="1378426"/>
                </a:lnTo>
                <a:lnTo>
                  <a:pt x="6678443" y="1381120"/>
                </a:lnTo>
                <a:lnTo>
                  <a:pt x="6697578" y="1389988"/>
                </a:lnTo>
                <a:lnTo>
                  <a:pt x="6716714" y="1343950"/>
                </a:lnTo>
                <a:lnTo>
                  <a:pt x="6735850" y="1188323"/>
                </a:lnTo>
                <a:lnTo>
                  <a:pt x="6754986" y="1078008"/>
                </a:lnTo>
                <a:lnTo>
                  <a:pt x="6774122" y="834747"/>
                </a:lnTo>
                <a:lnTo>
                  <a:pt x="6793258" y="575866"/>
                </a:lnTo>
                <a:lnTo>
                  <a:pt x="6812394" y="490557"/>
                </a:lnTo>
                <a:lnTo>
                  <a:pt x="6831530" y="572342"/>
                </a:lnTo>
                <a:lnTo>
                  <a:pt x="6850666" y="614076"/>
                </a:lnTo>
                <a:lnTo>
                  <a:pt x="6869802" y="772322"/>
                </a:lnTo>
                <a:lnTo>
                  <a:pt x="6888938" y="794333"/>
                </a:lnTo>
                <a:lnTo>
                  <a:pt x="6908074" y="828404"/>
                </a:lnTo>
                <a:lnTo>
                  <a:pt x="6927210" y="758879"/>
                </a:lnTo>
                <a:lnTo>
                  <a:pt x="6946346" y="699780"/>
                </a:lnTo>
                <a:lnTo>
                  <a:pt x="6965482" y="727790"/>
                </a:lnTo>
                <a:lnTo>
                  <a:pt x="6984618" y="806594"/>
                </a:lnTo>
                <a:lnTo>
                  <a:pt x="7003753" y="873854"/>
                </a:lnTo>
                <a:lnTo>
                  <a:pt x="7022889" y="899537"/>
                </a:lnTo>
                <a:lnTo>
                  <a:pt x="7042025" y="906035"/>
                </a:lnTo>
                <a:lnTo>
                  <a:pt x="7061161" y="874460"/>
                </a:lnTo>
                <a:lnTo>
                  <a:pt x="7080297" y="881001"/>
                </a:lnTo>
                <a:lnTo>
                  <a:pt x="7099433" y="906765"/>
                </a:lnTo>
                <a:lnTo>
                  <a:pt x="7118569" y="813347"/>
                </a:lnTo>
                <a:lnTo>
                  <a:pt x="7137705" y="677758"/>
                </a:lnTo>
                <a:lnTo>
                  <a:pt x="7156841" y="724025"/>
                </a:lnTo>
                <a:lnTo>
                  <a:pt x="7175977" y="735380"/>
                </a:lnTo>
                <a:lnTo>
                  <a:pt x="7195113" y="723259"/>
                </a:lnTo>
                <a:lnTo>
                  <a:pt x="7214249" y="665184"/>
                </a:lnTo>
                <a:lnTo>
                  <a:pt x="7233385" y="650202"/>
                </a:lnTo>
                <a:lnTo>
                  <a:pt x="7252521" y="718569"/>
                </a:lnTo>
                <a:lnTo>
                  <a:pt x="7271657" y="689513"/>
                </a:lnTo>
                <a:lnTo>
                  <a:pt x="7290793" y="697059"/>
                </a:lnTo>
                <a:lnTo>
                  <a:pt x="7309929" y="737229"/>
                </a:lnTo>
                <a:lnTo>
                  <a:pt x="7329064" y="755164"/>
                </a:lnTo>
                <a:lnTo>
                  <a:pt x="7348200" y="707372"/>
                </a:lnTo>
                <a:lnTo>
                  <a:pt x="7367336" y="617884"/>
                </a:lnTo>
                <a:lnTo>
                  <a:pt x="7386472" y="501724"/>
                </a:lnTo>
                <a:lnTo>
                  <a:pt x="7405608" y="349333"/>
                </a:lnTo>
                <a:lnTo>
                  <a:pt x="7424744" y="224752"/>
                </a:lnTo>
                <a:lnTo>
                  <a:pt x="7443880" y="82545"/>
                </a:lnTo>
                <a:lnTo>
                  <a:pt x="7463016" y="82664"/>
                </a:lnTo>
                <a:lnTo>
                  <a:pt x="7482152" y="203738"/>
                </a:lnTo>
                <a:lnTo>
                  <a:pt x="7501288" y="113129"/>
                </a:lnTo>
                <a:lnTo>
                  <a:pt x="7520424" y="0"/>
                </a:lnTo>
                <a:lnTo>
                  <a:pt x="7539560" y="74067"/>
                </a:lnTo>
                <a:lnTo>
                  <a:pt x="7558696" y="257766"/>
                </a:lnTo>
                <a:lnTo>
                  <a:pt x="7577832" y="330819"/>
                </a:lnTo>
                <a:lnTo>
                  <a:pt x="7596968" y="335715"/>
                </a:lnTo>
                <a:lnTo>
                  <a:pt x="7616104" y="353331"/>
                </a:lnTo>
                <a:lnTo>
                  <a:pt x="7635240" y="506208"/>
                </a:lnTo>
              </a:path>
            </a:pathLst>
          </a:custGeom>
          <a:noFill/>
          <a:ln w="15875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425696"/>
            <a:ext cx="7635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E73"/>
                </a:solidFill>
                <a:latin typeface="Aptos"/>
              </a:rPr>
              <a:t>one process variable, 400 consecutive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42032"/>
            <a:ext cx="2926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0" b="1" i="0">
                <a:solidFill>
                  <a:srgbClr val="B8860B"/>
                </a:solidFill>
                <a:latin typeface="Aptos"/>
              </a:rPr>
              <a:t>0.982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389534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B8860B"/>
                </a:solidFill>
                <a:latin typeface="Aptos"/>
              </a:rPr>
              <a:t>strongest lag-one
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91456"/>
            <a:ext cx="54237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Consecutive samples are near-copies of one another. The strongest lag-one autocorrelation across the 31 variables is 0.982; the median is 0.571.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1587" y="4736592"/>
            <a:ext cx="32918" cy="12070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9331" y="4736592"/>
            <a:ext cx="505800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So the effective sample size is a fraction of 1,499. The independence tests are more confident than the evidence warrants, the graph is denser than it should be — and that is precisely why using fewer, further-apart samples improved precision.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The same procedure, two further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Nothing in the method is tuned to one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32304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10">
                <a:solidFill>
                  <a:srgbClr val="6B6E73"/>
                </a:solidFill>
                <a:latin typeface="Aptos"/>
              </a:rP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432304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110">
                <a:solidFill>
                  <a:srgbClr val="6B6E73"/>
                </a:solidFill>
                <a:latin typeface="Aptos"/>
              </a:rPr>
              <a:t>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432304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110">
                <a:solidFill>
                  <a:srgbClr val="6B6E73"/>
                </a:solidFill>
                <a:latin typeface="Aptos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3230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110">
                <a:solidFill>
                  <a:srgbClr val="6B6E73"/>
                </a:solidFill>
                <a:latin typeface="Aptos"/>
              </a:rPr>
              <a:t>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32304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110">
                <a:solidFill>
                  <a:srgbClr val="6B6E73"/>
                </a:solidFill>
                <a:latin typeface="Aptos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432304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110">
                <a:solidFill>
                  <a:srgbClr val="6B6E73"/>
                </a:solidFill>
                <a:latin typeface="Apto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432304"/>
            <a:ext cx="1261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110">
                <a:solidFill>
                  <a:srgbClr val="6B6E73"/>
                </a:solidFill>
                <a:latin typeface="Aptos"/>
              </a:rPr>
              <a:t>CONVERGED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2706624"/>
            <a:ext cx="11000232" cy="0"/>
          </a:xfrm>
          <a:prstGeom prst="line">
            <a:avLst/>
          </a:prstGeom>
          <a:ln w="1270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66344" y="2743200"/>
            <a:ext cx="11256263" cy="512064"/>
          </a:xfrm>
          <a:prstGeom prst="rect">
            <a:avLst/>
          </a:prstGeom>
          <a:solidFill>
            <a:srgbClr val="D5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34640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F72"/>
                </a:solidFill>
                <a:latin typeface="Aptos"/>
              </a:rPr>
              <a:t>Tennessee Eastman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834640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834640"/>
            <a:ext cx="1325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1,499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834640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A1D21"/>
                </a:solidFill>
                <a:latin typeface="Consolas"/>
              </a:rPr>
              <a:t>0.31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34640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0.39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834640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yes, at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38144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Ultra-processed food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438144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438144"/>
            <a:ext cx="1325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23,132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38144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438144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A1D21"/>
                </a:solidFill>
                <a:latin typeface="Consolas"/>
              </a:rPr>
              <a:t>0.55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438144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0.36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438144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no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3895344"/>
            <a:ext cx="11000232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4041648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…with machine 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041648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041648"/>
            <a:ext cx="1325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23,132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041648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041648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A1D21"/>
                </a:solidFill>
                <a:latin typeface="Consolas"/>
              </a:rPr>
              <a:t>0.80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041648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0.41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4041648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A1D21"/>
                </a:solidFill>
                <a:latin typeface="Consolas"/>
              </a:rPr>
              <a:t>no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4498848"/>
            <a:ext cx="11000232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9224" y="310896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7F72"/>
                </a:solidFill>
                <a:latin typeface="Aptos"/>
              </a:rPr>
              <a:t>walked through here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791456"/>
            <a:ext cx="32918" cy="8229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" y="4791456"/>
            <a:ext cx="72835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The third case's reference graph contains feedback loops. PC assumes an acyclic structure, so those relationships cannot be recovered by construction and its recall is capped from the start.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870448"/>
            <a:ext cx="100731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Precision differs across cases mainly because the reference graphs differ in density — a sparser reference leaves more room for a reported relationship to fall outside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What this supports, and what it does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Equal space, because the second column is part of the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5227167" cy="38404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2271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1A7F72"/>
                </a:solidFill>
                <a:latin typeface="Aptos"/>
              </a:rPr>
              <a:t>SUPPORTED BY THIS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2267712"/>
            <a:ext cx="5227167" cy="3840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2377440"/>
            <a:ext cx="52271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B8860B"/>
                </a:solidFill>
                <a:latin typeface="Aptos"/>
              </a:rPr>
              <a:t>NOT YET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61488"/>
            <a:ext cx="495284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A converged, stable skeleton for the Tennessee Eastman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47872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47872"/>
            <a:ext cx="495284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11 of 28 documented relationships recovered from observation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34256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34256"/>
            <a:ext cx="495284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A direction established for 20 of the 35 relationships found.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20640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F72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20640"/>
            <a:ext cx="495284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The same procedure transfers unchanged to two further datasets.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6148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8860B"/>
                </a:solidFill>
                <a:latin typeface="Aptos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2761488"/>
            <a:ext cx="4952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That the 24 additional relationships are real.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035808"/>
            <a:ext cx="4952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needs  </a:t>
            </a:r>
            <a:r>
              <a:rPr sz="1000" b="0" i="0">
                <a:solidFill>
                  <a:srgbClr val="B8860B"/>
                </a:solidFill>
                <a:latin typeface="Aptos"/>
              </a:rPr>
              <a:t>an independence test that accounts for time ordering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3547872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8860B"/>
                </a:solidFill>
                <a:latin typeface="Aptos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3547872"/>
            <a:ext cx="4952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Any claim about specific sensors or process units.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3822191"/>
            <a:ext cx="4952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needs  </a:t>
            </a:r>
            <a:r>
              <a:rPr sz="1000" b="0" i="0">
                <a:solidFill>
                  <a:srgbClr val="B8860B"/>
                </a:solidFill>
                <a:latin typeface="Aptos"/>
              </a:rPr>
              <a:t>the variable-to-sensor mapping for the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4334256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8860B"/>
                </a:solidFill>
                <a:latin typeface="Aptos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4334256"/>
            <a:ext cx="4952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Relationships involving the two absent variables.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4608576"/>
            <a:ext cx="4952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needs  </a:t>
            </a:r>
            <a:r>
              <a:rPr sz="1000" b="0" i="0">
                <a:solidFill>
                  <a:srgbClr val="B8860B"/>
                </a:solidFill>
                <a:latin typeface="Aptos"/>
              </a:rPr>
              <a:t>a method that admits unmeasured confounders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120640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8860B"/>
                </a:solidFill>
                <a:latin typeface="Aptos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4487" y="5120640"/>
            <a:ext cx="4952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Feedback loops of any kind.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5394959"/>
            <a:ext cx="4952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needs  </a:t>
            </a:r>
            <a:r>
              <a:rPr sz="1000" b="0" i="0">
                <a:solidFill>
                  <a:srgbClr val="B8860B"/>
                </a:solidFill>
                <a:latin typeface="Aptos"/>
              </a:rPr>
              <a:t>a method that does not assume acyclicity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5847" y="2267712"/>
            <a:ext cx="0" cy="3694176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91432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Where this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36776"/>
            <a:ext cx="91432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E73"/>
                </a:solidFill>
                <a:latin typeface="Aptos"/>
              </a:rPr>
              <a:t>The graph now exists, which is what the rest of the objective needs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15184"/>
            <a:ext cx="1951878" cy="868680"/>
          </a:xfrm>
          <a:prstGeom prst="roundRect">
            <a:avLst>
              <a:gd name="adj" fmla="val 10000"/>
            </a:avLst>
          </a:prstGeom>
          <a:solidFill>
            <a:srgbClr val="1A7F72"/>
          </a:solidFill>
          <a:ln w="1270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FAFAF7"/>
                </a:solidFill>
                <a:latin typeface="Aptos"/>
              </a:rPr>
              <a:t>Process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1102" y="3049524"/>
            <a:ext cx="201168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7134" y="2615184"/>
            <a:ext cx="1951878" cy="868680"/>
          </a:xfrm>
          <a:prstGeom prst="roundRect">
            <a:avLst>
              <a:gd name="adj" fmla="val 10000"/>
            </a:avLst>
          </a:prstGeom>
          <a:solidFill>
            <a:srgbClr val="1A7F72"/>
          </a:solidFill>
          <a:ln w="1270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FAFAF7"/>
                </a:solidFill>
                <a:latin typeface="Aptos"/>
              </a:rPr>
              <a:t>Causal graph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3876" y="3049524"/>
            <a:ext cx="201168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19908" y="2615184"/>
            <a:ext cx="1951878" cy="86868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6B6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Fault detected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26650" y="3049524"/>
            <a:ext cx="201168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82682" y="2615184"/>
            <a:ext cx="1951878" cy="86868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6B6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Trace backwards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89424" y="3049524"/>
            <a:ext cx="201168" cy="0"/>
          </a:xfrm>
          <a:prstGeom prst="line">
            <a:avLst/>
          </a:prstGeom>
          <a:ln w="15875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45456" y="2615184"/>
            <a:ext cx="1951878" cy="86868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6B6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 i="0">
                <a:solidFill>
                  <a:srgbClr val="1A1D21"/>
                </a:solidFill>
                <a:latin typeface="Aptos"/>
              </a:rPr>
              <a:t>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134" y="3584448"/>
            <a:ext cx="19518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A7F72"/>
                </a:solidFill>
                <a:latin typeface="Aptos"/>
              </a:rPr>
              <a:t>delivered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B6E73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224528"/>
            <a:ext cx="4493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Time-aware independence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498848"/>
            <a:ext cx="4493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addresses the assumption above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82896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B6E7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882896"/>
            <a:ext cx="4493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T² fault detection on the recovered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5157216"/>
            <a:ext cx="4493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turns structure into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41264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B6E73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541264"/>
            <a:ext cx="4493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Backward traversal to a named root 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815584"/>
            <a:ext cx="4493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the objective we started from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03440" y="4151376"/>
            <a:ext cx="4493895" cy="1792224"/>
          </a:xfrm>
          <a:prstGeom prst="roundRect">
            <a:avLst>
              <a:gd name="adj" fmla="val 4000"/>
            </a:avLst>
          </a:prstGeom>
          <a:solidFill>
            <a:srgbClr val="D5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14336" y="4407408"/>
            <a:ext cx="38721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1A7F72"/>
                </a:solidFill>
                <a:latin typeface="Aptos"/>
              </a:rPr>
              <a:t>A fault shows up as an anomaly in one variable. Reading the graph upstream from that variable is what turns “something is wrong” into “this is where it started.”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