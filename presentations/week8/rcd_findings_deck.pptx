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one run: PCA, then the PC algorithm, then T² monitoring, on the real plant data. Every number comes from the output folder of that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stop us from reading the results today. All three can be fixed before the next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saves its results, so any step can be rerun alone. Each step also checks its own output. All checks passed on the lab computer.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of the 418 expected tags were not in the unit folders. We have not found out why yet. After cleaning, very little data is missing, except in two units.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 is 'flaring' whenever any of the 4 flare signals is above its median plus 3 MAD, with short gaps joined up. It ends up on for 400 of 404 days. That leaves 3.8 days to learn what normal looks like. We have not yet found why the short exceedances join into windows that last months.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kept 26 components, as planned. They hold 89% of the variation. For each component we checked which unit's tags carry most of its weight. NSU_NHT_CCR leads half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2 sits near 0 or near 800, with almost nothing in between. That looks like two operating states. The training data comes from April and early July 2025, before the first switch, so it only knows the low state. Please confirm with operations what changes between the two states.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T² measures how far the plant is from the training data. The limit is 46. On test data it is above the limit 99.4% of the time. The highest plateaus, around 100 million, line up with the high state on the previous slide. Even on the training data it crosses the limit 9% of the time, where 1% is expected.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the T² value at its peak into the share from each tag. One LOUP tag accounts for almost all of it. The tag ranges from 0.09 to 169 and looks like an outlier in 40% of samples. Our guess is that it stayed at one level in the training data, so any move looks huge. That guess is not checked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scores the run reported. Each one is a side effect of the flare label covering almost all the time, so none of them tells us how well T² detects flares.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makes its components uncorrelated on the data it was fitted to. So the PC algorithm sees no links there, which the plan predicted. We then ran four other versions. The one on test data became the final graph. Its links mostly reflect how far the test data has drifted from training, not cause and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turned the links between components into links between units, using how much each unit weighs in each component. The strongest links run between NSU_NHT_CCR, ISOM and LOUP, in both directions. The trace step found no upstream component for the alarm, so it names no root-cause unit.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Fixes 1 to 3 decide whether the next run can be read at all. Fix 4 is a short talk with the data owner. Fix 5 is the next step that RESULTS.md suggests, and it makes sense only after 1 to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4A3A"/>
        </a:solidFill>
        <a:effectLst/>
      </p:bgPr>
    </p:bg>
    <p:spTree>
      <p:nvGrpSpPr>
        <p:cNvPr id="1" name=""/>
        <p:cNvGrpSpPr/>
        <p:nvPr/>
      </p:nvGrpSpPr>
      <p:grpSpPr/>
      <p:sp>
        <p:nvSpPr>
          <p:cNvPr id="2" name="TextBox 1"/>
          <p:cNvSpPr txBox="1"/>
          <p:nvPr/>
        </p:nvSpPr>
        <p:spPr>
          <a:xfrm>
            <a:off x="822960" y="1051560"/>
            <a:ext cx="10058400" cy="320040"/>
          </a:xfrm>
          <a:prstGeom prst="rect">
            <a:avLst/>
          </a:prstGeom>
          <a:noFill/>
        </p:spPr>
        <p:txBody>
          <a:bodyPr wrap="square" lIns="0" rIns="0" tIns="0" bIns="0" anchor="t">
            <a:noAutofit/>
          </a:bodyPr>
          <a:lstStyle/>
          <a:p>
            <a:pPr algn="l">
              <a:lnSpc>
                <a:spcPct val="108000"/>
              </a:lnSpc>
            </a:pPr>
            <a:r>
              <a:rPr sz="1200" b="1" i="0">
                <a:solidFill>
                  <a:srgbClr val="C9D6C9"/>
                </a:solidFill>
                <a:latin typeface="Calibri"/>
              </a:rPr>
              <a:t>ROOT-CAUSE DETECTION  ·  PLANT FLARE DATA</a:t>
            </a:r>
          </a:p>
        </p:txBody>
      </p:sp>
      <p:sp>
        <p:nvSpPr>
          <p:cNvPr id="3" name="TextBox 2"/>
          <p:cNvSpPr txBox="1"/>
          <p:nvPr/>
        </p:nvSpPr>
        <p:spPr>
          <a:xfrm>
            <a:off x="822960" y="1554480"/>
            <a:ext cx="9875520" cy="2194560"/>
          </a:xfrm>
          <a:prstGeom prst="rect">
            <a:avLst/>
          </a:prstGeom>
          <a:noFill/>
        </p:spPr>
        <p:txBody>
          <a:bodyPr wrap="square" lIns="0" rIns="0" tIns="0" bIns="0" anchor="t">
            <a:noAutofit/>
          </a:bodyPr>
          <a:lstStyle/>
          <a:p>
            <a:pPr algn="l">
              <a:lnSpc>
                <a:spcPct val="100000"/>
              </a:lnSpc>
            </a:pPr>
            <a:r>
              <a:rPr sz="4000" b="0" i="0">
                <a:solidFill>
                  <a:srgbClr val="F7F5EF"/>
                </a:solidFill>
                <a:latin typeface="Georgia"/>
              </a:rPr>
              <a:t>PCA, PC algorithm and T² on the plant flare data: first results</a:t>
            </a:r>
          </a:p>
        </p:txBody>
      </p:sp>
      <p:cxnSp>
        <p:nvCxnSpPr>
          <p:cNvPr id="4" name="Connector 3"/>
          <p:cNvCxnSpPr/>
          <p:nvPr/>
        </p:nvCxnSpPr>
        <p:spPr>
          <a:xfrm>
            <a:off x="822960" y="3840480"/>
            <a:ext cx="1371600" cy="0"/>
          </a:xfrm>
          <a:prstGeom prst="line">
            <a:avLst/>
          </a:prstGeom>
          <a:ln w="31750">
            <a:solidFill>
              <a:srgbClr val="B79A5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4069080"/>
            <a:ext cx="9875520" cy="822960"/>
          </a:xfrm>
          <a:prstGeom prst="rect">
            <a:avLst/>
          </a:prstGeom>
          <a:noFill/>
        </p:spPr>
        <p:txBody>
          <a:bodyPr wrap="square" lIns="0" rIns="0" tIns="0" bIns="0" anchor="t">
            <a:noAutofit/>
          </a:bodyPr>
          <a:lstStyle/>
          <a:p>
            <a:pPr algn="l">
              <a:lnSpc>
                <a:spcPct val="108000"/>
              </a:lnSpc>
            </a:pPr>
            <a:r>
              <a:rPr sz="1800" b="0" i="0">
                <a:solidFill>
                  <a:srgbClr val="C9D6C9"/>
                </a:solidFill>
                <a:latin typeface="Calibri"/>
              </a:rPr>
              <a:t>What the pipeline found on 13 months of data from 13 units, how well it worked, and what to fix before the next run.</a:t>
            </a:r>
          </a:p>
        </p:txBody>
      </p:sp>
      <p:sp>
        <p:nvSpPr>
          <p:cNvPr id="6" name="TextBox 5"/>
          <p:cNvSpPr txBox="1"/>
          <p:nvPr/>
        </p:nvSpPr>
        <p:spPr>
          <a:xfrm>
            <a:off x="822960" y="5943600"/>
            <a:ext cx="9144000" cy="320040"/>
          </a:xfrm>
          <a:prstGeom prst="rect">
            <a:avLst/>
          </a:prstGeom>
          <a:noFill/>
        </p:spPr>
        <p:txBody>
          <a:bodyPr wrap="square" lIns="0" rIns="0" tIns="0" bIns="0" anchor="t">
            <a:noAutofit/>
          </a:bodyPr>
          <a:lstStyle/>
          <a:p>
            <a:pPr algn="l">
              <a:lnSpc>
                <a:spcPct val="108000"/>
              </a:lnSpc>
            </a:pPr>
            <a:r>
              <a:rPr sz="1200" b="0" i="0">
                <a:solidFill>
                  <a:srgbClr val="C9D6C9"/>
                </a:solidFill>
                <a:latin typeface="Calibri"/>
              </a:rPr>
              <a:t>Run on the lab computer, 22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SUMMARY</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The pipeline works, but the results are not usable yet</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pca_pc_t2/outputs/RESULTS.md, tables/ (lab computer run, 22 Oct 2026)</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2</a:t>
            </a:r>
          </a:p>
        </p:txBody>
      </p:sp>
      <p:sp>
        <p:nvSpPr>
          <p:cNvPr id="7" name="TextBox 6"/>
          <p:cNvSpPr txBox="1"/>
          <p:nvPr/>
        </p:nvSpPr>
        <p:spPr>
          <a:xfrm>
            <a:off x="594360" y="1965960"/>
            <a:ext cx="2103120" cy="685800"/>
          </a:xfrm>
          <a:prstGeom prst="rect">
            <a:avLst/>
          </a:prstGeom>
          <a:noFill/>
        </p:spPr>
        <p:txBody>
          <a:bodyPr wrap="square" lIns="0" rIns="0" tIns="0" bIns="0" anchor="t">
            <a:noAutofit/>
          </a:bodyPr>
          <a:lstStyle/>
          <a:p>
            <a:pPr algn="l">
              <a:lnSpc>
                <a:spcPct val="108000"/>
              </a:lnSpc>
            </a:pPr>
            <a:r>
              <a:rPr sz="3600" b="0" i="0">
                <a:solidFill>
                  <a:srgbClr val="B79A5B"/>
                </a:solidFill>
                <a:latin typeface="Georgia"/>
              </a:rPr>
              <a:t>99 %</a:t>
            </a:r>
          </a:p>
        </p:txBody>
      </p:sp>
      <p:sp>
        <p:nvSpPr>
          <p:cNvPr id="8" name="TextBox 7"/>
          <p:cNvSpPr txBox="1"/>
          <p:nvPr/>
        </p:nvSpPr>
        <p:spPr>
          <a:xfrm>
            <a:off x="2743200" y="1984248"/>
            <a:ext cx="4846320" cy="566928"/>
          </a:xfrm>
          <a:prstGeom prst="rect">
            <a:avLst/>
          </a:prstGeom>
          <a:noFill/>
        </p:spPr>
        <p:txBody>
          <a:bodyPr wrap="square" lIns="0" rIns="0" tIns="0" bIns="0" anchor="t">
            <a:noAutofit/>
          </a:bodyPr>
          <a:lstStyle/>
          <a:p>
            <a:pPr algn="l">
              <a:lnSpc>
                <a:spcPct val="108000"/>
              </a:lnSpc>
            </a:pPr>
            <a:r>
              <a:rPr sz="1600" b="1" i="0">
                <a:solidFill>
                  <a:srgbClr val="292D32"/>
                </a:solidFill>
                <a:latin typeface="Calibri"/>
              </a:rPr>
              <a:t>of the time is labelled as flaring</a:t>
            </a:r>
          </a:p>
        </p:txBody>
      </p:sp>
      <p:sp>
        <p:nvSpPr>
          <p:cNvPr id="9" name="TextBox 8"/>
          <p:cNvSpPr txBox="1"/>
          <p:nvPr/>
        </p:nvSpPr>
        <p:spPr>
          <a:xfrm>
            <a:off x="2743200" y="2569464"/>
            <a:ext cx="4846320" cy="640080"/>
          </a:xfrm>
          <a:prstGeom prst="rect">
            <a:avLst/>
          </a:prstGeom>
          <a:noFill/>
        </p:spPr>
        <p:txBody>
          <a:bodyPr wrap="square" lIns="0" rIns="0" tIns="0" bIns="0" anchor="t">
            <a:noAutofit/>
          </a:bodyPr>
          <a:lstStyle/>
          <a:p>
            <a:pPr algn="l">
              <a:lnSpc>
                <a:spcPct val="108000"/>
              </a:lnSpc>
            </a:pPr>
            <a:r>
              <a:rPr sz="1250" b="0" i="0">
                <a:solidFill>
                  <a:srgbClr val="5F656B"/>
                </a:solidFill>
                <a:latin typeface="Calibri"/>
              </a:rPr>
              <a:t>So the 'normal' training data is only 3.8 days long.</a:t>
            </a:r>
          </a:p>
        </p:txBody>
      </p:sp>
      <p:cxnSp>
        <p:nvCxnSpPr>
          <p:cNvPr id="10" name="Connector 9"/>
          <p:cNvCxnSpPr/>
          <p:nvPr/>
        </p:nvCxnSpPr>
        <p:spPr>
          <a:xfrm>
            <a:off x="594360" y="3246120"/>
            <a:ext cx="7040880"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3383280"/>
            <a:ext cx="2103120" cy="685800"/>
          </a:xfrm>
          <a:prstGeom prst="rect">
            <a:avLst/>
          </a:prstGeom>
          <a:noFill/>
        </p:spPr>
        <p:txBody>
          <a:bodyPr wrap="square" lIns="0" rIns="0" tIns="0" bIns="0" anchor="t">
            <a:noAutofit/>
          </a:bodyPr>
          <a:lstStyle/>
          <a:p>
            <a:pPr algn="l">
              <a:lnSpc>
                <a:spcPct val="108000"/>
              </a:lnSpc>
            </a:pPr>
            <a:r>
              <a:rPr sz="3600" b="0" i="0">
                <a:solidFill>
                  <a:srgbClr val="174A3A"/>
                </a:solidFill>
                <a:latin typeface="Georgia"/>
              </a:rPr>
              <a:t>2 states</a:t>
            </a:r>
          </a:p>
        </p:txBody>
      </p:sp>
      <p:sp>
        <p:nvSpPr>
          <p:cNvPr id="12" name="TextBox 11"/>
          <p:cNvSpPr txBox="1"/>
          <p:nvPr/>
        </p:nvSpPr>
        <p:spPr>
          <a:xfrm>
            <a:off x="2743200" y="3401568"/>
            <a:ext cx="4846320" cy="566928"/>
          </a:xfrm>
          <a:prstGeom prst="rect">
            <a:avLst/>
          </a:prstGeom>
          <a:noFill/>
        </p:spPr>
        <p:txBody>
          <a:bodyPr wrap="square" lIns="0" rIns="0" tIns="0" bIns="0" anchor="t">
            <a:noAutofit/>
          </a:bodyPr>
          <a:lstStyle/>
          <a:p>
            <a:pPr algn="l">
              <a:lnSpc>
                <a:spcPct val="108000"/>
              </a:lnSpc>
            </a:pPr>
            <a:r>
              <a:rPr sz="1600" b="1" i="0">
                <a:solidFill>
                  <a:srgbClr val="292D32"/>
                </a:solidFill>
                <a:latin typeface="Calibri"/>
              </a:rPr>
              <a:t>The plant switches between two operating states</a:t>
            </a:r>
          </a:p>
        </p:txBody>
      </p:sp>
      <p:sp>
        <p:nvSpPr>
          <p:cNvPr id="13" name="TextBox 12"/>
          <p:cNvSpPr txBox="1"/>
          <p:nvPr/>
        </p:nvSpPr>
        <p:spPr>
          <a:xfrm>
            <a:off x="2743200" y="3986784"/>
            <a:ext cx="4846320" cy="640080"/>
          </a:xfrm>
          <a:prstGeom prst="rect">
            <a:avLst/>
          </a:prstGeom>
          <a:noFill/>
        </p:spPr>
        <p:txBody>
          <a:bodyPr wrap="square" lIns="0" rIns="0" tIns="0" bIns="0" anchor="t">
            <a:noAutofit/>
          </a:bodyPr>
          <a:lstStyle/>
          <a:p>
            <a:pPr algn="l">
              <a:lnSpc>
                <a:spcPct val="108000"/>
              </a:lnSpc>
            </a:pPr>
            <a:r>
              <a:rPr sz="1250" b="0" i="0">
                <a:solidFill>
                  <a:srgbClr val="5F656B"/>
                </a:solidFill>
                <a:latin typeface="Calibri"/>
              </a:rPr>
              <a:t>The training data contains only one of them. Everything else looks abnormal.</a:t>
            </a:r>
          </a:p>
        </p:txBody>
      </p:sp>
      <p:cxnSp>
        <p:nvCxnSpPr>
          <p:cNvPr id="14" name="Connector 13"/>
          <p:cNvCxnSpPr/>
          <p:nvPr/>
        </p:nvCxnSpPr>
        <p:spPr>
          <a:xfrm>
            <a:off x="594360" y="4663440"/>
            <a:ext cx="7040880"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800600"/>
            <a:ext cx="2103120" cy="685800"/>
          </a:xfrm>
          <a:prstGeom prst="rect">
            <a:avLst/>
          </a:prstGeom>
          <a:noFill/>
        </p:spPr>
        <p:txBody>
          <a:bodyPr wrap="square" lIns="0" rIns="0" tIns="0" bIns="0" anchor="t">
            <a:noAutofit/>
          </a:bodyPr>
          <a:lstStyle/>
          <a:p>
            <a:pPr algn="l">
              <a:lnSpc>
                <a:spcPct val="108000"/>
              </a:lnSpc>
            </a:pPr>
            <a:r>
              <a:rPr sz="3600" b="0" i="0">
                <a:solidFill>
                  <a:srgbClr val="174A3A"/>
                </a:solidFill>
                <a:latin typeface="Georgia"/>
              </a:rPr>
              <a:t>1 tag</a:t>
            </a:r>
          </a:p>
        </p:txBody>
      </p:sp>
      <p:sp>
        <p:nvSpPr>
          <p:cNvPr id="16" name="TextBox 15"/>
          <p:cNvSpPr txBox="1"/>
          <p:nvPr/>
        </p:nvSpPr>
        <p:spPr>
          <a:xfrm>
            <a:off x="2743200" y="4818888"/>
            <a:ext cx="4846320" cy="566928"/>
          </a:xfrm>
          <a:prstGeom prst="rect">
            <a:avLst/>
          </a:prstGeom>
          <a:noFill/>
        </p:spPr>
        <p:txBody>
          <a:bodyPr wrap="square" lIns="0" rIns="0" tIns="0" bIns="0" anchor="t">
            <a:noAutofit/>
          </a:bodyPr>
          <a:lstStyle/>
          <a:p>
            <a:pPr algn="l">
              <a:lnSpc>
                <a:spcPct val="108000"/>
              </a:lnSpc>
            </a:pPr>
            <a:r>
              <a:rPr sz="1600" b="1" i="0">
                <a:solidFill>
                  <a:srgbClr val="292D32"/>
                </a:solidFill>
                <a:latin typeface="Calibri"/>
              </a:rPr>
              <a:t>One tag explains almost all of the biggest alarm</a:t>
            </a:r>
          </a:p>
        </p:txBody>
      </p:sp>
      <p:sp>
        <p:nvSpPr>
          <p:cNvPr id="17" name="TextBox 16"/>
          <p:cNvSpPr txBox="1"/>
          <p:nvPr/>
        </p:nvSpPr>
        <p:spPr>
          <a:xfrm>
            <a:off x="2743200" y="5404104"/>
            <a:ext cx="4846320" cy="640080"/>
          </a:xfrm>
          <a:prstGeom prst="rect">
            <a:avLst/>
          </a:prstGeom>
          <a:noFill/>
        </p:spPr>
        <p:txBody>
          <a:bodyPr wrap="square" lIns="0" rIns="0" tIns="0" bIns="0" anchor="t">
            <a:noAutofit/>
          </a:bodyPr>
          <a:lstStyle/>
          <a:p>
            <a:pPr algn="l">
              <a:lnSpc>
                <a:spcPct val="108000"/>
              </a:lnSpc>
            </a:pPr>
            <a:r>
              <a:rPr sz="1250" b="0" i="0">
                <a:solidFill>
                  <a:srgbClr val="5F656B"/>
                </a:solidFill>
                <a:latin typeface="Calibri"/>
              </a:rPr>
              <a:t>Tag 99PI3219 in LOUP. It needs a check before we trust the alarm.</a:t>
            </a:r>
          </a:p>
        </p:txBody>
      </p:sp>
      <p:sp>
        <p:nvSpPr>
          <p:cNvPr id="18" name="Rectangle 17"/>
          <p:cNvSpPr/>
          <p:nvPr/>
        </p:nvSpPr>
        <p:spPr>
          <a:xfrm>
            <a:off x="8092440" y="1920240"/>
            <a:ext cx="3502152" cy="425196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148840"/>
            <a:ext cx="3063240" cy="274320"/>
          </a:xfrm>
          <a:prstGeom prst="rect">
            <a:avLst/>
          </a:prstGeom>
          <a:noFill/>
        </p:spPr>
        <p:txBody>
          <a:bodyPr wrap="square" lIns="0" rIns="0" tIns="0" bIns="0" anchor="t">
            <a:noAutofit/>
          </a:bodyPr>
          <a:lstStyle/>
          <a:p>
            <a:pPr algn="l">
              <a:lnSpc>
                <a:spcPct val="108000"/>
              </a:lnSpc>
            </a:pPr>
            <a:r>
              <a:rPr sz="1100" b="1" i="0">
                <a:solidFill>
                  <a:srgbClr val="C9D6C9"/>
                </a:solidFill>
                <a:latin typeface="Calibri"/>
              </a:rPr>
              <a:t>WHAT WE NEED NEXT</a:t>
            </a:r>
          </a:p>
        </p:txBody>
      </p:sp>
      <p:sp>
        <p:nvSpPr>
          <p:cNvPr id="20" name="TextBox 19"/>
          <p:cNvSpPr txBox="1"/>
          <p:nvPr/>
        </p:nvSpPr>
        <p:spPr>
          <a:xfrm>
            <a:off x="8321040" y="2468880"/>
            <a:ext cx="3063240" cy="822960"/>
          </a:xfrm>
          <a:prstGeom prst="rect">
            <a:avLst/>
          </a:prstGeom>
          <a:noFill/>
        </p:spPr>
        <p:txBody>
          <a:bodyPr wrap="square" lIns="0" rIns="0" tIns="0" bIns="0" anchor="t">
            <a:noAutofit/>
          </a:bodyPr>
          <a:lstStyle/>
          <a:p>
            <a:pPr algn="l">
              <a:lnSpc>
                <a:spcPct val="100000"/>
              </a:lnSpc>
            </a:pPr>
            <a:r>
              <a:rPr sz="1900" b="0" i="0">
                <a:solidFill>
                  <a:srgbClr val="F7F5EF"/>
                </a:solidFill>
                <a:latin typeface="Georgia"/>
              </a:rPr>
              <a:t>Three fixes before the next run</a:t>
            </a:r>
          </a:p>
        </p:txBody>
      </p:sp>
      <p:sp>
        <p:nvSpPr>
          <p:cNvPr id="21" name="TextBox 20"/>
          <p:cNvSpPr txBox="1"/>
          <p:nvPr/>
        </p:nvSpPr>
        <p:spPr>
          <a:xfrm>
            <a:off x="8321040" y="3337560"/>
            <a:ext cx="320040" cy="365760"/>
          </a:xfrm>
          <a:prstGeom prst="rect">
            <a:avLst/>
          </a:prstGeom>
          <a:noFill/>
        </p:spPr>
        <p:txBody>
          <a:bodyPr wrap="square" lIns="0" rIns="0" tIns="0" bIns="0" anchor="t">
            <a:noAutofit/>
          </a:bodyPr>
          <a:lstStyle/>
          <a:p>
            <a:pPr algn="l">
              <a:lnSpc>
                <a:spcPct val="108000"/>
              </a:lnSpc>
            </a:pPr>
            <a:r>
              <a:rPr sz="2000" b="0" i="0">
                <a:solidFill>
                  <a:srgbClr val="C9D6C9"/>
                </a:solidFill>
                <a:latin typeface="Georgia"/>
              </a:rPr>
              <a:t>1</a:t>
            </a:r>
          </a:p>
        </p:txBody>
      </p:sp>
      <p:sp>
        <p:nvSpPr>
          <p:cNvPr id="22" name="TextBox 21"/>
          <p:cNvSpPr txBox="1"/>
          <p:nvPr/>
        </p:nvSpPr>
        <p:spPr>
          <a:xfrm>
            <a:off x="8686800" y="3364991"/>
            <a:ext cx="2697480" cy="822960"/>
          </a:xfrm>
          <a:prstGeom prst="rect">
            <a:avLst/>
          </a:prstGeom>
          <a:noFill/>
        </p:spPr>
        <p:txBody>
          <a:bodyPr wrap="square" lIns="0" rIns="0" tIns="0" bIns="0" anchor="t">
            <a:noAutofit/>
          </a:bodyPr>
          <a:lstStyle/>
          <a:p>
            <a:pPr algn="l">
              <a:lnSpc>
                <a:spcPct val="108000"/>
              </a:lnSpc>
            </a:pPr>
            <a:r>
              <a:rPr sz="1300" b="0" i="0">
                <a:solidFill>
                  <a:srgbClr val="F7F5EF"/>
                </a:solidFill>
                <a:latin typeface="Calibri"/>
              </a:rPr>
              <a:t>Build the flare labels again, signal by signal</a:t>
            </a:r>
          </a:p>
        </p:txBody>
      </p:sp>
      <p:sp>
        <p:nvSpPr>
          <p:cNvPr id="23" name="TextBox 22"/>
          <p:cNvSpPr txBox="1"/>
          <p:nvPr/>
        </p:nvSpPr>
        <p:spPr>
          <a:xfrm>
            <a:off x="8321040" y="4251960"/>
            <a:ext cx="320040" cy="365760"/>
          </a:xfrm>
          <a:prstGeom prst="rect">
            <a:avLst/>
          </a:prstGeom>
          <a:noFill/>
        </p:spPr>
        <p:txBody>
          <a:bodyPr wrap="square" lIns="0" rIns="0" tIns="0" bIns="0" anchor="t">
            <a:noAutofit/>
          </a:bodyPr>
          <a:lstStyle/>
          <a:p>
            <a:pPr algn="l">
              <a:lnSpc>
                <a:spcPct val="108000"/>
              </a:lnSpc>
            </a:pPr>
            <a:r>
              <a:rPr sz="2000" b="0" i="0">
                <a:solidFill>
                  <a:srgbClr val="C9D6C9"/>
                </a:solidFill>
                <a:latin typeface="Georgia"/>
              </a:rPr>
              <a:t>2</a:t>
            </a:r>
          </a:p>
        </p:txBody>
      </p:sp>
      <p:sp>
        <p:nvSpPr>
          <p:cNvPr id="24" name="TextBox 23"/>
          <p:cNvSpPr txBox="1"/>
          <p:nvPr/>
        </p:nvSpPr>
        <p:spPr>
          <a:xfrm>
            <a:off x="8686800" y="4279392"/>
            <a:ext cx="2697480" cy="822960"/>
          </a:xfrm>
          <a:prstGeom prst="rect">
            <a:avLst/>
          </a:prstGeom>
          <a:noFill/>
        </p:spPr>
        <p:txBody>
          <a:bodyPr wrap="square" lIns="0" rIns="0" tIns="0" bIns="0" anchor="t">
            <a:noAutofit/>
          </a:bodyPr>
          <a:lstStyle/>
          <a:p>
            <a:pPr algn="l">
              <a:lnSpc>
                <a:spcPct val="108000"/>
              </a:lnSpc>
            </a:pPr>
            <a:r>
              <a:rPr sz="1300" b="0" i="0">
                <a:solidFill>
                  <a:srgbClr val="F7F5EF"/>
                </a:solidFill>
                <a:latin typeface="Calibri"/>
              </a:rPr>
              <a:t>Build a normal baseline that covers both operating states</a:t>
            </a:r>
          </a:p>
        </p:txBody>
      </p:sp>
      <p:sp>
        <p:nvSpPr>
          <p:cNvPr id="25" name="TextBox 24"/>
          <p:cNvSpPr txBox="1"/>
          <p:nvPr/>
        </p:nvSpPr>
        <p:spPr>
          <a:xfrm>
            <a:off x="8321040" y="5166360"/>
            <a:ext cx="320040" cy="365760"/>
          </a:xfrm>
          <a:prstGeom prst="rect">
            <a:avLst/>
          </a:prstGeom>
          <a:noFill/>
        </p:spPr>
        <p:txBody>
          <a:bodyPr wrap="square" lIns="0" rIns="0" tIns="0" bIns="0" anchor="t">
            <a:noAutofit/>
          </a:bodyPr>
          <a:lstStyle/>
          <a:p>
            <a:pPr algn="l">
              <a:lnSpc>
                <a:spcPct val="108000"/>
              </a:lnSpc>
            </a:pPr>
            <a:r>
              <a:rPr sz="2000" b="0" i="0">
                <a:solidFill>
                  <a:srgbClr val="C9D6C9"/>
                </a:solidFill>
                <a:latin typeface="Georgia"/>
              </a:rPr>
              <a:t>3</a:t>
            </a:r>
          </a:p>
        </p:txBody>
      </p:sp>
      <p:sp>
        <p:nvSpPr>
          <p:cNvPr id="26" name="TextBox 25"/>
          <p:cNvSpPr txBox="1"/>
          <p:nvPr/>
        </p:nvSpPr>
        <p:spPr>
          <a:xfrm>
            <a:off x="8686800" y="5193792"/>
            <a:ext cx="2697480" cy="822960"/>
          </a:xfrm>
          <a:prstGeom prst="rect">
            <a:avLst/>
          </a:prstGeom>
          <a:noFill/>
        </p:spPr>
        <p:txBody>
          <a:bodyPr wrap="square" lIns="0" rIns="0" tIns="0" bIns="0" anchor="t">
            <a:noAutofit/>
          </a:bodyPr>
          <a:lstStyle/>
          <a:p>
            <a:pPr algn="l">
              <a:lnSpc>
                <a:spcPct val="108000"/>
              </a:lnSpc>
            </a:pPr>
            <a:r>
              <a:rPr sz="1300" b="0" i="0">
                <a:solidFill>
                  <a:srgbClr val="F7F5EF"/>
                </a:solidFill>
                <a:latin typeface="Calibri"/>
              </a:rPr>
              <a:t>Check tag 99PI3219 for a sensor fault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WHAT WE RAN</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We ran six steps, from raw data to root-cause hypotheses</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prompts/CLAUDE_CLI_PROMPT_PCA_PC_T2.md; pca_pc_t2/src; pca_pc_t2/outputs/run.log</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3</a:t>
            </a:r>
          </a:p>
        </p:txBody>
      </p:sp>
      <p:sp>
        <p:nvSpPr>
          <p:cNvPr id="7" name="Rectangle 6"/>
          <p:cNvSpPr/>
          <p:nvPr/>
        </p:nvSpPr>
        <p:spPr>
          <a:xfrm>
            <a:off x="594360" y="2103120"/>
            <a:ext cx="1600200" cy="182880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1325880" cy="320040"/>
          </a:xfrm>
          <a:prstGeom prst="rect">
            <a:avLst/>
          </a:prstGeom>
          <a:noFill/>
        </p:spPr>
        <p:txBody>
          <a:bodyPr wrap="square" lIns="0" rIns="0" tIns="0" bIns="0" anchor="t">
            <a:noAutofit/>
          </a:bodyPr>
          <a:lstStyle/>
          <a:p>
            <a:pPr algn="l">
              <a:lnSpc>
                <a:spcPct val="108000"/>
              </a:lnSpc>
            </a:pPr>
            <a:r>
              <a:rPr sz="1300" b="1" i="0">
                <a:solidFill>
                  <a:srgbClr val="C9D6C9"/>
                </a:solidFill>
                <a:latin typeface="Calibri"/>
              </a:rPr>
              <a:t>1  Audit</a:t>
            </a:r>
          </a:p>
        </p:txBody>
      </p:sp>
      <p:sp>
        <p:nvSpPr>
          <p:cNvPr id="9" name="TextBox 8"/>
          <p:cNvSpPr txBox="1"/>
          <p:nvPr/>
        </p:nvSpPr>
        <p:spPr>
          <a:xfrm>
            <a:off x="731520" y="2651760"/>
            <a:ext cx="1325880" cy="1188720"/>
          </a:xfrm>
          <a:prstGeom prst="rect">
            <a:avLst/>
          </a:prstGeom>
          <a:noFill/>
        </p:spPr>
        <p:txBody>
          <a:bodyPr wrap="square" lIns="0" rIns="0" tIns="0" bIns="0" anchor="t">
            <a:noAutofit/>
          </a:bodyPr>
          <a:lstStyle/>
          <a:p>
            <a:pPr algn="l">
              <a:lnSpc>
                <a:spcPct val="108000"/>
              </a:lnSpc>
            </a:pPr>
            <a:r>
              <a:rPr sz="1200" b="0" i="0">
                <a:solidFill>
                  <a:srgbClr val="F7F5EF"/>
                </a:solidFill>
                <a:latin typeface="Calibri"/>
              </a:rPr>
              <a:t>376 tags found in 13 units (418 expected)</a:t>
            </a:r>
          </a:p>
        </p:txBody>
      </p:sp>
      <p:cxnSp>
        <p:nvCxnSpPr>
          <p:cNvPr id="10" name="Connector 9"/>
          <p:cNvCxnSpPr/>
          <p:nvPr/>
        </p:nvCxnSpPr>
        <p:spPr>
          <a:xfrm>
            <a:off x="2231136" y="3017520"/>
            <a:ext cx="207203" cy="0"/>
          </a:xfrm>
          <a:prstGeom prst="line">
            <a:avLst/>
          </a:prstGeom>
          <a:ln w="19050">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474915" y="2103120"/>
            <a:ext cx="1600200" cy="182880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12075" y="2240280"/>
            <a:ext cx="1325880" cy="32004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2  Clean</a:t>
            </a:r>
          </a:p>
        </p:txBody>
      </p:sp>
      <p:sp>
        <p:nvSpPr>
          <p:cNvPr id="13" name="TextBox 12"/>
          <p:cNvSpPr txBox="1"/>
          <p:nvPr/>
        </p:nvSpPr>
        <p:spPr>
          <a:xfrm>
            <a:off x="2612075" y="2651760"/>
            <a:ext cx="1325880"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355 tags kept; 581,761 one-minute rows</a:t>
            </a:r>
          </a:p>
        </p:txBody>
      </p:sp>
      <p:cxnSp>
        <p:nvCxnSpPr>
          <p:cNvPr id="14" name="Connector 13"/>
          <p:cNvCxnSpPr/>
          <p:nvPr/>
        </p:nvCxnSpPr>
        <p:spPr>
          <a:xfrm>
            <a:off x="4111691" y="3017520"/>
            <a:ext cx="207203" cy="0"/>
          </a:xfrm>
          <a:prstGeom prst="line">
            <a:avLst/>
          </a:prstGeom>
          <a:ln w="19050">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55470" y="2103120"/>
            <a:ext cx="1600200" cy="182880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2630" y="2240280"/>
            <a:ext cx="1325880" cy="32004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3  PCA</a:t>
            </a:r>
          </a:p>
        </p:txBody>
      </p:sp>
      <p:sp>
        <p:nvSpPr>
          <p:cNvPr id="17" name="TextBox 16"/>
          <p:cNvSpPr txBox="1"/>
          <p:nvPr/>
        </p:nvSpPr>
        <p:spPr>
          <a:xfrm>
            <a:off x="4492630" y="2651760"/>
            <a:ext cx="1325880"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26 components keep 89% of the variation</a:t>
            </a:r>
          </a:p>
        </p:txBody>
      </p:sp>
      <p:cxnSp>
        <p:nvCxnSpPr>
          <p:cNvPr id="18" name="Connector 17"/>
          <p:cNvCxnSpPr/>
          <p:nvPr/>
        </p:nvCxnSpPr>
        <p:spPr>
          <a:xfrm>
            <a:off x="5992246" y="3017520"/>
            <a:ext cx="207203" cy="0"/>
          </a:xfrm>
          <a:prstGeom prst="line">
            <a:avLst/>
          </a:prstGeom>
          <a:ln w="19050">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6025" y="2103120"/>
            <a:ext cx="1600200" cy="182880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185" y="2240280"/>
            <a:ext cx="1325880" cy="32004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4  PC algorithm</a:t>
            </a:r>
          </a:p>
        </p:txBody>
      </p:sp>
      <p:sp>
        <p:nvSpPr>
          <p:cNvPr id="21" name="TextBox 20"/>
          <p:cNvSpPr txBox="1"/>
          <p:nvPr/>
        </p:nvSpPr>
        <p:spPr>
          <a:xfrm>
            <a:off x="6373185" y="2651760"/>
            <a:ext cx="1325880"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Finds links between the 26 components</a:t>
            </a:r>
          </a:p>
        </p:txBody>
      </p:sp>
      <p:cxnSp>
        <p:nvCxnSpPr>
          <p:cNvPr id="22" name="Connector 21"/>
          <p:cNvCxnSpPr/>
          <p:nvPr/>
        </p:nvCxnSpPr>
        <p:spPr>
          <a:xfrm>
            <a:off x="7872801" y="3017520"/>
            <a:ext cx="207203" cy="0"/>
          </a:xfrm>
          <a:prstGeom prst="line">
            <a:avLst/>
          </a:prstGeom>
          <a:ln w="19050">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116580" y="2103120"/>
            <a:ext cx="1600200" cy="182880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3740" y="2240280"/>
            <a:ext cx="1325880" cy="32004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5  T² and Q</a:t>
            </a:r>
          </a:p>
        </p:txBody>
      </p:sp>
      <p:sp>
        <p:nvSpPr>
          <p:cNvPr id="25" name="TextBox 24"/>
          <p:cNvSpPr txBox="1"/>
          <p:nvPr/>
        </p:nvSpPr>
        <p:spPr>
          <a:xfrm>
            <a:off x="8253740" y="2651760"/>
            <a:ext cx="1325880"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Raises an alarm when the plant moves away from normal</a:t>
            </a:r>
          </a:p>
        </p:txBody>
      </p:sp>
      <p:cxnSp>
        <p:nvCxnSpPr>
          <p:cNvPr id="26" name="Connector 25"/>
          <p:cNvCxnSpPr/>
          <p:nvPr/>
        </p:nvCxnSpPr>
        <p:spPr>
          <a:xfrm>
            <a:off x="9753356" y="3017520"/>
            <a:ext cx="207203" cy="0"/>
          </a:xfrm>
          <a:prstGeom prst="line">
            <a:avLst/>
          </a:prstGeom>
          <a:ln w="19050">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997135" y="2103120"/>
            <a:ext cx="1600200" cy="182880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34295" y="2240280"/>
            <a:ext cx="1325880" cy="32004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6  Trace</a:t>
            </a:r>
          </a:p>
        </p:txBody>
      </p:sp>
      <p:sp>
        <p:nvSpPr>
          <p:cNvPr id="29" name="TextBox 28"/>
          <p:cNvSpPr txBox="1"/>
          <p:nvPr/>
        </p:nvSpPr>
        <p:spPr>
          <a:xfrm>
            <a:off x="10134295" y="2651760"/>
            <a:ext cx="1325880"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Walks back from an alarm to a candidate unit</a:t>
            </a:r>
          </a:p>
        </p:txBody>
      </p:sp>
      <p:sp>
        <p:nvSpPr>
          <p:cNvPr id="30" name="TextBox 29"/>
          <p:cNvSpPr txBox="1"/>
          <p:nvPr/>
        </p:nvSpPr>
        <p:spPr>
          <a:xfrm>
            <a:off x="594360" y="4343400"/>
            <a:ext cx="5120640" cy="274320"/>
          </a:xfrm>
          <a:prstGeom prst="rect">
            <a:avLst/>
          </a:prstGeom>
          <a:noFill/>
        </p:spPr>
        <p:txBody>
          <a:bodyPr wrap="square" lIns="0" rIns="0" tIns="0" bIns="0" anchor="t">
            <a:noAutofit/>
          </a:bodyPr>
          <a:lstStyle/>
          <a:p>
            <a:pPr algn="l">
              <a:lnSpc>
                <a:spcPct val="108000"/>
              </a:lnSpc>
            </a:pPr>
            <a:r>
              <a:rPr sz="1400" b="1" i="0">
                <a:solidFill>
                  <a:srgbClr val="174A3A"/>
                </a:solidFill>
                <a:latin typeface="Calibri"/>
              </a:rPr>
              <a:t>How the data was split</a:t>
            </a:r>
          </a:p>
        </p:txBody>
      </p:sp>
      <p:sp>
        <p:nvSpPr>
          <p:cNvPr id="31" name="TextBox 30"/>
          <p:cNvSpPr txBox="1"/>
          <p:nvPr/>
        </p:nvSpPr>
        <p:spPr>
          <a:xfrm>
            <a:off x="594360" y="4681728"/>
            <a:ext cx="5120640" cy="1371600"/>
          </a:xfrm>
          <a:prstGeom prst="rect">
            <a:avLst/>
          </a:prstGeom>
          <a:noFill/>
        </p:spPr>
        <p:txBody>
          <a:bodyPr wrap="square" lIns="0" rIns="0" tIns="0" bIns="0" anchor="t">
            <a:noAutofit/>
          </a:bodyPr>
          <a:lstStyle/>
          <a:p>
            <a:pPr algn="l">
              <a:lnSpc>
                <a:spcPct val="108000"/>
              </a:lnSpc>
              <a:spcAft>
                <a:spcPts val="600"/>
              </a:spcAft>
            </a:pPr>
            <a:r>
              <a:rPr sz="1250" b="0" i="0">
                <a:solidFill>
                  <a:srgbClr val="292D32"/>
                </a:solidFill>
                <a:latin typeface="Calibri"/>
              </a:rPr>
              <a:t>Training data: the first 60% of the time, minus the flare windows and 2 hours either side.</a:t>
            </a:r>
          </a:p>
          <a:p>
            <a:pPr algn="l">
              <a:lnSpc>
                <a:spcPct val="108000"/>
              </a:lnSpc>
            </a:pPr>
            <a:r>
              <a:rPr sz="1250" b="0" i="0">
                <a:solidFill>
                  <a:srgbClr val="292D32"/>
                </a:solidFill>
                <a:latin typeface="Calibri"/>
              </a:rPr>
              <a:t>Test data: everything else, including all flare windows.</a:t>
            </a:r>
          </a:p>
        </p:txBody>
      </p:sp>
      <p:sp>
        <p:nvSpPr>
          <p:cNvPr id="32" name="TextBox 31"/>
          <p:cNvSpPr txBox="1"/>
          <p:nvPr/>
        </p:nvSpPr>
        <p:spPr>
          <a:xfrm>
            <a:off x="6309360" y="4343400"/>
            <a:ext cx="5285232" cy="274320"/>
          </a:xfrm>
          <a:prstGeom prst="rect">
            <a:avLst/>
          </a:prstGeom>
          <a:noFill/>
        </p:spPr>
        <p:txBody>
          <a:bodyPr wrap="square" lIns="0" rIns="0" tIns="0" bIns="0" anchor="t">
            <a:noAutofit/>
          </a:bodyPr>
          <a:lstStyle/>
          <a:p>
            <a:pPr algn="l">
              <a:lnSpc>
                <a:spcPct val="108000"/>
              </a:lnSpc>
            </a:pPr>
            <a:r>
              <a:rPr sz="1400" b="1" i="0">
                <a:solidFill>
                  <a:srgbClr val="174A3A"/>
                </a:solidFill>
                <a:latin typeface="Calibri"/>
              </a:rPr>
              <a:t>How the run went</a:t>
            </a:r>
          </a:p>
        </p:txBody>
      </p:sp>
      <p:sp>
        <p:nvSpPr>
          <p:cNvPr id="33" name="TextBox 32"/>
          <p:cNvSpPr txBox="1"/>
          <p:nvPr/>
        </p:nvSpPr>
        <p:spPr>
          <a:xfrm>
            <a:off x="6309360" y="4681728"/>
            <a:ext cx="5285232" cy="1371600"/>
          </a:xfrm>
          <a:prstGeom prst="rect">
            <a:avLst/>
          </a:prstGeom>
          <a:noFill/>
        </p:spPr>
        <p:txBody>
          <a:bodyPr wrap="square" lIns="0" rIns="0" tIns="0" bIns="0" anchor="t">
            <a:noAutofit/>
          </a:bodyPr>
          <a:lstStyle/>
          <a:p>
            <a:pPr algn="l">
              <a:lnSpc>
                <a:spcPct val="108000"/>
              </a:lnSpc>
              <a:spcAft>
                <a:spcPts val="600"/>
              </a:spcAft>
            </a:pPr>
            <a:r>
              <a:rPr sz="1250" b="0" i="0">
                <a:solidFill>
                  <a:srgbClr val="292D32"/>
                </a:solidFill>
                <a:latin typeface="Calibri"/>
              </a:rPr>
              <a:t>All self-checks passed. The run took about 1.5 hours on the lab computer.</a:t>
            </a:r>
          </a:p>
          <a:p>
            <a:pPr algn="l">
              <a:lnSpc>
                <a:spcPct val="108000"/>
              </a:lnSpc>
            </a:pPr>
            <a:r>
              <a:rPr sz="1250" b="0" i="0">
                <a:solidFill>
                  <a:srgbClr val="292D32"/>
                </a:solidFill>
                <a:latin typeface="Calibri"/>
              </a:rPr>
              <a:t>Most of that time went to the PC algorithm and its stability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THE DATA</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We used 13 months of one-minute data from 13 units</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pca_pc_t2/outputs/00_data_audit.md; tables/missing_by_unit.csv, dropped_tags.csv</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4</a:t>
            </a:r>
          </a:p>
        </p:txBody>
      </p:sp>
      <p:sp>
        <p:nvSpPr>
          <p:cNvPr id="7" name="Rectangle 6"/>
          <p:cNvSpPr/>
          <p:nvPr/>
        </p:nvSpPr>
        <p:spPr>
          <a:xfrm>
            <a:off x="594360" y="1965960"/>
            <a:ext cx="6035040" cy="51206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0" tIns="0" bIns="0">
            <a:noAutofit/>
          </a:bodyPr>
          <a:lstStyle/>
          <a:p>
            <a:pPr algn="l">
              <a:lnSpc>
                <a:spcPct val="108000"/>
              </a:lnSpc>
            </a:pPr>
            <a:r>
              <a:rPr sz="1600" b="1" i="0">
                <a:solidFill>
                  <a:srgbClr val="292D32"/>
                </a:solidFill>
                <a:latin typeface="Calibri"/>
              </a:rPr>
              <a:t>418  </a:t>
            </a:r>
            <a:r>
              <a:rPr sz="1300" b="0" i="0">
                <a:solidFill>
                  <a:srgbClr val="292D32"/>
                </a:solidFill>
                <a:latin typeface="Calibri"/>
              </a:rPr>
              <a:t>tags expected</a:t>
            </a:r>
          </a:p>
        </p:txBody>
      </p:sp>
      <p:sp>
        <p:nvSpPr>
          <p:cNvPr id="8" name="Rectangle 7"/>
          <p:cNvSpPr/>
          <p:nvPr/>
        </p:nvSpPr>
        <p:spPr>
          <a:xfrm>
            <a:off x="594360" y="2606039"/>
            <a:ext cx="5428648" cy="51206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0" tIns="0" bIns="0">
            <a:noAutofit/>
          </a:bodyPr>
          <a:lstStyle/>
          <a:p>
            <a:pPr algn="l">
              <a:lnSpc>
                <a:spcPct val="108000"/>
              </a:lnSpc>
            </a:pPr>
            <a:r>
              <a:rPr sz="1600" b="1" i="0">
                <a:solidFill>
                  <a:srgbClr val="292D32"/>
                </a:solidFill>
                <a:latin typeface="Calibri"/>
              </a:rPr>
              <a:t>376  </a:t>
            </a:r>
            <a:r>
              <a:rPr sz="1300" b="0" i="0">
                <a:solidFill>
                  <a:srgbClr val="292D32"/>
                </a:solidFill>
                <a:latin typeface="Calibri"/>
              </a:rPr>
              <a:t>tags found in the unit folders</a:t>
            </a:r>
          </a:p>
        </p:txBody>
      </p:sp>
      <p:sp>
        <p:nvSpPr>
          <p:cNvPr id="9" name="TextBox 8"/>
          <p:cNvSpPr txBox="1"/>
          <p:nvPr/>
        </p:nvSpPr>
        <p:spPr>
          <a:xfrm>
            <a:off x="6160168" y="2606039"/>
            <a:ext cx="2618071" cy="512064"/>
          </a:xfrm>
          <a:prstGeom prst="rect">
            <a:avLst/>
          </a:prstGeom>
          <a:noFill/>
        </p:spPr>
        <p:txBody>
          <a:bodyPr wrap="square" lIns="0" rIns="0" tIns="0" bIns="0" anchor="ctr">
            <a:noAutofit/>
          </a:bodyPr>
          <a:lstStyle/>
          <a:p>
            <a:pPr algn="l">
              <a:lnSpc>
                <a:spcPct val="108000"/>
              </a:lnSpc>
            </a:pPr>
            <a:r>
              <a:rPr sz="1100" b="0" i="0">
                <a:solidFill>
                  <a:srgbClr val="5F656B"/>
                </a:solidFill>
                <a:latin typeface="Calibri"/>
              </a:rPr>
              <a:t>42 tags not found. Reason not known yet.</a:t>
            </a:r>
          </a:p>
        </p:txBody>
      </p:sp>
      <p:sp>
        <p:nvSpPr>
          <p:cNvPr id="10" name="Rectangle 9"/>
          <p:cNvSpPr/>
          <p:nvPr/>
        </p:nvSpPr>
        <p:spPr>
          <a:xfrm>
            <a:off x="594360" y="3246120"/>
            <a:ext cx="5125452" cy="512064"/>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0" tIns="0" bIns="0">
            <a:noAutofit/>
          </a:bodyPr>
          <a:lstStyle/>
          <a:p>
            <a:pPr algn="l">
              <a:lnSpc>
                <a:spcPct val="108000"/>
              </a:lnSpc>
            </a:pPr>
            <a:r>
              <a:rPr sz="1600" b="1" i="0">
                <a:solidFill>
                  <a:srgbClr val="F7F5EF"/>
                </a:solidFill>
                <a:latin typeface="Calibri"/>
              </a:rPr>
              <a:t>355  </a:t>
            </a:r>
            <a:r>
              <a:rPr sz="1300" b="0" i="0">
                <a:solidFill>
                  <a:srgbClr val="F7F5EF"/>
                </a:solidFill>
                <a:latin typeface="Calibri"/>
              </a:rPr>
              <a:t>tags kept after cleaning</a:t>
            </a:r>
          </a:p>
        </p:txBody>
      </p:sp>
      <p:sp>
        <p:nvSpPr>
          <p:cNvPr id="11" name="TextBox 10"/>
          <p:cNvSpPr txBox="1"/>
          <p:nvPr/>
        </p:nvSpPr>
        <p:spPr>
          <a:xfrm>
            <a:off x="5856972" y="3246120"/>
            <a:ext cx="2921267" cy="512064"/>
          </a:xfrm>
          <a:prstGeom prst="rect">
            <a:avLst/>
          </a:prstGeom>
          <a:noFill/>
        </p:spPr>
        <p:txBody>
          <a:bodyPr wrap="square" lIns="0" rIns="0" tIns="0" bIns="0" anchor="ctr">
            <a:noAutofit/>
          </a:bodyPr>
          <a:lstStyle/>
          <a:p>
            <a:pPr algn="l">
              <a:lnSpc>
                <a:spcPct val="108000"/>
              </a:lnSpc>
            </a:pPr>
            <a:r>
              <a:rPr sz="1100" b="0" i="0">
                <a:solidFill>
                  <a:srgbClr val="5F656B"/>
                </a:solidFill>
                <a:latin typeface="Calibri"/>
              </a:rPr>
              <a:t>21 dropped: 8 had over 30% missing, 13 never changed</a:t>
            </a:r>
          </a:p>
        </p:txBody>
      </p:sp>
      <p:sp>
        <p:nvSpPr>
          <p:cNvPr id="12" name="TextBox 11"/>
          <p:cNvSpPr txBox="1"/>
          <p:nvPr/>
        </p:nvSpPr>
        <p:spPr>
          <a:xfrm>
            <a:off x="594360" y="4069080"/>
            <a:ext cx="813816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Missing data by unit, before and after cleaning (units above 0.1% only)</a:t>
            </a:r>
          </a:p>
        </p:txBody>
      </p:sp>
      <p:sp>
        <p:nvSpPr>
          <p:cNvPr id="13" name="TextBox 12"/>
          <p:cNvSpPr txBox="1"/>
          <p:nvPr/>
        </p:nvSpPr>
        <p:spPr>
          <a:xfrm>
            <a:off x="594360" y="4480560"/>
            <a:ext cx="155448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NSU_NHT_CCR</a:t>
            </a:r>
          </a:p>
        </p:txBody>
      </p:sp>
      <p:sp>
        <p:nvSpPr>
          <p:cNvPr id="14" name="Rectangle 13"/>
          <p:cNvSpPr/>
          <p:nvPr/>
        </p:nvSpPr>
        <p:spPr>
          <a:xfrm>
            <a:off x="2240280" y="4498848"/>
            <a:ext cx="3941230" cy="10972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40280" y="4626864"/>
            <a:ext cx="2455511" cy="10972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950" y="4480560"/>
            <a:ext cx="146304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8.3% → 5.2%</a:t>
            </a:r>
          </a:p>
        </p:txBody>
      </p:sp>
      <p:sp>
        <p:nvSpPr>
          <p:cNvPr id="17" name="TextBox 16"/>
          <p:cNvSpPr txBox="1"/>
          <p:nvPr/>
        </p:nvSpPr>
        <p:spPr>
          <a:xfrm>
            <a:off x="594360" y="4828032"/>
            <a:ext cx="155448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ISOM_4</a:t>
            </a:r>
          </a:p>
        </p:txBody>
      </p:sp>
      <p:sp>
        <p:nvSpPr>
          <p:cNvPr id="18" name="Rectangle 17"/>
          <p:cNvSpPr/>
          <p:nvPr/>
        </p:nvSpPr>
        <p:spPr>
          <a:xfrm>
            <a:off x="2240280" y="4846320"/>
            <a:ext cx="3923079" cy="10972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40280" y="4974336"/>
            <a:ext cx="3923079" cy="10972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4799" y="4828032"/>
            <a:ext cx="146304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8.3% → 8.3%</a:t>
            </a:r>
          </a:p>
        </p:txBody>
      </p:sp>
      <p:sp>
        <p:nvSpPr>
          <p:cNvPr id="21" name="TextBox 20"/>
          <p:cNvSpPr txBox="1"/>
          <p:nvPr/>
        </p:nvSpPr>
        <p:spPr>
          <a:xfrm>
            <a:off x="594360" y="5175504"/>
            <a:ext cx="155448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PG</a:t>
            </a:r>
          </a:p>
        </p:txBody>
      </p:sp>
      <p:sp>
        <p:nvSpPr>
          <p:cNvPr id="22" name="Rectangle 21"/>
          <p:cNvSpPr/>
          <p:nvPr/>
        </p:nvSpPr>
        <p:spPr>
          <a:xfrm>
            <a:off x="2240280" y="5193792"/>
            <a:ext cx="96012" cy="10972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40280" y="5321807"/>
            <a:ext cx="101346" cy="10972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3066" y="5175504"/>
            <a:ext cx="146304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0.2% → 0.2%</a:t>
            </a:r>
          </a:p>
        </p:txBody>
      </p:sp>
      <p:sp>
        <p:nvSpPr>
          <p:cNvPr id="25" name="TextBox 24"/>
          <p:cNvSpPr txBox="1"/>
          <p:nvPr/>
        </p:nvSpPr>
        <p:spPr>
          <a:xfrm>
            <a:off x="594360" y="5522976"/>
            <a:ext cx="155448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ISOM_3</a:t>
            </a:r>
          </a:p>
        </p:txBody>
      </p:sp>
      <p:sp>
        <p:nvSpPr>
          <p:cNvPr id="26" name="Rectangle 25"/>
          <p:cNvSpPr/>
          <p:nvPr/>
        </p:nvSpPr>
        <p:spPr>
          <a:xfrm>
            <a:off x="2240280" y="5541264"/>
            <a:ext cx="75660" cy="10972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40280" y="5669280"/>
            <a:ext cx="75660" cy="10972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7380" y="5522976"/>
            <a:ext cx="146304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0.2% → 0.2%</a:t>
            </a:r>
          </a:p>
        </p:txBody>
      </p:sp>
      <p:sp>
        <p:nvSpPr>
          <p:cNvPr id="29" name="Rectangle 28"/>
          <p:cNvSpPr/>
          <p:nvPr/>
        </p:nvSpPr>
        <p:spPr>
          <a:xfrm>
            <a:off x="2240280" y="5961888"/>
            <a:ext cx="164592" cy="128016"/>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68880" y="5916168"/>
            <a:ext cx="1280160" cy="237744"/>
          </a:xfrm>
          <a:prstGeom prst="rect">
            <a:avLst/>
          </a:prstGeom>
          <a:noFill/>
        </p:spPr>
        <p:txBody>
          <a:bodyPr wrap="square" lIns="0" rIns="0" tIns="0" bIns="0" anchor="t">
            <a:noAutofit/>
          </a:bodyPr>
          <a:lstStyle/>
          <a:p>
            <a:pPr algn="l">
              <a:lnSpc>
                <a:spcPct val="108000"/>
              </a:lnSpc>
            </a:pPr>
            <a:r>
              <a:rPr sz="1000" b="0" i="0">
                <a:solidFill>
                  <a:srgbClr val="5F656B"/>
                </a:solidFill>
                <a:latin typeface="Calibri"/>
              </a:rPr>
              <a:t>before cleaning</a:t>
            </a:r>
          </a:p>
        </p:txBody>
      </p:sp>
      <p:sp>
        <p:nvSpPr>
          <p:cNvPr id="31" name="Rectangle 30"/>
          <p:cNvSpPr/>
          <p:nvPr/>
        </p:nvSpPr>
        <p:spPr>
          <a:xfrm>
            <a:off x="3794760" y="5961888"/>
            <a:ext cx="164592" cy="128016"/>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0" y="5916168"/>
            <a:ext cx="1280160" cy="237744"/>
          </a:xfrm>
          <a:prstGeom prst="rect">
            <a:avLst/>
          </a:prstGeom>
          <a:noFill/>
        </p:spPr>
        <p:txBody>
          <a:bodyPr wrap="square" lIns="0" rIns="0" tIns="0" bIns="0" anchor="t">
            <a:noAutofit/>
          </a:bodyPr>
          <a:lstStyle/>
          <a:p>
            <a:pPr algn="l">
              <a:lnSpc>
                <a:spcPct val="108000"/>
              </a:lnSpc>
            </a:pPr>
            <a:r>
              <a:rPr sz="1000" b="0" i="0">
                <a:solidFill>
                  <a:srgbClr val="5F656B"/>
                </a:solidFill>
                <a:latin typeface="Calibri"/>
              </a:rPr>
              <a:t>after cleaning</a:t>
            </a:r>
          </a:p>
        </p:txBody>
      </p:sp>
      <p:sp>
        <p:nvSpPr>
          <p:cNvPr id="33" name="TextBox 32"/>
          <p:cNvSpPr txBox="1"/>
          <p:nvPr/>
        </p:nvSpPr>
        <p:spPr>
          <a:xfrm>
            <a:off x="9052560" y="1920240"/>
            <a:ext cx="254203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581,761</a:t>
            </a:r>
          </a:p>
        </p:txBody>
      </p:sp>
      <p:sp>
        <p:nvSpPr>
          <p:cNvPr id="34" name="TextBox 33"/>
          <p:cNvSpPr txBox="1"/>
          <p:nvPr/>
        </p:nvSpPr>
        <p:spPr>
          <a:xfrm>
            <a:off x="9052560" y="2334768"/>
            <a:ext cx="2542032"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one-minute rows</a:t>
            </a:r>
          </a:p>
        </p:txBody>
      </p:sp>
      <p:sp>
        <p:nvSpPr>
          <p:cNvPr id="35" name="TextBox 34"/>
          <p:cNvSpPr txBox="1"/>
          <p:nvPr/>
        </p:nvSpPr>
        <p:spPr>
          <a:xfrm>
            <a:off x="9052560" y="2880360"/>
            <a:ext cx="254203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13 months</a:t>
            </a:r>
          </a:p>
        </p:txBody>
      </p:sp>
      <p:sp>
        <p:nvSpPr>
          <p:cNvPr id="36" name="TextBox 35"/>
          <p:cNvSpPr txBox="1"/>
          <p:nvPr/>
        </p:nvSpPr>
        <p:spPr>
          <a:xfrm>
            <a:off x="9052560" y="3294887"/>
            <a:ext cx="2542032"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12 Apr 2025 to 21 May 2026</a:t>
            </a:r>
          </a:p>
        </p:txBody>
      </p:sp>
      <p:sp>
        <p:nvSpPr>
          <p:cNvPr id="37" name="TextBox 36"/>
          <p:cNvSpPr txBox="1"/>
          <p:nvPr/>
        </p:nvSpPr>
        <p:spPr>
          <a:xfrm>
            <a:off x="9052560" y="3840480"/>
            <a:ext cx="254203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1.1 %</a:t>
            </a:r>
          </a:p>
        </p:txBody>
      </p:sp>
      <p:sp>
        <p:nvSpPr>
          <p:cNvPr id="38" name="TextBox 37"/>
          <p:cNvSpPr txBox="1"/>
          <p:nvPr/>
        </p:nvSpPr>
        <p:spPr>
          <a:xfrm>
            <a:off x="9052560" y="4255008"/>
            <a:ext cx="2542032" cy="59436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all values still missing after cleaning. These were filled with the mean.</a:t>
            </a:r>
          </a:p>
        </p:txBody>
      </p:sp>
      <p:sp>
        <p:nvSpPr>
          <p:cNvPr id="39" name="TextBox 38"/>
          <p:cNvSpPr txBox="1"/>
          <p:nvPr/>
        </p:nvSpPr>
        <p:spPr>
          <a:xfrm>
            <a:off x="9052560" y="5074920"/>
            <a:ext cx="254203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4</a:t>
            </a:r>
          </a:p>
        </p:txBody>
      </p:sp>
      <p:sp>
        <p:nvSpPr>
          <p:cNvPr id="40" name="TextBox 39"/>
          <p:cNvSpPr txBox="1"/>
          <p:nvPr/>
        </p:nvSpPr>
        <p:spPr>
          <a:xfrm>
            <a:off x="9052560" y="5489448"/>
            <a:ext cx="2542032" cy="45720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flare signals used to build the flare label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THE FLARE LABEL</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The flare label marks 99% of the time as flaring</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pca_pc_t2/outputs/00_data_audit.md; tables/flare_detection.csv, flare_thresholds.csv, t2_events.csv</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5</a:t>
            </a:r>
          </a:p>
        </p:txBody>
      </p:sp>
      <p:sp>
        <p:nvSpPr>
          <p:cNvPr id="7" name="TextBox 6"/>
          <p:cNvSpPr txBox="1"/>
          <p:nvPr/>
        </p:nvSpPr>
        <p:spPr>
          <a:xfrm>
            <a:off x="594360" y="2377440"/>
            <a:ext cx="155448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Flare label</a:t>
            </a:r>
          </a:p>
        </p:txBody>
      </p:sp>
      <p:sp>
        <p:nvSpPr>
          <p:cNvPr id="8" name="Rectangle 7"/>
          <p:cNvSpPr/>
          <p:nvPr/>
        </p:nvSpPr>
        <p:spPr>
          <a:xfrm>
            <a:off x="2194560" y="2286000"/>
            <a:ext cx="9144000" cy="457200"/>
          </a:xfrm>
          <a:prstGeom prst="rect">
            <a:avLst/>
          </a:prstGeom>
          <a:solidFill>
            <a:srgbClr val="E2D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246120"/>
            <a:ext cx="155448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Training data</a:t>
            </a:r>
          </a:p>
        </p:txBody>
      </p:sp>
      <p:sp>
        <p:nvSpPr>
          <p:cNvPr id="10" name="Rectangle 9"/>
          <p:cNvSpPr/>
          <p:nvPr/>
        </p:nvSpPr>
        <p:spPr>
          <a:xfrm>
            <a:off x="2194560" y="3154680"/>
            <a:ext cx="9144000" cy="457200"/>
          </a:xfrm>
          <a:prstGeom prst="rect">
            <a:avLst/>
          </a:prstGeom>
          <a:solidFill>
            <a:srgbClr val="E2D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114800"/>
            <a:ext cx="155448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T² alarms</a:t>
            </a:r>
          </a:p>
        </p:txBody>
      </p:sp>
      <p:sp>
        <p:nvSpPr>
          <p:cNvPr id="12" name="Rectangle 11"/>
          <p:cNvSpPr/>
          <p:nvPr/>
        </p:nvSpPr>
        <p:spPr>
          <a:xfrm>
            <a:off x="2194560" y="4023360"/>
            <a:ext cx="9144000" cy="457200"/>
          </a:xfrm>
          <a:prstGeom prst="rect">
            <a:avLst/>
          </a:prstGeom>
          <a:solidFill>
            <a:srgbClr val="E2D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1938528"/>
            <a:ext cx="9144000" cy="256032"/>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Rule: flaring if any of 4 flare signals is above median + 3 × MAD. Gaps of up to 5 samples are joined.</a:t>
            </a:r>
          </a:p>
        </p:txBody>
      </p:sp>
      <p:sp>
        <p:nvSpPr>
          <p:cNvPr id="14" name="Rectangle 13"/>
          <p:cNvSpPr/>
          <p:nvPr/>
        </p:nvSpPr>
        <p:spPr>
          <a:xfrm>
            <a:off x="2206804" y="2286000"/>
            <a:ext cx="1861650" cy="457200"/>
          </a:xfrm>
          <a:prstGeom prst="rect">
            <a:avLst/>
          </a:prstGeom>
          <a:solidFill>
            <a:srgbClr val="292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0" i="0">
                <a:solidFill>
                  <a:srgbClr val="F7F5EF"/>
                </a:solidFill>
                <a:latin typeface="Calibri"/>
              </a:rPr>
              <a:t>Flare window 1: 82 days</a:t>
            </a:r>
          </a:p>
        </p:txBody>
      </p:sp>
      <p:sp>
        <p:nvSpPr>
          <p:cNvPr id="15" name="Rectangle 14"/>
          <p:cNvSpPr/>
          <p:nvPr/>
        </p:nvSpPr>
        <p:spPr>
          <a:xfrm>
            <a:off x="4147845" y="2286000"/>
            <a:ext cx="7188262" cy="457200"/>
          </a:xfrm>
          <a:prstGeom prst="rect">
            <a:avLst/>
          </a:prstGeom>
          <a:solidFill>
            <a:srgbClr val="292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0" i="0">
                <a:solidFill>
                  <a:srgbClr val="F7F5EF"/>
                </a:solidFill>
                <a:latin typeface="Calibri"/>
              </a:rPr>
              <a:t>Flare window 2: 318 days</a:t>
            </a:r>
          </a:p>
        </p:txBody>
      </p:sp>
      <p:sp>
        <p:nvSpPr>
          <p:cNvPr id="16" name="Rectangle 15"/>
          <p:cNvSpPr/>
          <p:nvPr/>
        </p:nvSpPr>
        <p:spPr>
          <a:xfrm>
            <a:off x="2194560" y="3154680"/>
            <a:ext cx="45720" cy="457200"/>
          </a:xfrm>
          <a:prstGeom prst="rect">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70340" y="3154680"/>
            <a:ext cx="75618" cy="457200"/>
          </a:xfrm>
          <a:prstGeom prst="rect">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83119" y="3154680"/>
            <a:ext cx="4572000" cy="457200"/>
          </a:xfrm>
          <a:prstGeom prst="rect">
            <a:avLst/>
          </a:prstGeom>
          <a:noFill/>
        </p:spPr>
        <p:txBody>
          <a:bodyPr wrap="square" lIns="0" rIns="0" tIns="0" bIns="0" anchor="ctr">
            <a:noAutofit/>
          </a:bodyPr>
          <a:lstStyle/>
          <a:p>
            <a:pPr algn="l">
              <a:lnSpc>
                <a:spcPct val="108000"/>
              </a:lnSpc>
            </a:pPr>
            <a:r>
              <a:rPr sz="1250" b="1" i="0">
                <a:solidFill>
                  <a:srgbClr val="292D32"/>
                </a:solidFill>
                <a:latin typeface="Calibri"/>
              </a:rPr>
              <a:t>3.8 days in total (0.9% of the data)</a:t>
            </a:r>
          </a:p>
        </p:txBody>
      </p:sp>
      <p:sp>
        <p:nvSpPr>
          <p:cNvPr id="19" name="Rectangle 18"/>
          <p:cNvSpPr/>
          <p:nvPr/>
        </p:nvSpPr>
        <p:spPr>
          <a:xfrm>
            <a:off x="2194968" y="4023360"/>
            <a:ext cx="9143591" cy="45720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0" i="0">
                <a:solidFill>
                  <a:srgbClr val="F7F5EF"/>
                </a:solidFill>
                <a:latin typeface="Calibri"/>
              </a:rPr>
              <a:t>One alarm that lasts 404 days</a:t>
            </a:r>
          </a:p>
        </p:txBody>
      </p:sp>
      <p:cxnSp>
        <p:nvCxnSpPr>
          <p:cNvPr id="20" name="Connector 19"/>
          <p:cNvCxnSpPr/>
          <p:nvPr/>
        </p:nvCxnSpPr>
        <p:spPr>
          <a:xfrm>
            <a:off x="2624599" y="4498848"/>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167399" y="4581144"/>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2025</a:t>
            </a:r>
          </a:p>
        </p:txBody>
      </p:sp>
      <p:cxnSp>
        <p:nvCxnSpPr>
          <p:cNvPr id="22" name="Connector 21"/>
          <p:cNvCxnSpPr/>
          <p:nvPr/>
        </p:nvCxnSpPr>
        <p:spPr>
          <a:xfrm>
            <a:off x="4706896" y="4498848"/>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49696" y="4581144"/>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Aug 2025</a:t>
            </a:r>
          </a:p>
        </p:txBody>
      </p:sp>
      <p:cxnSp>
        <p:nvCxnSpPr>
          <p:cNvPr id="24" name="Connector 23"/>
          <p:cNvCxnSpPr/>
          <p:nvPr/>
        </p:nvCxnSpPr>
        <p:spPr>
          <a:xfrm>
            <a:off x="6789193" y="4498848"/>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31993" y="4581144"/>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Nov 2025</a:t>
            </a:r>
          </a:p>
        </p:txBody>
      </p:sp>
      <p:cxnSp>
        <p:nvCxnSpPr>
          <p:cNvPr id="26" name="Connector 25"/>
          <p:cNvCxnSpPr/>
          <p:nvPr/>
        </p:nvCxnSpPr>
        <p:spPr>
          <a:xfrm>
            <a:off x="8871490" y="4498848"/>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4290" y="4581144"/>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Feb 2026</a:t>
            </a:r>
          </a:p>
        </p:txBody>
      </p:sp>
      <p:cxnSp>
        <p:nvCxnSpPr>
          <p:cNvPr id="28" name="Connector 27"/>
          <p:cNvCxnSpPr/>
          <p:nvPr/>
        </p:nvCxnSpPr>
        <p:spPr>
          <a:xfrm>
            <a:off x="10885886" y="4498848"/>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428686" y="4581144"/>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2026</a:t>
            </a:r>
          </a:p>
        </p:txBody>
      </p:sp>
      <p:sp>
        <p:nvSpPr>
          <p:cNvPr id="30" name="Rectangle 29"/>
          <p:cNvSpPr/>
          <p:nvPr/>
        </p:nvSpPr>
        <p:spPr>
          <a:xfrm>
            <a:off x="594360" y="5120640"/>
            <a:ext cx="54864" cy="1051560"/>
          </a:xfrm>
          <a:prstGeom prst="rect">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5120640"/>
            <a:ext cx="10801807" cy="1051560"/>
          </a:xfrm>
          <a:prstGeom prst="rect">
            <a:avLst/>
          </a:prstGeom>
          <a:noFill/>
        </p:spPr>
        <p:txBody>
          <a:bodyPr wrap="square" lIns="0" rIns="0" tIns="0" bIns="0" anchor="ctr">
            <a:noAutofit/>
          </a:bodyPr>
          <a:lstStyle/>
          <a:p>
            <a:pPr algn="l">
              <a:lnSpc>
                <a:spcPct val="108000"/>
              </a:lnSpc>
            </a:pPr>
            <a:r>
              <a:rPr sz="1300" b="0" i="0">
                <a:solidFill>
                  <a:srgbClr val="292D32"/>
                </a:solidFill>
                <a:latin typeface="Calibri"/>
              </a:rPr>
              <a:t>When almost every minute counts as flaring, the model learns 'normal' from only 3.8 days. The label needs to be built again before the alarm numbers can mean anything. We do not know yet why short spikes join into windows that last months.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PCA</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26 components keep 89% of the variation in the data</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pca_pc_t2/outputs/tables/pca_variance.csv, pca_dominant_units.csv</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6</a:t>
            </a:r>
          </a:p>
        </p:txBody>
      </p:sp>
      <p:cxnSp>
        <p:nvCxnSpPr>
          <p:cNvPr id="7" name="Connector 6"/>
          <p:cNvCxnSpPr/>
          <p:nvPr/>
        </p:nvCxnSpPr>
        <p:spPr>
          <a:xfrm>
            <a:off x="1188720" y="5532120"/>
            <a:ext cx="5760720" cy="0"/>
          </a:xfrm>
          <a:prstGeom prst="line">
            <a:avLst/>
          </a:prstGeom>
          <a:ln w="12700">
            <a:solidFill>
              <a:srgbClr val="5F656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2148840"/>
            <a:ext cx="0" cy="3383280"/>
          </a:xfrm>
          <a:prstGeom prst="line">
            <a:avLst/>
          </a:prstGeom>
          <a:ln w="12700">
            <a:solidFill>
              <a:srgbClr val="5F656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5431536"/>
            <a:ext cx="45720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0%</a:t>
            </a:r>
          </a:p>
        </p:txBody>
      </p:sp>
      <p:sp>
        <p:nvSpPr>
          <p:cNvPr id="10" name="TextBox 9"/>
          <p:cNvSpPr txBox="1"/>
          <p:nvPr/>
        </p:nvSpPr>
        <p:spPr>
          <a:xfrm>
            <a:off x="640080" y="4585716"/>
            <a:ext cx="45720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25%</a:t>
            </a:r>
          </a:p>
        </p:txBody>
      </p:sp>
      <p:sp>
        <p:nvSpPr>
          <p:cNvPr id="11" name="TextBox 10"/>
          <p:cNvSpPr txBox="1"/>
          <p:nvPr/>
        </p:nvSpPr>
        <p:spPr>
          <a:xfrm>
            <a:off x="640080" y="3739896"/>
            <a:ext cx="45720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50%</a:t>
            </a:r>
          </a:p>
        </p:txBody>
      </p:sp>
      <p:sp>
        <p:nvSpPr>
          <p:cNvPr id="12" name="TextBox 11"/>
          <p:cNvSpPr txBox="1"/>
          <p:nvPr/>
        </p:nvSpPr>
        <p:spPr>
          <a:xfrm>
            <a:off x="640080" y="2894076"/>
            <a:ext cx="45720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75%</a:t>
            </a:r>
          </a:p>
        </p:txBody>
      </p:sp>
      <p:sp>
        <p:nvSpPr>
          <p:cNvPr id="13" name="TextBox 12"/>
          <p:cNvSpPr txBox="1"/>
          <p:nvPr/>
        </p:nvSpPr>
        <p:spPr>
          <a:xfrm>
            <a:off x="640080" y="2048256"/>
            <a:ext cx="45720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100%</a:t>
            </a:r>
          </a:p>
        </p:txBody>
      </p:sp>
      <p:sp>
        <p:nvSpPr>
          <p:cNvPr id="14" name="TextBox 13"/>
          <p:cNvSpPr txBox="1"/>
          <p:nvPr/>
        </p:nvSpPr>
        <p:spPr>
          <a:xfrm>
            <a:off x="960120"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1</a:t>
            </a:r>
          </a:p>
        </p:txBody>
      </p:sp>
      <p:sp>
        <p:nvSpPr>
          <p:cNvPr id="15" name="TextBox 14"/>
          <p:cNvSpPr txBox="1"/>
          <p:nvPr/>
        </p:nvSpPr>
        <p:spPr>
          <a:xfrm>
            <a:off x="1838873"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10</a:t>
            </a:r>
          </a:p>
        </p:txBody>
      </p:sp>
      <p:sp>
        <p:nvSpPr>
          <p:cNvPr id="16" name="TextBox 15"/>
          <p:cNvSpPr txBox="1"/>
          <p:nvPr/>
        </p:nvSpPr>
        <p:spPr>
          <a:xfrm>
            <a:off x="2815267"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20</a:t>
            </a:r>
          </a:p>
        </p:txBody>
      </p:sp>
      <p:sp>
        <p:nvSpPr>
          <p:cNvPr id="17" name="TextBox 16"/>
          <p:cNvSpPr txBox="1"/>
          <p:nvPr/>
        </p:nvSpPr>
        <p:spPr>
          <a:xfrm>
            <a:off x="3791660"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30</a:t>
            </a:r>
          </a:p>
        </p:txBody>
      </p:sp>
      <p:sp>
        <p:nvSpPr>
          <p:cNvPr id="18" name="TextBox 17"/>
          <p:cNvSpPr txBox="1"/>
          <p:nvPr/>
        </p:nvSpPr>
        <p:spPr>
          <a:xfrm>
            <a:off x="4768053"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40</a:t>
            </a:r>
          </a:p>
        </p:txBody>
      </p:sp>
      <p:sp>
        <p:nvSpPr>
          <p:cNvPr id="19" name="TextBox 18"/>
          <p:cNvSpPr txBox="1"/>
          <p:nvPr/>
        </p:nvSpPr>
        <p:spPr>
          <a:xfrm>
            <a:off x="5744446"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50</a:t>
            </a:r>
          </a:p>
        </p:txBody>
      </p:sp>
      <p:sp>
        <p:nvSpPr>
          <p:cNvPr id="20" name="TextBox 19"/>
          <p:cNvSpPr txBox="1"/>
          <p:nvPr/>
        </p:nvSpPr>
        <p:spPr>
          <a:xfrm>
            <a:off x="6720840" y="5596128"/>
            <a:ext cx="457200" cy="201168"/>
          </a:xfrm>
          <a:prstGeom prst="rect">
            <a:avLst/>
          </a:prstGeom>
          <a:noFill/>
        </p:spPr>
        <p:txBody>
          <a:bodyPr wrap="square" lIns="0" rIns="0" tIns="0" bIns="0" anchor="ctr">
            <a:noAutofit/>
          </a:bodyPr>
          <a:lstStyle/>
          <a:p>
            <a:pPr algn="ctr">
              <a:lnSpc>
                <a:spcPct val="108000"/>
              </a:lnSpc>
            </a:pPr>
            <a:r>
              <a:rPr sz="1000" b="0" i="0">
                <a:solidFill>
                  <a:srgbClr val="5F656B"/>
                </a:solidFill>
                <a:latin typeface="Calibri"/>
              </a:rPr>
              <a:t>60</a:t>
            </a:r>
          </a:p>
        </p:txBody>
      </p:sp>
      <p:sp>
        <p:nvSpPr>
          <p:cNvPr id="21" name="TextBox 20"/>
          <p:cNvSpPr txBox="1"/>
          <p:nvPr/>
        </p:nvSpPr>
        <p:spPr>
          <a:xfrm>
            <a:off x="1188720" y="5852160"/>
            <a:ext cx="5760720" cy="237744"/>
          </a:xfrm>
          <a:prstGeom prst="rect">
            <a:avLst/>
          </a:prstGeom>
          <a:noFill/>
        </p:spPr>
        <p:txBody>
          <a:bodyPr wrap="square" lIns="0" rIns="0" tIns="0" bIns="0" anchor="t">
            <a:noAutofit/>
          </a:bodyPr>
          <a:lstStyle/>
          <a:p>
            <a:pPr algn="ctr">
              <a:lnSpc>
                <a:spcPct val="108000"/>
              </a:lnSpc>
            </a:pPr>
            <a:r>
              <a:rPr sz="1100" b="0" i="0">
                <a:solidFill>
                  <a:srgbClr val="5F656B"/>
                </a:solidFill>
                <a:latin typeface="Calibri"/>
              </a:rPr>
              <a:t>Number of components</a:t>
            </a:r>
          </a:p>
        </p:txBody>
      </p:sp>
      <p:sp>
        <p:nvSpPr>
          <p:cNvPr id="22" name="TextBox 21"/>
          <p:cNvSpPr txBox="1"/>
          <p:nvPr/>
        </p:nvSpPr>
        <p:spPr>
          <a:xfrm>
            <a:off x="640080" y="1801368"/>
            <a:ext cx="3657600" cy="237744"/>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Share of variation kept</a:t>
            </a:r>
          </a:p>
        </p:txBody>
      </p:sp>
      <p:cxnSp>
        <p:nvCxnSpPr>
          <p:cNvPr id="23" name="Connector 22"/>
          <p:cNvCxnSpPr/>
          <p:nvPr/>
        </p:nvCxnSpPr>
        <p:spPr>
          <a:xfrm>
            <a:off x="1188720" y="2825496"/>
            <a:ext cx="5760720" cy="0"/>
          </a:xfrm>
          <a:prstGeom prst="line">
            <a:avLst/>
          </a:prstGeom>
          <a:ln w="9525">
            <a:solidFill>
              <a:srgbClr val="D6D2C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88720" y="2487168"/>
            <a:ext cx="5760720" cy="0"/>
          </a:xfrm>
          <a:prstGeom prst="line">
            <a:avLst/>
          </a:prstGeom>
          <a:ln w="9525">
            <a:solidFill>
              <a:srgbClr val="D6D2C6"/>
            </a:solidFill>
            <a:prstDash val="dash"/>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1188720" y="2278727"/>
            <a:ext cx="5760720" cy="1716218"/>
          </a:xfrm>
          <a:custGeom>
            <a:avLst/>
            <a:gdLst/>
            <a:ahLst/>
            <a:cxnLst/>
            <a:rect l="l" t="t" r="r" b="b"/>
            <a:pathLst>
              <a:path w="5760720" h="1716218">
                <a:moveTo>
                  <a:pt x="0" y="1716218"/>
                </a:moveTo>
                <a:lnTo>
                  <a:pt x="97639" y="1333539"/>
                </a:lnTo>
                <a:lnTo>
                  <a:pt x="195278" y="1088196"/>
                </a:lnTo>
                <a:lnTo>
                  <a:pt x="292917" y="924542"/>
                </a:lnTo>
                <a:lnTo>
                  <a:pt x="390557" y="827569"/>
                </a:lnTo>
                <a:lnTo>
                  <a:pt x="488196" y="740893"/>
                </a:lnTo>
                <a:lnTo>
                  <a:pt x="585835" y="685458"/>
                </a:lnTo>
                <a:lnTo>
                  <a:pt x="683475" y="639757"/>
                </a:lnTo>
                <a:lnTo>
                  <a:pt x="781114" y="599829"/>
                </a:lnTo>
                <a:lnTo>
                  <a:pt x="878753" y="562315"/>
                </a:lnTo>
                <a:lnTo>
                  <a:pt x="976393" y="526786"/>
                </a:lnTo>
                <a:lnTo>
                  <a:pt x="1074032" y="496199"/>
                </a:lnTo>
                <a:lnTo>
                  <a:pt x="1171671" y="469482"/>
                </a:lnTo>
                <a:lnTo>
                  <a:pt x="1269311" y="445197"/>
                </a:lnTo>
                <a:lnTo>
                  <a:pt x="1366950" y="422043"/>
                </a:lnTo>
                <a:lnTo>
                  <a:pt x="1464589" y="402256"/>
                </a:lnTo>
                <a:lnTo>
                  <a:pt x="1562229" y="383875"/>
                </a:lnTo>
                <a:lnTo>
                  <a:pt x="1659868" y="365815"/>
                </a:lnTo>
                <a:lnTo>
                  <a:pt x="1757507" y="348431"/>
                </a:lnTo>
                <a:lnTo>
                  <a:pt x="1855147" y="331547"/>
                </a:lnTo>
                <a:lnTo>
                  <a:pt x="1952786" y="315770"/>
                </a:lnTo>
                <a:lnTo>
                  <a:pt x="2050425" y="301804"/>
                </a:lnTo>
                <a:lnTo>
                  <a:pt x="2148065" y="288235"/>
                </a:lnTo>
                <a:lnTo>
                  <a:pt x="2245704" y="275182"/>
                </a:lnTo>
                <a:lnTo>
                  <a:pt x="2343343" y="262593"/>
                </a:lnTo>
                <a:lnTo>
                  <a:pt x="2440983" y="250557"/>
                </a:lnTo>
                <a:lnTo>
                  <a:pt x="2538622" y="239123"/>
                </a:lnTo>
                <a:lnTo>
                  <a:pt x="2636261" y="228064"/>
                </a:lnTo>
                <a:lnTo>
                  <a:pt x="2733901" y="217072"/>
                </a:lnTo>
                <a:lnTo>
                  <a:pt x="2831540" y="206292"/>
                </a:lnTo>
                <a:lnTo>
                  <a:pt x="2929179" y="195638"/>
                </a:lnTo>
                <a:lnTo>
                  <a:pt x="3026818" y="185709"/>
                </a:lnTo>
                <a:lnTo>
                  <a:pt x="3124458" y="175991"/>
                </a:lnTo>
                <a:lnTo>
                  <a:pt x="3222097" y="166483"/>
                </a:lnTo>
                <a:lnTo>
                  <a:pt x="3319736" y="157057"/>
                </a:lnTo>
                <a:lnTo>
                  <a:pt x="3417376" y="148130"/>
                </a:lnTo>
                <a:lnTo>
                  <a:pt x="3515015" y="139290"/>
                </a:lnTo>
                <a:lnTo>
                  <a:pt x="3612654" y="130868"/>
                </a:lnTo>
                <a:lnTo>
                  <a:pt x="3710294" y="122608"/>
                </a:lnTo>
                <a:lnTo>
                  <a:pt x="3807933" y="114703"/>
                </a:lnTo>
                <a:lnTo>
                  <a:pt x="3905572" y="107029"/>
                </a:lnTo>
                <a:lnTo>
                  <a:pt x="4003212" y="99644"/>
                </a:lnTo>
                <a:lnTo>
                  <a:pt x="4100851" y="92441"/>
                </a:lnTo>
                <a:lnTo>
                  <a:pt x="4198490" y="85619"/>
                </a:lnTo>
                <a:lnTo>
                  <a:pt x="4296130" y="78851"/>
                </a:lnTo>
                <a:lnTo>
                  <a:pt x="4393769" y="72454"/>
                </a:lnTo>
                <a:lnTo>
                  <a:pt x="4491408" y="66253"/>
                </a:lnTo>
                <a:lnTo>
                  <a:pt x="4589048" y="60204"/>
                </a:lnTo>
                <a:lnTo>
                  <a:pt x="4686687" y="54345"/>
                </a:lnTo>
                <a:lnTo>
                  <a:pt x="4784326" y="48554"/>
                </a:lnTo>
                <a:lnTo>
                  <a:pt x="4881966" y="42941"/>
                </a:lnTo>
                <a:lnTo>
                  <a:pt x="4979605" y="37356"/>
                </a:lnTo>
                <a:lnTo>
                  <a:pt x="5077244" y="31969"/>
                </a:lnTo>
                <a:lnTo>
                  <a:pt x="5174884" y="26699"/>
                </a:lnTo>
                <a:lnTo>
                  <a:pt x="5272523" y="21870"/>
                </a:lnTo>
                <a:lnTo>
                  <a:pt x="5370162" y="17221"/>
                </a:lnTo>
                <a:lnTo>
                  <a:pt x="5467802" y="12711"/>
                </a:lnTo>
                <a:lnTo>
                  <a:pt x="5565441" y="8380"/>
                </a:lnTo>
                <a:lnTo>
                  <a:pt x="5663080" y="4101"/>
                </a:lnTo>
                <a:lnTo>
                  <a:pt x="5760720" y="0"/>
                </a:lnTo>
              </a:path>
            </a:pathLst>
          </a:custGeom>
          <a:noFill/>
          <a:ln w="28575">
            <a:solidFill>
              <a:srgbClr val="174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3629703" y="2148840"/>
            <a:ext cx="0" cy="3383280"/>
          </a:xfrm>
          <a:prstGeom prst="line">
            <a:avLst/>
          </a:prstGeom>
          <a:ln w="25400">
            <a:solidFill>
              <a:srgbClr val="B79A5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556551" y="2455968"/>
            <a:ext cx="146304" cy="146304"/>
          </a:xfrm>
          <a:prstGeom prst="ellipse">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39431" y="2638848"/>
            <a:ext cx="237744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26 components: 88.8%</a:t>
            </a:r>
          </a:p>
        </p:txBody>
      </p:sp>
      <p:sp>
        <p:nvSpPr>
          <p:cNvPr id="29" name="TextBox 28"/>
          <p:cNvSpPr txBox="1"/>
          <p:nvPr/>
        </p:nvSpPr>
        <p:spPr>
          <a:xfrm>
            <a:off x="4114800" y="3840480"/>
            <a:ext cx="2743200" cy="822960"/>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80% needs 11 components</a:t>
            </a:r>
          </a:p>
          <a:p>
            <a:pPr algn="l">
              <a:lnSpc>
                <a:spcPct val="108000"/>
              </a:lnSpc>
            </a:pPr>
            <a:r>
              <a:rPr sz="1100" b="0" i="0">
                <a:solidFill>
                  <a:srgbClr val="5F656B"/>
                </a:solidFill>
                <a:latin typeface="Calibri"/>
              </a:rPr>
              <a:t>90% needs 30</a:t>
            </a:r>
          </a:p>
          <a:p>
            <a:pPr algn="l">
              <a:lnSpc>
                <a:spcPct val="108000"/>
              </a:lnSpc>
            </a:pPr>
            <a:r>
              <a:rPr sz="1100" b="0" i="0">
                <a:solidFill>
                  <a:srgbClr val="5F656B"/>
                </a:solidFill>
                <a:latin typeface="Calibri"/>
              </a:rPr>
              <a:t>95% needs 52</a:t>
            </a:r>
          </a:p>
          <a:p>
            <a:pPr algn="l">
              <a:lnSpc>
                <a:spcPct val="108000"/>
              </a:lnSpc>
            </a:pPr>
            <a:r>
              <a:rPr sz="1100" b="0" i="0">
                <a:solidFill>
                  <a:srgbClr val="5F656B"/>
                </a:solidFill>
                <a:latin typeface="Calibri"/>
              </a:rPr>
              <a:t>99% needs 104</a:t>
            </a:r>
          </a:p>
        </p:txBody>
      </p:sp>
      <p:sp>
        <p:nvSpPr>
          <p:cNvPr id="30" name="TextBox 29"/>
          <p:cNvSpPr txBox="1"/>
          <p:nvPr/>
        </p:nvSpPr>
        <p:spPr>
          <a:xfrm>
            <a:off x="7680960" y="1965960"/>
            <a:ext cx="3913632" cy="548640"/>
          </a:xfrm>
          <a:prstGeom prst="rect">
            <a:avLst/>
          </a:prstGeom>
          <a:noFill/>
        </p:spPr>
        <p:txBody>
          <a:bodyPr wrap="square" lIns="0" rIns="0" tIns="0" bIns="0" anchor="t">
            <a:noAutofit/>
          </a:bodyPr>
          <a:lstStyle/>
          <a:p>
            <a:pPr algn="l">
              <a:lnSpc>
                <a:spcPct val="108000"/>
              </a:lnSpc>
            </a:pPr>
            <a:r>
              <a:rPr sz="1300" b="1" i="0">
                <a:solidFill>
                  <a:srgbClr val="292D32"/>
                </a:solidFill>
                <a:latin typeface="Calibri"/>
              </a:rPr>
              <a:t>Unit that carries the most weight in each of the 26 components</a:t>
            </a:r>
          </a:p>
        </p:txBody>
      </p:sp>
      <p:sp>
        <p:nvSpPr>
          <p:cNvPr id="31" name="TextBox 30"/>
          <p:cNvSpPr txBox="1"/>
          <p:nvPr/>
        </p:nvSpPr>
        <p:spPr>
          <a:xfrm>
            <a:off x="7680960" y="26974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NSU_NHT_CCR</a:t>
            </a:r>
          </a:p>
        </p:txBody>
      </p:sp>
      <p:sp>
        <p:nvSpPr>
          <p:cNvPr id="32" name="Rectangle 31"/>
          <p:cNvSpPr/>
          <p:nvPr/>
        </p:nvSpPr>
        <p:spPr>
          <a:xfrm>
            <a:off x="9189720" y="2734056"/>
            <a:ext cx="1920240" cy="237744"/>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01400" y="26974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13</a:t>
            </a:r>
          </a:p>
        </p:txBody>
      </p:sp>
      <p:sp>
        <p:nvSpPr>
          <p:cNvPr id="34" name="TextBox 33"/>
          <p:cNvSpPr txBox="1"/>
          <p:nvPr/>
        </p:nvSpPr>
        <p:spPr>
          <a:xfrm>
            <a:off x="7680960" y="31546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ISOM</a:t>
            </a:r>
          </a:p>
        </p:txBody>
      </p:sp>
      <p:sp>
        <p:nvSpPr>
          <p:cNvPr id="35" name="Rectangle 34"/>
          <p:cNvSpPr/>
          <p:nvPr/>
        </p:nvSpPr>
        <p:spPr>
          <a:xfrm>
            <a:off x="9189720" y="3191256"/>
            <a:ext cx="590843" cy="23774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2003" y="31546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4</a:t>
            </a:r>
          </a:p>
        </p:txBody>
      </p:sp>
      <p:sp>
        <p:nvSpPr>
          <p:cNvPr id="37" name="TextBox 36"/>
          <p:cNvSpPr txBox="1"/>
          <p:nvPr/>
        </p:nvSpPr>
        <p:spPr>
          <a:xfrm>
            <a:off x="7680960" y="36118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PDA</a:t>
            </a:r>
          </a:p>
        </p:txBody>
      </p:sp>
      <p:sp>
        <p:nvSpPr>
          <p:cNvPr id="38" name="Rectangle 37"/>
          <p:cNvSpPr/>
          <p:nvPr/>
        </p:nvSpPr>
        <p:spPr>
          <a:xfrm>
            <a:off x="9189720" y="3648456"/>
            <a:ext cx="590843" cy="23774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2003" y="36118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4</a:t>
            </a:r>
          </a:p>
        </p:txBody>
      </p:sp>
      <p:sp>
        <p:nvSpPr>
          <p:cNvPr id="40" name="TextBox 39"/>
          <p:cNvSpPr txBox="1"/>
          <p:nvPr/>
        </p:nvSpPr>
        <p:spPr>
          <a:xfrm>
            <a:off x="7680960" y="40690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LOUP</a:t>
            </a:r>
          </a:p>
        </p:txBody>
      </p:sp>
      <p:sp>
        <p:nvSpPr>
          <p:cNvPr id="41" name="Rectangle 40"/>
          <p:cNvSpPr/>
          <p:nvPr/>
        </p:nvSpPr>
        <p:spPr>
          <a:xfrm>
            <a:off x="9189720" y="4105656"/>
            <a:ext cx="295421" cy="23774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76581" y="40690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2</a:t>
            </a:r>
          </a:p>
        </p:txBody>
      </p:sp>
      <p:sp>
        <p:nvSpPr>
          <p:cNvPr id="43" name="TextBox 42"/>
          <p:cNvSpPr txBox="1"/>
          <p:nvPr/>
        </p:nvSpPr>
        <p:spPr>
          <a:xfrm>
            <a:off x="7680960" y="45262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PG</a:t>
            </a:r>
          </a:p>
        </p:txBody>
      </p:sp>
      <p:sp>
        <p:nvSpPr>
          <p:cNvPr id="44" name="Rectangle 43"/>
          <p:cNvSpPr/>
          <p:nvPr/>
        </p:nvSpPr>
        <p:spPr>
          <a:xfrm>
            <a:off x="9189720" y="4562856"/>
            <a:ext cx="295421" cy="23774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76581" y="45262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2</a:t>
            </a:r>
          </a:p>
        </p:txBody>
      </p:sp>
      <p:sp>
        <p:nvSpPr>
          <p:cNvPr id="46" name="TextBox 45"/>
          <p:cNvSpPr txBox="1"/>
          <p:nvPr/>
        </p:nvSpPr>
        <p:spPr>
          <a:xfrm>
            <a:off x="7680960" y="4983480"/>
            <a:ext cx="1463040" cy="274320"/>
          </a:xfrm>
          <a:prstGeom prst="rect">
            <a:avLst/>
          </a:prstGeom>
          <a:noFill/>
        </p:spPr>
        <p:txBody>
          <a:bodyPr wrap="square" lIns="0" rIns="0" tIns="0" bIns="0" anchor="t">
            <a:noAutofit/>
          </a:bodyPr>
          <a:lstStyle/>
          <a:p>
            <a:pPr algn="l">
              <a:lnSpc>
                <a:spcPct val="108000"/>
              </a:lnSpc>
            </a:pPr>
            <a:r>
              <a:rPr sz="1150" b="0" i="0">
                <a:solidFill>
                  <a:srgbClr val="292D32"/>
                </a:solidFill>
                <a:latin typeface="Calibri"/>
              </a:rPr>
              <a:t>APS_NVPS_LEU</a:t>
            </a:r>
          </a:p>
        </p:txBody>
      </p:sp>
      <p:sp>
        <p:nvSpPr>
          <p:cNvPr id="47" name="Rectangle 46"/>
          <p:cNvSpPr/>
          <p:nvPr/>
        </p:nvSpPr>
        <p:spPr>
          <a:xfrm>
            <a:off x="9189720" y="5020056"/>
            <a:ext cx="147710" cy="237744"/>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28870" y="4983480"/>
            <a:ext cx="45720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1</a:t>
            </a:r>
          </a:p>
        </p:txBody>
      </p:sp>
      <p:sp>
        <p:nvSpPr>
          <p:cNvPr id="49" name="TextBox 48"/>
          <p:cNvSpPr txBox="1"/>
          <p:nvPr/>
        </p:nvSpPr>
        <p:spPr>
          <a:xfrm>
            <a:off x="7680960" y="5577840"/>
            <a:ext cx="3913632" cy="640080"/>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Component 1 is led by LOUP, component 2 by NSU_NHT_CCR and component 3 by ISOM.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A NEW FINDING</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The plant switches between two states, and the training data saw only one</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pca_pc_t2/outputs/tables/fig09_pc_timeseries.csv (30-minute means; shown here as 6-hour means)</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7</a:t>
            </a:r>
          </a:p>
        </p:txBody>
      </p:sp>
      <p:sp>
        <p:nvSpPr>
          <p:cNvPr id="7" name="Rectangle 6"/>
          <p:cNvSpPr/>
          <p:nvPr/>
        </p:nvSpPr>
        <p:spPr>
          <a:xfrm>
            <a:off x="1280160" y="2148840"/>
            <a:ext cx="45720" cy="2926080"/>
          </a:xfrm>
          <a:prstGeom prst="rect">
            <a:avLst/>
          </a:prstGeom>
          <a:solidFill>
            <a:srgbClr val="EEE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24760" y="2148840"/>
            <a:ext cx="82424" cy="2926080"/>
          </a:xfrm>
          <a:prstGeom prst="rect">
            <a:avLst/>
          </a:prstGeom>
          <a:solidFill>
            <a:srgbClr val="EEE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280160" y="4709160"/>
            <a:ext cx="9966960"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799" y="4608576"/>
            <a:ext cx="50292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0</a:t>
            </a:r>
          </a:p>
        </p:txBody>
      </p:sp>
      <p:cxnSp>
        <p:nvCxnSpPr>
          <p:cNvPr id="11" name="Connector 10"/>
          <p:cNvCxnSpPr/>
          <p:nvPr/>
        </p:nvCxnSpPr>
        <p:spPr>
          <a:xfrm>
            <a:off x="1280160" y="3977640"/>
            <a:ext cx="9966960" cy="0"/>
          </a:xfrm>
          <a:prstGeom prst="line">
            <a:avLst/>
          </a:prstGeom>
          <a:ln w="9525">
            <a:solidFill>
              <a:srgbClr val="B79A5B"/>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799" y="3877056"/>
            <a:ext cx="50292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400</a:t>
            </a:r>
          </a:p>
        </p:txBody>
      </p:sp>
      <p:cxnSp>
        <p:nvCxnSpPr>
          <p:cNvPr id="13" name="Connector 12"/>
          <p:cNvCxnSpPr/>
          <p:nvPr/>
        </p:nvCxnSpPr>
        <p:spPr>
          <a:xfrm>
            <a:off x="1280160" y="3246120"/>
            <a:ext cx="9966960"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799" y="3145536"/>
            <a:ext cx="50292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800</a:t>
            </a:r>
          </a:p>
        </p:txBody>
      </p:sp>
      <p:cxnSp>
        <p:nvCxnSpPr>
          <p:cNvPr id="15" name="Connector 14"/>
          <p:cNvCxnSpPr/>
          <p:nvPr/>
        </p:nvCxnSpPr>
        <p:spPr>
          <a:xfrm>
            <a:off x="1280160" y="2514600"/>
            <a:ext cx="9966960"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799" y="2414016"/>
            <a:ext cx="502920" cy="201168"/>
          </a:xfrm>
          <a:prstGeom prst="rect">
            <a:avLst/>
          </a:prstGeom>
          <a:noFill/>
        </p:spPr>
        <p:txBody>
          <a:bodyPr wrap="square" lIns="0" rIns="0" tIns="0" bIns="0" anchor="t">
            <a:noAutofit/>
          </a:bodyPr>
          <a:lstStyle/>
          <a:p>
            <a:pPr algn="r">
              <a:lnSpc>
                <a:spcPct val="108000"/>
              </a:lnSpc>
            </a:pPr>
            <a:r>
              <a:rPr sz="1000" b="0" i="0">
                <a:solidFill>
                  <a:srgbClr val="5F656B"/>
                </a:solidFill>
                <a:latin typeface="Calibri"/>
              </a:rPr>
              <a:t>1200</a:t>
            </a:r>
          </a:p>
        </p:txBody>
      </p:sp>
      <p:sp>
        <p:nvSpPr>
          <p:cNvPr id="17" name="Freeform 16"/>
          <p:cNvSpPr/>
          <p:nvPr/>
        </p:nvSpPr>
        <p:spPr>
          <a:xfrm>
            <a:off x="1280160" y="2293320"/>
            <a:ext cx="9966960" cy="2461951"/>
          </a:xfrm>
          <a:custGeom>
            <a:avLst/>
            <a:gdLst/>
            <a:ahLst/>
            <a:cxnLst/>
            <a:rect l="l" t="t" r="r" b="b"/>
            <a:pathLst>
              <a:path w="9966960" h="2461951">
                <a:moveTo>
                  <a:pt x="0" y="2418668"/>
                </a:moveTo>
                <a:lnTo>
                  <a:pt x="6167" y="2409081"/>
                </a:lnTo>
                <a:lnTo>
                  <a:pt x="12335" y="2383188"/>
                </a:lnTo>
                <a:lnTo>
                  <a:pt x="18503" y="2409876"/>
                </a:lnTo>
                <a:lnTo>
                  <a:pt x="24670" y="2422117"/>
                </a:lnTo>
                <a:lnTo>
                  <a:pt x="30838" y="2411402"/>
                </a:lnTo>
                <a:lnTo>
                  <a:pt x="37006" y="2384147"/>
                </a:lnTo>
                <a:lnTo>
                  <a:pt x="43173" y="2409749"/>
                </a:lnTo>
                <a:lnTo>
                  <a:pt x="49341" y="2425140"/>
                </a:lnTo>
                <a:lnTo>
                  <a:pt x="55509" y="2411355"/>
                </a:lnTo>
                <a:lnTo>
                  <a:pt x="61676" y="2367063"/>
                </a:lnTo>
                <a:lnTo>
                  <a:pt x="67844" y="2411657"/>
                </a:lnTo>
                <a:lnTo>
                  <a:pt x="74012" y="2425994"/>
                </a:lnTo>
                <a:lnTo>
                  <a:pt x="80179" y="2412184"/>
                </a:lnTo>
                <a:lnTo>
                  <a:pt x="86347" y="2377302"/>
                </a:lnTo>
                <a:lnTo>
                  <a:pt x="92515" y="2412907"/>
                </a:lnTo>
                <a:lnTo>
                  <a:pt x="98682" y="2424782"/>
                </a:lnTo>
                <a:lnTo>
                  <a:pt x="104850" y="2399977"/>
                </a:lnTo>
                <a:lnTo>
                  <a:pt x="111018" y="2354477"/>
                </a:lnTo>
                <a:lnTo>
                  <a:pt x="117185" y="2371549"/>
                </a:lnTo>
                <a:lnTo>
                  <a:pt x="123353" y="2376176"/>
                </a:lnTo>
                <a:lnTo>
                  <a:pt x="129521" y="2368991"/>
                </a:lnTo>
                <a:lnTo>
                  <a:pt x="135688" y="2341542"/>
                </a:lnTo>
                <a:lnTo>
                  <a:pt x="141856" y="2388510"/>
                </a:lnTo>
                <a:lnTo>
                  <a:pt x="148024" y="2403519"/>
                </a:lnTo>
                <a:lnTo>
                  <a:pt x="154191" y="2394697"/>
                </a:lnTo>
                <a:lnTo>
                  <a:pt x="160359" y="2369265"/>
                </a:lnTo>
                <a:lnTo>
                  <a:pt x="166527" y="2394967"/>
                </a:lnTo>
                <a:lnTo>
                  <a:pt x="172694" y="2404164"/>
                </a:lnTo>
                <a:lnTo>
                  <a:pt x="178862" y="2395020"/>
                </a:lnTo>
                <a:lnTo>
                  <a:pt x="185030" y="2364702"/>
                </a:lnTo>
                <a:lnTo>
                  <a:pt x="191197" y="2385093"/>
                </a:lnTo>
                <a:lnTo>
                  <a:pt x="197365" y="2396948"/>
                </a:lnTo>
                <a:lnTo>
                  <a:pt x="203533" y="2386486"/>
                </a:lnTo>
                <a:lnTo>
                  <a:pt x="209700" y="2353598"/>
                </a:lnTo>
                <a:lnTo>
                  <a:pt x="215868" y="2381549"/>
                </a:lnTo>
                <a:lnTo>
                  <a:pt x="222036" y="2393218"/>
                </a:lnTo>
                <a:lnTo>
                  <a:pt x="228203" y="2381346"/>
                </a:lnTo>
                <a:lnTo>
                  <a:pt x="234371" y="2356060"/>
                </a:lnTo>
                <a:lnTo>
                  <a:pt x="240539" y="2382349"/>
                </a:lnTo>
                <a:lnTo>
                  <a:pt x="246706" y="2396008"/>
                </a:lnTo>
                <a:lnTo>
                  <a:pt x="252874" y="2394074"/>
                </a:lnTo>
                <a:lnTo>
                  <a:pt x="259042" y="2366844"/>
                </a:lnTo>
                <a:lnTo>
                  <a:pt x="265209" y="2381184"/>
                </a:lnTo>
                <a:lnTo>
                  <a:pt x="271377" y="2389032"/>
                </a:lnTo>
                <a:lnTo>
                  <a:pt x="277545" y="2378259"/>
                </a:lnTo>
                <a:lnTo>
                  <a:pt x="283712" y="2351611"/>
                </a:lnTo>
                <a:lnTo>
                  <a:pt x="289880" y="2377526"/>
                </a:lnTo>
                <a:lnTo>
                  <a:pt x="296048" y="2388292"/>
                </a:lnTo>
                <a:lnTo>
                  <a:pt x="302215" y="2377884"/>
                </a:lnTo>
                <a:lnTo>
                  <a:pt x="308383" y="2356056"/>
                </a:lnTo>
                <a:lnTo>
                  <a:pt x="314551" y="2391599"/>
                </a:lnTo>
                <a:lnTo>
                  <a:pt x="320719" y="2398312"/>
                </a:lnTo>
                <a:lnTo>
                  <a:pt x="326886" y="2386383"/>
                </a:lnTo>
                <a:lnTo>
                  <a:pt x="333054" y="2359457"/>
                </a:lnTo>
                <a:lnTo>
                  <a:pt x="339222" y="2385790"/>
                </a:lnTo>
                <a:lnTo>
                  <a:pt x="345389" y="2396521"/>
                </a:lnTo>
                <a:lnTo>
                  <a:pt x="351557" y="2381495"/>
                </a:lnTo>
                <a:lnTo>
                  <a:pt x="357725" y="2358242"/>
                </a:lnTo>
                <a:lnTo>
                  <a:pt x="363892" y="2385319"/>
                </a:lnTo>
                <a:lnTo>
                  <a:pt x="370060" y="2381815"/>
                </a:lnTo>
                <a:lnTo>
                  <a:pt x="376228" y="2378910"/>
                </a:lnTo>
                <a:lnTo>
                  <a:pt x="382395" y="2389902"/>
                </a:lnTo>
                <a:lnTo>
                  <a:pt x="388563" y="2420699"/>
                </a:lnTo>
                <a:lnTo>
                  <a:pt x="394731" y="2412511"/>
                </a:lnTo>
                <a:lnTo>
                  <a:pt x="400898" y="2402105"/>
                </a:lnTo>
                <a:lnTo>
                  <a:pt x="407066" y="2364170"/>
                </a:lnTo>
                <a:lnTo>
                  <a:pt x="413234" y="2353131"/>
                </a:lnTo>
                <a:lnTo>
                  <a:pt x="419401" y="2354461"/>
                </a:lnTo>
                <a:lnTo>
                  <a:pt x="425569" y="2367937"/>
                </a:lnTo>
                <a:lnTo>
                  <a:pt x="431737" y="2372536"/>
                </a:lnTo>
                <a:lnTo>
                  <a:pt x="437904" y="2396860"/>
                </a:lnTo>
                <a:lnTo>
                  <a:pt x="444072" y="2402743"/>
                </a:lnTo>
                <a:lnTo>
                  <a:pt x="450240" y="2391983"/>
                </a:lnTo>
                <a:lnTo>
                  <a:pt x="456407" y="2368728"/>
                </a:lnTo>
                <a:lnTo>
                  <a:pt x="462575" y="2396270"/>
                </a:lnTo>
                <a:lnTo>
                  <a:pt x="468743" y="2408450"/>
                </a:lnTo>
                <a:lnTo>
                  <a:pt x="474910" y="2396594"/>
                </a:lnTo>
                <a:lnTo>
                  <a:pt x="481078" y="2359212"/>
                </a:lnTo>
                <a:lnTo>
                  <a:pt x="487246" y="2384417"/>
                </a:lnTo>
                <a:lnTo>
                  <a:pt x="493413" y="2397011"/>
                </a:lnTo>
                <a:lnTo>
                  <a:pt x="499581" y="2386488"/>
                </a:lnTo>
                <a:lnTo>
                  <a:pt x="505749" y="2369740"/>
                </a:lnTo>
                <a:lnTo>
                  <a:pt x="511916" y="2406486"/>
                </a:lnTo>
                <a:lnTo>
                  <a:pt x="518084" y="2416379"/>
                </a:lnTo>
                <a:lnTo>
                  <a:pt x="524252" y="2407338"/>
                </a:lnTo>
                <a:lnTo>
                  <a:pt x="530419" y="2374559"/>
                </a:lnTo>
                <a:lnTo>
                  <a:pt x="536587" y="2401162"/>
                </a:lnTo>
                <a:lnTo>
                  <a:pt x="542755" y="2412141"/>
                </a:lnTo>
                <a:lnTo>
                  <a:pt x="548922" y="2403320"/>
                </a:lnTo>
                <a:lnTo>
                  <a:pt x="555090" y="2382728"/>
                </a:lnTo>
                <a:lnTo>
                  <a:pt x="561258" y="2405048"/>
                </a:lnTo>
                <a:lnTo>
                  <a:pt x="567425" y="2416609"/>
                </a:lnTo>
                <a:lnTo>
                  <a:pt x="573593" y="2410431"/>
                </a:lnTo>
                <a:lnTo>
                  <a:pt x="579761" y="2381789"/>
                </a:lnTo>
                <a:lnTo>
                  <a:pt x="585928" y="2403697"/>
                </a:lnTo>
                <a:lnTo>
                  <a:pt x="592096" y="2413233"/>
                </a:lnTo>
                <a:lnTo>
                  <a:pt x="598264" y="2403750"/>
                </a:lnTo>
                <a:lnTo>
                  <a:pt x="604431" y="2378011"/>
                </a:lnTo>
                <a:lnTo>
                  <a:pt x="610599" y="2414455"/>
                </a:lnTo>
                <a:lnTo>
                  <a:pt x="616767" y="2444892"/>
                </a:lnTo>
                <a:lnTo>
                  <a:pt x="622934" y="2413150"/>
                </a:lnTo>
                <a:lnTo>
                  <a:pt x="629102" y="2413240"/>
                </a:lnTo>
                <a:lnTo>
                  <a:pt x="635270" y="2461951"/>
                </a:lnTo>
                <a:lnTo>
                  <a:pt x="641438" y="2446231"/>
                </a:lnTo>
                <a:lnTo>
                  <a:pt x="647605" y="2437705"/>
                </a:lnTo>
                <a:lnTo>
                  <a:pt x="653773" y="2411227"/>
                </a:lnTo>
                <a:lnTo>
                  <a:pt x="659941" y="2423791"/>
                </a:lnTo>
                <a:lnTo>
                  <a:pt x="666108" y="2444237"/>
                </a:lnTo>
                <a:lnTo>
                  <a:pt x="672276" y="2430381"/>
                </a:lnTo>
                <a:lnTo>
                  <a:pt x="678444" y="2415209"/>
                </a:lnTo>
                <a:lnTo>
                  <a:pt x="684611" y="2436012"/>
                </a:lnTo>
                <a:lnTo>
                  <a:pt x="690779" y="2449684"/>
                </a:lnTo>
                <a:lnTo>
                  <a:pt x="696947" y="2441536"/>
                </a:lnTo>
                <a:lnTo>
                  <a:pt x="703114" y="2421663"/>
                </a:lnTo>
                <a:lnTo>
                  <a:pt x="709282" y="2440967"/>
                </a:lnTo>
                <a:lnTo>
                  <a:pt x="715450" y="2452589"/>
                </a:lnTo>
                <a:lnTo>
                  <a:pt x="721617" y="2441111"/>
                </a:lnTo>
                <a:lnTo>
                  <a:pt x="727785" y="2416346"/>
                </a:lnTo>
                <a:lnTo>
                  <a:pt x="733953" y="2442376"/>
                </a:lnTo>
                <a:lnTo>
                  <a:pt x="740120" y="2442330"/>
                </a:lnTo>
                <a:lnTo>
                  <a:pt x="746288" y="2432650"/>
                </a:lnTo>
                <a:lnTo>
                  <a:pt x="752456" y="2409839"/>
                </a:lnTo>
                <a:lnTo>
                  <a:pt x="758623" y="2436677"/>
                </a:lnTo>
                <a:lnTo>
                  <a:pt x="764791" y="2447418"/>
                </a:lnTo>
                <a:lnTo>
                  <a:pt x="770959" y="2440358"/>
                </a:lnTo>
                <a:lnTo>
                  <a:pt x="777126" y="2407674"/>
                </a:lnTo>
                <a:lnTo>
                  <a:pt x="783294" y="2426199"/>
                </a:lnTo>
                <a:lnTo>
                  <a:pt x="789462" y="2429541"/>
                </a:lnTo>
                <a:lnTo>
                  <a:pt x="795629" y="2414797"/>
                </a:lnTo>
                <a:lnTo>
                  <a:pt x="801797" y="2386221"/>
                </a:lnTo>
                <a:lnTo>
                  <a:pt x="807965" y="2398438"/>
                </a:lnTo>
                <a:lnTo>
                  <a:pt x="814132" y="2435688"/>
                </a:lnTo>
                <a:lnTo>
                  <a:pt x="820300" y="2427365"/>
                </a:lnTo>
                <a:lnTo>
                  <a:pt x="826468" y="2397405"/>
                </a:lnTo>
                <a:lnTo>
                  <a:pt x="832635" y="2415891"/>
                </a:lnTo>
                <a:lnTo>
                  <a:pt x="838803" y="2415259"/>
                </a:lnTo>
                <a:lnTo>
                  <a:pt x="844971" y="2408371"/>
                </a:lnTo>
                <a:lnTo>
                  <a:pt x="851138" y="2389207"/>
                </a:lnTo>
                <a:lnTo>
                  <a:pt x="857306" y="2376083"/>
                </a:lnTo>
                <a:lnTo>
                  <a:pt x="863474" y="2372879"/>
                </a:lnTo>
                <a:lnTo>
                  <a:pt x="869641" y="2375794"/>
                </a:lnTo>
                <a:lnTo>
                  <a:pt x="875809" y="2394023"/>
                </a:lnTo>
                <a:lnTo>
                  <a:pt x="881977" y="2414124"/>
                </a:lnTo>
                <a:lnTo>
                  <a:pt x="888144" y="2421311"/>
                </a:lnTo>
                <a:lnTo>
                  <a:pt x="894312" y="2413532"/>
                </a:lnTo>
                <a:lnTo>
                  <a:pt x="900480" y="2397682"/>
                </a:lnTo>
                <a:lnTo>
                  <a:pt x="906647" y="2401599"/>
                </a:lnTo>
                <a:lnTo>
                  <a:pt x="912815" y="2402906"/>
                </a:lnTo>
                <a:lnTo>
                  <a:pt x="918983" y="2399663"/>
                </a:lnTo>
                <a:lnTo>
                  <a:pt x="925150" y="2379013"/>
                </a:lnTo>
                <a:lnTo>
                  <a:pt x="931318" y="2413709"/>
                </a:lnTo>
                <a:lnTo>
                  <a:pt x="937486" y="2418076"/>
                </a:lnTo>
                <a:lnTo>
                  <a:pt x="943654" y="2409077"/>
                </a:lnTo>
                <a:lnTo>
                  <a:pt x="949821" y="2392434"/>
                </a:lnTo>
                <a:lnTo>
                  <a:pt x="955989" y="2443865"/>
                </a:lnTo>
                <a:lnTo>
                  <a:pt x="962157" y="2455052"/>
                </a:lnTo>
                <a:lnTo>
                  <a:pt x="968324" y="2435332"/>
                </a:lnTo>
                <a:lnTo>
                  <a:pt x="974492" y="2387553"/>
                </a:lnTo>
                <a:lnTo>
                  <a:pt x="980660" y="2391316"/>
                </a:lnTo>
                <a:lnTo>
                  <a:pt x="986827" y="2437190"/>
                </a:lnTo>
                <a:lnTo>
                  <a:pt x="992995" y="2406918"/>
                </a:lnTo>
                <a:lnTo>
                  <a:pt x="999163" y="2372356"/>
                </a:lnTo>
                <a:lnTo>
                  <a:pt x="1005330" y="2382141"/>
                </a:lnTo>
                <a:lnTo>
                  <a:pt x="1011498" y="2389697"/>
                </a:lnTo>
                <a:lnTo>
                  <a:pt x="1017666" y="2381117"/>
                </a:lnTo>
                <a:lnTo>
                  <a:pt x="1023833" y="2362358"/>
                </a:lnTo>
                <a:lnTo>
                  <a:pt x="1030001" y="2374644"/>
                </a:lnTo>
                <a:lnTo>
                  <a:pt x="1036169" y="2375251"/>
                </a:lnTo>
                <a:lnTo>
                  <a:pt x="1042336" y="2367157"/>
                </a:lnTo>
                <a:lnTo>
                  <a:pt x="1048504" y="2347876"/>
                </a:lnTo>
                <a:lnTo>
                  <a:pt x="1054672" y="2359815"/>
                </a:lnTo>
                <a:lnTo>
                  <a:pt x="1060839" y="2388175"/>
                </a:lnTo>
                <a:lnTo>
                  <a:pt x="1067007" y="2396533"/>
                </a:lnTo>
                <a:lnTo>
                  <a:pt x="1073175" y="2373200"/>
                </a:lnTo>
                <a:lnTo>
                  <a:pt x="1079342" y="2374464"/>
                </a:lnTo>
                <a:lnTo>
                  <a:pt x="1085510" y="2391113"/>
                </a:lnTo>
                <a:lnTo>
                  <a:pt x="1091678" y="2422354"/>
                </a:lnTo>
                <a:lnTo>
                  <a:pt x="1097845" y="2417375"/>
                </a:lnTo>
                <a:lnTo>
                  <a:pt x="1104013" y="2400140"/>
                </a:lnTo>
                <a:lnTo>
                  <a:pt x="1110181" y="2411593"/>
                </a:lnTo>
                <a:lnTo>
                  <a:pt x="1116348" y="2408847"/>
                </a:lnTo>
                <a:lnTo>
                  <a:pt x="1122516" y="2401071"/>
                </a:lnTo>
                <a:lnTo>
                  <a:pt x="1128684" y="2404793"/>
                </a:lnTo>
                <a:lnTo>
                  <a:pt x="1134851" y="2404230"/>
                </a:lnTo>
                <a:lnTo>
                  <a:pt x="1141019" y="2392496"/>
                </a:lnTo>
                <a:lnTo>
                  <a:pt x="1147187" y="2391672"/>
                </a:lnTo>
                <a:lnTo>
                  <a:pt x="1153354" y="2401950"/>
                </a:lnTo>
                <a:lnTo>
                  <a:pt x="1159522" y="2387557"/>
                </a:lnTo>
                <a:lnTo>
                  <a:pt x="1165690" y="2370747"/>
                </a:lnTo>
                <a:lnTo>
                  <a:pt x="1171857" y="2341480"/>
                </a:lnTo>
                <a:lnTo>
                  <a:pt x="1178025" y="2359843"/>
                </a:lnTo>
                <a:lnTo>
                  <a:pt x="1184193" y="2366782"/>
                </a:lnTo>
                <a:lnTo>
                  <a:pt x="1190360" y="2358630"/>
                </a:lnTo>
                <a:lnTo>
                  <a:pt x="1196528" y="2340040"/>
                </a:lnTo>
                <a:lnTo>
                  <a:pt x="1202696" y="2358546"/>
                </a:lnTo>
                <a:lnTo>
                  <a:pt x="1208863" y="2366754"/>
                </a:lnTo>
                <a:lnTo>
                  <a:pt x="1215031" y="2358794"/>
                </a:lnTo>
                <a:lnTo>
                  <a:pt x="1221199" y="2342470"/>
                </a:lnTo>
                <a:lnTo>
                  <a:pt x="1227366" y="2362765"/>
                </a:lnTo>
                <a:lnTo>
                  <a:pt x="1233534" y="2380342"/>
                </a:lnTo>
                <a:lnTo>
                  <a:pt x="1239702" y="2377828"/>
                </a:lnTo>
                <a:lnTo>
                  <a:pt x="1245870" y="2350264"/>
                </a:lnTo>
                <a:lnTo>
                  <a:pt x="1252037" y="2367388"/>
                </a:lnTo>
                <a:lnTo>
                  <a:pt x="1258205" y="2381694"/>
                </a:lnTo>
                <a:lnTo>
                  <a:pt x="1264373" y="2379275"/>
                </a:lnTo>
                <a:lnTo>
                  <a:pt x="1270540" y="2381991"/>
                </a:lnTo>
                <a:lnTo>
                  <a:pt x="1276708" y="2394869"/>
                </a:lnTo>
                <a:lnTo>
                  <a:pt x="1282876" y="2388254"/>
                </a:lnTo>
                <a:lnTo>
                  <a:pt x="1289043" y="2368741"/>
                </a:lnTo>
                <a:lnTo>
                  <a:pt x="1295211" y="2341161"/>
                </a:lnTo>
                <a:lnTo>
                  <a:pt x="1301379" y="2356499"/>
                </a:lnTo>
                <a:lnTo>
                  <a:pt x="1307546" y="2375827"/>
                </a:lnTo>
                <a:lnTo>
                  <a:pt x="1313714" y="2395418"/>
                </a:lnTo>
                <a:lnTo>
                  <a:pt x="1319882" y="2391075"/>
                </a:lnTo>
                <a:lnTo>
                  <a:pt x="1326049" y="2384636"/>
                </a:lnTo>
                <a:lnTo>
                  <a:pt x="1332217" y="2384414"/>
                </a:lnTo>
                <a:lnTo>
                  <a:pt x="1338385" y="2366160"/>
                </a:lnTo>
                <a:lnTo>
                  <a:pt x="1344552" y="2345053"/>
                </a:lnTo>
                <a:lnTo>
                  <a:pt x="1350720" y="2362466"/>
                </a:lnTo>
                <a:lnTo>
                  <a:pt x="1356888" y="2362220"/>
                </a:lnTo>
                <a:lnTo>
                  <a:pt x="1363055" y="2355521"/>
                </a:lnTo>
                <a:lnTo>
                  <a:pt x="1369223" y="2358838"/>
                </a:lnTo>
                <a:lnTo>
                  <a:pt x="1375391" y="2339033"/>
                </a:lnTo>
                <a:lnTo>
                  <a:pt x="1381558" y="2340088"/>
                </a:lnTo>
                <a:lnTo>
                  <a:pt x="1387726" y="2332570"/>
                </a:lnTo>
                <a:lnTo>
                  <a:pt x="1393894" y="2338966"/>
                </a:lnTo>
                <a:lnTo>
                  <a:pt x="1400061" y="2356255"/>
                </a:lnTo>
                <a:lnTo>
                  <a:pt x="1406229" y="2391618"/>
                </a:lnTo>
                <a:lnTo>
                  <a:pt x="1412397" y="2388153"/>
                </a:lnTo>
                <a:lnTo>
                  <a:pt x="1418564" y="2352002"/>
                </a:lnTo>
                <a:lnTo>
                  <a:pt x="1424732" y="2366840"/>
                </a:lnTo>
                <a:lnTo>
                  <a:pt x="1430900" y="2370178"/>
                </a:lnTo>
                <a:lnTo>
                  <a:pt x="1437067" y="2357797"/>
                </a:lnTo>
                <a:lnTo>
                  <a:pt x="1443235" y="2328654"/>
                </a:lnTo>
                <a:lnTo>
                  <a:pt x="1449403" y="2346732"/>
                </a:lnTo>
                <a:lnTo>
                  <a:pt x="1455570" y="2352263"/>
                </a:lnTo>
                <a:lnTo>
                  <a:pt x="1461738" y="2346818"/>
                </a:lnTo>
                <a:lnTo>
                  <a:pt x="1467906" y="2321192"/>
                </a:lnTo>
                <a:lnTo>
                  <a:pt x="1474073" y="2337670"/>
                </a:lnTo>
                <a:lnTo>
                  <a:pt x="1480241" y="2347146"/>
                </a:lnTo>
                <a:lnTo>
                  <a:pt x="1486409" y="2339062"/>
                </a:lnTo>
                <a:lnTo>
                  <a:pt x="1492576" y="2325012"/>
                </a:lnTo>
                <a:lnTo>
                  <a:pt x="1498744" y="2367837"/>
                </a:lnTo>
                <a:lnTo>
                  <a:pt x="1504912" y="2378976"/>
                </a:lnTo>
                <a:lnTo>
                  <a:pt x="1511079" y="2372648"/>
                </a:lnTo>
                <a:lnTo>
                  <a:pt x="1517247" y="2345746"/>
                </a:lnTo>
                <a:lnTo>
                  <a:pt x="1523415" y="2363991"/>
                </a:lnTo>
                <a:lnTo>
                  <a:pt x="1529582" y="2405971"/>
                </a:lnTo>
                <a:lnTo>
                  <a:pt x="1535750" y="2394017"/>
                </a:lnTo>
                <a:lnTo>
                  <a:pt x="1541918" y="2376751"/>
                </a:lnTo>
                <a:lnTo>
                  <a:pt x="1548085" y="2375496"/>
                </a:lnTo>
                <a:lnTo>
                  <a:pt x="1554253" y="2383444"/>
                </a:lnTo>
                <a:lnTo>
                  <a:pt x="1560421" y="2366310"/>
                </a:lnTo>
                <a:lnTo>
                  <a:pt x="1566589" y="2352299"/>
                </a:lnTo>
                <a:lnTo>
                  <a:pt x="1572756" y="2377620"/>
                </a:lnTo>
                <a:lnTo>
                  <a:pt x="1578924" y="2395349"/>
                </a:lnTo>
                <a:lnTo>
                  <a:pt x="1585092" y="2399197"/>
                </a:lnTo>
                <a:lnTo>
                  <a:pt x="1591259" y="2379996"/>
                </a:lnTo>
                <a:lnTo>
                  <a:pt x="1597427" y="2393084"/>
                </a:lnTo>
                <a:lnTo>
                  <a:pt x="1603595" y="2420633"/>
                </a:lnTo>
                <a:lnTo>
                  <a:pt x="1609762" y="2398654"/>
                </a:lnTo>
                <a:lnTo>
                  <a:pt x="1615930" y="2386626"/>
                </a:lnTo>
                <a:lnTo>
                  <a:pt x="1622098" y="2376333"/>
                </a:lnTo>
                <a:lnTo>
                  <a:pt x="1628265" y="2347801"/>
                </a:lnTo>
                <a:lnTo>
                  <a:pt x="1634433" y="2340268"/>
                </a:lnTo>
                <a:lnTo>
                  <a:pt x="1640601" y="2320849"/>
                </a:lnTo>
                <a:lnTo>
                  <a:pt x="1646768" y="2340160"/>
                </a:lnTo>
                <a:lnTo>
                  <a:pt x="1652936" y="2361185"/>
                </a:lnTo>
                <a:lnTo>
                  <a:pt x="1659104" y="2357245"/>
                </a:lnTo>
                <a:lnTo>
                  <a:pt x="1665271" y="2365479"/>
                </a:lnTo>
                <a:lnTo>
                  <a:pt x="1671439" y="2379466"/>
                </a:lnTo>
                <a:lnTo>
                  <a:pt x="1677607" y="2374244"/>
                </a:lnTo>
                <a:lnTo>
                  <a:pt x="1683774" y="2371282"/>
                </a:lnTo>
                <a:lnTo>
                  <a:pt x="1689942" y="2361197"/>
                </a:lnTo>
                <a:lnTo>
                  <a:pt x="1696110" y="2355541"/>
                </a:lnTo>
                <a:lnTo>
                  <a:pt x="1702277" y="2357273"/>
                </a:lnTo>
                <a:lnTo>
                  <a:pt x="1708445" y="2348935"/>
                </a:lnTo>
                <a:lnTo>
                  <a:pt x="1714613" y="2336735"/>
                </a:lnTo>
                <a:lnTo>
                  <a:pt x="1720780" y="2346078"/>
                </a:lnTo>
                <a:lnTo>
                  <a:pt x="1726948" y="2350811"/>
                </a:lnTo>
                <a:lnTo>
                  <a:pt x="1733116" y="2346167"/>
                </a:lnTo>
                <a:lnTo>
                  <a:pt x="1739283" y="2336149"/>
                </a:lnTo>
                <a:lnTo>
                  <a:pt x="1745451" y="2369395"/>
                </a:lnTo>
                <a:lnTo>
                  <a:pt x="1751619" y="2373932"/>
                </a:lnTo>
                <a:lnTo>
                  <a:pt x="1757786" y="2374379"/>
                </a:lnTo>
                <a:lnTo>
                  <a:pt x="1763954" y="2352484"/>
                </a:lnTo>
                <a:lnTo>
                  <a:pt x="1770122" y="2372552"/>
                </a:lnTo>
                <a:lnTo>
                  <a:pt x="1776289" y="2374354"/>
                </a:lnTo>
                <a:lnTo>
                  <a:pt x="1782457" y="2375363"/>
                </a:lnTo>
                <a:lnTo>
                  <a:pt x="1788625" y="2392952"/>
                </a:lnTo>
                <a:lnTo>
                  <a:pt x="1794792" y="2419057"/>
                </a:lnTo>
                <a:lnTo>
                  <a:pt x="1800960" y="2451310"/>
                </a:lnTo>
                <a:lnTo>
                  <a:pt x="1807128" y="2418053"/>
                </a:lnTo>
                <a:lnTo>
                  <a:pt x="1813295" y="2404640"/>
                </a:lnTo>
                <a:lnTo>
                  <a:pt x="1819463" y="2406092"/>
                </a:lnTo>
                <a:lnTo>
                  <a:pt x="1825631" y="2408879"/>
                </a:lnTo>
                <a:lnTo>
                  <a:pt x="1831798" y="2402228"/>
                </a:lnTo>
                <a:lnTo>
                  <a:pt x="1837966" y="2391382"/>
                </a:lnTo>
                <a:lnTo>
                  <a:pt x="1844134" y="2403372"/>
                </a:lnTo>
                <a:lnTo>
                  <a:pt x="1850301" y="2403870"/>
                </a:lnTo>
                <a:lnTo>
                  <a:pt x="1856469" y="2404529"/>
                </a:lnTo>
                <a:lnTo>
                  <a:pt x="1862637" y="2399165"/>
                </a:lnTo>
                <a:lnTo>
                  <a:pt x="1868804" y="2372514"/>
                </a:lnTo>
                <a:lnTo>
                  <a:pt x="1874972" y="2364666"/>
                </a:lnTo>
                <a:lnTo>
                  <a:pt x="1881140" y="2360672"/>
                </a:lnTo>
                <a:lnTo>
                  <a:pt x="1887308" y="2392292"/>
                </a:lnTo>
                <a:lnTo>
                  <a:pt x="1893475" y="2403041"/>
                </a:lnTo>
                <a:lnTo>
                  <a:pt x="1899643" y="2406903"/>
                </a:lnTo>
                <a:lnTo>
                  <a:pt x="1905811" y="2397612"/>
                </a:lnTo>
                <a:lnTo>
                  <a:pt x="1911978" y="2376092"/>
                </a:lnTo>
                <a:lnTo>
                  <a:pt x="1918146" y="2419014"/>
                </a:lnTo>
                <a:lnTo>
                  <a:pt x="1924314" y="2425126"/>
                </a:lnTo>
                <a:lnTo>
                  <a:pt x="1930481" y="2394235"/>
                </a:lnTo>
                <a:lnTo>
                  <a:pt x="1936649" y="2378259"/>
                </a:lnTo>
                <a:lnTo>
                  <a:pt x="1942817" y="2392831"/>
                </a:lnTo>
                <a:lnTo>
                  <a:pt x="1948984" y="2405216"/>
                </a:lnTo>
                <a:lnTo>
                  <a:pt x="1955152" y="2393444"/>
                </a:lnTo>
                <a:lnTo>
                  <a:pt x="1961320" y="2380257"/>
                </a:lnTo>
                <a:lnTo>
                  <a:pt x="1967487" y="2395660"/>
                </a:lnTo>
                <a:lnTo>
                  <a:pt x="1973655" y="2400009"/>
                </a:lnTo>
                <a:lnTo>
                  <a:pt x="1979823" y="2398401"/>
                </a:lnTo>
                <a:lnTo>
                  <a:pt x="1985990" y="2378808"/>
                </a:lnTo>
                <a:lnTo>
                  <a:pt x="1992158" y="2399117"/>
                </a:lnTo>
                <a:lnTo>
                  <a:pt x="1998326" y="2404032"/>
                </a:lnTo>
                <a:lnTo>
                  <a:pt x="2004493" y="2393819"/>
                </a:lnTo>
                <a:lnTo>
                  <a:pt x="2010661" y="2408308"/>
                </a:lnTo>
                <a:lnTo>
                  <a:pt x="2016829" y="2411212"/>
                </a:lnTo>
                <a:lnTo>
                  <a:pt x="2022996" y="2421849"/>
                </a:lnTo>
                <a:lnTo>
                  <a:pt x="2029164" y="2402804"/>
                </a:lnTo>
                <a:lnTo>
                  <a:pt x="2035332" y="2393006"/>
                </a:lnTo>
                <a:lnTo>
                  <a:pt x="2041499" y="2419422"/>
                </a:lnTo>
                <a:lnTo>
                  <a:pt x="2047667" y="2422172"/>
                </a:lnTo>
                <a:lnTo>
                  <a:pt x="2053835" y="2404798"/>
                </a:lnTo>
                <a:lnTo>
                  <a:pt x="2060002" y="2398021"/>
                </a:lnTo>
                <a:lnTo>
                  <a:pt x="2066170" y="2412642"/>
                </a:lnTo>
                <a:lnTo>
                  <a:pt x="2072338" y="2426726"/>
                </a:lnTo>
                <a:lnTo>
                  <a:pt x="2078505" y="2417461"/>
                </a:lnTo>
                <a:lnTo>
                  <a:pt x="2084673" y="2400346"/>
                </a:lnTo>
                <a:lnTo>
                  <a:pt x="2090841" y="2429016"/>
                </a:lnTo>
                <a:lnTo>
                  <a:pt x="2097008" y="2424027"/>
                </a:lnTo>
                <a:lnTo>
                  <a:pt x="2103176" y="2425431"/>
                </a:lnTo>
                <a:lnTo>
                  <a:pt x="2109344" y="2404548"/>
                </a:lnTo>
                <a:lnTo>
                  <a:pt x="2115511" y="2417577"/>
                </a:lnTo>
                <a:lnTo>
                  <a:pt x="2121679" y="2416610"/>
                </a:lnTo>
                <a:lnTo>
                  <a:pt x="2127847" y="2418078"/>
                </a:lnTo>
                <a:lnTo>
                  <a:pt x="2134014" y="2409403"/>
                </a:lnTo>
                <a:lnTo>
                  <a:pt x="2140182" y="2413347"/>
                </a:lnTo>
                <a:lnTo>
                  <a:pt x="2146350" y="2413178"/>
                </a:lnTo>
                <a:lnTo>
                  <a:pt x="2152517" y="2407917"/>
                </a:lnTo>
                <a:lnTo>
                  <a:pt x="2158685" y="2401714"/>
                </a:lnTo>
                <a:lnTo>
                  <a:pt x="2164853" y="2411041"/>
                </a:lnTo>
                <a:lnTo>
                  <a:pt x="2171020" y="2415229"/>
                </a:lnTo>
                <a:lnTo>
                  <a:pt x="2177188" y="2419443"/>
                </a:lnTo>
                <a:lnTo>
                  <a:pt x="2183356" y="2414400"/>
                </a:lnTo>
                <a:lnTo>
                  <a:pt x="2189524" y="2410465"/>
                </a:lnTo>
                <a:lnTo>
                  <a:pt x="2195691" y="2415612"/>
                </a:lnTo>
                <a:lnTo>
                  <a:pt x="2201859" y="2402232"/>
                </a:lnTo>
                <a:lnTo>
                  <a:pt x="2208027" y="2384123"/>
                </a:lnTo>
                <a:lnTo>
                  <a:pt x="2214194" y="2402309"/>
                </a:lnTo>
                <a:lnTo>
                  <a:pt x="2220362" y="2412509"/>
                </a:lnTo>
                <a:lnTo>
                  <a:pt x="2226530" y="2405860"/>
                </a:lnTo>
                <a:lnTo>
                  <a:pt x="2232697" y="2393083"/>
                </a:lnTo>
                <a:lnTo>
                  <a:pt x="2238865" y="2408314"/>
                </a:lnTo>
                <a:lnTo>
                  <a:pt x="2245033" y="2409289"/>
                </a:lnTo>
                <a:lnTo>
                  <a:pt x="2251200" y="2413686"/>
                </a:lnTo>
                <a:lnTo>
                  <a:pt x="2257368" y="2391692"/>
                </a:lnTo>
                <a:lnTo>
                  <a:pt x="2263536" y="2397737"/>
                </a:lnTo>
                <a:lnTo>
                  <a:pt x="2269703" y="2402999"/>
                </a:lnTo>
                <a:lnTo>
                  <a:pt x="2275871" y="2403150"/>
                </a:lnTo>
                <a:lnTo>
                  <a:pt x="2282039" y="2392095"/>
                </a:lnTo>
                <a:lnTo>
                  <a:pt x="2288206" y="2405600"/>
                </a:lnTo>
                <a:lnTo>
                  <a:pt x="2294374" y="2401205"/>
                </a:lnTo>
                <a:lnTo>
                  <a:pt x="2300542" y="2400746"/>
                </a:lnTo>
                <a:lnTo>
                  <a:pt x="2306709" y="2405241"/>
                </a:lnTo>
                <a:lnTo>
                  <a:pt x="2312877" y="2404923"/>
                </a:lnTo>
                <a:lnTo>
                  <a:pt x="2319045" y="2399801"/>
                </a:lnTo>
                <a:lnTo>
                  <a:pt x="2325212" y="2401435"/>
                </a:lnTo>
                <a:lnTo>
                  <a:pt x="2331380" y="1912796"/>
                </a:lnTo>
                <a:lnTo>
                  <a:pt x="2337548" y="1069417"/>
                </a:lnTo>
                <a:lnTo>
                  <a:pt x="2343715" y="1064055"/>
                </a:lnTo>
                <a:lnTo>
                  <a:pt x="2349883" y="1139452"/>
                </a:lnTo>
                <a:lnTo>
                  <a:pt x="2356051" y="1251564"/>
                </a:lnTo>
                <a:lnTo>
                  <a:pt x="2362218" y="1096870"/>
                </a:lnTo>
                <a:lnTo>
                  <a:pt x="2368386" y="1055044"/>
                </a:lnTo>
                <a:lnTo>
                  <a:pt x="2374554" y="1149909"/>
                </a:lnTo>
                <a:lnTo>
                  <a:pt x="2380721" y="1042785"/>
                </a:lnTo>
                <a:lnTo>
                  <a:pt x="2386889" y="1048760"/>
                </a:lnTo>
                <a:lnTo>
                  <a:pt x="2393057" y="1050932"/>
                </a:lnTo>
                <a:lnTo>
                  <a:pt x="2399224" y="1054296"/>
                </a:lnTo>
                <a:lnTo>
                  <a:pt x="2405392" y="1056753"/>
                </a:lnTo>
                <a:lnTo>
                  <a:pt x="2411560" y="1067678"/>
                </a:lnTo>
                <a:lnTo>
                  <a:pt x="2417727" y="1055250"/>
                </a:lnTo>
                <a:lnTo>
                  <a:pt x="2423895" y="1151882"/>
                </a:lnTo>
                <a:lnTo>
                  <a:pt x="2430063" y="1025258"/>
                </a:lnTo>
                <a:lnTo>
                  <a:pt x="2436230" y="989545"/>
                </a:lnTo>
                <a:lnTo>
                  <a:pt x="2442398" y="971974"/>
                </a:lnTo>
                <a:lnTo>
                  <a:pt x="2448566" y="975612"/>
                </a:lnTo>
                <a:lnTo>
                  <a:pt x="2454733" y="962149"/>
                </a:lnTo>
                <a:lnTo>
                  <a:pt x="2460901" y="972683"/>
                </a:lnTo>
                <a:lnTo>
                  <a:pt x="2467069" y="974675"/>
                </a:lnTo>
                <a:lnTo>
                  <a:pt x="2473236" y="981850"/>
                </a:lnTo>
                <a:lnTo>
                  <a:pt x="2479404" y="974754"/>
                </a:lnTo>
                <a:lnTo>
                  <a:pt x="2485572" y="980563"/>
                </a:lnTo>
                <a:lnTo>
                  <a:pt x="2491740" y="980108"/>
                </a:lnTo>
                <a:lnTo>
                  <a:pt x="2497907" y="981938"/>
                </a:lnTo>
                <a:lnTo>
                  <a:pt x="2504075" y="970680"/>
                </a:lnTo>
                <a:lnTo>
                  <a:pt x="2510243" y="995003"/>
                </a:lnTo>
                <a:lnTo>
                  <a:pt x="2516410" y="974385"/>
                </a:lnTo>
                <a:lnTo>
                  <a:pt x="2522578" y="990272"/>
                </a:lnTo>
                <a:lnTo>
                  <a:pt x="2528746" y="977074"/>
                </a:lnTo>
                <a:lnTo>
                  <a:pt x="2534913" y="956096"/>
                </a:lnTo>
                <a:lnTo>
                  <a:pt x="2541081" y="941141"/>
                </a:lnTo>
                <a:lnTo>
                  <a:pt x="2547249" y="952001"/>
                </a:lnTo>
                <a:lnTo>
                  <a:pt x="2553416" y="972195"/>
                </a:lnTo>
                <a:lnTo>
                  <a:pt x="2559584" y="1186820"/>
                </a:lnTo>
                <a:lnTo>
                  <a:pt x="2565752" y="1797727"/>
                </a:lnTo>
                <a:lnTo>
                  <a:pt x="2571919" y="2224449"/>
                </a:lnTo>
                <a:lnTo>
                  <a:pt x="2578087" y="2374240"/>
                </a:lnTo>
                <a:lnTo>
                  <a:pt x="2584255" y="1148101"/>
                </a:lnTo>
                <a:lnTo>
                  <a:pt x="2590422" y="967371"/>
                </a:lnTo>
                <a:lnTo>
                  <a:pt x="2596590" y="968920"/>
                </a:lnTo>
                <a:lnTo>
                  <a:pt x="2602758" y="960210"/>
                </a:lnTo>
                <a:lnTo>
                  <a:pt x="2608925" y="970904"/>
                </a:lnTo>
                <a:lnTo>
                  <a:pt x="2615093" y="956432"/>
                </a:lnTo>
                <a:lnTo>
                  <a:pt x="2621261" y="959340"/>
                </a:lnTo>
                <a:lnTo>
                  <a:pt x="2627428" y="967706"/>
                </a:lnTo>
                <a:lnTo>
                  <a:pt x="2633596" y="963459"/>
                </a:lnTo>
                <a:lnTo>
                  <a:pt x="2639764" y="963024"/>
                </a:lnTo>
                <a:lnTo>
                  <a:pt x="2645931" y="964956"/>
                </a:lnTo>
                <a:lnTo>
                  <a:pt x="2652099" y="950600"/>
                </a:lnTo>
                <a:lnTo>
                  <a:pt x="2658267" y="953806"/>
                </a:lnTo>
                <a:lnTo>
                  <a:pt x="2664434" y="961820"/>
                </a:lnTo>
                <a:lnTo>
                  <a:pt x="2670602" y="965905"/>
                </a:lnTo>
                <a:lnTo>
                  <a:pt x="2676770" y="954327"/>
                </a:lnTo>
                <a:lnTo>
                  <a:pt x="2682937" y="957976"/>
                </a:lnTo>
                <a:lnTo>
                  <a:pt x="2689105" y="982659"/>
                </a:lnTo>
                <a:lnTo>
                  <a:pt x="2695273" y="1001287"/>
                </a:lnTo>
                <a:lnTo>
                  <a:pt x="2701440" y="981401"/>
                </a:lnTo>
                <a:lnTo>
                  <a:pt x="2707608" y="957851"/>
                </a:lnTo>
                <a:lnTo>
                  <a:pt x="2713776" y="961692"/>
                </a:lnTo>
                <a:lnTo>
                  <a:pt x="2719943" y="962357"/>
                </a:lnTo>
                <a:lnTo>
                  <a:pt x="2726111" y="962313"/>
                </a:lnTo>
                <a:lnTo>
                  <a:pt x="2732279" y="968334"/>
                </a:lnTo>
                <a:lnTo>
                  <a:pt x="2738446" y="974157"/>
                </a:lnTo>
                <a:lnTo>
                  <a:pt x="2744614" y="964523"/>
                </a:lnTo>
                <a:lnTo>
                  <a:pt x="2750782" y="946252"/>
                </a:lnTo>
                <a:lnTo>
                  <a:pt x="2756949" y="978447"/>
                </a:lnTo>
                <a:lnTo>
                  <a:pt x="2763117" y="977082"/>
                </a:lnTo>
                <a:lnTo>
                  <a:pt x="2769285" y="917220"/>
                </a:lnTo>
                <a:lnTo>
                  <a:pt x="2775452" y="829883"/>
                </a:lnTo>
                <a:lnTo>
                  <a:pt x="2781620" y="936205"/>
                </a:lnTo>
                <a:lnTo>
                  <a:pt x="2787788" y="950746"/>
                </a:lnTo>
                <a:lnTo>
                  <a:pt x="2793955" y="954292"/>
                </a:lnTo>
                <a:lnTo>
                  <a:pt x="2800123" y="943892"/>
                </a:lnTo>
                <a:lnTo>
                  <a:pt x="2806291" y="932073"/>
                </a:lnTo>
                <a:lnTo>
                  <a:pt x="2812459" y="935180"/>
                </a:lnTo>
                <a:lnTo>
                  <a:pt x="2818626" y="936177"/>
                </a:lnTo>
                <a:lnTo>
                  <a:pt x="2824794" y="888451"/>
                </a:lnTo>
                <a:lnTo>
                  <a:pt x="2830962" y="915546"/>
                </a:lnTo>
                <a:lnTo>
                  <a:pt x="2837129" y="923021"/>
                </a:lnTo>
                <a:lnTo>
                  <a:pt x="2843297" y="915794"/>
                </a:lnTo>
                <a:lnTo>
                  <a:pt x="2849465" y="900099"/>
                </a:lnTo>
                <a:lnTo>
                  <a:pt x="2855632" y="913799"/>
                </a:lnTo>
                <a:lnTo>
                  <a:pt x="2861800" y="907569"/>
                </a:lnTo>
                <a:lnTo>
                  <a:pt x="2867968" y="900604"/>
                </a:lnTo>
                <a:lnTo>
                  <a:pt x="2874135" y="870675"/>
                </a:lnTo>
                <a:lnTo>
                  <a:pt x="2880303" y="859298"/>
                </a:lnTo>
                <a:lnTo>
                  <a:pt x="2886471" y="865671"/>
                </a:lnTo>
                <a:lnTo>
                  <a:pt x="2892638" y="912188"/>
                </a:lnTo>
                <a:lnTo>
                  <a:pt x="2898806" y="887985"/>
                </a:lnTo>
                <a:lnTo>
                  <a:pt x="2904974" y="841276"/>
                </a:lnTo>
                <a:lnTo>
                  <a:pt x="2911141" y="899972"/>
                </a:lnTo>
                <a:lnTo>
                  <a:pt x="2917309" y="997767"/>
                </a:lnTo>
                <a:lnTo>
                  <a:pt x="2923477" y="2124094"/>
                </a:lnTo>
                <a:lnTo>
                  <a:pt x="2929644" y="2241591"/>
                </a:lnTo>
                <a:lnTo>
                  <a:pt x="2935812" y="2258595"/>
                </a:lnTo>
                <a:lnTo>
                  <a:pt x="2941980" y="2248310"/>
                </a:lnTo>
                <a:lnTo>
                  <a:pt x="2948147" y="1545924"/>
                </a:lnTo>
                <a:lnTo>
                  <a:pt x="2954315" y="2361213"/>
                </a:lnTo>
                <a:lnTo>
                  <a:pt x="2960483" y="2375417"/>
                </a:lnTo>
                <a:lnTo>
                  <a:pt x="2966650" y="2367150"/>
                </a:lnTo>
                <a:lnTo>
                  <a:pt x="2972818" y="2355107"/>
                </a:lnTo>
                <a:lnTo>
                  <a:pt x="2978986" y="2370837"/>
                </a:lnTo>
                <a:lnTo>
                  <a:pt x="2985153" y="2373575"/>
                </a:lnTo>
                <a:lnTo>
                  <a:pt x="2991321" y="2361749"/>
                </a:lnTo>
                <a:lnTo>
                  <a:pt x="2997489" y="2333186"/>
                </a:lnTo>
                <a:lnTo>
                  <a:pt x="3003656" y="2362749"/>
                </a:lnTo>
                <a:lnTo>
                  <a:pt x="3009824" y="2370335"/>
                </a:lnTo>
                <a:lnTo>
                  <a:pt x="3015992" y="2368936"/>
                </a:lnTo>
                <a:lnTo>
                  <a:pt x="3022159" y="2347344"/>
                </a:lnTo>
                <a:lnTo>
                  <a:pt x="3028327" y="2362295"/>
                </a:lnTo>
                <a:lnTo>
                  <a:pt x="3034495" y="2368818"/>
                </a:lnTo>
                <a:lnTo>
                  <a:pt x="3040662" y="2369650"/>
                </a:lnTo>
                <a:lnTo>
                  <a:pt x="3046830" y="2363545"/>
                </a:lnTo>
                <a:lnTo>
                  <a:pt x="3052998" y="2377493"/>
                </a:lnTo>
                <a:lnTo>
                  <a:pt x="3059165" y="2385729"/>
                </a:lnTo>
                <a:lnTo>
                  <a:pt x="3065333" y="2394710"/>
                </a:lnTo>
                <a:lnTo>
                  <a:pt x="3071501" y="2368375"/>
                </a:lnTo>
                <a:lnTo>
                  <a:pt x="3077668" y="2376990"/>
                </a:lnTo>
                <a:lnTo>
                  <a:pt x="3083836" y="2382766"/>
                </a:lnTo>
                <a:lnTo>
                  <a:pt x="3090004" y="2370826"/>
                </a:lnTo>
                <a:lnTo>
                  <a:pt x="3096171" y="2381908"/>
                </a:lnTo>
                <a:lnTo>
                  <a:pt x="3102339" y="2383349"/>
                </a:lnTo>
                <a:lnTo>
                  <a:pt x="3108507" y="2412589"/>
                </a:lnTo>
                <a:lnTo>
                  <a:pt x="3114675" y="2399428"/>
                </a:lnTo>
                <a:lnTo>
                  <a:pt x="3120842" y="2391415"/>
                </a:lnTo>
                <a:lnTo>
                  <a:pt x="3127010" y="2379297"/>
                </a:lnTo>
                <a:lnTo>
                  <a:pt x="3133178" y="2401228"/>
                </a:lnTo>
                <a:lnTo>
                  <a:pt x="3139345" y="2393123"/>
                </a:lnTo>
                <a:lnTo>
                  <a:pt x="3145513" y="2383657"/>
                </a:lnTo>
                <a:lnTo>
                  <a:pt x="3151681" y="2382095"/>
                </a:lnTo>
                <a:lnTo>
                  <a:pt x="3157848" y="2397993"/>
                </a:lnTo>
                <a:lnTo>
                  <a:pt x="3164016" y="2410607"/>
                </a:lnTo>
                <a:lnTo>
                  <a:pt x="3170184" y="2399052"/>
                </a:lnTo>
                <a:lnTo>
                  <a:pt x="3176351" y="2374529"/>
                </a:lnTo>
                <a:lnTo>
                  <a:pt x="3182519" y="2385194"/>
                </a:lnTo>
                <a:lnTo>
                  <a:pt x="3188687" y="2404743"/>
                </a:lnTo>
                <a:lnTo>
                  <a:pt x="3194854" y="2398438"/>
                </a:lnTo>
                <a:lnTo>
                  <a:pt x="3201022" y="2394750"/>
                </a:lnTo>
                <a:lnTo>
                  <a:pt x="3207190" y="2396919"/>
                </a:lnTo>
                <a:lnTo>
                  <a:pt x="3213357" y="2379459"/>
                </a:lnTo>
                <a:lnTo>
                  <a:pt x="3219525" y="2364220"/>
                </a:lnTo>
                <a:lnTo>
                  <a:pt x="3225693" y="2401382"/>
                </a:lnTo>
                <a:lnTo>
                  <a:pt x="3231860" y="2398357"/>
                </a:lnTo>
                <a:lnTo>
                  <a:pt x="3238028" y="2387771"/>
                </a:lnTo>
                <a:lnTo>
                  <a:pt x="3244196" y="2387901"/>
                </a:lnTo>
                <a:lnTo>
                  <a:pt x="3250363" y="2385616"/>
                </a:lnTo>
                <a:lnTo>
                  <a:pt x="3256531" y="2399144"/>
                </a:lnTo>
                <a:lnTo>
                  <a:pt x="3262699" y="2393626"/>
                </a:lnTo>
                <a:lnTo>
                  <a:pt x="3268866" y="2388490"/>
                </a:lnTo>
                <a:lnTo>
                  <a:pt x="3275034" y="2367872"/>
                </a:lnTo>
                <a:lnTo>
                  <a:pt x="3281202" y="2370513"/>
                </a:lnTo>
                <a:lnTo>
                  <a:pt x="3287369" y="2359762"/>
                </a:lnTo>
                <a:lnTo>
                  <a:pt x="3293537" y="2373472"/>
                </a:lnTo>
                <a:lnTo>
                  <a:pt x="3299705" y="2388309"/>
                </a:lnTo>
                <a:lnTo>
                  <a:pt x="3305872" y="2392364"/>
                </a:lnTo>
                <a:lnTo>
                  <a:pt x="3312040" y="2385418"/>
                </a:lnTo>
                <a:lnTo>
                  <a:pt x="3318208" y="2381829"/>
                </a:lnTo>
                <a:lnTo>
                  <a:pt x="3324375" y="2385505"/>
                </a:lnTo>
                <a:lnTo>
                  <a:pt x="3330543" y="2386061"/>
                </a:lnTo>
                <a:lnTo>
                  <a:pt x="3336711" y="2417849"/>
                </a:lnTo>
                <a:lnTo>
                  <a:pt x="3342878" y="2385005"/>
                </a:lnTo>
                <a:lnTo>
                  <a:pt x="3349046" y="2387859"/>
                </a:lnTo>
                <a:lnTo>
                  <a:pt x="3355214" y="2393523"/>
                </a:lnTo>
                <a:lnTo>
                  <a:pt x="3361381" y="2384832"/>
                </a:lnTo>
                <a:lnTo>
                  <a:pt x="3367549" y="2384625"/>
                </a:lnTo>
                <a:lnTo>
                  <a:pt x="3373717" y="2386739"/>
                </a:lnTo>
                <a:lnTo>
                  <a:pt x="3379884" y="2391027"/>
                </a:lnTo>
                <a:lnTo>
                  <a:pt x="3386052" y="2387724"/>
                </a:lnTo>
                <a:lnTo>
                  <a:pt x="3392220" y="2367906"/>
                </a:lnTo>
                <a:lnTo>
                  <a:pt x="3398387" y="2384690"/>
                </a:lnTo>
                <a:lnTo>
                  <a:pt x="3404555" y="2388127"/>
                </a:lnTo>
                <a:lnTo>
                  <a:pt x="3410723" y="2391925"/>
                </a:lnTo>
                <a:lnTo>
                  <a:pt x="3416890" y="2378900"/>
                </a:lnTo>
                <a:lnTo>
                  <a:pt x="3423058" y="2367389"/>
                </a:lnTo>
                <a:lnTo>
                  <a:pt x="3429226" y="2371806"/>
                </a:lnTo>
                <a:lnTo>
                  <a:pt x="3435394" y="2352151"/>
                </a:lnTo>
                <a:lnTo>
                  <a:pt x="3441561" y="2395654"/>
                </a:lnTo>
                <a:lnTo>
                  <a:pt x="3447729" y="2405730"/>
                </a:lnTo>
                <a:lnTo>
                  <a:pt x="3453897" y="2412633"/>
                </a:lnTo>
                <a:lnTo>
                  <a:pt x="3460064" y="2400883"/>
                </a:lnTo>
                <a:lnTo>
                  <a:pt x="3466232" y="2366450"/>
                </a:lnTo>
                <a:lnTo>
                  <a:pt x="3472400" y="2389059"/>
                </a:lnTo>
                <a:lnTo>
                  <a:pt x="3478567" y="2392323"/>
                </a:lnTo>
                <a:lnTo>
                  <a:pt x="3484735" y="2380944"/>
                </a:lnTo>
                <a:lnTo>
                  <a:pt x="3490903" y="2376129"/>
                </a:lnTo>
                <a:lnTo>
                  <a:pt x="3497070" y="2388590"/>
                </a:lnTo>
                <a:lnTo>
                  <a:pt x="3503238" y="2389776"/>
                </a:lnTo>
                <a:lnTo>
                  <a:pt x="3509406" y="2380260"/>
                </a:lnTo>
                <a:lnTo>
                  <a:pt x="3515573" y="2359025"/>
                </a:lnTo>
                <a:lnTo>
                  <a:pt x="3521741" y="2369383"/>
                </a:lnTo>
                <a:lnTo>
                  <a:pt x="3527909" y="2369731"/>
                </a:lnTo>
                <a:lnTo>
                  <a:pt x="3534076" y="2371707"/>
                </a:lnTo>
                <a:lnTo>
                  <a:pt x="3540244" y="2333324"/>
                </a:lnTo>
                <a:lnTo>
                  <a:pt x="3546412" y="2339391"/>
                </a:lnTo>
                <a:lnTo>
                  <a:pt x="3552579" y="2343542"/>
                </a:lnTo>
                <a:lnTo>
                  <a:pt x="3558747" y="2334793"/>
                </a:lnTo>
                <a:lnTo>
                  <a:pt x="3564915" y="2317445"/>
                </a:lnTo>
                <a:lnTo>
                  <a:pt x="3571082" y="2335676"/>
                </a:lnTo>
                <a:lnTo>
                  <a:pt x="3577250" y="2352785"/>
                </a:lnTo>
                <a:lnTo>
                  <a:pt x="3583418" y="2359565"/>
                </a:lnTo>
                <a:lnTo>
                  <a:pt x="3589585" y="2363853"/>
                </a:lnTo>
                <a:lnTo>
                  <a:pt x="3595753" y="2363931"/>
                </a:lnTo>
                <a:lnTo>
                  <a:pt x="3601921" y="2354566"/>
                </a:lnTo>
                <a:lnTo>
                  <a:pt x="3608088" y="2352957"/>
                </a:lnTo>
                <a:lnTo>
                  <a:pt x="3614256" y="2364415"/>
                </a:lnTo>
                <a:lnTo>
                  <a:pt x="3620424" y="2365457"/>
                </a:lnTo>
                <a:lnTo>
                  <a:pt x="3626591" y="2370688"/>
                </a:lnTo>
                <a:lnTo>
                  <a:pt x="3632759" y="2389844"/>
                </a:lnTo>
                <a:lnTo>
                  <a:pt x="3638927" y="2377894"/>
                </a:lnTo>
                <a:lnTo>
                  <a:pt x="3645094" y="2383273"/>
                </a:lnTo>
                <a:lnTo>
                  <a:pt x="3651262" y="2380239"/>
                </a:lnTo>
                <a:lnTo>
                  <a:pt x="3657430" y="2371571"/>
                </a:lnTo>
                <a:lnTo>
                  <a:pt x="3663597" y="2362643"/>
                </a:lnTo>
                <a:lnTo>
                  <a:pt x="3669765" y="2373865"/>
                </a:lnTo>
                <a:lnTo>
                  <a:pt x="3675933" y="2388096"/>
                </a:lnTo>
                <a:lnTo>
                  <a:pt x="3682100" y="2375254"/>
                </a:lnTo>
                <a:lnTo>
                  <a:pt x="3688268" y="2357071"/>
                </a:lnTo>
                <a:lnTo>
                  <a:pt x="3694436" y="2374246"/>
                </a:lnTo>
                <a:lnTo>
                  <a:pt x="3700603" y="2385866"/>
                </a:lnTo>
                <a:lnTo>
                  <a:pt x="3706771" y="2373071"/>
                </a:lnTo>
                <a:lnTo>
                  <a:pt x="3712939" y="2342870"/>
                </a:lnTo>
                <a:lnTo>
                  <a:pt x="3719106" y="2374525"/>
                </a:lnTo>
                <a:lnTo>
                  <a:pt x="3725274" y="2384074"/>
                </a:lnTo>
                <a:lnTo>
                  <a:pt x="3731442" y="2389095"/>
                </a:lnTo>
                <a:lnTo>
                  <a:pt x="3737609" y="1070864"/>
                </a:lnTo>
                <a:lnTo>
                  <a:pt x="3743777" y="1012310"/>
                </a:lnTo>
                <a:lnTo>
                  <a:pt x="3749945" y="998661"/>
                </a:lnTo>
                <a:lnTo>
                  <a:pt x="3756113" y="992729"/>
                </a:lnTo>
                <a:lnTo>
                  <a:pt x="3762280" y="976485"/>
                </a:lnTo>
                <a:lnTo>
                  <a:pt x="3768448" y="997006"/>
                </a:lnTo>
                <a:lnTo>
                  <a:pt x="3774616" y="994535"/>
                </a:lnTo>
                <a:lnTo>
                  <a:pt x="3780783" y="1009966"/>
                </a:lnTo>
                <a:lnTo>
                  <a:pt x="3786951" y="983685"/>
                </a:lnTo>
                <a:lnTo>
                  <a:pt x="3793119" y="994539"/>
                </a:lnTo>
                <a:lnTo>
                  <a:pt x="3799286" y="994023"/>
                </a:lnTo>
                <a:lnTo>
                  <a:pt x="3805454" y="988978"/>
                </a:lnTo>
                <a:lnTo>
                  <a:pt x="3811622" y="985529"/>
                </a:lnTo>
                <a:lnTo>
                  <a:pt x="3817789" y="1008376"/>
                </a:lnTo>
                <a:lnTo>
                  <a:pt x="3823957" y="1029038"/>
                </a:lnTo>
                <a:lnTo>
                  <a:pt x="3830125" y="1002505"/>
                </a:lnTo>
                <a:lnTo>
                  <a:pt x="3836292" y="994844"/>
                </a:lnTo>
                <a:lnTo>
                  <a:pt x="3842460" y="1014726"/>
                </a:lnTo>
                <a:lnTo>
                  <a:pt x="3848628" y="1034905"/>
                </a:lnTo>
                <a:lnTo>
                  <a:pt x="3854795" y="1031236"/>
                </a:lnTo>
                <a:lnTo>
                  <a:pt x="3860963" y="999264"/>
                </a:lnTo>
                <a:lnTo>
                  <a:pt x="3867131" y="999062"/>
                </a:lnTo>
                <a:lnTo>
                  <a:pt x="3873298" y="994703"/>
                </a:lnTo>
                <a:lnTo>
                  <a:pt x="3879466" y="1007377"/>
                </a:lnTo>
                <a:lnTo>
                  <a:pt x="3885634" y="1708003"/>
                </a:lnTo>
                <a:lnTo>
                  <a:pt x="3891801" y="2398472"/>
                </a:lnTo>
                <a:lnTo>
                  <a:pt x="3897969" y="2409112"/>
                </a:lnTo>
                <a:lnTo>
                  <a:pt x="3904137" y="2398710"/>
                </a:lnTo>
                <a:lnTo>
                  <a:pt x="3910304" y="2346669"/>
                </a:lnTo>
                <a:lnTo>
                  <a:pt x="3916472" y="2330078"/>
                </a:lnTo>
                <a:lnTo>
                  <a:pt x="3922640" y="2326072"/>
                </a:lnTo>
                <a:lnTo>
                  <a:pt x="3928807" y="2342384"/>
                </a:lnTo>
                <a:lnTo>
                  <a:pt x="3934975" y="2349902"/>
                </a:lnTo>
                <a:lnTo>
                  <a:pt x="3941143" y="2354283"/>
                </a:lnTo>
                <a:lnTo>
                  <a:pt x="3947310" y="2370422"/>
                </a:lnTo>
                <a:lnTo>
                  <a:pt x="3953478" y="2365700"/>
                </a:lnTo>
                <a:lnTo>
                  <a:pt x="3959646" y="2172685"/>
                </a:lnTo>
                <a:lnTo>
                  <a:pt x="3965813" y="980594"/>
                </a:lnTo>
                <a:lnTo>
                  <a:pt x="3971981" y="985335"/>
                </a:lnTo>
                <a:lnTo>
                  <a:pt x="3978149" y="981407"/>
                </a:lnTo>
                <a:lnTo>
                  <a:pt x="3984316" y="960788"/>
                </a:lnTo>
                <a:lnTo>
                  <a:pt x="3990484" y="988702"/>
                </a:lnTo>
                <a:lnTo>
                  <a:pt x="3996652" y="988127"/>
                </a:lnTo>
                <a:lnTo>
                  <a:pt x="4002819" y="990800"/>
                </a:lnTo>
                <a:lnTo>
                  <a:pt x="4008987" y="989029"/>
                </a:lnTo>
                <a:lnTo>
                  <a:pt x="4015155" y="1003862"/>
                </a:lnTo>
                <a:lnTo>
                  <a:pt x="4021322" y="1014572"/>
                </a:lnTo>
                <a:lnTo>
                  <a:pt x="4027490" y="1017211"/>
                </a:lnTo>
                <a:lnTo>
                  <a:pt x="4033658" y="1031420"/>
                </a:lnTo>
                <a:lnTo>
                  <a:pt x="4039825" y="1002894"/>
                </a:lnTo>
                <a:lnTo>
                  <a:pt x="4045993" y="1029487"/>
                </a:lnTo>
                <a:lnTo>
                  <a:pt x="4052161" y="1018061"/>
                </a:lnTo>
                <a:lnTo>
                  <a:pt x="4058329" y="987163"/>
                </a:lnTo>
                <a:lnTo>
                  <a:pt x="4064496" y="998082"/>
                </a:lnTo>
                <a:lnTo>
                  <a:pt x="4070664" y="1561240"/>
                </a:lnTo>
                <a:lnTo>
                  <a:pt x="4076832" y="2253137"/>
                </a:lnTo>
                <a:lnTo>
                  <a:pt x="4082999" y="2362216"/>
                </a:lnTo>
                <a:lnTo>
                  <a:pt x="4089167" y="2404723"/>
                </a:lnTo>
                <a:lnTo>
                  <a:pt x="4095335" y="2422830"/>
                </a:lnTo>
                <a:lnTo>
                  <a:pt x="4101502" y="2128297"/>
                </a:lnTo>
                <a:lnTo>
                  <a:pt x="4107670" y="952194"/>
                </a:lnTo>
                <a:lnTo>
                  <a:pt x="4113838" y="943800"/>
                </a:lnTo>
                <a:lnTo>
                  <a:pt x="4120005" y="957784"/>
                </a:lnTo>
                <a:lnTo>
                  <a:pt x="4126173" y="957644"/>
                </a:lnTo>
                <a:lnTo>
                  <a:pt x="4132341" y="948283"/>
                </a:lnTo>
                <a:lnTo>
                  <a:pt x="4138508" y="962178"/>
                </a:lnTo>
                <a:lnTo>
                  <a:pt x="4144676" y="978721"/>
                </a:lnTo>
                <a:lnTo>
                  <a:pt x="4150844" y="995282"/>
                </a:lnTo>
                <a:lnTo>
                  <a:pt x="4157011" y="940254"/>
                </a:lnTo>
                <a:lnTo>
                  <a:pt x="4163179" y="951856"/>
                </a:lnTo>
                <a:lnTo>
                  <a:pt x="4169347" y="983207"/>
                </a:lnTo>
                <a:lnTo>
                  <a:pt x="4175514" y="993634"/>
                </a:lnTo>
                <a:lnTo>
                  <a:pt x="4181682" y="997190"/>
                </a:lnTo>
                <a:lnTo>
                  <a:pt x="4187850" y="958849"/>
                </a:lnTo>
                <a:lnTo>
                  <a:pt x="4194017" y="966218"/>
                </a:lnTo>
                <a:lnTo>
                  <a:pt x="4200185" y="954731"/>
                </a:lnTo>
                <a:lnTo>
                  <a:pt x="4206353" y="944081"/>
                </a:lnTo>
                <a:lnTo>
                  <a:pt x="4212520" y="1682477"/>
                </a:lnTo>
                <a:lnTo>
                  <a:pt x="4218688" y="2388150"/>
                </a:lnTo>
                <a:lnTo>
                  <a:pt x="4224856" y="2364790"/>
                </a:lnTo>
                <a:lnTo>
                  <a:pt x="4231023" y="2349621"/>
                </a:lnTo>
                <a:lnTo>
                  <a:pt x="4237191" y="2365324"/>
                </a:lnTo>
                <a:lnTo>
                  <a:pt x="4243359" y="2366126"/>
                </a:lnTo>
                <a:lnTo>
                  <a:pt x="4249526" y="2348695"/>
                </a:lnTo>
                <a:lnTo>
                  <a:pt x="4255694" y="2329489"/>
                </a:lnTo>
                <a:lnTo>
                  <a:pt x="4261862" y="2352027"/>
                </a:lnTo>
                <a:lnTo>
                  <a:pt x="4268029" y="2356251"/>
                </a:lnTo>
                <a:lnTo>
                  <a:pt x="4274197" y="2343498"/>
                </a:lnTo>
                <a:lnTo>
                  <a:pt x="4280365" y="2320754"/>
                </a:lnTo>
                <a:lnTo>
                  <a:pt x="4286532" y="2356884"/>
                </a:lnTo>
                <a:lnTo>
                  <a:pt x="4292700" y="2349833"/>
                </a:lnTo>
                <a:lnTo>
                  <a:pt x="4298868" y="2335004"/>
                </a:lnTo>
                <a:lnTo>
                  <a:pt x="4305035" y="2318368"/>
                </a:lnTo>
                <a:lnTo>
                  <a:pt x="4311203" y="2332925"/>
                </a:lnTo>
                <a:lnTo>
                  <a:pt x="4317371" y="2345956"/>
                </a:lnTo>
                <a:lnTo>
                  <a:pt x="4323538" y="2354565"/>
                </a:lnTo>
                <a:lnTo>
                  <a:pt x="4329706" y="2333109"/>
                </a:lnTo>
                <a:lnTo>
                  <a:pt x="4335874" y="2352210"/>
                </a:lnTo>
                <a:lnTo>
                  <a:pt x="4342041" y="2350462"/>
                </a:lnTo>
                <a:lnTo>
                  <a:pt x="4348209" y="2342451"/>
                </a:lnTo>
                <a:lnTo>
                  <a:pt x="4354377" y="2343422"/>
                </a:lnTo>
                <a:lnTo>
                  <a:pt x="4360544" y="2342759"/>
                </a:lnTo>
                <a:lnTo>
                  <a:pt x="4366712" y="2345966"/>
                </a:lnTo>
                <a:lnTo>
                  <a:pt x="4372880" y="2329782"/>
                </a:lnTo>
                <a:lnTo>
                  <a:pt x="4379048" y="2302198"/>
                </a:lnTo>
                <a:lnTo>
                  <a:pt x="4385215" y="2320234"/>
                </a:lnTo>
                <a:lnTo>
                  <a:pt x="4391383" y="2332032"/>
                </a:lnTo>
                <a:lnTo>
                  <a:pt x="4397551" y="2321559"/>
                </a:lnTo>
                <a:lnTo>
                  <a:pt x="4403718" y="2292858"/>
                </a:lnTo>
                <a:lnTo>
                  <a:pt x="4409886" y="2285116"/>
                </a:lnTo>
                <a:lnTo>
                  <a:pt x="4416054" y="2290399"/>
                </a:lnTo>
                <a:lnTo>
                  <a:pt x="4422221" y="2284431"/>
                </a:lnTo>
                <a:lnTo>
                  <a:pt x="4428389" y="2276610"/>
                </a:lnTo>
                <a:lnTo>
                  <a:pt x="4434557" y="2315148"/>
                </a:lnTo>
                <a:lnTo>
                  <a:pt x="4440724" y="2335239"/>
                </a:lnTo>
                <a:lnTo>
                  <a:pt x="4446892" y="2317780"/>
                </a:lnTo>
                <a:lnTo>
                  <a:pt x="4453060" y="2279928"/>
                </a:lnTo>
                <a:lnTo>
                  <a:pt x="4459227" y="2314310"/>
                </a:lnTo>
                <a:lnTo>
                  <a:pt x="4465395" y="2331126"/>
                </a:lnTo>
                <a:lnTo>
                  <a:pt x="4471563" y="2322443"/>
                </a:lnTo>
                <a:lnTo>
                  <a:pt x="4477730" y="2271552"/>
                </a:lnTo>
                <a:lnTo>
                  <a:pt x="4483898" y="2310034"/>
                </a:lnTo>
                <a:lnTo>
                  <a:pt x="4490066" y="2327698"/>
                </a:lnTo>
                <a:lnTo>
                  <a:pt x="4496233" y="2320476"/>
                </a:lnTo>
                <a:lnTo>
                  <a:pt x="4502401" y="2272914"/>
                </a:lnTo>
                <a:lnTo>
                  <a:pt x="4508569" y="2308307"/>
                </a:lnTo>
                <a:lnTo>
                  <a:pt x="4514736" y="2338935"/>
                </a:lnTo>
                <a:lnTo>
                  <a:pt x="4520904" y="2323088"/>
                </a:lnTo>
                <a:lnTo>
                  <a:pt x="4527072" y="2270982"/>
                </a:lnTo>
                <a:lnTo>
                  <a:pt x="4533239" y="2308086"/>
                </a:lnTo>
                <a:lnTo>
                  <a:pt x="4539407" y="2332684"/>
                </a:lnTo>
                <a:lnTo>
                  <a:pt x="4545575" y="2315567"/>
                </a:lnTo>
                <a:lnTo>
                  <a:pt x="4551742" y="2267146"/>
                </a:lnTo>
                <a:lnTo>
                  <a:pt x="4557910" y="2299309"/>
                </a:lnTo>
                <a:lnTo>
                  <a:pt x="4564078" y="2331628"/>
                </a:lnTo>
                <a:lnTo>
                  <a:pt x="4570245" y="2319004"/>
                </a:lnTo>
                <a:lnTo>
                  <a:pt x="4576413" y="2273142"/>
                </a:lnTo>
                <a:lnTo>
                  <a:pt x="4582581" y="2310620"/>
                </a:lnTo>
                <a:lnTo>
                  <a:pt x="4588748" y="2354207"/>
                </a:lnTo>
                <a:lnTo>
                  <a:pt x="4594916" y="2366075"/>
                </a:lnTo>
                <a:lnTo>
                  <a:pt x="4601084" y="2330766"/>
                </a:lnTo>
                <a:lnTo>
                  <a:pt x="4607251" y="2352766"/>
                </a:lnTo>
                <a:lnTo>
                  <a:pt x="4613419" y="2366867"/>
                </a:lnTo>
                <a:lnTo>
                  <a:pt x="4619587" y="2345997"/>
                </a:lnTo>
                <a:lnTo>
                  <a:pt x="4625754" y="2296699"/>
                </a:lnTo>
                <a:lnTo>
                  <a:pt x="4631922" y="2350066"/>
                </a:lnTo>
                <a:lnTo>
                  <a:pt x="4638090" y="2351847"/>
                </a:lnTo>
                <a:lnTo>
                  <a:pt x="4644257" y="2326627"/>
                </a:lnTo>
                <a:lnTo>
                  <a:pt x="4650425" y="2279630"/>
                </a:lnTo>
                <a:lnTo>
                  <a:pt x="4656593" y="2308212"/>
                </a:lnTo>
                <a:lnTo>
                  <a:pt x="4662760" y="2320418"/>
                </a:lnTo>
                <a:lnTo>
                  <a:pt x="4668928" y="2303789"/>
                </a:lnTo>
                <a:lnTo>
                  <a:pt x="4675096" y="2276539"/>
                </a:lnTo>
                <a:lnTo>
                  <a:pt x="4681264" y="2292295"/>
                </a:lnTo>
                <a:lnTo>
                  <a:pt x="4687431" y="2297915"/>
                </a:lnTo>
                <a:lnTo>
                  <a:pt x="4693599" y="2286281"/>
                </a:lnTo>
                <a:lnTo>
                  <a:pt x="4699767" y="2244827"/>
                </a:lnTo>
                <a:lnTo>
                  <a:pt x="4705934" y="2280294"/>
                </a:lnTo>
                <a:lnTo>
                  <a:pt x="4712102" y="2308103"/>
                </a:lnTo>
                <a:lnTo>
                  <a:pt x="4718270" y="2307862"/>
                </a:lnTo>
                <a:lnTo>
                  <a:pt x="4724437" y="2270714"/>
                </a:lnTo>
                <a:lnTo>
                  <a:pt x="4730605" y="2304759"/>
                </a:lnTo>
                <a:lnTo>
                  <a:pt x="4736773" y="2335001"/>
                </a:lnTo>
                <a:lnTo>
                  <a:pt x="4742940" y="2342718"/>
                </a:lnTo>
                <a:lnTo>
                  <a:pt x="4749108" y="2307959"/>
                </a:lnTo>
                <a:lnTo>
                  <a:pt x="4755276" y="2340996"/>
                </a:lnTo>
                <a:lnTo>
                  <a:pt x="4761443" y="2328539"/>
                </a:lnTo>
                <a:lnTo>
                  <a:pt x="4767611" y="2305900"/>
                </a:lnTo>
                <a:lnTo>
                  <a:pt x="4773779" y="2262596"/>
                </a:lnTo>
                <a:lnTo>
                  <a:pt x="4779946" y="2293398"/>
                </a:lnTo>
                <a:lnTo>
                  <a:pt x="4786114" y="2308946"/>
                </a:lnTo>
                <a:lnTo>
                  <a:pt x="4792282" y="2292292"/>
                </a:lnTo>
                <a:lnTo>
                  <a:pt x="4798449" y="2264408"/>
                </a:lnTo>
                <a:lnTo>
                  <a:pt x="4804617" y="2315152"/>
                </a:lnTo>
                <a:lnTo>
                  <a:pt x="4810785" y="2304501"/>
                </a:lnTo>
                <a:lnTo>
                  <a:pt x="4816952" y="2297590"/>
                </a:lnTo>
                <a:lnTo>
                  <a:pt x="4823120" y="2270770"/>
                </a:lnTo>
                <a:lnTo>
                  <a:pt x="4829288" y="2306765"/>
                </a:lnTo>
                <a:lnTo>
                  <a:pt x="4835455" y="2330082"/>
                </a:lnTo>
                <a:lnTo>
                  <a:pt x="4841623" y="2309125"/>
                </a:lnTo>
                <a:lnTo>
                  <a:pt x="4847791" y="2301598"/>
                </a:lnTo>
                <a:lnTo>
                  <a:pt x="4853958" y="2327505"/>
                </a:lnTo>
                <a:lnTo>
                  <a:pt x="4860126" y="2340389"/>
                </a:lnTo>
                <a:lnTo>
                  <a:pt x="4866294" y="2334742"/>
                </a:lnTo>
                <a:lnTo>
                  <a:pt x="4872461" y="2333257"/>
                </a:lnTo>
                <a:lnTo>
                  <a:pt x="4878629" y="2367585"/>
                </a:lnTo>
                <a:lnTo>
                  <a:pt x="4884797" y="2357238"/>
                </a:lnTo>
                <a:lnTo>
                  <a:pt x="4890964" y="2329162"/>
                </a:lnTo>
                <a:lnTo>
                  <a:pt x="4897132" y="2301408"/>
                </a:lnTo>
                <a:lnTo>
                  <a:pt x="4903300" y="2347089"/>
                </a:lnTo>
                <a:lnTo>
                  <a:pt x="4909467" y="2345096"/>
                </a:lnTo>
                <a:lnTo>
                  <a:pt x="4915635" y="2324701"/>
                </a:lnTo>
                <a:lnTo>
                  <a:pt x="4921803" y="2296664"/>
                </a:lnTo>
                <a:lnTo>
                  <a:pt x="4927970" y="2325029"/>
                </a:lnTo>
                <a:lnTo>
                  <a:pt x="4934138" y="2327515"/>
                </a:lnTo>
                <a:lnTo>
                  <a:pt x="4940306" y="2315195"/>
                </a:lnTo>
                <a:lnTo>
                  <a:pt x="4946473" y="2276632"/>
                </a:lnTo>
                <a:lnTo>
                  <a:pt x="4952641" y="2310883"/>
                </a:lnTo>
                <a:lnTo>
                  <a:pt x="4958809" y="2331667"/>
                </a:lnTo>
                <a:lnTo>
                  <a:pt x="4964976" y="2346166"/>
                </a:lnTo>
                <a:lnTo>
                  <a:pt x="4971144" y="2301652"/>
                </a:lnTo>
                <a:lnTo>
                  <a:pt x="4977312" y="2309221"/>
                </a:lnTo>
                <a:lnTo>
                  <a:pt x="4983480" y="2346477"/>
                </a:lnTo>
                <a:lnTo>
                  <a:pt x="4989647" y="2343247"/>
                </a:lnTo>
                <a:lnTo>
                  <a:pt x="4995815" y="2333501"/>
                </a:lnTo>
                <a:lnTo>
                  <a:pt x="5001983" y="2353112"/>
                </a:lnTo>
                <a:lnTo>
                  <a:pt x="5008150" y="2335054"/>
                </a:lnTo>
                <a:lnTo>
                  <a:pt x="5014318" y="2313770"/>
                </a:lnTo>
                <a:lnTo>
                  <a:pt x="5020486" y="2307499"/>
                </a:lnTo>
                <a:lnTo>
                  <a:pt x="5026653" y="2339827"/>
                </a:lnTo>
                <a:lnTo>
                  <a:pt x="5032821" y="2351603"/>
                </a:lnTo>
                <a:lnTo>
                  <a:pt x="5038989" y="2347058"/>
                </a:lnTo>
                <a:lnTo>
                  <a:pt x="5045156" y="2352032"/>
                </a:lnTo>
                <a:lnTo>
                  <a:pt x="5051324" y="2358676"/>
                </a:lnTo>
                <a:lnTo>
                  <a:pt x="5057492" y="2365131"/>
                </a:lnTo>
                <a:lnTo>
                  <a:pt x="5063659" y="2347803"/>
                </a:lnTo>
                <a:lnTo>
                  <a:pt x="5069827" y="2318489"/>
                </a:lnTo>
                <a:lnTo>
                  <a:pt x="5075995" y="2341781"/>
                </a:lnTo>
                <a:lnTo>
                  <a:pt x="5082162" y="2349885"/>
                </a:lnTo>
                <a:lnTo>
                  <a:pt x="5088330" y="2352780"/>
                </a:lnTo>
                <a:lnTo>
                  <a:pt x="5094498" y="2363209"/>
                </a:lnTo>
                <a:lnTo>
                  <a:pt x="5100665" y="2387659"/>
                </a:lnTo>
                <a:lnTo>
                  <a:pt x="5106833" y="2402500"/>
                </a:lnTo>
                <a:lnTo>
                  <a:pt x="5113001" y="2411845"/>
                </a:lnTo>
                <a:lnTo>
                  <a:pt x="5119168" y="2388134"/>
                </a:lnTo>
                <a:lnTo>
                  <a:pt x="5125336" y="2410869"/>
                </a:lnTo>
                <a:lnTo>
                  <a:pt x="5131504" y="2422186"/>
                </a:lnTo>
                <a:lnTo>
                  <a:pt x="5137671" y="2406642"/>
                </a:lnTo>
                <a:lnTo>
                  <a:pt x="5143839" y="2355694"/>
                </a:lnTo>
                <a:lnTo>
                  <a:pt x="5150007" y="2393088"/>
                </a:lnTo>
                <a:lnTo>
                  <a:pt x="5156174" y="2393747"/>
                </a:lnTo>
                <a:lnTo>
                  <a:pt x="5162342" y="2381619"/>
                </a:lnTo>
                <a:lnTo>
                  <a:pt x="5168510" y="2329839"/>
                </a:lnTo>
                <a:lnTo>
                  <a:pt x="5174677" y="2361812"/>
                </a:lnTo>
                <a:lnTo>
                  <a:pt x="5180845" y="2374642"/>
                </a:lnTo>
                <a:lnTo>
                  <a:pt x="5187013" y="2367571"/>
                </a:lnTo>
                <a:lnTo>
                  <a:pt x="5193180" y="2319763"/>
                </a:lnTo>
                <a:lnTo>
                  <a:pt x="5199348" y="2328397"/>
                </a:lnTo>
                <a:lnTo>
                  <a:pt x="5205516" y="2350680"/>
                </a:lnTo>
                <a:lnTo>
                  <a:pt x="5211683" y="2355216"/>
                </a:lnTo>
                <a:lnTo>
                  <a:pt x="5217851" y="2342624"/>
                </a:lnTo>
                <a:lnTo>
                  <a:pt x="5224019" y="2377136"/>
                </a:lnTo>
                <a:lnTo>
                  <a:pt x="5230186" y="2396480"/>
                </a:lnTo>
                <a:lnTo>
                  <a:pt x="5236354" y="2384843"/>
                </a:lnTo>
                <a:lnTo>
                  <a:pt x="5242522" y="1429784"/>
                </a:lnTo>
                <a:lnTo>
                  <a:pt x="5248689" y="966569"/>
                </a:lnTo>
                <a:lnTo>
                  <a:pt x="5254857" y="980503"/>
                </a:lnTo>
                <a:lnTo>
                  <a:pt x="5261025" y="976100"/>
                </a:lnTo>
                <a:lnTo>
                  <a:pt x="5267192" y="944882"/>
                </a:lnTo>
                <a:lnTo>
                  <a:pt x="5273360" y="974088"/>
                </a:lnTo>
                <a:lnTo>
                  <a:pt x="5279528" y="997437"/>
                </a:lnTo>
                <a:lnTo>
                  <a:pt x="5285695" y="993126"/>
                </a:lnTo>
                <a:lnTo>
                  <a:pt x="5291863" y="943417"/>
                </a:lnTo>
                <a:lnTo>
                  <a:pt x="5298031" y="973511"/>
                </a:lnTo>
                <a:lnTo>
                  <a:pt x="5304199" y="990416"/>
                </a:lnTo>
                <a:lnTo>
                  <a:pt x="5310366" y="991675"/>
                </a:lnTo>
                <a:lnTo>
                  <a:pt x="5316534" y="943642"/>
                </a:lnTo>
                <a:lnTo>
                  <a:pt x="5322702" y="973320"/>
                </a:lnTo>
                <a:lnTo>
                  <a:pt x="5328869" y="1001964"/>
                </a:lnTo>
                <a:lnTo>
                  <a:pt x="5335037" y="991432"/>
                </a:lnTo>
                <a:lnTo>
                  <a:pt x="5341205" y="940385"/>
                </a:lnTo>
                <a:lnTo>
                  <a:pt x="5347372" y="999654"/>
                </a:lnTo>
                <a:lnTo>
                  <a:pt x="5353540" y="1047796"/>
                </a:lnTo>
                <a:lnTo>
                  <a:pt x="5359708" y="1031276"/>
                </a:lnTo>
                <a:lnTo>
                  <a:pt x="5365875" y="949373"/>
                </a:lnTo>
                <a:lnTo>
                  <a:pt x="5372043" y="967761"/>
                </a:lnTo>
                <a:lnTo>
                  <a:pt x="5378211" y="990488"/>
                </a:lnTo>
                <a:lnTo>
                  <a:pt x="5384378" y="974357"/>
                </a:lnTo>
                <a:lnTo>
                  <a:pt x="5390546" y="947759"/>
                </a:lnTo>
                <a:lnTo>
                  <a:pt x="5396714" y="966516"/>
                </a:lnTo>
                <a:lnTo>
                  <a:pt x="5402881" y="993928"/>
                </a:lnTo>
                <a:lnTo>
                  <a:pt x="5409049" y="998995"/>
                </a:lnTo>
                <a:lnTo>
                  <a:pt x="5415217" y="926545"/>
                </a:lnTo>
                <a:lnTo>
                  <a:pt x="5421384" y="942519"/>
                </a:lnTo>
                <a:lnTo>
                  <a:pt x="5427552" y="972843"/>
                </a:lnTo>
                <a:lnTo>
                  <a:pt x="5433720" y="971598"/>
                </a:lnTo>
                <a:lnTo>
                  <a:pt x="5439887" y="923115"/>
                </a:lnTo>
                <a:lnTo>
                  <a:pt x="5446055" y="950988"/>
                </a:lnTo>
                <a:lnTo>
                  <a:pt x="5452223" y="964109"/>
                </a:lnTo>
                <a:lnTo>
                  <a:pt x="5458390" y="960585"/>
                </a:lnTo>
                <a:lnTo>
                  <a:pt x="5464558" y="910632"/>
                </a:lnTo>
                <a:lnTo>
                  <a:pt x="5470726" y="937687"/>
                </a:lnTo>
                <a:lnTo>
                  <a:pt x="5476893" y="961102"/>
                </a:lnTo>
                <a:lnTo>
                  <a:pt x="5483061" y="954990"/>
                </a:lnTo>
                <a:lnTo>
                  <a:pt x="5489229" y="916197"/>
                </a:lnTo>
                <a:lnTo>
                  <a:pt x="5495396" y="950390"/>
                </a:lnTo>
                <a:lnTo>
                  <a:pt x="5501564" y="976552"/>
                </a:lnTo>
                <a:lnTo>
                  <a:pt x="5507732" y="968532"/>
                </a:lnTo>
                <a:lnTo>
                  <a:pt x="5513899" y="911831"/>
                </a:lnTo>
                <a:lnTo>
                  <a:pt x="5520067" y="944432"/>
                </a:lnTo>
                <a:lnTo>
                  <a:pt x="5526235" y="957270"/>
                </a:lnTo>
                <a:lnTo>
                  <a:pt x="5532402" y="937987"/>
                </a:lnTo>
                <a:lnTo>
                  <a:pt x="5538570" y="893841"/>
                </a:lnTo>
                <a:lnTo>
                  <a:pt x="5544738" y="921282"/>
                </a:lnTo>
                <a:lnTo>
                  <a:pt x="5550905" y="947932"/>
                </a:lnTo>
                <a:lnTo>
                  <a:pt x="5557073" y="925854"/>
                </a:lnTo>
                <a:lnTo>
                  <a:pt x="5563241" y="888904"/>
                </a:lnTo>
                <a:lnTo>
                  <a:pt x="5569408" y="921703"/>
                </a:lnTo>
                <a:lnTo>
                  <a:pt x="5575576" y="928155"/>
                </a:lnTo>
                <a:lnTo>
                  <a:pt x="5581744" y="918287"/>
                </a:lnTo>
                <a:lnTo>
                  <a:pt x="5587911" y="869920"/>
                </a:lnTo>
                <a:lnTo>
                  <a:pt x="5594079" y="885818"/>
                </a:lnTo>
                <a:lnTo>
                  <a:pt x="5600247" y="916242"/>
                </a:lnTo>
                <a:lnTo>
                  <a:pt x="5606415" y="917247"/>
                </a:lnTo>
                <a:lnTo>
                  <a:pt x="5612582" y="897126"/>
                </a:lnTo>
                <a:lnTo>
                  <a:pt x="5618750" y="918249"/>
                </a:lnTo>
                <a:lnTo>
                  <a:pt x="5624918" y="937594"/>
                </a:lnTo>
                <a:lnTo>
                  <a:pt x="5631085" y="1004106"/>
                </a:lnTo>
                <a:lnTo>
                  <a:pt x="5637253" y="1130025"/>
                </a:lnTo>
                <a:lnTo>
                  <a:pt x="5643421" y="2283201"/>
                </a:lnTo>
                <a:lnTo>
                  <a:pt x="5649588" y="2318716"/>
                </a:lnTo>
                <a:lnTo>
                  <a:pt x="5655756" y="2287269"/>
                </a:lnTo>
                <a:lnTo>
                  <a:pt x="5661924" y="2256714"/>
                </a:lnTo>
                <a:lnTo>
                  <a:pt x="5668091" y="2309444"/>
                </a:lnTo>
                <a:lnTo>
                  <a:pt x="5674259" y="2341886"/>
                </a:lnTo>
                <a:lnTo>
                  <a:pt x="5680427" y="2328808"/>
                </a:lnTo>
                <a:lnTo>
                  <a:pt x="5686594" y="2031954"/>
                </a:lnTo>
                <a:lnTo>
                  <a:pt x="5692762" y="937012"/>
                </a:lnTo>
                <a:lnTo>
                  <a:pt x="5698930" y="942084"/>
                </a:lnTo>
                <a:lnTo>
                  <a:pt x="5705097" y="937327"/>
                </a:lnTo>
                <a:lnTo>
                  <a:pt x="5711265" y="884145"/>
                </a:lnTo>
                <a:lnTo>
                  <a:pt x="5717433" y="912527"/>
                </a:lnTo>
                <a:lnTo>
                  <a:pt x="5723600" y="926971"/>
                </a:lnTo>
                <a:lnTo>
                  <a:pt x="5729768" y="907892"/>
                </a:lnTo>
                <a:lnTo>
                  <a:pt x="5735936" y="890237"/>
                </a:lnTo>
                <a:lnTo>
                  <a:pt x="5742103" y="933990"/>
                </a:lnTo>
                <a:lnTo>
                  <a:pt x="5748271" y="946798"/>
                </a:lnTo>
                <a:lnTo>
                  <a:pt x="5754439" y="937241"/>
                </a:lnTo>
                <a:lnTo>
                  <a:pt x="5760606" y="899283"/>
                </a:lnTo>
                <a:lnTo>
                  <a:pt x="5766774" y="939329"/>
                </a:lnTo>
                <a:lnTo>
                  <a:pt x="5772942" y="958761"/>
                </a:lnTo>
                <a:lnTo>
                  <a:pt x="5779109" y="961499"/>
                </a:lnTo>
                <a:lnTo>
                  <a:pt x="5785277" y="922565"/>
                </a:lnTo>
                <a:lnTo>
                  <a:pt x="5791445" y="951374"/>
                </a:lnTo>
                <a:lnTo>
                  <a:pt x="5797612" y="958961"/>
                </a:lnTo>
                <a:lnTo>
                  <a:pt x="5803780" y="950361"/>
                </a:lnTo>
                <a:lnTo>
                  <a:pt x="5809948" y="911174"/>
                </a:lnTo>
                <a:lnTo>
                  <a:pt x="5816115" y="944378"/>
                </a:lnTo>
                <a:lnTo>
                  <a:pt x="5822283" y="966883"/>
                </a:lnTo>
                <a:lnTo>
                  <a:pt x="5828451" y="962537"/>
                </a:lnTo>
                <a:lnTo>
                  <a:pt x="5834618" y="921824"/>
                </a:lnTo>
                <a:lnTo>
                  <a:pt x="5840786" y="918733"/>
                </a:lnTo>
                <a:lnTo>
                  <a:pt x="5846954" y="932056"/>
                </a:lnTo>
                <a:lnTo>
                  <a:pt x="5853121" y="916981"/>
                </a:lnTo>
                <a:lnTo>
                  <a:pt x="5859289" y="894583"/>
                </a:lnTo>
                <a:lnTo>
                  <a:pt x="5865457" y="940682"/>
                </a:lnTo>
                <a:lnTo>
                  <a:pt x="5871624" y="961491"/>
                </a:lnTo>
                <a:lnTo>
                  <a:pt x="5877792" y="962489"/>
                </a:lnTo>
                <a:lnTo>
                  <a:pt x="5883960" y="927879"/>
                </a:lnTo>
                <a:lnTo>
                  <a:pt x="5890127" y="946367"/>
                </a:lnTo>
                <a:lnTo>
                  <a:pt x="5896295" y="962187"/>
                </a:lnTo>
                <a:lnTo>
                  <a:pt x="5902463" y="966801"/>
                </a:lnTo>
                <a:lnTo>
                  <a:pt x="5908630" y="919381"/>
                </a:lnTo>
                <a:lnTo>
                  <a:pt x="5914798" y="940033"/>
                </a:lnTo>
                <a:lnTo>
                  <a:pt x="5920966" y="953464"/>
                </a:lnTo>
                <a:lnTo>
                  <a:pt x="5927134" y="950337"/>
                </a:lnTo>
                <a:lnTo>
                  <a:pt x="5933301" y="902266"/>
                </a:lnTo>
                <a:lnTo>
                  <a:pt x="5939469" y="927725"/>
                </a:lnTo>
                <a:lnTo>
                  <a:pt x="5945637" y="955528"/>
                </a:lnTo>
                <a:lnTo>
                  <a:pt x="5951804" y="939074"/>
                </a:lnTo>
                <a:lnTo>
                  <a:pt x="5957972" y="889758"/>
                </a:lnTo>
                <a:lnTo>
                  <a:pt x="5964140" y="907959"/>
                </a:lnTo>
                <a:lnTo>
                  <a:pt x="5970307" y="936662"/>
                </a:lnTo>
                <a:lnTo>
                  <a:pt x="5976475" y="940590"/>
                </a:lnTo>
                <a:lnTo>
                  <a:pt x="5982643" y="869744"/>
                </a:lnTo>
                <a:lnTo>
                  <a:pt x="5988810" y="903779"/>
                </a:lnTo>
                <a:lnTo>
                  <a:pt x="5994978" y="934267"/>
                </a:lnTo>
                <a:lnTo>
                  <a:pt x="6001146" y="940592"/>
                </a:lnTo>
                <a:lnTo>
                  <a:pt x="6007313" y="899110"/>
                </a:lnTo>
                <a:lnTo>
                  <a:pt x="6013481" y="948122"/>
                </a:lnTo>
                <a:lnTo>
                  <a:pt x="6019649" y="973904"/>
                </a:lnTo>
                <a:lnTo>
                  <a:pt x="6025816" y="975716"/>
                </a:lnTo>
                <a:lnTo>
                  <a:pt x="6031984" y="946697"/>
                </a:lnTo>
                <a:lnTo>
                  <a:pt x="6038152" y="972617"/>
                </a:lnTo>
                <a:lnTo>
                  <a:pt x="6044319" y="992146"/>
                </a:lnTo>
                <a:lnTo>
                  <a:pt x="6050487" y="980373"/>
                </a:lnTo>
                <a:lnTo>
                  <a:pt x="6056655" y="945516"/>
                </a:lnTo>
                <a:lnTo>
                  <a:pt x="6062822" y="981240"/>
                </a:lnTo>
                <a:lnTo>
                  <a:pt x="6068990" y="1033191"/>
                </a:lnTo>
                <a:lnTo>
                  <a:pt x="6075158" y="1019058"/>
                </a:lnTo>
                <a:lnTo>
                  <a:pt x="6081325" y="978990"/>
                </a:lnTo>
                <a:lnTo>
                  <a:pt x="6087493" y="1013898"/>
                </a:lnTo>
                <a:lnTo>
                  <a:pt x="6093661" y="1038566"/>
                </a:lnTo>
                <a:lnTo>
                  <a:pt x="6099828" y="1108445"/>
                </a:lnTo>
                <a:lnTo>
                  <a:pt x="6105996" y="2316101"/>
                </a:lnTo>
                <a:lnTo>
                  <a:pt x="6112164" y="2361438"/>
                </a:lnTo>
                <a:lnTo>
                  <a:pt x="6118331" y="2388513"/>
                </a:lnTo>
                <a:lnTo>
                  <a:pt x="6124499" y="2382084"/>
                </a:lnTo>
                <a:lnTo>
                  <a:pt x="6130667" y="2333230"/>
                </a:lnTo>
                <a:lnTo>
                  <a:pt x="6136834" y="2358484"/>
                </a:lnTo>
                <a:lnTo>
                  <a:pt x="6143002" y="2375417"/>
                </a:lnTo>
                <a:lnTo>
                  <a:pt x="6149170" y="2372703"/>
                </a:lnTo>
                <a:lnTo>
                  <a:pt x="6155337" y="2322667"/>
                </a:lnTo>
                <a:lnTo>
                  <a:pt x="6161505" y="2347017"/>
                </a:lnTo>
                <a:lnTo>
                  <a:pt x="6167673" y="2373270"/>
                </a:lnTo>
                <a:lnTo>
                  <a:pt x="6173840" y="2365578"/>
                </a:lnTo>
                <a:lnTo>
                  <a:pt x="6180008" y="2332221"/>
                </a:lnTo>
                <a:lnTo>
                  <a:pt x="6186176" y="2376956"/>
                </a:lnTo>
                <a:lnTo>
                  <a:pt x="6192343" y="2404789"/>
                </a:lnTo>
                <a:lnTo>
                  <a:pt x="6198511" y="2404559"/>
                </a:lnTo>
                <a:lnTo>
                  <a:pt x="6204679" y="2361143"/>
                </a:lnTo>
                <a:lnTo>
                  <a:pt x="6210846" y="2393992"/>
                </a:lnTo>
                <a:lnTo>
                  <a:pt x="6217014" y="2418743"/>
                </a:lnTo>
                <a:lnTo>
                  <a:pt x="6223182" y="2413704"/>
                </a:lnTo>
                <a:lnTo>
                  <a:pt x="6229350" y="2359750"/>
                </a:lnTo>
                <a:lnTo>
                  <a:pt x="6235517" y="2392371"/>
                </a:lnTo>
                <a:lnTo>
                  <a:pt x="6241685" y="2415073"/>
                </a:lnTo>
                <a:lnTo>
                  <a:pt x="6247853" y="2404274"/>
                </a:lnTo>
                <a:lnTo>
                  <a:pt x="6254020" y="2376520"/>
                </a:lnTo>
                <a:lnTo>
                  <a:pt x="6260188" y="2413042"/>
                </a:lnTo>
                <a:lnTo>
                  <a:pt x="6266356" y="2441554"/>
                </a:lnTo>
                <a:lnTo>
                  <a:pt x="6272523" y="2433038"/>
                </a:lnTo>
                <a:lnTo>
                  <a:pt x="6278691" y="2384201"/>
                </a:lnTo>
                <a:lnTo>
                  <a:pt x="6284859" y="2413849"/>
                </a:lnTo>
                <a:lnTo>
                  <a:pt x="6291026" y="2430480"/>
                </a:lnTo>
                <a:lnTo>
                  <a:pt x="6297194" y="2417751"/>
                </a:lnTo>
                <a:lnTo>
                  <a:pt x="6303362" y="2371790"/>
                </a:lnTo>
                <a:lnTo>
                  <a:pt x="6309529" y="2400441"/>
                </a:lnTo>
                <a:lnTo>
                  <a:pt x="6315697" y="2421819"/>
                </a:lnTo>
                <a:lnTo>
                  <a:pt x="6321865" y="2414674"/>
                </a:lnTo>
                <a:lnTo>
                  <a:pt x="6328032" y="2372489"/>
                </a:lnTo>
                <a:lnTo>
                  <a:pt x="6334200" y="2403755"/>
                </a:lnTo>
                <a:lnTo>
                  <a:pt x="6340368" y="2429470"/>
                </a:lnTo>
                <a:lnTo>
                  <a:pt x="6346535" y="2416453"/>
                </a:lnTo>
                <a:lnTo>
                  <a:pt x="6352703" y="2369793"/>
                </a:lnTo>
                <a:lnTo>
                  <a:pt x="6358871" y="2372702"/>
                </a:lnTo>
                <a:lnTo>
                  <a:pt x="6365038" y="2391026"/>
                </a:lnTo>
                <a:lnTo>
                  <a:pt x="6371206" y="2381151"/>
                </a:lnTo>
                <a:lnTo>
                  <a:pt x="6377374" y="2356395"/>
                </a:lnTo>
                <a:lnTo>
                  <a:pt x="6383541" y="2381016"/>
                </a:lnTo>
                <a:lnTo>
                  <a:pt x="6389709" y="2399683"/>
                </a:lnTo>
                <a:lnTo>
                  <a:pt x="6395877" y="2389762"/>
                </a:lnTo>
                <a:lnTo>
                  <a:pt x="6402044" y="2337939"/>
                </a:lnTo>
                <a:lnTo>
                  <a:pt x="6408212" y="2372031"/>
                </a:lnTo>
                <a:lnTo>
                  <a:pt x="6414380" y="2413218"/>
                </a:lnTo>
                <a:lnTo>
                  <a:pt x="6420547" y="2409745"/>
                </a:lnTo>
                <a:lnTo>
                  <a:pt x="6426715" y="2366698"/>
                </a:lnTo>
                <a:lnTo>
                  <a:pt x="6432883" y="2392991"/>
                </a:lnTo>
                <a:lnTo>
                  <a:pt x="6439050" y="2419516"/>
                </a:lnTo>
                <a:lnTo>
                  <a:pt x="6445218" y="2408231"/>
                </a:lnTo>
                <a:lnTo>
                  <a:pt x="6451386" y="2366495"/>
                </a:lnTo>
                <a:lnTo>
                  <a:pt x="6457553" y="2392144"/>
                </a:lnTo>
                <a:lnTo>
                  <a:pt x="6463721" y="2419053"/>
                </a:lnTo>
                <a:lnTo>
                  <a:pt x="6469889" y="2417858"/>
                </a:lnTo>
                <a:lnTo>
                  <a:pt x="6476056" y="2371084"/>
                </a:lnTo>
                <a:lnTo>
                  <a:pt x="6482224" y="2396783"/>
                </a:lnTo>
                <a:lnTo>
                  <a:pt x="6488392" y="2412102"/>
                </a:lnTo>
                <a:lnTo>
                  <a:pt x="6494559" y="2415330"/>
                </a:lnTo>
                <a:lnTo>
                  <a:pt x="6500727" y="2374098"/>
                </a:lnTo>
                <a:lnTo>
                  <a:pt x="6506895" y="2392801"/>
                </a:lnTo>
                <a:lnTo>
                  <a:pt x="6513062" y="2406616"/>
                </a:lnTo>
                <a:lnTo>
                  <a:pt x="6519230" y="2418777"/>
                </a:lnTo>
                <a:lnTo>
                  <a:pt x="6525398" y="2380063"/>
                </a:lnTo>
                <a:lnTo>
                  <a:pt x="6531565" y="2404457"/>
                </a:lnTo>
                <a:lnTo>
                  <a:pt x="6537733" y="2421445"/>
                </a:lnTo>
                <a:lnTo>
                  <a:pt x="6543901" y="2415387"/>
                </a:lnTo>
                <a:lnTo>
                  <a:pt x="6550069" y="2363897"/>
                </a:lnTo>
                <a:lnTo>
                  <a:pt x="6556236" y="2386396"/>
                </a:lnTo>
                <a:lnTo>
                  <a:pt x="6562404" y="2405520"/>
                </a:lnTo>
                <a:lnTo>
                  <a:pt x="6568572" y="2402821"/>
                </a:lnTo>
                <a:lnTo>
                  <a:pt x="6574739" y="2365935"/>
                </a:lnTo>
                <a:lnTo>
                  <a:pt x="6580907" y="2389000"/>
                </a:lnTo>
                <a:lnTo>
                  <a:pt x="6587075" y="2399825"/>
                </a:lnTo>
                <a:lnTo>
                  <a:pt x="6593242" y="2397136"/>
                </a:lnTo>
                <a:lnTo>
                  <a:pt x="6599410" y="2345788"/>
                </a:lnTo>
                <a:lnTo>
                  <a:pt x="6605578" y="2354401"/>
                </a:lnTo>
                <a:lnTo>
                  <a:pt x="6611745" y="2368982"/>
                </a:lnTo>
                <a:lnTo>
                  <a:pt x="6617913" y="2363822"/>
                </a:lnTo>
                <a:lnTo>
                  <a:pt x="6624081" y="2326426"/>
                </a:lnTo>
                <a:lnTo>
                  <a:pt x="6630248" y="2354902"/>
                </a:lnTo>
                <a:lnTo>
                  <a:pt x="6636416" y="2370399"/>
                </a:lnTo>
                <a:lnTo>
                  <a:pt x="6642584" y="2365843"/>
                </a:lnTo>
                <a:lnTo>
                  <a:pt x="6648751" y="2329704"/>
                </a:lnTo>
                <a:lnTo>
                  <a:pt x="6654919" y="2354505"/>
                </a:lnTo>
                <a:lnTo>
                  <a:pt x="6661087" y="2370135"/>
                </a:lnTo>
                <a:lnTo>
                  <a:pt x="6667254" y="2306034"/>
                </a:lnTo>
                <a:lnTo>
                  <a:pt x="6673422" y="919582"/>
                </a:lnTo>
                <a:lnTo>
                  <a:pt x="6679590" y="1000401"/>
                </a:lnTo>
                <a:lnTo>
                  <a:pt x="6685757" y="1021569"/>
                </a:lnTo>
                <a:lnTo>
                  <a:pt x="6691925" y="986074"/>
                </a:lnTo>
                <a:lnTo>
                  <a:pt x="6698093" y="893076"/>
                </a:lnTo>
                <a:lnTo>
                  <a:pt x="6704260" y="949495"/>
                </a:lnTo>
                <a:lnTo>
                  <a:pt x="6710428" y="966979"/>
                </a:lnTo>
                <a:lnTo>
                  <a:pt x="6716596" y="976857"/>
                </a:lnTo>
                <a:lnTo>
                  <a:pt x="6722763" y="969220"/>
                </a:lnTo>
                <a:lnTo>
                  <a:pt x="6728931" y="967255"/>
                </a:lnTo>
                <a:lnTo>
                  <a:pt x="6735099" y="992723"/>
                </a:lnTo>
                <a:lnTo>
                  <a:pt x="6741266" y="995994"/>
                </a:lnTo>
                <a:lnTo>
                  <a:pt x="6747434" y="971247"/>
                </a:lnTo>
                <a:lnTo>
                  <a:pt x="6753602" y="978547"/>
                </a:lnTo>
                <a:lnTo>
                  <a:pt x="6759769" y="992518"/>
                </a:lnTo>
                <a:lnTo>
                  <a:pt x="6765937" y="989178"/>
                </a:lnTo>
                <a:lnTo>
                  <a:pt x="6772105" y="926048"/>
                </a:lnTo>
                <a:lnTo>
                  <a:pt x="6778272" y="951046"/>
                </a:lnTo>
                <a:lnTo>
                  <a:pt x="6784440" y="967941"/>
                </a:lnTo>
                <a:lnTo>
                  <a:pt x="6790608" y="972322"/>
                </a:lnTo>
                <a:lnTo>
                  <a:pt x="6796775" y="949583"/>
                </a:lnTo>
                <a:lnTo>
                  <a:pt x="6802943" y="952276"/>
                </a:lnTo>
                <a:lnTo>
                  <a:pt x="6809111" y="970648"/>
                </a:lnTo>
                <a:lnTo>
                  <a:pt x="6815278" y="982513"/>
                </a:lnTo>
                <a:lnTo>
                  <a:pt x="6821446" y="930486"/>
                </a:lnTo>
                <a:lnTo>
                  <a:pt x="6827614" y="943103"/>
                </a:lnTo>
                <a:lnTo>
                  <a:pt x="6833781" y="968753"/>
                </a:lnTo>
                <a:lnTo>
                  <a:pt x="6839949" y="969202"/>
                </a:lnTo>
                <a:lnTo>
                  <a:pt x="6846117" y="936916"/>
                </a:lnTo>
                <a:lnTo>
                  <a:pt x="6852284" y="944799"/>
                </a:lnTo>
                <a:lnTo>
                  <a:pt x="6858452" y="972692"/>
                </a:lnTo>
                <a:lnTo>
                  <a:pt x="6864620" y="971936"/>
                </a:lnTo>
                <a:lnTo>
                  <a:pt x="6870788" y="930206"/>
                </a:lnTo>
                <a:lnTo>
                  <a:pt x="6876955" y="962696"/>
                </a:lnTo>
                <a:lnTo>
                  <a:pt x="6883123" y="977475"/>
                </a:lnTo>
                <a:lnTo>
                  <a:pt x="6889291" y="969253"/>
                </a:lnTo>
                <a:lnTo>
                  <a:pt x="6895458" y="930176"/>
                </a:lnTo>
                <a:lnTo>
                  <a:pt x="6901626" y="983667"/>
                </a:lnTo>
                <a:lnTo>
                  <a:pt x="6907794" y="964566"/>
                </a:lnTo>
                <a:lnTo>
                  <a:pt x="6913961" y="984634"/>
                </a:lnTo>
                <a:lnTo>
                  <a:pt x="6920129" y="945659"/>
                </a:lnTo>
                <a:lnTo>
                  <a:pt x="6926297" y="963530"/>
                </a:lnTo>
                <a:lnTo>
                  <a:pt x="6932464" y="968951"/>
                </a:lnTo>
                <a:lnTo>
                  <a:pt x="6938632" y="959075"/>
                </a:lnTo>
                <a:lnTo>
                  <a:pt x="6944800" y="949757"/>
                </a:lnTo>
                <a:lnTo>
                  <a:pt x="6950967" y="998283"/>
                </a:lnTo>
                <a:lnTo>
                  <a:pt x="6957135" y="1016496"/>
                </a:lnTo>
                <a:lnTo>
                  <a:pt x="6963303" y="1003957"/>
                </a:lnTo>
                <a:lnTo>
                  <a:pt x="6969470" y="981284"/>
                </a:lnTo>
                <a:lnTo>
                  <a:pt x="6975638" y="1027427"/>
                </a:lnTo>
                <a:lnTo>
                  <a:pt x="6981806" y="1046049"/>
                </a:lnTo>
                <a:lnTo>
                  <a:pt x="6987973" y="1054435"/>
                </a:lnTo>
                <a:lnTo>
                  <a:pt x="6994141" y="989057"/>
                </a:lnTo>
                <a:lnTo>
                  <a:pt x="7000309" y="1000369"/>
                </a:lnTo>
                <a:lnTo>
                  <a:pt x="7006476" y="1013159"/>
                </a:lnTo>
                <a:lnTo>
                  <a:pt x="7012644" y="978219"/>
                </a:lnTo>
                <a:lnTo>
                  <a:pt x="7018812" y="936715"/>
                </a:lnTo>
                <a:lnTo>
                  <a:pt x="7024979" y="964786"/>
                </a:lnTo>
                <a:lnTo>
                  <a:pt x="7031147" y="981653"/>
                </a:lnTo>
                <a:lnTo>
                  <a:pt x="7037315" y="974158"/>
                </a:lnTo>
                <a:lnTo>
                  <a:pt x="7043482" y="937453"/>
                </a:lnTo>
                <a:lnTo>
                  <a:pt x="7049650" y="963375"/>
                </a:lnTo>
                <a:lnTo>
                  <a:pt x="7055818" y="975577"/>
                </a:lnTo>
                <a:lnTo>
                  <a:pt x="7061985" y="972781"/>
                </a:lnTo>
                <a:lnTo>
                  <a:pt x="7068153" y="964604"/>
                </a:lnTo>
                <a:lnTo>
                  <a:pt x="7074321" y="986648"/>
                </a:lnTo>
                <a:lnTo>
                  <a:pt x="7080488" y="1016928"/>
                </a:lnTo>
                <a:lnTo>
                  <a:pt x="7086656" y="999549"/>
                </a:lnTo>
                <a:lnTo>
                  <a:pt x="7092824" y="946442"/>
                </a:lnTo>
                <a:lnTo>
                  <a:pt x="7098991" y="978495"/>
                </a:lnTo>
                <a:lnTo>
                  <a:pt x="7105159" y="999168"/>
                </a:lnTo>
                <a:lnTo>
                  <a:pt x="7111327" y="986708"/>
                </a:lnTo>
                <a:lnTo>
                  <a:pt x="7117494" y="935818"/>
                </a:lnTo>
                <a:lnTo>
                  <a:pt x="7123662" y="962624"/>
                </a:lnTo>
                <a:lnTo>
                  <a:pt x="7129830" y="977907"/>
                </a:lnTo>
                <a:lnTo>
                  <a:pt x="7135997" y="970104"/>
                </a:lnTo>
                <a:lnTo>
                  <a:pt x="7142165" y="907391"/>
                </a:lnTo>
                <a:lnTo>
                  <a:pt x="7148333" y="920326"/>
                </a:lnTo>
                <a:lnTo>
                  <a:pt x="7154500" y="922915"/>
                </a:lnTo>
                <a:lnTo>
                  <a:pt x="7160668" y="933396"/>
                </a:lnTo>
                <a:lnTo>
                  <a:pt x="7166836" y="812737"/>
                </a:lnTo>
                <a:lnTo>
                  <a:pt x="7173004" y="1004100"/>
                </a:lnTo>
                <a:lnTo>
                  <a:pt x="7179171" y="1032549"/>
                </a:lnTo>
                <a:lnTo>
                  <a:pt x="7185339" y="1032507"/>
                </a:lnTo>
                <a:lnTo>
                  <a:pt x="7191507" y="984722"/>
                </a:lnTo>
                <a:lnTo>
                  <a:pt x="7197674" y="1022094"/>
                </a:lnTo>
                <a:lnTo>
                  <a:pt x="7203842" y="1060267"/>
                </a:lnTo>
                <a:lnTo>
                  <a:pt x="7210010" y="1049521"/>
                </a:lnTo>
                <a:lnTo>
                  <a:pt x="7216177" y="999069"/>
                </a:lnTo>
                <a:lnTo>
                  <a:pt x="7222345" y="1035266"/>
                </a:lnTo>
                <a:lnTo>
                  <a:pt x="7228513" y="1032153"/>
                </a:lnTo>
                <a:lnTo>
                  <a:pt x="7234680" y="1009986"/>
                </a:lnTo>
                <a:lnTo>
                  <a:pt x="7240848" y="955180"/>
                </a:lnTo>
                <a:lnTo>
                  <a:pt x="7247016" y="970814"/>
                </a:lnTo>
                <a:lnTo>
                  <a:pt x="7253183" y="956848"/>
                </a:lnTo>
                <a:lnTo>
                  <a:pt x="7259351" y="975106"/>
                </a:lnTo>
                <a:lnTo>
                  <a:pt x="7265519" y="971100"/>
                </a:lnTo>
                <a:lnTo>
                  <a:pt x="7271686" y="997336"/>
                </a:lnTo>
                <a:lnTo>
                  <a:pt x="7277854" y="1003076"/>
                </a:lnTo>
                <a:lnTo>
                  <a:pt x="7284022" y="996528"/>
                </a:lnTo>
                <a:lnTo>
                  <a:pt x="7290189" y="948003"/>
                </a:lnTo>
                <a:lnTo>
                  <a:pt x="7296357" y="973730"/>
                </a:lnTo>
                <a:lnTo>
                  <a:pt x="7302525" y="996273"/>
                </a:lnTo>
                <a:lnTo>
                  <a:pt x="7308692" y="991390"/>
                </a:lnTo>
                <a:lnTo>
                  <a:pt x="7314860" y="950493"/>
                </a:lnTo>
                <a:lnTo>
                  <a:pt x="7321028" y="987318"/>
                </a:lnTo>
                <a:lnTo>
                  <a:pt x="7327195" y="1001298"/>
                </a:lnTo>
                <a:lnTo>
                  <a:pt x="7333363" y="983231"/>
                </a:lnTo>
                <a:lnTo>
                  <a:pt x="7339531" y="928219"/>
                </a:lnTo>
                <a:lnTo>
                  <a:pt x="7345698" y="957091"/>
                </a:lnTo>
                <a:lnTo>
                  <a:pt x="7351866" y="977876"/>
                </a:lnTo>
                <a:lnTo>
                  <a:pt x="7358034" y="972286"/>
                </a:lnTo>
                <a:lnTo>
                  <a:pt x="7364201" y="923814"/>
                </a:lnTo>
                <a:lnTo>
                  <a:pt x="7370369" y="956400"/>
                </a:lnTo>
                <a:lnTo>
                  <a:pt x="7376537" y="971688"/>
                </a:lnTo>
                <a:lnTo>
                  <a:pt x="7382704" y="963625"/>
                </a:lnTo>
                <a:lnTo>
                  <a:pt x="7388872" y="889042"/>
                </a:lnTo>
                <a:lnTo>
                  <a:pt x="7395040" y="954474"/>
                </a:lnTo>
                <a:lnTo>
                  <a:pt x="7401207" y="979022"/>
                </a:lnTo>
                <a:lnTo>
                  <a:pt x="7407375" y="972194"/>
                </a:lnTo>
                <a:lnTo>
                  <a:pt x="7413543" y="906215"/>
                </a:lnTo>
                <a:lnTo>
                  <a:pt x="7419710" y="908565"/>
                </a:lnTo>
                <a:lnTo>
                  <a:pt x="7425878" y="923745"/>
                </a:lnTo>
                <a:lnTo>
                  <a:pt x="7432046" y="1389811"/>
                </a:lnTo>
                <a:lnTo>
                  <a:pt x="7438213" y="2292810"/>
                </a:lnTo>
                <a:lnTo>
                  <a:pt x="7444381" y="2331533"/>
                </a:lnTo>
                <a:lnTo>
                  <a:pt x="7450549" y="2346871"/>
                </a:lnTo>
                <a:lnTo>
                  <a:pt x="7456716" y="2339307"/>
                </a:lnTo>
                <a:lnTo>
                  <a:pt x="7462884" y="2292578"/>
                </a:lnTo>
                <a:lnTo>
                  <a:pt x="7469052" y="2325041"/>
                </a:lnTo>
                <a:lnTo>
                  <a:pt x="7475220" y="2337934"/>
                </a:lnTo>
                <a:lnTo>
                  <a:pt x="7481387" y="2327431"/>
                </a:lnTo>
                <a:lnTo>
                  <a:pt x="7487555" y="2037877"/>
                </a:lnTo>
                <a:lnTo>
                  <a:pt x="7493723" y="1959394"/>
                </a:lnTo>
                <a:lnTo>
                  <a:pt x="7499890" y="2029450"/>
                </a:lnTo>
                <a:lnTo>
                  <a:pt x="7506058" y="2043468"/>
                </a:lnTo>
                <a:lnTo>
                  <a:pt x="7512226" y="1002514"/>
                </a:lnTo>
                <a:lnTo>
                  <a:pt x="7518393" y="703836"/>
                </a:lnTo>
                <a:lnTo>
                  <a:pt x="7524561" y="730389"/>
                </a:lnTo>
                <a:lnTo>
                  <a:pt x="7530729" y="748194"/>
                </a:lnTo>
                <a:lnTo>
                  <a:pt x="7536896" y="179909"/>
                </a:lnTo>
                <a:lnTo>
                  <a:pt x="7543064" y="834334"/>
                </a:lnTo>
                <a:lnTo>
                  <a:pt x="7549232" y="932453"/>
                </a:lnTo>
                <a:lnTo>
                  <a:pt x="7555399" y="930333"/>
                </a:lnTo>
                <a:lnTo>
                  <a:pt x="7561567" y="892681"/>
                </a:lnTo>
                <a:lnTo>
                  <a:pt x="7567735" y="925960"/>
                </a:lnTo>
                <a:lnTo>
                  <a:pt x="7573902" y="940674"/>
                </a:lnTo>
                <a:lnTo>
                  <a:pt x="7580070" y="947427"/>
                </a:lnTo>
                <a:lnTo>
                  <a:pt x="7586238" y="900671"/>
                </a:lnTo>
                <a:lnTo>
                  <a:pt x="7592405" y="926899"/>
                </a:lnTo>
                <a:lnTo>
                  <a:pt x="7598573" y="927501"/>
                </a:lnTo>
                <a:lnTo>
                  <a:pt x="7604741" y="914011"/>
                </a:lnTo>
                <a:lnTo>
                  <a:pt x="7610908" y="896739"/>
                </a:lnTo>
                <a:lnTo>
                  <a:pt x="7617076" y="906425"/>
                </a:lnTo>
                <a:lnTo>
                  <a:pt x="7623244" y="918828"/>
                </a:lnTo>
                <a:lnTo>
                  <a:pt x="7629411" y="915219"/>
                </a:lnTo>
                <a:lnTo>
                  <a:pt x="7635579" y="867524"/>
                </a:lnTo>
                <a:lnTo>
                  <a:pt x="7641747" y="896901"/>
                </a:lnTo>
                <a:lnTo>
                  <a:pt x="7647914" y="912153"/>
                </a:lnTo>
                <a:lnTo>
                  <a:pt x="7654082" y="925432"/>
                </a:lnTo>
                <a:lnTo>
                  <a:pt x="7660250" y="887948"/>
                </a:lnTo>
                <a:lnTo>
                  <a:pt x="7666417" y="880265"/>
                </a:lnTo>
                <a:lnTo>
                  <a:pt x="7672585" y="887930"/>
                </a:lnTo>
                <a:lnTo>
                  <a:pt x="7678753" y="889454"/>
                </a:lnTo>
                <a:lnTo>
                  <a:pt x="7684920" y="878081"/>
                </a:lnTo>
                <a:lnTo>
                  <a:pt x="7691088" y="929251"/>
                </a:lnTo>
                <a:lnTo>
                  <a:pt x="7697256" y="948160"/>
                </a:lnTo>
                <a:lnTo>
                  <a:pt x="7703423" y="931766"/>
                </a:lnTo>
                <a:lnTo>
                  <a:pt x="7709591" y="586034"/>
                </a:lnTo>
                <a:lnTo>
                  <a:pt x="7715759" y="393049"/>
                </a:lnTo>
                <a:lnTo>
                  <a:pt x="7721926" y="458006"/>
                </a:lnTo>
                <a:lnTo>
                  <a:pt x="7728094" y="514351"/>
                </a:lnTo>
                <a:lnTo>
                  <a:pt x="7734262" y="879417"/>
                </a:lnTo>
                <a:lnTo>
                  <a:pt x="7740429" y="923135"/>
                </a:lnTo>
                <a:lnTo>
                  <a:pt x="7746597" y="928472"/>
                </a:lnTo>
                <a:lnTo>
                  <a:pt x="7752765" y="928777"/>
                </a:lnTo>
                <a:lnTo>
                  <a:pt x="7758932" y="896892"/>
                </a:lnTo>
                <a:lnTo>
                  <a:pt x="7765100" y="956134"/>
                </a:lnTo>
                <a:lnTo>
                  <a:pt x="7771268" y="960493"/>
                </a:lnTo>
                <a:lnTo>
                  <a:pt x="7777435" y="835719"/>
                </a:lnTo>
                <a:lnTo>
                  <a:pt x="7783603" y="367412"/>
                </a:lnTo>
                <a:lnTo>
                  <a:pt x="7789771" y="826260"/>
                </a:lnTo>
                <a:lnTo>
                  <a:pt x="7795939" y="893310"/>
                </a:lnTo>
                <a:lnTo>
                  <a:pt x="7802106" y="884343"/>
                </a:lnTo>
                <a:lnTo>
                  <a:pt x="7808274" y="856751"/>
                </a:lnTo>
                <a:lnTo>
                  <a:pt x="7814442" y="938566"/>
                </a:lnTo>
                <a:lnTo>
                  <a:pt x="7820609" y="957457"/>
                </a:lnTo>
                <a:lnTo>
                  <a:pt x="7826777" y="940483"/>
                </a:lnTo>
                <a:lnTo>
                  <a:pt x="7832945" y="873374"/>
                </a:lnTo>
                <a:lnTo>
                  <a:pt x="7839112" y="942045"/>
                </a:lnTo>
                <a:lnTo>
                  <a:pt x="7845280" y="934880"/>
                </a:lnTo>
                <a:lnTo>
                  <a:pt x="7851448" y="932343"/>
                </a:lnTo>
                <a:lnTo>
                  <a:pt x="7857615" y="881876"/>
                </a:lnTo>
                <a:lnTo>
                  <a:pt x="7863783" y="931047"/>
                </a:lnTo>
                <a:lnTo>
                  <a:pt x="7869951" y="956922"/>
                </a:lnTo>
                <a:lnTo>
                  <a:pt x="7876118" y="689162"/>
                </a:lnTo>
                <a:lnTo>
                  <a:pt x="7882286" y="95777"/>
                </a:lnTo>
                <a:lnTo>
                  <a:pt x="7888454" y="279815"/>
                </a:lnTo>
                <a:lnTo>
                  <a:pt x="7894621" y="397512"/>
                </a:lnTo>
                <a:lnTo>
                  <a:pt x="7900789" y="470851"/>
                </a:lnTo>
                <a:lnTo>
                  <a:pt x="7906957" y="526791"/>
                </a:lnTo>
                <a:lnTo>
                  <a:pt x="7913124" y="627852"/>
                </a:lnTo>
                <a:lnTo>
                  <a:pt x="7919292" y="689478"/>
                </a:lnTo>
                <a:lnTo>
                  <a:pt x="7925460" y="714998"/>
                </a:lnTo>
                <a:lnTo>
                  <a:pt x="7931627" y="725924"/>
                </a:lnTo>
                <a:lnTo>
                  <a:pt x="7937795" y="775374"/>
                </a:lnTo>
                <a:lnTo>
                  <a:pt x="7943963" y="809486"/>
                </a:lnTo>
                <a:lnTo>
                  <a:pt x="7950130" y="819670"/>
                </a:lnTo>
                <a:lnTo>
                  <a:pt x="7956298" y="809410"/>
                </a:lnTo>
                <a:lnTo>
                  <a:pt x="7962466" y="1186174"/>
                </a:lnTo>
                <a:lnTo>
                  <a:pt x="7968633" y="1382537"/>
                </a:lnTo>
                <a:lnTo>
                  <a:pt x="7974801" y="1441684"/>
                </a:lnTo>
                <a:lnTo>
                  <a:pt x="7980969" y="1458066"/>
                </a:lnTo>
                <a:lnTo>
                  <a:pt x="7987136" y="1551181"/>
                </a:lnTo>
                <a:lnTo>
                  <a:pt x="7993304" y="1628452"/>
                </a:lnTo>
                <a:lnTo>
                  <a:pt x="7999472" y="1669814"/>
                </a:lnTo>
                <a:lnTo>
                  <a:pt x="8005639" y="1689561"/>
                </a:lnTo>
                <a:lnTo>
                  <a:pt x="8011807" y="1770719"/>
                </a:lnTo>
                <a:lnTo>
                  <a:pt x="8017975" y="1830990"/>
                </a:lnTo>
                <a:lnTo>
                  <a:pt x="8024142" y="1855822"/>
                </a:lnTo>
                <a:lnTo>
                  <a:pt x="8030310" y="1835104"/>
                </a:lnTo>
                <a:lnTo>
                  <a:pt x="8036478" y="1904356"/>
                </a:lnTo>
                <a:lnTo>
                  <a:pt x="8042645" y="1948566"/>
                </a:lnTo>
                <a:lnTo>
                  <a:pt x="8048813" y="1553946"/>
                </a:lnTo>
                <a:lnTo>
                  <a:pt x="8054981" y="1073915"/>
                </a:lnTo>
                <a:lnTo>
                  <a:pt x="8061148" y="1148908"/>
                </a:lnTo>
                <a:lnTo>
                  <a:pt x="8067316" y="1213760"/>
                </a:lnTo>
                <a:lnTo>
                  <a:pt x="8073484" y="1300120"/>
                </a:lnTo>
                <a:lnTo>
                  <a:pt x="8079651" y="1585745"/>
                </a:lnTo>
                <a:lnTo>
                  <a:pt x="8085819" y="2070813"/>
                </a:lnTo>
                <a:lnTo>
                  <a:pt x="8091987" y="2109952"/>
                </a:lnTo>
                <a:lnTo>
                  <a:pt x="8098155" y="2129858"/>
                </a:lnTo>
                <a:lnTo>
                  <a:pt x="8104322" y="2092966"/>
                </a:lnTo>
                <a:lnTo>
                  <a:pt x="8110490" y="2114945"/>
                </a:lnTo>
                <a:lnTo>
                  <a:pt x="8116658" y="2142384"/>
                </a:lnTo>
                <a:lnTo>
                  <a:pt x="8122825" y="2145185"/>
                </a:lnTo>
                <a:lnTo>
                  <a:pt x="8128993" y="2139887"/>
                </a:lnTo>
                <a:lnTo>
                  <a:pt x="8135161" y="2192983"/>
                </a:lnTo>
                <a:lnTo>
                  <a:pt x="8141328" y="2223026"/>
                </a:lnTo>
                <a:lnTo>
                  <a:pt x="8147496" y="2220091"/>
                </a:lnTo>
                <a:lnTo>
                  <a:pt x="8153664" y="2184335"/>
                </a:lnTo>
                <a:lnTo>
                  <a:pt x="8159831" y="2252814"/>
                </a:lnTo>
                <a:lnTo>
                  <a:pt x="8165999" y="2297158"/>
                </a:lnTo>
                <a:lnTo>
                  <a:pt x="8172167" y="2311704"/>
                </a:lnTo>
                <a:lnTo>
                  <a:pt x="8178334" y="2259102"/>
                </a:lnTo>
                <a:lnTo>
                  <a:pt x="8184502" y="2305828"/>
                </a:lnTo>
                <a:lnTo>
                  <a:pt x="8190670" y="2325119"/>
                </a:lnTo>
                <a:lnTo>
                  <a:pt x="8196837" y="2312912"/>
                </a:lnTo>
                <a:lnTo>
                  <a:pt x="8203005" y="2273660"/>
                </a:lnTo>
                <a:lnTo>
                  <a:pt x="8209173" y="2304288"/>
                </a:lnTo>
                <a:lnTo>
                  <a:pt x="8215340" y="2328817"/>
                </a:lnTo>
                <a:lnTo>
                  <a:pt x="8221508" y="2323747"/>
                </a:lnTo>
                <a:lnTo>
                  <a:pt x="8227676" y="2293209"/>
                </a:lnTo>
                <a:lnTo>
                  <a:pt x="8233843" y="2325984"/>
                </a:lnTo>
                <a:lnTo>
                  <a:pt x="8240011" y="2338495"/>
                </a:lnTo>
                <a:lnTo>
                  <a:pt x="8246179" y="2331383"/>
                </a:lnTo>
                <a:lnTo>
                  <a:pt x="8252346" y="2303429"/>
                </a:lnTo>
                <a:lnTo>
                  <a:pt x="8258514" y="2326226"/>
                </a:lnTo>
                <a:lnTo>
                  <a:pt x="8264682" y="2345190"/>
                </a:lnTo>
                <a:lnTo>
                  <a:pt x="8270849" y="2339778"/>
                </a:lnTo>
                <a:lnTo>
                  <a:pt x="8277017" y="2291375"/>
                </a:lnTo>
                <a:lnTo>
                  <a:pt x="8283185" y="2332956"/>
                </a:lnTo>
                <a:lnTo>
                  <a:pt x="8289352" y="2349537"/>
                </a:lnTo>
                <a:lnTo>
                  <a:pt x="8295520" y="2340550"/>
                </a:lnTo>
                <a:lnTo>
                  <a:pt x="8301688" y="2304079"/>
                </a:lnTo>
                <a:lnTo>
                  <a:pt x="8307855" y="2341193"/>
                </a:lnTo>
                <a:lnTo>
                  <a:pt x="8314023" y="2355523"/>
                </a:lnTo>
                <a:lnTo>
                  <a:pt x="8320191" y="2343808"/>
                </a:lnTo>
                <a:lnTo>
                  <a:pt x="8326358" y="2312426"/>
                </a:lnTo>
                <a:lnTo>
                  <a:pt x="8332526" y="2314548"/>
                </a:lnTo>
                <a:lnTo>
                  <a:pt x="8338694" y="2322824"/>
                </a:lnTo>
                <a:lnTo>
                  <a:pt x="8344861" y="2314317"/>
                </a:lnTo>
                <a:lnTo>
                  <a:pt x="8351029" y="2281629"/>
                </a:lnTo>
                <a:lnTo>
                  <a:pt x="8357197" y="2339605"/>
                </a:lnTo>
                <a:lnTo>
                  <a:pt x="8363364" y="2345540"/>
                </a:lnTo>
                <a:lnTo>
                  <a:pt x="8369532" y="2338845"/>
                </a:lnTo>
                <a:lnTo>
                  <a:pt x="8375700" y="2333777"/>
                </a:lnTo>
                <a:lnTo>
                  <a:pt x="8381867" y="2363758"/>
                </a:lnTo>
                <a:lnTo>
                  <a:pt x="8388035" y="2380055"/>
                </a:lnTo>
                <a:lnTo>
                  <a:pt x="8394203" y="1821629"/>
                </a:lnTo>
                <a:lnTo>
                  <a:pt x="8400370" y="947166"/>
                </a:lnTo>
                <a:lnTo>
                  <a:pt x="8406538" y="981807"/>
                </a:lnTo>
                <a:lnTo>
                  <a:pt x="8412706" y="1001334"/>
                </a:lnTo>
                <a:lnTo>
                  <a:pt x="8418874" y="993048"/>
                </a:lnTo>
                <a:lnTo>
                  <a:pt x="8425041" y="944717"/>
                </a:lnTo>
                <a:lnTo>
                  <a:pt x="8431209" y="968716"/>
                </a:lnTo>
                <a:lnTo>
                  <a:pt x="8437377" y="970618"/>
                </a:lnTo>
                <a:lnTo>
                  <a:pt x="8443544" y="976656"/>
                </a:lnTo>
                <a:lnTo>
                  <a:pt x="8449712" y="944559"/>
                </a:lnTo>
                <a:lnTo>
                  <a:pt x="8455880" y="971241"/>
                </a:lnTo>
                <a:lnTo>
                  <a:pt x="8462047" y="991185"/>
                </a:lnTo>
                <a:lnTo>
                  <a:pt x="8468215" y="978569"/>
                </a:lnTo>
                <a:lnTo>
                  <a:pt x="8474383" y="938556"/>
                </a:lnTo>
                <a:lnTo>
                  <a:pt x="8480550" y="977853"/>
                </a:lnTo>
                <a:lnTo>
                  <a:pt x="8486718" y="1003111"/>
                </a:lnTo>
                <a:lnTo>
                  <a:pt x="8492886" y="989046"/>
                </a:lnTo>
                <a:lnTo>
                  <a:pt x="8499053" y="949834"/>
                </a:lnTo>
                <a:lnTo>
                  <a:pt x="8505221" y="966556"/>
                </a:lnTo>
                <a:lnTo>
                  <a:pt x="8511389" y="987263"/>
                </a:lnTo>
                <a:lnTo>
                  <a:pt x="8517556" y="973355"/>
                </a:lnTo>
                <a:lnTo>
                  <a:pt x="8523724" y="930326"/>
                </a:lnTo>
                <a:lnTo>
                  <a:pt x="8529892" y="935703"/>
                </a:lnTo>
                <a:lnTo>
                  <a:pt x="8536059" y="940085"/>
                </a:lnTo>
                <a:lnTo>
                  <a:pt x="8542227" y="936179"/>
                </a:lnTo>
                <a:lnTo>
                  <a:pt x="8548395" y="925525"/>
                </a:lnTo>
                <a:lnTo>
                  <a:pt x="8554562" y="955873"/>
                </a:lnTo>
                <a:lnTo>
                  <a:pt x="8560730" y="978432"/>
                </a:lnTo>
                <a:lnTo>
                  <a:pt x="8566898" y="963251"/>
                </a:lnTo>
                <a:lnTo>
                  <a:pt x="8573065" y="916579"/>
                </a:lnTo>
                <a:lnTo>
                  <a:pt x="8579233" y="939007"/>
                </a:lnTo>
                <a:lnTo>
                  <a:pt x="8585401" y="953373"/>
                </a:lnTo>
                <a:lnTo>
                  <a:pt x="8591568" y="943790"/>
                </a:lnTo>
                <a:lnTo>
                  <a:pt x="8597736" y="911103"/>
                </a:lnTo>
                <a:lnTo>
                  <a:pt x="8603904" y="929748"/>
                </a:lnTo>
                <a:lnTo>
                  <a:pt x="8610071" y="949051"/>
                </a:lnTo>
                <a:lnTo>
                  <a:pt x="8616239" y="939773"/>
                </a:lnTo>
                <a:lnTo>
                  <a:pt x="8622407" y="914495"/>
                </a:lnTo>
                <a:lnTo>
                  <a:pt x="8628574" y="947707"/>
                </a:lnTo>
                <a:lnTo>
                  <a:pt x="8634742" y="957787"/>
                </a:lnTo>
                <a:lnTo>
                  <a:pt x="8640910" y="962829"/>
                </a:lnTo>
                <a:lnTo>
                  <a:pt x="8647077" y="921890"/>
                </a:lnTo>
                <a:lnTo>
                  <a:pt x="8653245" y="965400"/>
                </a:lnTo>
                <a:lnTo>
                  <a:pt x="8659413" y="964354"/>
                </a:lnTo>
                <a:lnTo>
                  <a:pt x="8665580" y="962471"/>
                </a:lnTo>
                <a:lnTo>
                  <a:pt x="8671748" y="937875"/>
                </a:lnTo>
                <a:lnTo>
                  <a:pt x="8677916" y="959021"/>
                </a:lnTo>
                <a:lnTo>
                  <a:pt x="8684083" y="956514"/>
                </a:lnTo>
                <a:lnTo>
                  <a:pt x="8690251" y="953937"/>
                </a:lnTo>
                <a:lnTo>
                  <a:pt x="8696419" y="947280"/>
                </a:lnTo>
                <a:lnTo>
                  <a:pt x="8702586" y="969864"/>
                </a:lnTo>
                <a:lnTo>
                  <a:pt x="8708754" y="970126"/>
                </a:lnTo>
                <a:lnTo>
                  <a:pt x="8714922" y="968380"/>
                </a:lnTo>
                <a:lnTo>
                  <a:pt x="8721090" y="941641"/>
                </a:lnTo>
                <a:lnTo>
                  <a:pt x="8727257" y="928482"/>
                </a:lnTo>
                <a:lnTo>
                  <a:pt x="8733425" y="915413"/>
                </a:lnTo>
                <a:lnTo>
                  <a:pt x="8739593" y="898267"/>
                </a:lnTo>
                <a:lnTo>
                  <a:pt x="8745760" y="956001"/>
                </a:lnTo>
                <a:lnTo>
                  <a:pt x="8751928" y="1023428"/>
                </a:lnTo>
                <a:lnTo>
                  <a:pt x="8758096" y="1009689"/>
                </a:lnTo>
                <a:lnTo>
                  <a:pt x="8764263" y="987810"/>
                </a:lnTo>
                <a:lnTo>
                  <a:pt x="8770431" y="955101"/>
                </a:lnTo>
                <a:lnTo>
                  <a:pt x="8776599" y="961104"/>
                </a:lnTo>
                <a:lnTo>
                  <a:pt x="8782766" y="979108"/>
                </a:lnTo>
                <a:lnTo>
                  <a:pt x="8788934" y="965447"/>
                </a:lnTo>
                <a:lnTo>
                  <a:pt x="8795102" y="931889"/>
                </a:lnTo>
                <a:lnTo>
                  <a:pt x="8801269" y="966289"/>
                </a:lnTo>
                <a:lnTo>
                  <a:pt x="8807437" y="974981"/>
                </a:lnTo>
                <a:lnTo>
                  <a:pt x="8813605" y="964346"/>
                </a:lnTo>
                <a:lnTo>
                  <a:pt x="8819772" y="936337"/>
                </a:lnTo>
                <a:lnTo>
                  <a:pt x="8825940" y="963900"/>
                </a:lnTo>
                <a:lnTo>
                  <a:pt x="8832108" y="967568"/>
                </a:lnTo>
                <a:lnTo>
                  <a:pt x="8838275" y="974173"/>
                </a:lnTo>
                <a:lnTo>
                  <a:pt x="8844443" y="947510"/>
                </a:lnTo>
                <a:lnTo>
                  <a:pt x="8850611" y="975934"/>
                </a:lnTo>
                <a:lnTo>
                  <a:pt x="8856778" y="986803"/>
                </a:lnTo>
                <a:lnTo>
                  <a:pt x="8862946" y="974926"/>
                </a:lnTo>
                <a:lnTo>
                  <a:pt x="8869114" y="1009634"/>
                </a:lnTo>
                <a:lnTo>
                  <a:pt x="8875281" y="1436844"/>
                </a:lnTo>
                <a:lnTo>
                  <a:pt x="8881449" y="1542140"/>
                </a:lnTo>
                <a:lnTo>
                  <a:pt x="8887617" y="1590772"/>
                </a:lnTo>
                <a:lnTo>
                  <a:pt x="8893784" y="1600481"/>
                </a:lnTo>
                <a:lnTo>
                  <a:pt x="8899952" y="1654864"/>
                </a:lnTo>
                <a:lnTo>
                  <a:pt x="8906120" y="1697808"/>
                </a:lnTo>
                <a:lnTo>
                  <a:pt x="8912287" y="1728510"/>
                </a:lnTo>
                <a:lnTo>
                  <a:pt x="8918455" y="1982649"/>
                </a:lnTo>
                <a:lnTo>
                  <a:pt x="8924623" y="2325221"/>
                </a:lnTo>
                <a:lnTo>
                  <a:pt x="8930790" y="2335132"/>
                </a:lnTo>
                <a:lnTo>
                  <a:pt x="8936958" y="2331626"/>
                </a:lnTo>
                <a:lnTo>
                  <a:pt x="8943126" y="2307462"/>
                </a:lnTo>
                <a:lnTo>
                  <a:pt x="8949293" y="2329455"/>
                </a:lnTo>
                <a:lnTo>
                  <a:pt x="8955461" y="2338887"/>
                </a:lnTo>
                <a:lnTo>
                  <a:pt x="8961629" y="2330715"/>
                </a:lnTo>
                <a:lnTo>
                  <a:pt x="8967796" y="2302676"/>
                </a:lnTo>
                <a:lnTo>
                  <a:pt x="8973964" y="2325739"/>
                </a:lnTo>
                <a:lnTo>
                  <a:pt x="8980132" y="2335443"/>
                </a:lnTo>
                <a:lnTo>
                  <a:pt x="8986299" y="2320150"/>
                </a:lnTo>
                <a:lnTo>
                  <a:pt x="8992467" y="2306408"/>
                </a:lnTo>
                <a:lnTo>
                  <a:pt x="8998635" y="2323654"/>
                </a:lnTo>
                <a:lnTo>
                  <a:pt x="9004802" y="2324768"/>
                </a:lnTo>
                <a:lnTo>
                  <a:pt x="9010970" y="2316827"/>
                </a:lnTo>
                <a:lnTo>
                  <a:pt x="9017138" y="2303669"/>
                </a:lnTo>
                <a:lnTo>
                  <a:pt x="9023305" y="2340454"/>
                </a:lnTo>
                <a:lnTo>
                  <a:pt x="9029473" y="2352715"/>
                </a:lnTo>
                <a:lnTo>
                  <a:pt x="9035641" y="2343920"/>
                </a:lnTo>
                <a:lnTo>
                  <a:pt x="9041809" y="2316262"/>
                </a:lnTo>
                <a:lnTo>
                  <a:pt x="9047976" y="2344949"/>
                </a:lnTo>
                <a:lnTo>
                  <a:pt x="9054144" y="2358080"/>
                </a:lnTo>
                <a:lnTo>
                  <a:pt x="9060312" y="2341724"/>
                </a:lnTo>
                <a:lnTo>
                  <a:pt x="9066479" y="2306346"/>
                </a:lnTo>
                <a:lnTo>
                  <a:pt x="9072647" y="2340390"/>
                </a:lnTo>
                <a:lnTo>
                  <a:pt x="9078815" y="2355318"/>
                </a:lnTo>
                <a:lnTo>
                  <a:pt x="9084982" y="2341855"/>
                </a:lnTo>
                <a:lnTo>
                  <a:pt x="9091150" y="2305421"/>
                </a:lnTo>
                <a:lnTo>
                  <a:pt x="9097318" y="2348173"/>
                </a:lnTo>
                <a:lnTo>
                  <a:pt x="9103485" y="2366362"/>
                </a:lnTo>
                <a:lnTo>
                  <a:pt x="9109653" y="2354884"/>
                </a:lnTo>
                <a:lnTo>
                  <a:pt x="9115821" y="2323601"/>
                </a:lnTo>
                <a:lnTo>
                  <a:pt x="9121988" y="2353642"/>
                </a:lnTo>
                <a:lnTo>
                  <a:pt x="9128156" y="2369740"/>
                </a:lnTo>
                <a:lnTo>
                  <a:pt x="9134324" y="2351430"/>
                </a:lnTo>
                <a:lnTo>
                  <a:pt x="9140491" y="2306628"/>
                </a:lnTo>
                <a:lnTo>
                  <a:pt x="9146659" y="2327327"/>
                </a:lnTo>
                <a:lnTo>
                  <a:pt x="9152827" y="2336553"/>
                </a:lnTo>
                <a:lnTo>
                  <a:pt x="9158994" y="2325766"/>
                </a:lnTo>
                <a:lnTo>
                  <a:pt x="9165162" y="2295209"/>
                </a:lnTo>
                <a:lnTo>
                  <a:pt x="9171330" y="2333533"/>
                </a:lnTo>
                <a:lnTo>
                  <a:pt x="9177497" y="2348841"/>
                </a:lnTo>
                <a:lnTo>
                  <a:pt x="9183665" y="2341060"/>
                </a:lnTo>
                <a:lnTo>
                  <a:pt x="9189833" y="2315803"/>
                </a:lnTo>
                <a:lnTo>
                  <a:pt x="9196000" y="2320313"/>
                </a:lnTo>
                <a:lnTo>
                  <a:pt x="9202168" y="2315344"/>
                </a:lnTo>
                <a:lnTo>
                  <a:pt x="9208336" y="2309329"/>
                </a:lnTo>
                <a:lnTo>
                  <a:pt x="9214503" y="2308574"/>
                </a:lnTo>
                <a:lnTo>
                  <a:pt x="9220671" y="2345058"/>
                </a:lnTo>
                <a:lnTo>
                  <a:pt x="9226839" y="2354191"/>
                </a:lnTo>
                <a:lnTo>
                  <a:pt x="9233006" y="2343749"/>
                </a:lnTo>
                <a:lnTo>
                  <a:pt x="9239174" y="2288210"/>
                </a:lnTo>
                <a:lnTo>
                  <a:pt x="9245342" y="2322967"/>
                </a:lnTo>
                <a:lnTo>
                  <a:pt x="9251509" y="2335803"/>
                </a:lnTo>
                <a:lnTo>
                  <a:pt x="9257677" y="2322268"/>
                </a:lnTo>
                <a:lnTo>
                  <a:pt x="9263845" y="2305012"/>
                </a:lnTo>
                <a:lnTo>
                  <a:pt x="9270012" y="2330841"/>
                </a:lnTo>
                <a:lnTo>
                  <a:pt x="9276180" y="2342477"/>
                </a:lnTo>
                <a:lnTo>
                  <a:pt x="9282348" y="2326282"/>
                </a:lnTo>
                <a:lnTo>
                  <a:pt x="9288515" y="2285264"/>
                </a:lnTo>
                <a:lnTo>
                  <a:pt x="9294683" y="2309869"/>
                </a:lnTo>
                <a:lnTo>
                  <a:pt x="9300851" y="2326305"/>
                </a:lnTo>
                <a:lnTo>
                  <a:pt x="9307018" y="2311013"/>
                </a:lnTo>
                <a:lnTo>
                  <a:pt x="9313186" y="2280085"/>
                </a:lnTo>
                <a:lnTo>
                  <a:pt x="9319354" y="2307044"/>
                </a:lnTo>
                <a:lnTo>
                  <a:pt x="9325521" y="2322084"/>
                </a:lnTo>
                <a:lnTo>
                  <a:pt x="9331689" y="2310401"/>
                </a:lnTo>
                <a:lnTo>
                  <a:pt x="9337857" y="2281514"/>
                </a:lnTo>
                <a:lnTo>
                  <a:pt x="9344025" y="2310414"/>
                </a:lnTo>
                <a:lnTo>
                  <a:pt x="9350192" y="2321796"/>
                </a:lnTo>
                <a:lnTo>
                  <a:pt x="9356360" y="2313811"/>
                </a:lnTo>
                <a:lnTo>
                  <a:pt x="9362528" y="2281039"/>
                </a:lnTo>
                <a:lnTo>
                  <a:pt x="9368695" y="2313859"/>
                </a:lnTo>
                <a:lnTo>
                  <a:pt x="9374863" y="2323988"/>
                </a:lnTo>
                <a:lnTo>
                  <a:pt x="9381031" y="2319472"/>
                </a:lnTo>
                <a:lnTo>
                  <a:pt x="9387198" y="2294119"/>
                </a:lnTo>
                <a:lnTo>
                  <a:pt x="9393366" y="2295805"/>
                </a:lnTo>
                <a:lnTo>
                  <a:pt x="9399534" y="2285232"/>
                </a:lnTo>
                <a:lnTo>
                  <a:pt x="9405701" y="2279556"/>
                </a:lnTo>
                <a:lnTo>
                  <a:pt x="9411869" y="2269129"/>
                </a:lnTo>
                <a:lnTo>
                  <a:pt x="9418037" y="2297747"/>
                </a:lnTo>
                <a:lnTo>
                  <a:pt x="9424204" y="2309362"/>
                </a:lnTo>
                <a:lnTo>
                  <a:pt x="9430372" y="2299512"/>
                </a:lnTo>
                <a:lnTo>
                  <a:pt x="9436540" y="2274741"/>
                </a:lnTo>
                <a:lnTo>
                  <a:pt x="9442707" y="2299635"/>
                </a:lnTo>
                <a:lnTo>
                  <a:pt x="9448875" y="2304378"/>
                </a:lnTo>
                <a:lnTo>
                  <a:pt x="9455043" y="2296254"/>
                </a:lnTo>
                <a:lnTo>
                  <a:pt x="9461210" y="2275051"/>
                </a:lnTo>
                <a:lnTo>
                  <a:pt x="9467378" y="2298619"/>
                </a:lnTo>
                <a:lnTo>
                  <a:pt x="9473546" y="2304159"/>
                </a:lnTo>
                <a:lnTo>
                  <a:pt x="9479713" y="2297314"/>
                </a:lnTo>
                <a:lnTo>
                  <a:pt x="9485881" y="2276644"/>
                </a:lnTo>
                <a:lnTo>
                  <a:pt x="9492049" y="2298002"/>
                </a:lnTo>
                <a:lnTo>
                  <a:pt x="9498216" y="2313056"/>
                </a:lnTo>
                <a:lnTo>
                  <a:pt x="9504384" y="2303562"/>
                </a:lnTo>
                <a:lnTo>
                  <a:pt x="9510552" y="2273761"/>
                </a:lnTo>
                <a:lnTo>
                  <a:pt x="9516719" y="2292923"/>
                </a:lnTo>
                <a:lnTo>
                  <a:pt x="9522887" y="2300923"/>
                </a:lnTo>
                <a:lnTo>
                  <a:pt x="9529055" y="2292295"/>
                </a:lnTo>
                <a:lnTo>
                  <a:pt x="9535222" y="2261627"/>
                </a:lnTo>
                <a:lnTo>
                  <a:pt x="9541390" y="2285475"/>
                </a:lnTo>
                <a:lnTo>
                  <a:pt x="9547558" y="2295047"/>
                </a:lnTo>
                <a:lnTo>
                  <a:pt x="9553725" y="2284694"/>
                </a:lnTo>
                <a:lnTo>
                  <a:pt x="9559893" y="2258950"/>
                </a:lnTo>
                <a:lnTo>
                  <a:pt x="9566061" y="2279964"/>
                </a:lnTo>
                <a:lnTo>
                  <a:pt x="9572228" y="2284584"/>
                </a:lnTo>
                <a:lnTo>
                  <a:pt x="9578396" y="2275481"/>
                </a:lnTo>
                <a:lnTo>
                  <a:pt x="9584564" y="2224417"/>
                </a:lnTo>
                <a:lnTo>
                  <a:pt x="9590731" y="2244455"/>
                </a:lnTo>
                <a:lnTo>
                  <a:pt x="9596899" y="2261387"/>
                </a:lnTo>
                <a:lnTo>
                  <a:pt x="9603067" y="2247299"/>
                </a:lnTo>
                <a:lnTo>
                  <a:pt x="9609234" y="2225989"/>
                </a:lnTo>
                <a:lnTo>
                  <a:pt x="9615402" y="2293227"/>
                </a:lnTo>
                <a:lnTo>
                  <a:pt x="9621570" y="2302629"/>
                </a:lnTo>
                <a:lnTo>
                  <a:pt x="9627737" y="2289226"/>
                </a:lnTo>
                <a:lnTo>
                  <a:pt x="9633905" y="2270062"/>
                </a:lnTo>
                <a:lnTo>
                  <a:pt x="9640073" y="2284964"/>
                </a:lnTo>
                <a:lnTo>
                  <a:pt x="9646240" y="2291882"/>
                </a:lnTo>
                <a:lnTo>
                  <a:pt x="9652408" y="2278054"/>
                </a:lnTo>
                <a:lnTo>
                  <a:pt x="9658576" y="2254358"/>
                </a:lnTo>
                <a:lnTo>
                  <a:pt x="9664744" y="2269803"/>
                </a:lnTo>
                <a:lnTo>
                  <a:pt x="9670911" y="2257793"/>
                </a:lnTo>
                <a:lnTo>
                  <a:pt x="9677079" y="2248096"/>
                </a:lnTo>
                <a:lnTo>
                  <a:pt x="9683247" y="2254620"/>
                </a:lnTo>
                <a:lnTo>
                  <a:pt x="9689414" y="2311743"/>
                </a:lnTo>
                <a:lnTo>
                  <a:pt x="9695582" y="2332191"/>
                </a:lnTo>
                <a:lnTo>
                  <a:pt x="9701750" y="2311074"/>
                </a:lnTo>
                <a:lnTo>
                  <a:pt x="9707917" y="2275675"/>
                </a:lnTo>
                <a:lnTo>
                  <a:pt x="9714085" y="2297495"/>
                </a:lnTo>
                <a:lnTo>
                  <a:pt x="9720253" y="2323809"/>
                </a:lnTo>
                <a:lnTo>
                  <a:pt x="9726420" y="2313091"/>
                </a:lnTo>
                <a:lnTo>
                  <a:pt x="9732588" y="2284710"/>
                </a:lnTo>
                <a:lnTo>
                  <a:pt x="9738756" y="2306817"/>
                </a:lnTo>
                <a:lnTo>
                  <a:pt x="9744923" y="2309745"/>
                </a:lnTo>
                <a:lnTo>
                  <a:pt x="9751091" y="2301431"/>
                </a:lnTo>
                <a:lnTo>
                  <a:pt x="9757259" y="2292036"/>
                </a:lnTo>
                <a:lnTo>
                  <a:pt x="9763426" y="2293855"/>
                </a:lnTo>
                <a:lnTo>
                  <a:pt x="9769594" y="2304345"/>
                </a:lnTo>
                <a:lnTo>
                  <a:pt x="9775762" y="1947781"/>
                </a:lnTo>
                <a:lnTo>
                  <a:pt x="9781929" y="887927"/>
                </a:lnTo>
                <a:lnTo>
                  <a:pt x="9788097" y="911807"/>
                </a:lnTo>
                <a:lnTo>
                  <a:pt x="9794265" y="917660"/>
                </a:lnTo>
                <a:lnTo>
                  <a:pt x="9800432" y="894608"/>
                </a:lnTo>
                <a:lnTo>
                  <a:pt x="9806600" y="289794"/>
                </a:lnTo>
                <a:lnTo>
                  <a:pt x="9812768" y="435316"/>
                </a:lnTo>
                <a:lnTo>
                  <a:pt x="9818935" y="549322"/>
                </a:lnTo>
                <a:lnTo>
                  <a:pt x="9825103" y="602547"/>
                </a:lnTo>
                <a:lnTo>
                  <a:pt x="9831271" y="790817"/>
                </a:lnTo>
                <a:lnTo>
                  <a:pt x="9837438" y="865699"/>
                </a:lnTo>
                <a:lnTo>
                  <a:pt x="9843606" y="863857"/>
                </a:lnTo>
                <a:lnTo>
                  <a:pt x="9849774" y="862856"/>
                </a:lnTo>
                <a:lnTo>
                  <a:pt x="9855941" y="843086"/>
                </a:lnTo>
                <a:lnTo>
                  <a:pt x="9862109" y="870267"/>
                </a:lnTo>
                <a:lnTo>
                  <a:pt x="9868277" y="873046"/>
                </a:lnTo>
                <a:lnTo>
                  <a:pt x="9874444" y="861160"/>
                </a:lnTo>
                <a:lnTo>
                  <a:pt x="9880612" y="838999"/>
                </a:lnTo>
                <a:lnTo>
                  <a:pt x="9886780" y="863738"/>
                </a:lnTo>
                <a:lnTo>
                  <a:pt x="9892947" y="869905"/>
                </a:lnTo>
                <a:lnTo>
                  <a:pt x="9899115" y="852530"/>
                </a:lnTo>
                <a:lnTo>
                  <a:pt x="9905283" y="459091"/>
                </a:lnTo>
                <a:lnTo>
                  <a:pt x="9911450" y="0"/>
                </a:lnTo>
                <a:lnTo>
                  <a:pt x="9917618" y="57067"/>
                </a:lnTo>
                <a:lnTo>
                  <a:pt x="9923786" y="53975"/>
                </a:lnTo>
                <a:lnTo>
                  <a:pt x="9929953" y="254312"/>
                </a:lnTo>
                <a:lnTo>
                  <a:pt x="9936121" y="888395"/>
                </a:lnTo>
                <a:lnTo>
                  <a:pt x="9942289" y="866180"/>
                </a:lnTo>
                <a:lnTo>
                  <a:pt x="9948456" y="867918"/>
                </a:lnTo>
                <a:lnTo>
                  <a:pt x="9954624" y="876588"/>
                </a:lnTo>
                <a:lnTo>
                  <a:pt x="9960792" y="906773"/>
                </a:lnTo>
                <a:lnTo>
                  <a:pt x="9966960" y="920698"/>
                </a:lnTo>
              </a:path>
            </a:pathLst>
          </a:custGeom>
          <a:noFill/>
          <a:ln w="15875">
            <a:solidFill>
              <a:srgbClr val="174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280160" y="5074920"/>
            <a:ext cx="9966960" cy="0"/>
          </a:xfrm>
          <a:prstGeom prst="line">
            <a:avLst/>
          </a:prstGeom>
          <a:ln w="12700">
            <a:solidFill>
              <a:srgbClr val="5F656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748903"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291703"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2025</a:t>
            </a:r>
          </a:p>
        </p:txBody>
      </p:sp>
      <p:cxnSp>
        <p:nvCxnSpPr>
          <p:cNvPr id="21" name="Connector 20"/>
          <p:cNvCxnSpPr/>
          <p:nvPr/>
        </p:nvCxnSpPr>
        <p:spPr>
          <a:xfrm>
            <a:off x="4018606"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61406"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Aug 2025</a:t>
            </a:r>
          </a:p>
        </p:txBody>
      </p:sp>
      <p:cxnSp>
        <p:nvCxnSpPr>
          <p:cNvPr id="23" name="Connector 22"/>
          <p:cNvCxnSpPr/>
          <p:nvPr/>
        </p:nvCxnSpPr>
        <p:spPr>
          <a:xfrm>
            <a:off x="6288310"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831110"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Nov 2025</a:t>
            </a:r>
          </a:p>
        </p:txBody>
      </p:sp>
      <p:cxnSp>
        <p:nvCxnSpPr>
          <p:cNvPr id="25" name="Connector 24"/>
          <p:cNvCxnSpPr/>
          <p:nvPr/>
        </p:nvCxnSpPr>
        <p:spPr>
          <a:xfrm>
            <a:off x="8558014"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100814"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Feb 2026</a:t>
            </a:r>
          </a:p>
        </p:txBody>
      </p:sp>
      <p:cxnSp>
        <p:nvCxnSpPr>
          <p:cNvPr id="27" name="Connector 26"/>
          <p:cNvCxnSpPr/>
          <p:nvPr/>
        </p:nvCxnSpPr>
        <p:spPr>
          <a:xfrm>
            <a:off x="10753706"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296506"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2026</a:t>
            </a:r>
          </a:p>
        </p:txBody>
      </p:sp>
      <p:sp>
        <p:nvSpPr>
          <p:cNvPr id="29" name="TextBox 28"/>
          <p:cNvSpPr txBox="1"/>
          <p:nvPr/>
        </p:nvSpPr>
        <p:spPr>
          <a:xfrm>
            <a:off x="685799" y="1847088"/>
            <a:ext cx="3657600" cy="237744"/>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Score of component 2</a:t>
            </a:r>
          </a:p>
        </p:txBody>
      </p:sp>
      <p:sp>
        <p:nvSpPr>
          <p:cNvPr id="30" name="TextBox 29"/>
          <p:cNvSpPr txBox="1"/>
          <p:nvPr/>
        </p:nvSpPr>
        <p:spPr>
          <a:xfrm>
            <a:off x="3498624" y="1847088"/>
            <a:ext cx="2743200" cy="237744"/>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Gold bands: training data</a:t>
            </a:r>
          </a:p>
        </p:txBody>
      </p:sp>
      <p:sp>
        <p:nvSpPr>
          <p:cNvPr id="31" name="TextBox 30"/>
          <p:cNvSpPr txBox="1"/>
          <p:nvPr/>
        </p:nvSpPr>
        <p:spPr>
          <a:xfrm>
            <a:off x="8869680" y="3703320"/>
            <a:ext cx="2377440" cy="237744"/>
          </a:xfrm>
          <a:prstGeom prst="rect">
            <a:avLst/>
          </a:prstGeom>
          <a:noFill/>
        </p:spPr>
        <p:txBody>
          <a:bodyPr wrap="square" lIns="0" rIns="0" tIns="0" bIns="0" anchor="t">
            <a:noAutofit/>
          </a:bodyPr>
          <a:lstStyle/>
          <a:p>
            <a:pPr algn="r">
              <a:lnSpc>
                <a:spcPct val="108000"/>
              </a:lnSpc>
            </a:pPr>
            <a:r>
              <a:rPr sz="1050" b="0" i="0">
                <a:solidFill>
                  <a:srgbClr val="5F656B"/>
                </a:solidFill>
                <a:latin typeface="Calibri"/>
              </a:rPr>
              <a:t>High state: above 400</a:t>
            </a:r>
          </a:p>
        </p:txBody>
      </p:sp>
      <p:sp>
        <p:nvSpPr>
          <p:cNvPr id="32" name="TextBox 31"/>
          <p:cNvSpPr txBox="1"/>
          <p:nvPr/>
        </p:nvSpPr>
        <p:spPr>
          <a:xfrm>
            <a:off x="594360"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38 %</a:t>
            </a:r>
          </a:p>
        </p:txBody>
      </p:sp>
      <p:sp>
        <p:nvSpPr>
          <p:cNvPr id="33" name="TextBox 32"/>
          <p:cNvSpPr txBox="1"/>
          <p:nvPr/>
        </p:nvSpPr>
        <p:spPr>
          <a:xfrm>
            <a:off x="594360"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the time is spent in the high state</a:t>
            </a:r>
          </a:p>
        </p:txBody>
      </p:sp>
      <p:sp>
        <p:nvSpPr>
          <p:cNvPr id="34" name="TextBox 33"/>
          <p:cNvSpPr txBox="1"/>
          <p:nvPr/>
        </p:nvSpPr>
        <p:spPr>
          <a:xfrm>
            <a:off x="4325112"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14</a:t>
            </a:r>
          </a:p>
        </p:txBody>
      </p:sp>
      <p:sp>
        <p:nvSpPr>
          <p:cNvPr id="35" name="TextBox 34"/>
          <p:cNvSpPr txBox="1"/>
          <p:nvPr/>
        </p:nvSpPr>
        <p:spPr>
          <a:xfrm>
            <a:off x="4325112"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times the plant moved into the high state</a:t>
            </a:r>
          </a:p>
        </p:txBody>
      </p:sp>
      <p:sp>
        <p:nvSpPr>
          <p:cNvPr id="36" name="TextBox 35"/>
          <p:cNvSpPr txBox="1"/>
          <p:nvPr/>
        </p:nvSpPr>
        <p:spPr>
          <a:xfrm>
            <a:off x="8055864"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15 Jul 2025</a:t>
            </a:r>
          </a:p>
        </p:txBody>
      </p:sp>
      <p:sp>
        <p:nvSpPr>
          <p:cNvPr id="37" name="TextBox 36"/>
          <p:cNvSpPr txBox="1"/>
          <p:nvPr/>
        </p:nvSpPr>
        <p:spPr>
          <a:xfrm>
            <a:off x="8055864"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first move, a week after the training data 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T² MONITORING</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T² stays above its limit almost all the time</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pca_pc_t2/outputs/tables/fig15_t2_chart.csv, control_limits.csv, detection_metrics.csv (shown here as 6-hour maxima)</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8</a:t>
            </a:r>
          </a:p>
        </p:txBody>
      </p:sp>
      <p:sp>
        <p:nvSpPr>
          <p:cNvPr id="7" name="Rectangle 6"/>
          <p:cNvSpPr/>
          <p:nvPr/>
        </p:nvSpPr>
        <p:spPr>
          <a:xfrm>
            <a:off x="1280160" y="2148840"/>
            <a:ext cx="45720" cy="2926080"/>
          </a:xfrm>
          <a:prstGeom prst="rect">
            <a:avLst/>
          </a:prstGeom>
          <a:solidFill>
            <a:srgbClr val="EEE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324760" y="2148840"/>
            <a:ext cx="82424" cy="2926080"/>
          </a:xfrm>
          <a:prstGeom prst="rect">
            <a:avLst/>
          </a:prstGeom>
          <a:solidFill>
            <a:srgbClr val="EEE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280160" y="507492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799" y="497433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a:t>
            </a:r>
          </a:p>
        </p:txBody>
      </p:sp>
      <p:cxnSp>
        <p:nvCxnSpPr>
          <p:cNvPr id="11" name="Connector 10"/>
          <p:cNvCxnSpPr/>
          <p:nvPr/>
        </p:nvCxnSpPr>
        <p:spPr>
          <a:xfrm>
            <a:off x="1280160" y="470916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799" y="460857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a:t>
            </a:r>
          </a:p>
        </p:txBody>
      </p:sp>
      <p:cxnSp>
        <p:nvCxnSpPr>
          <p:cNvPr id="13" name="Connector 12"/>
          <p:cNvCxnSpPr/>
          <p:nvPr/>
        </p:nvCxnSpPr>
        <p:spPr>
          <a:xfrm>
            <a:off x="1280160" y="434340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799" y="424281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100</a:t>
            </a:r>
          </a:p>
        </p:txBody>
      </p:sp>
      <p:cxnSp>
        <p:nvCxnSpPr>
          <p:cNvPr id="15" name="Connector 14"/>
          <p:cNvCxnSpPr/>
          <p:nvPr/>
        </p:nvCxnSpPr>
        <p:spPr>
          <a:xfrm>
            <a:off x="1280160" y="397764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799" y="387705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1k</a:t>
            </a:r>
          </a:p>
        </p:txBody>
      </p:sp>
      <p:cxnSp>
        <p:nvCxnSpPr>
          <p:cNvPr id="17" name="Connector 16"/>
          <p:cNvCxnSpPr/>
          <p:nvPr/>
        </p:nvCxnSpPr>
        <p:spPr>
          <a:xfrm>
            <a:off x="1280160" y="361188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799" y="351129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10k</a:t>
            </a:r>
          </a:p>
        </p:txBody>
      </p:sp>
      <p:cxnSp>
        <p:nvCxnSpPr>
          <p:cNvPr id="19" name="Connector 18"/>
          <p:cNvCxnSpPr/>
          <p:nvPr/>
        </p:nvCxnSpPr>
        <p:spPr>
          <a:xfrm>
            <a:off x="1280160" y="324612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799" y="314553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100k</a:t>
            </a:r>
          </a:p>
        </p:txBody>
      </p:sp>
      <p:cxnSp>
        <p:nvCxnSpPr>
          <p:cNvPr id="21" name="Connector 20"/>
          <p:cNvCxnSpPr/>
          <p:nvPr/>
        </p:nvCxnSpPr>
        <p:spPr>
          <a:xfrm>
            <a:off x="1280160" y="288036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799" y="277977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1M</a:t>
            </a:r>
          </a:p>
        </p:txBody>
      </p:sp>
      <p:cxnSp>
        <p:nvCxnSpPr>
          <p:cNvPr id="23" name="Connector 22"/>
          <p:cNvCxnSpPr/>
          <p:nvPr/>
        </p:nvCxnSpPr>
        <p:spPr>
          <a:xfrm>
            <a:off x="1280160" y="251460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799" y="241401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10M</a:t>
            </a:r>
          </a:p>
        </p:txBody>
      </p:sp>
      <p:cxnSp>
        <p:nvCxnSpPr>
          <p:cNvPr id="25" name="Connector 24"/>
          <p:cNvCxnSpPr/>
          <p:nvPr/>
        </p:nvCxnSpPr>
        <p:spPr>
          <a:xfrm>
            <a:off x="1280160" y="2148840"/>
            <a:ext cx="9966960" cy="0"/>
          </a:xfrm>
          <a:prstGeom prst="line">
            <a:avLst/>
          </a:prstGeom>
          <a:ln w="6350">
            <a:solidFill>
              <a:srgbClr val="D6D2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799" y="2048256"/>
            <a:ext cx="502920" cy="201168"/>
          </a:xfrm>
          <a:prstGeom prst="rect">
            <a:avLst/>
          </a:prstGeom>
          <a:noFill/>
        </p:spPr>
        <p:txBody>
          <a:bodyPr wrap="square" lIns="0" rIns="0" tIns="0" bIns="0" anchor="t">
            <a:noAutofit/>
          </a:bodyPr>
          <a:lstStyle/>
          <a:p>
            <a:pPr algn="r">
              <a:lnSpc>
                <a:spcPct val="108000"/>
              </a:lnSpc>
            </a:pPr>
            <a:r>
              <a:rPr sz="950" b="0" i="0">
                <a:solidFill>
                  <a:srgbClr val="5F656B"/>
                </a:solidFill>
                <a:latin typeface="Calibri"/>
              </a:rPr>
              <a:t>100M</a:t>
            </a:r>
          </a:p>
        </p:txBody>
      </p:sp>
      <p:sp>
        <p:nvSpPr>
          <p:cNvPr id="27" name="Freeform 26"/>
          <p:cNvSpPr/>
          <p:nvPr/>
        </p:nvSpPr>
        <p:spPr>
          <a:xfrm>
            <a:off x="1280160" y="2160736"/>
            <a:ext cx="9966960" cy="2343534"/>
          </a:xfrm>
          <a:custGeom>
            <a:avLst/>
            <a:gdLst/>
            <a:ahLst/>
            <a:cxnLst/>
            <a:rect l="l" t="t" r="r" b="b"/>
            <a:pathLst>
              <a:path w="9966960" h="2343534">
                <a:moveTo>
                  <a:pt x="0" y="2214574"/>
                </a:moveTo>
                <a:lnTo>
                  <a:pt x="6167" y="2196995"/>
                </a:lnTo>
                <a:lnTo>
                  <a:pt x="12335" y="2125478"/>
                </a:lnTo>
                <a:lnTo>
                  <a:pt x="18503" y="2259041"/>
                </a:lnTo>
                <a:lnTo>
                  <a:pt x="24670" y="2245259"/>
                </a:lnTo>
                <a:lnTo>
                  <a:pt x="30838" y="2190375"/>
                </a:lnTo>
                <a:lnTo>
                  <a:pt x="37006" y="2113882"/>
                </a:lnTo>
                <a:lnTo>
                  <a:pt x="43173" y="1974968"/>
                </a:lnTo>
                <a:lnTo>
                  <a:pt x="49341" y="1698362"/>
                </a:lnTo>
                <a:lnTo>
                  <a:pt x="55509" y="1673375"/>
                </a:lnTo>
                <a:lnTo>
                  <a:pt x="61676" y="1394987"/>
                </a:lnTo>
                <a:lnTo>
                  <a:pt x="67844" y="1501949"/>
                </a:lnTo>
                <a:lnTo>
                  <a:pt x="74012" y="1563552"/>
                </a:lnTo>
                <a:lnTo>
                  <a:pt x="80179" y="1563666"/>
                </a:lnTo>
                <a:lnTo>
                  <a:pt x="86347" y="1651648"/>
                </a:lnTo>
                <a:lnTo>
                  <a:pt x="92515" y="1508252"/>
                </a:lnTo>
                <a:lnTo>
                  <a:pt x="98682" y="1602578"/>
                </a:lnTo>
                <a:lnTo>
                  <a:pt x="104850" y="1562379"/>
                </a:lnTo>
                <a:lnTo>
                  <a:pt x="111018" y="1735861"/>
                </a:lnTo>
                <a:lnTo>
                  <a:pt x="117185" y="1769651"/>
                </a:lnTo>
                <a:lnTo>
                  <a:pt x="123353" y="1764327"/>
                </a:lnTo>
                <a:lnTo>
                  <a:pt x="129521" y="1761545"/>
                </a:lnTo>
                <a:lnTo>
                  <a:pt x="135688" y="1673698"/>
                </a:lnTo>
                <a:lnTo>
                  <a:pt x="141856" y="1625829"/>
                </a:lnTo>
                <a:lnTo>
                  <a:pt x="148024" y="1768013"/>
                </a:lnTo>
                <a:lnTo>
                  <a:pt x="154191" y="1766337"/>
                </a:lnTo>
                <a:lnTo>
                  <a:pt x="160359" y="1763439"/>
                </a:lnTo>
                <a:lnTo>
                  <a:pt x="166527" y="1765928"/>
                </a:lnTo>
                <a:lnTo>
                  <a:pt x="172694" y="1761742"/>
                </a:lnTo>
                <a:lnTo>
                  <a:pt x="178862" y="1730080"/>
                </a:lnTo>
                <a:lnTo>
                  <a:pt x="185030" y="1691958"/>
                </a:lnTo>
                <a:lnTo>
                  <a:pt x="191197" y="1711262"/>
                </a:lnTo>
                <a:lnTo>
                  <a:pt x="197365" y="1690781"/>
                </a:lnTo>
                <a:lnTo>
                  <a:pt x="203533" y="1976711"/>
                </a:lnTo>
                <a:lnTo>
                  <a:pt x="209700" y="1983150"/>
                </a:lnTo>
                <a:lnTo>
                  <a:pt x="215868" y="1992533"/>
                </a:lnTo>
                <a:lnTo>
                  <a:pt x="222036" y="1996998"/>
                </a:lnTo>
                <a:lnTo>
                  <a:pt x="228203" y="1999957"/>
                </a:lnTo>
                <a:lnTo>
                  <a:pt x="234371" y="2047244"/>
                </a:lnTo>
                <a:lnTo>
                  <a:pt x="240539" y="2011584"/>
                </a:lnTo>
                <a:lnTo>
                  <a:pt x="246706" y="2016225"/>
                </a:lnTo>
                <a:lnTo>
                  <a:pt x="252874" y="1852896"/>
                </a:lnTo>
                <a:lnTo>
                  <a:pt x="259042" y="1837563"/>
                </a:lnTo>
                <a:lnTo>
                  <a:pt x="265209" y="1925613"/>
                </a:lnTo>
                <a:lnTo>
                  <a:pt x="271377" y="2014669"/>
                </a:lnTo>
                <a:lnTo>
                  <a:pt x="277545" y="2001547"/>
                </a:lnTo>
                <a:lnTo>
                  <a:pt x="283712" y="2005756"/>
                </a:lnTo>
                <a:lnTo>
                  <a:pt x="289880" y="2007081"/>
                </a:lnTo>
                <a:lnTo>
                  <a:pt x="296048" y="1991312"/>
                </a:lnTo>
                <a:lnTo>
                  <a:pt x="302215" y="1985286"/>
                </a:lnTo>
                <a:lnTo>
                  <a:pt x="308383" y="1955591"/>
                </a:lnTo>
                <a:lnTo>
                  <a:pt x="314551" y="1956520"/>
                </a:lnTo>
                <a:lnTo>
                  <a:pt x="320719" y="1946445"/>
                </a:lnTo>
                <a:lnTo>
                  <a:pt x="326886" y="1939151"/>
                </a:lnTo>
                <a:lnTo>
                  <a:pt x="333054" y="2007550"/>
                </a:lnTo>
                <a:lnTo>
                  <a:pt x="339222" y="2007217"/>
                </a:lnTo>
                <a:lnTo>
                  <a:pt x="345389" y="1794831"/>
                </a:lnTo>
                <a:lnTo>
                  <a:pt x="351557" y="2029114"/>
                </a:lnTo>
                <a:lnTo>
                  <a:pt x="357725" y="1944103"/>
                </a:lnTo>
                <a:lnTo>
                  <a:pt x="363892" y="2033036"/>
                </a:lnTo>
                <a:lnTo>
                  <a:pt x="370060" y="1185750"/>
                </a:lnTo>
                <a:lnTo>
                  <a:pt x="376228" y="1169005"/>
                </a:lnTo>
                <a:lnTo>
                  <a:pt x="382395" y="1273374"/>
                </a:lnTo>
                <a:lnTo>
                  <a:pt x="388563" y="1300155"/>
                </a:lnTo>
                <a:lnTo>
                  <a:pt x="394731" y="1903272"/>
                </a:lnTo>
                <a:lnTo>
                  <a:pt x="400898" y="1870737"/>
                </a:lnTo>
                <a:lnTo>
                  <a:pt x="407066" y="1753680"/>
                </a:lnTo>
                <a:lnTo>
                  <a:pt x="413234" y="1777020"/>
                </a:lnTo>
                <a:lnTo>
                  <a:pt x="419401" y="1753508"/>
                </a:lnTo>
                <a:lnTo>
                  <a:pt x="425569" y="1841640"/>
                </a:lnTo>
                <a:lnTo>
                  <a:pt x="431737" y="1656669"/>
                </a:lnTo>
                <a:lnTo>
                  <a:pt x="437904" y="1876426"/>
                </a:lnTo>
                <a:lnTo>
                  <a:pt x="444072" y="1854496"/>
                </a:lnTo>
                <a:lnTo>
                  <a:pt x="450240" y="1845968"/>
                </a:lnTo>
                <a:lnTo>
                  <a:pt x="456407" y="1863398"/>
                </a:lnTo>
                <a:lnTo>
                  <a:pt x="462575" y="1868328"/>
                </a:lnTo>
                <a:lnTo>
                  <a:pt x="468743" y="1910472"/>
                </a:lnTo>
                <a:lnTo>
                  <a:pt x="474910" y="1912264"/>
                </a:lnTo>
                <a:lnTo>
                  <a:pt x="481078" y="1911509"/>
                </a:lnTo>
                <a:lnTo>
                  <a:pt x="487246" y="1914490"/>
                </a:lnTo>
                <a:lnTo>
                  <a:pt x="493413" y="1872550"/>
                </a:lnTo>
                <a:lnTo>
                  <a:pt x="499581" y="1856145"/>
                </a:lnTo>
                <a:lnTo>
                  <a:pt x="505749" y="1837039"/>
                </a:lnTo>
                <a:lnTo>
                  <a:pt x="511916" y="1877817"/>
                </a:lnTo>
                <a:lnTo>
                  <a:pt x="518084" y="1924905"/>
                </a:lnTo>
                <a:lnTo>
                  <a:pt x="524252" y="1898798"/>
                </a:lnTo>
                <a:lnTo>
                  <a:pt x="530419" y="1877254"/>
                </a:lnTo>
                <a:lnTo>
                  <a:pt x="536587" y="1870361"/>
                </a:lnTo>
                <a:lnTo>
                  <a:pt x="542755" y="1830299"/>
                </a:lnTo>
                <a:lnTo>
                  <a:pt x="548922" y="1861684"/>
                </a:lnTo>
                <a:lnTo>
                  <a:pt x="555090" y="1857327"/>
                </a:lnTo>
                <a:lnTo>
                  <a:pt x="561258" y="1853131"/>
                </a:lnTo>
                <a:lnTo>
                  <a:pt x="567425" y="1891901"/>
                </a:lnTo>
                <a:lnTo>
                  <a:pt x="573593" y="1908582"/>
                </a:lnTo>
                <a:lnTo>
                  <a:pt x="579761" y="1854415"/>
                </a:lnTo>
                <a:lnTo>
                  <a:pt x="585928" y="1896405"/>
                </a:lnTo>
                <a:lnTo>
                  <a:pt x="592096" y="1896327"/>
                </a:lnTo>
                <a:lnTo>
                  <a:pt x="598264" y="1918785"/>
                </a:lnTo>
                <a:lnTo>
                  <a:pt x="604431" y="1888760"/>
                </a:lnTo>
                <a:lnTo>
                  <a:pt x="610599" y="1837436"/>
                </a:lnTo>
                <a:lnTo>
                  <a:pt x="616767" y="1806912"/>
                </a:lnTo>
                <a:lnTo>
                  <a:pt x="622934" y="1878319"/>
                </a:lnTo>
                <a:lnTo>
                  <a:pt x="629102" y="1798504"/>
                </a:lnTo>
                <a:lnTo>
                  <a:pt x="635270" y="1867326"/>
                </a:lnTo>
                <a:lnTo>
                  <a:pt x="641438" y="1865015"/>
                </a:lnTo>
                <a:lnTo>
                  <a:pt x="647605" y="1844121"/>
                </a:lnTo>
                <a:lnTo>
                  <a:pt x="653773" y="1876634"/>
                </a:lnTo>
                <a:lnTo>
                  <a:pt x="659941" y="1864989"/>
                </a:lnTo>
                <a:lnTo>
                  <a:pt x="666108" y="1857116"/>
                </a:lnTo>
                <a:lnTo>
                  <a:pt x="672276" y="1377691"/>
                </a:lnTo>
                <a:lnTo>
                  <a:pt x="678444" y="1282346"/>
                </a:lnTo>
                <a:lnTo>
                  <a:pt x="684611" y="1270428"/>
                </a:lnTo>
                <a:lnTo>
                  <a:pt x="690779" y="1265147"/>
                </a:lnTo>
                <a:lnTo>
                  <a:pt x="696947" y="1265864"/>
                </a:lnTo>
                <a:lnTo>
                  <a:pt x="703114" y="1284085"/>
                </a:lnTo>
                <a:lnTo>
                  <a:pt x="709282" y="1274476"/>
                </a:lnTo>
                <a:lnTo>
                  <a:pt x="715450" y="1272103"/>
                </a:lnTo>
                <a:lnTo>
                  <a:pt x="721617" y="1269655"/>
                </a:lnTo>
                <a:lnTo>
                  <a:pt x="727785" y="1288495"/>
                </a:lnTo>
                <a:lnTo>
                  <a:pt x="733953" y="1274713"/>
                </a:lnTo>
                <a:lnTo>
                  <a:pt x="740120" y="1185260"/>
                </a:lnTo>
                <a:lnTo>
                  <a:pt x="746288" y="1190775"/>
                </a:lnTo>
                <a:lnTo>
                  <a:pt x="752456" y="1198856"/>
                </a:lnTo>
                <a:lnTo>
                  <a:pt x="758623" y="1192187"/>
                </a:lnTo>
                <a:lnTo>
                  <a:pt x="764791" y="1188904"/>
                </a:lnTo>
                <a:lnTo>
                  <a:pt x="770959" y="1185472"/>
                </a:lnTo>
                <a:lnTo>
                  <a:pt x="777126" y="1192645"/>
                </a:lnTo>
                <a:lnTo>
                  <a:pt x="783294" y="1190046"/>
                </a:lnTo>
                <a:lnTo>
                  <a:pt x="789462" y="1171931"/>
                </a:lnTo>
                <a:lnTo>
                  <a:pt x="795629" y="1178617"/>
                </a:lnTo>
                <a:lnTo>
                  <a:pt x="801797" y="1159771"/>
                </a:lnTo>
                <a:lnTo>
                  <a:pt x="807965" y="1115585"/>
                </a:lnTo>
                <a:lnTo>
                  <a:pt x="814132" y="1108855"/>
                </a:lnTo>
                <a:lnTo>
                  <a:pt x="820300" y="1190884"/>
                </a:lnTo>
                <a:lnTo>
                  <a:pt x="826468" y="1190715"/>
                </a:lnTo>
                <a:lnTo>
                  <a:pt x="832635" y="1195859"/>
                </a:lnTo>
                <a:lnTo>
                  <a:pt x="838803" y="1194190"/>
                </a:lnTo>
                <a:lnTo>
                  <a:pt x="844971" y="1194186"/>
                </a:lnTo>
                <a:lnTo>
                  <a:pt x="851138" y="1205014"/>
                </a:lnTo>
                <a:lnTo>
                  <a:pt x="857306" y="1257052"/>
                </a:lnTo>
                <a:lnTo>
                  <a:pt x="863474" y="1249887"/>
                </a:lnTo>
                <a:lnTo>
                  <a:pt x="869641" y="1251422"/>
                </a:lnTo>
                <a:lnTo>
                  <a:pt x="875809" y="1264560"/>
                </a:lnTo>
                <a:lnTo>
                  <a:pt x="881977" y="1265526"/>
                </a:lnTo>
                <a:lnTo>
                  <a:pt x="888144" y="1270116"/>
                </a:lnTo>
                <a:lnTo>
                  <a:pt x="894312" y="1264854"/>
                </a:lnTo>
                <a:lnTo>
                  <a:pt x="900480" y="1266108"/>
                </a:lnTo>
                <a:lnTo>
                  <a:pt x="906647" y="1269980"/>
                </a:lnTo>
                <a:lnTo>
                  <a:pt x="912815" y="1266871"/>
                </a:lnTo>
                <a:lnTo>
                  <a:pt x="918983" y="1264053"/>
                </a:lnTo>
                <a:lnTo>
                  <a:pt x="925150" y="1268241"/>
                </a:lnTo>
                <a:lnTo>
                  <a:pt x="931318" y="1261124"/>
                </a:lnTo>
                <a:lnTo>
                  <a:pt x="937486" y="1259277"/>
                </a:lnTo>
                <a:lnTo>
                  <a:pt x="943654" y="1257677"/>
                </a:lnTo>
                <a:lnTo>
                  <a:pt x="949821" y="1260399"/>
                </a:lnTo>
                <a:lnTo>
                  <a:pt x="955989" y="1262007"/>
                </a:lnTo>
                <a:lnTo>
                  <a:pt x="962157" y="1266935"/>
                </a:lnTo>
                <a:lnTo>
                  <a:pt x="968324" y="1267129"/>
                </a:lnTo>
                <a:lnTo>
                  <a:pt x="974492" y="1261839"/>
                </a:lnTo>
                <a:lnTo>
                  <a:pt x="980660" y="1267705"/>
                </a:lnTo>
                <a:lnTo>
                  <a:pt x="986827" y="1262685"/>
                </a:lnTo>
                <a:lnTo>
                  <a:pt x="992995" y="1262917"/>
                </a:lnTo>
                <a:lnTo>
                  <a:pt x="999163" y="1261379"/>
                </a:lnTo>
                <a:lnTo>
                  <a:pt x="1005330" y="1260425"/>
                </a:lnTo>
                <a:lnTo>
                  <a:pt x="1011498" y="1258377"/>
                </a:lnTo>
                <a:lnTo>
                  <a:pt x="1017666" y="1250962"/>
                </a:lnTo>
                <a:lnTo>
                  <a:pt x="1023833" y="1261973"/>
                </a:lnTo>
                <a:lnTo>
                  <a:pt x="1030001" y="1259049"/>
                </a:lnTo>
                <a:lnTo>
                  <a:pt x="1036169" y="1260292"/>
                </a:lnTo>
                <a:lnTo>
                  <a:pt x="1042336" y="1254095"/>
                </a:lnTo>
                <a:lnTo>
                  <a:pt x="1048504" y="1245867"/>
                </a:lnTo>
                <a:lnTo>
                  <a:pt x="1054672" y="1250833"/>
                </a:lnTo>
                <a:lnTo>
                  <a:pt x="1060839" y="1259938"/>
                </a:lnTo>
                <a:lnTo>
                  <a:pt x="1067007" y="1269396"/>
                </a:lnTo>
                <a:lnTo>
                  <a:pt x="1073175" y="1276941"/>
                </a:lnTo>
                <a:lnTo>
                  <a:pt x="1079342" y="1269134"/>
                </a:lnTo>
                <a:lnTo>
                  <a:pt x="1085510" y="1268865"/>
                </a:lnTo>
                <a:lnTo>
                  <a:pt x="1091678" y="1262027"/>
                </a:lnTo>
                <a:lnTo>
                  <a:pt x="1097845" y="1262192"/>
                </a:lnTo>
                <a:lnTo>
                  <a:pt x="1104013" y="1270562"/>
                </a:lnTo>
                <a:lnTo>
                  <a:pt x="1110181" y="1268789"/>
                </a:lnTo>
                <a:lnTo>
                  <a:pt x="1116348" y="1272322"/>
                </a:lnTo>
                <a:lnTo>
                  <a:pt x="1122516" y="1272027"/>
                </a:lnTo>
                <a:lnTo>
                  <a:pt x="1128684" y="1266971"/>
                </a:lnTo>
                <a:lnTo>
                  <a:pt x="1134851" y="1264701"/>
                </a:lnTo>
                <a:lnTo>
                  <a:pt x="1141019" y="1260886"/>
                </a:lnTo>
                <a:lnTo>
                  <a:pt x="1147187" y="1264427"/>
                </a:lnTo>
                <a:lnTo>
                  <a:pt x="1153354" y="1262103"/>
                </a:lnTo>
                <a:lnTo>
                  <a:pt x="1159522" y="1262064"/>
                </a:lnTo>
                <a:lnTo>
                  <a:pt x="1165690" y="1264236"/>
                </a:lnTo>
                <a:lnTo>
                  <a:pt x="1171857" y="1261641"/>
                </a:lnTo>
                <a:lnTo>
                  <a:pt x="1178025" y="1395215"/>
                </a:lnTo>
                <a:lnTo>
                  <a:pt x="1184193" y="1850442"/>
                </a:lnTo>
                <a:lnTo>
                  <a:pt x="1190360" y="1845810"/>
                </a:lnTo>
                <a:lnTo>
                  <a:pt x="1196528" y="1831793"/>
                </a:lnTo>
                <a:lnTo>
                  <a:pt x="1202696" y="1831235"/>
                </a:lnTo>
                <a:lnTo>
                  <a:pt x="1208863" y="1824846"/>
                </a:lnTo>
                <a:lnTo>
                  <a:pt x="1215031" y="1858364"/>
                </a:lnTo>
                <a:lnTo>
                  <a:pt x="1221199" y="1848224"/>
                </a:lnTo>
                <a:lnTo>
                  <a:pt x="1227366" y="1860337"/>
                </a:lnTo>
                <a:lnTo>
                  <a:pt x="1233534" y="1863390"/>
                </a:lnTo>
                <a:lnTo>
                  <a:pt x="1239702" y="1894569"/>
                </a:lnTo>
                <a:lnTo>
                  <a:pt x="1245870" y="1878378"/>
                </a:lnTo>
                <a:lnTo>
                  <a:pt x="1252037" y="1875530"/>
                </a:lnTo>
                <a:lnTo>
                  <a:pt x="1258205" y="1883242"/>
                </a:lnTo>
                <a:lnTo>
                  <a:pt x="1264373" y="1638606"/>
                </a:lnTo>
                <a:lnTo>
                  <a:pt x="1270540" y="1828244"/>
                </a:lnTo>
                <a:lnTo>
                  <a:pt x="1276708" y="1888715"/>
                </a:lnTo>
                <a:lnTo>
                  <a:pt x="1282876" y="1873031"/>
                </a:lnTo>
                <a:lnTo>
                  <a:pt x="1289043" y="1360137"/>
                </a:lnTo>
                <a:lnTo>
                  <a:pt x="1295211" y="1357794"/>
                </a:lnTo>
                <a:lnTo>
                  <a:pt x="1301379" y="1359098"/>
                </a:lnTo>
                <a:lnTo>
                  <a:pt x="1307546" y="1355879"/>
                </a:lnTo>
                <a:lnTo>
                  <a:pt x="1313714" y="1353933"/>
                </a:lnTo>
                <a:lnTo>
                  <a:pt x="1319882" y="1356808"/>
                </a:lnTo>
                <a:lnTo>
                  <a:pt x="1326049" y="1356331"/>
                </a:lnTo>
                <a:lnTo>
                  <a:pt x="1332217" y="1358286"/>
                </a:lnTo>
                <a:lnTo>
                  <a:pt x="1338385" y="1359416"/>
                </a:lnTo>
                <a:lnTo>
                  <a:pt x="1344552" y="1358362"/>
                </a:lnTo>
                <a:lnTo>
                  <a:pt x="1350720" y="1358579"/>
                </a:lnTo>
                <a:lnTo>
                  <a:pt x="1356888" y="1367259"/>
                </a:lnTo>
                <a:lnTo>
                  <a:pt x="1363055" y="1356717"/>
                </a:lnTo>
                <a:lnTo>
                  <a:pt x="1369223" y="1354029"/>
                </a:lnTo>
                <a:lnTo>
                  <a:pt x="1375391" y="1352914"/>
                </a:lnTo>
                <a:lnTo>
                  <a:pt x="1381558" y="1352180"/>
                </a:lnTo>
                <a:lnTo>
                  <a:pt x="1387726" y="1349521"/>
                </a:lnTo>
                <a:lnTo>
                  <a:pt x="1393894" y="1350570"/>
                </a:lnTo>
                <a:lnTo>
                  <a:pt x="1400061" y="1351111"/>
                </a:lnTo>
                <a:lnTo>
                  <a:pt x="1406229" y="1603486"/>
                </a:lnTo>
                <a:lnTo>
                  <a:pt x="1412397" y="1654602"/>
                </a:lnTo>
                <a:lnTo>
                  <a:pt x="1418564" y="1649572"/>
                </a:lnTo>
                <a:lnTo>
                  <a:pt x="1424732" y="1645541"/>
                </a:lnTo>
                <a:lnTo>
                  <a:pt x="1430900" y="1647053"/>
                </a:lnTo>
                <a:lnTo>
                  <a:pt x="1437067" y="1371016"/>
                </a:lnTo>
                <a:lnTo>
                  <a:pt x="1443235" y="1363831"/>
                </a:lnTo>
                <a:lnTo>
                  <a:pt x="1449403" y="1364500"/>
                </a:lnTo>
                <a:lnTo>
                  <a:pt x="1455570" y="1364400"/>
                </a:lnTo>
                <a:lnTo>
                  <a:pt x="1461738" y="1367262"/>
                </a:lnTo>
                <a:lnTo>
                  <a:pt x="1467906" y="1367478"/>
                </a:lnTo>
                <a:lnTo>
                  <a:pt x="1474073" y="1366538"/>
                </a:lnTo>
                <a:lnTo>
                  <a:pt x="1480241" y="1369615"/>
                </a:lnTo>
                <a:lnTo>
                  <a:pt x="1486409" y="1366799"/>
                </a:lnTo>
                <a:lnTo>
                  <a:pt x="1492576" y="1364987"/>
                </a:lnTo>
                <a:lnTo>
                  <a:pt x="1498744" y="1374412"/>
                </a:lnTo>
                <a:lnTo>
                  <a:pt x="1504912" y="1691814"/>
                </a:lnTo>
                <a:lnTo>
                  <a:pt x="1511079" y="1625110"/>
                </a:lnTo>
                <a:lnTo>
                  <a:pt x="1517247" y="1947192"/>
                </a:lnTo>
                <a:lnTo>
                  <a:pt x="1523415" y="1928795"/>
                </a:lnTo>
                <a:lnTo>
                  <a:pt x="1529582" y="1930353"/>
                </a:lnTo>
                <a:lnTo>
                  <a:pt x="1535750" y="1989321"/>
                </a:lnTo>
                <a:lnTo>
                  <a:pt x="1541918" y="1962152"/>
                </a:lnTo>
                <a:lnTo>
                  <a:pt x="1548085" y="1987730"/>
                </a:lnTo>
                <a:lnTo>
                  <a:pt x="1554253" y="2007774"/>
                </a:lnTo>
                <a:lnTo>
                  <a:pt x="1560421" y="1922735"/>
                </a:lnTo>
                <a:lnTo>
                  <a:pt x="1566589" y="1962168"/>
                </a:lnTo>
                <a:lnTo>
                  <a:pt x="1572756" y="1953451"/>
                </a:lnTo>
                <a:lnTo>
                  <a:pt x="1578924" y="1968006"/>
                </a:lnTo>
                <a:lnTo>
                  <a:pt x="1585092" y="1984347"/>
                </a:lnTo>
                <a:lnTo>
                  <a:pt x="1591259" y="1930651"/>
                </a:lnTo>
                <a:lnTo>
                  <a:pt x="1597427" y="1958054"/>
                </a:lnTo>
                <a:lnTo>
                  <a:pt x="1603595" y="1902710"/>
                </a:lnTo>
                <a:lnTo>
                  <a:pt x="1609762" y="1355498"/>
                </a:lnTo>
                <a:lnTo>
                  <a:pt x="1615930" y="1347704"/>
                </a:lnTo>
                <a:lnTo>
                  <a:pt x="1622098" y="1346534"/>
                </a:lnTo>
                <a:lnTo>
                  <a:pt x="1628265" y="1350360"/>
                </a:lnTo>
                <a:lnTo>
                  <a:pt x="1634433" y="1347225"/>
                </a:lnTo>
                <a:lnTo>
                  <a:pt x="1640601" y="1347718"/>
                </a:lnTo>
                <a:lnTo>
                  <a:pt x="1646768" y="1347013"/>
                </a:lnTo>
                <a:lnTo>
                  <a:pt x="1652936" y="1191520"/>
                </a:lnTo>
                <a:lnTo>
                  <a:pt x="1659104" y="1347149"/>
                </a:lnTo>
                <a:lnTo>
                  <a:pt x="1665271" y="1346621"/>
                </a:lnTo>
                <a:lnTo>
                  <a:pt x="1671439" y="1334531"/>
                </a:lnTo>
                <a:lnTo>
                  <a:pt x="1677607" y="1337702"/>
                </a:lnTo>
                <a:lnTo>
                  <a:pt x="1683774" y="1334246"/>
                </a:lnTo>
                <a:lnTo>
                  <a:pt x="1689942" y="1335933"/>
                </a:lnTo>
                <a:lnTo>
                  <a:pt x="1696110" y="1337387"/>
                </a:lnTo>
                <a:lnTo>
                  <a:pt x="1702277" y="1336128"/>
                </a:lnTo>
                <a:lnTo>
                  <a:pt x="1708445" y="1336781"/>
                </a:lnTo>
                <a:lnTo>
                  <a:pt x="1714613" y="1338002"/>
                </a:lnTo>
                <a:lnTo>
                  <a:pt x="1720780" y="1338358"/>
                </a:lnTo>
                <a:lnTo>
                  <a:pt x="1726948" y="1339645"/>
                </a:lnTo>
                <a:lnTo>
                  <a:pt x="1733116" y="1338583"/>
                </a:lnTo>
                <a:lnTo>
                  <a:pt x="1739283" y="1338618"/>
                </a:lnTo>
                <a:lnTo>
                  <a:pt x="1745451" y="1634544"/>
                </a:lnTo>
                <a:lnTo>
                  <a:pt x="1751619" y="1634067"/>
                </a:lnTo>
                <a:lnTo>
                  <a:pt x="1757786" y="1678979"/>
                </a:lnTo>
                <a:lnTo>
                  <a:pt x="1763954" y="1677960"/>
                </a:lnTo>
                <a:lnTo>
                  <a:pt x="1770122" y="1277932"/>
                </a:lnTo>
                <a:lnTo>
                  <a:pt x="1776289" y="1255175"/>
                </a:lnTo>
                <a:lnTo>
                  <a:pt x="1782457" y="1259002"/>
                </a:lnTo>
                <a:lnTo>
                  <a:pt x="1788625" y="1288798"/>
                </a:lnTo>
                <a:lnTo>
                  <a:pt x="1794792" y="1278388"/>
                </a:lnTo>
                <a:lnTo>
                  <a:pt x="1800960" y="1267702"/>
                </a:lnTo>
                <a:lnTo>
                  <a:pt x="1807128" y="1271850"/>
                </a:lnTo>
                <a:lnTo>
                  <a:pt x="1813295" y="1571707"/>
                </a:lnTo>
                <a:lnTo>
                  <a:pt x="1819463" y="1568532"/>
                </a:lnTo>
                <a:lnTo>
                  <a:pt x="1825631" y="1577943"/>
                </a:lnTo>
                <a:lnTo>
                  <a:pt x="1831798" y="1581147"/>
                </a:lnTo>
                <a:lnTo>
                  <a:pt x="1837966" y="1894875"/>
                </a:lnTo>
                <a:lnTo>
                  <a:pt x="1844134" y="1975707"/>
                </a:lnTo>
                <a:lnTo>
                  <a:pt x="1850301" y="2006112"/>
                </a:lnTo>
                <a:lnTo>
                  <a:pt x="1856469" y="1970208"/>
                </a:lnTo>
                <a:lnTo>
                  <a:pt x="1862637" y="1267803"/>
                </a:lnTo>
                <a:lnTo>
                  <a:pt x="1868804" y="1257251"/>
                </a:lnTo>
                <a:lnTo>
                  <a:pt x="1874972" y="1256440"/>
                </a:lnTo>
                <a:lnTo>
                  <a:pt x="1881140" y="1256426"/>
                </a:lnTo>
                <a:lnTo>
                  <a:pt x="1887308" y="1269334"/>
                </a:lnTo>
                <a:lnTo>
                  <a:pt x="1893475" y="2055325"/>
                </a:lnTo>
                <a:lnTo>
                  <a:pt x="1899643" y="2052171"/>
                </a:lnTo>
                <a:lnTo>
                  <a:pt x="1905811" y="2037372"/>
                </a:lnTo>
                <a:lnTo>
                  <a:pt x="1911978" y="1842369"/>
                </a:lnTo>
                <a:lnTo>
                  <a:pt x="1918146" y="1958858"/>
                </a:lnTo>
                <a:lnTo>
                  <a:pt x="1924314" y="1853130"/>
                </a:lnTo>
                <a:lnTo>
                  <a:pt x="1930481" y="1978295"/>
                </a:lnTo>
                <a:lnTo>
                  <a:pt x="1936649" y="2000367"/>
                </a:lnTo>
                <a:lnTo>
                  <a:pt x="1942817" y="1980090"/>
                </a:lnTo>
                <a:lnTo>
                  <a:pt x="1948984" y="1995801"/>
                </a:lnTo>
                <a:lnTo>
                  <a:pt x="1955152" y="2064273"/>
                </a:lnTo>
                <a:lnTo>
                  <a:pt x="1961320" y="2074344"/>
                </a:lnTo>
                <a:lnTo>
                  <a:pt x="1967487" y="1987792"/>
                </a:lnTo>
                <a:lnTo>
                  <a:pt x="1973655" y="2053497"/>
                </a:lnTo>
                <a:lnTo>
                  <a:pt x="1979823" y="2049569"/>
                </a:lnTo>
                <a:lnTo>
                  <a:pt x="1985990" y="2037244"/>
                </a:lnTo>
                <a:lnTo>
                  <a:pt x="1992158" y="2049859"/>
                </a:lnTo>
                <a:lnTo>
                  <a:pt x="1998326" y="2049494"/>
                </a:lnTo>
                <a:lnTo>
                  <a:pt x="2004493" y="2040212"/>
                </a:lnTo>
                <a:lnTo>
                  <a:pt x="2010661" y="2003619"/>
                </a:lnTo>
                <a:lnTo>
                  <a:pt x="2016829" y="2066313"/>
                </a:lnTo>
                <a:lnTo>
                  <a:pt x="2022996" y="2035578"/>
                </a:lnTo>
                <a:lnTo>
                  <a:pt x="2029164" y="2108624"/>
                </a:lnTo>
                <a:lnTo>
                  <a:pt x="2035332" y="2180311"/>
                </a:lnTo>
                <a:lnTo>
                  <a:pt x="2041499" y="2085652"/>
                </a:lnTo>
                <a:lnTo>
                  <a:pt x="2047667" y="2183133"/>
                </a:lnTo>
                <a:lnTo>
                  <a:pt x="2053835" y="2132641"/>
                </a:lnTo>
                <a:lnTo>
                  <a:pt x="2060002" y="2015944"/>
                </a:lnTo>
                <a:lnTo>
                  <a:pt x="2066170" y="2216062"/>
                </a:lnTo>
                <a:lnTo>
                  <a:pt x="2072338" y="2287295"/>
                </a:lnTo>
                <a:lnTo>
                  <a:pt x="2078505" y="2330284"/>
                </a:lnTo>
                <a:lnTo>
                  <a:pt x="2084673" y="2343534"/>
                </a:lnTo>
                <a:lnTo>
                  <a:pt x="2090841" y="2221518"/>
                </a:lnTo>
                <a:lnTo>
                  <a:pt x="2097008" y="2280974"/>
                </a:lnTo>
                <a:lnTo>
                  <a:pt x="2103176" y="2271379"/>
                </a:lnTo>
                <a:lnTo>
                  <a:pt x="2109344" y="2308640"/>
                </a:lnTo>
                <a:lnTo>
                  <a:pt x="2115511" y="2310257"/>
                </a:lnTo>
                <a:lnTo>
                  <a:pt x="2121679" y="2230294"/>
                </a:lnTo>
                <a:lnTo>
                  <a:pt x="2127847" y="2258327"/>
                </a:lnTo>
                <a:lnTo>
                  <a:pt x="2134014" y="2205301"/>
                </a:lnTo>
                <a:lnTo>
                  <a:pt x="2140182" y="2239137"/>
                </a:lnTo>
                <a:lnTo>
                  <a:pt x="2146350" y="2278570"/>
                </a:lnTo>
                <a:lnTo>
                  <a:pt x="2152517" y="2024356"/>
                </a:lnTo>
                <a:lnTo>
                  <a:pt x="2158685" y="2007466"/>
                </a:lnTo>
                <a:lnTo>
                  <a:pt x="2164853" y="2097631"/>
                </a:lnTo>
                <a:lnTo>
                  <a:pt x="2171020" y="2274902"/>
                </a:lnTo>
                <a:lnTo>
                  <a:pt x="2177188" y="1552110"/>
                </a:lnTo>
                <a:lnTo>
                  <a:pt x="2183356" y="1283289"/>
                </a:lnTo>
                <a:lnTo>
                  <a:pt x="2189524" y="1275429"/>
                </a:lnTo>
                <a:lnTo>
                  <a:pt x="2195691" y="1275240"/>
                </a:lnTo>
                <a:lnTo>
                  <a:pt x="2201859" y="1279961"/>
                </a:lnTo>
                <a:lnTo>
                  <a:pt x="2208027" y="1277379"/>
                </a:lnTo>
                <a:lnTo>
                  <a:pt x="2214194" y="1279090"/>
                </a:lnTo>
                <a:lnTo>
                  <a:pt x="2220362" y="1288403"/>
                </a:lnTo>
                <a:lnTo>
                  <a:pt x="2226530" y="1306394"/>
                </a:lnTo>
                <a:lnTo>
                  <a:pt x="2232697" y="1365254"/>
                </a:lnTo>
                <a:lnTo>
                  <a:pt x="2238865" y="1307265"/>
                </a:lnTo>
                <a:lnTo>
                  <a:pt x="2245033" y="1299695"/>
                </a:lnTo>
                <a:lnTo>
                  <a:pt x="2251200" y="1303133"/>
                </a:lnTo>
                <a:lnTo>
                  <a:pt x="2257368" y="1522960"/>
                </a:lnTo>
                <a:lnTo>
                  <a:pt x="2263536" y="1463062"/>
                </a:lnTo>
                <a:lnTo>
                  <a:pt x="2269703" y="1447973"/>
                </a:lnTo>
                <a:lnTo>
                  <a:pt x="2275871" y="1436281"/>
                </a:lnTo>
                <a:lnTo>
                  <a:pt x="2282039" y="1359517"/>
                </a:lnTo>
                <a:lnTo>
                  <a:pt x="2288206" y="1328917"/>
                </a:lnTo>
                <a:lnTo>
                  <a:pt x="2294374" y="1321888"/>
                </a:lnTo>
                <a:lnTo>
                  <a:pt x="2300542" y="1322004"/>
                </a:lnTo>
                <a:lnTo>
                  <a:pt x="2306709" y="1320036"/>
                </a:lnTo>
                <a:lnTo>
                  <a:pt x="2312877" y="1313391"/>
                </a:lnTo>
                <a:lnTo>
                  <a:pt x="2319045" y="1308518"/>
                </a:lnTo>
                <a:lnTo>
                  <a:pt x="2325212" y="1303370"/>
                </a:lnTo>
                <a:lnTo>
                  <a:pt x="2331380" y="38875"/>
                </a:lnTo>
                <a:lnTo>
                  <a:pt x="2337548" y="37015"/>
                </a:lnTo>
                <a:lnTo>
                  <a:pt x="2343715" y="34385"/>
                </a:lnTo>
                <a:lnTo>
                  <a:pt x="2349883" y="37335"/>
                </a:lnTo>
                <a:lnTo>
                  <a:pt x="2356051" y="63328"/>
                </a:lnTo>
                <a:lnTo>
                  <a:pt x="2362218" y="40802"/>
                </a:lnTo>
                <a:lnTo>
                  <a:pt x="2368386" y="41118"/>
                </a:lnTo>
                <a:lnTo>
                  <a:pt x="2374554" y="43081"/>
                </a:lnTo>
                <a:lnTo>
                  <a:pt x="2380721" y="38064"/>
                </a:lnTo>
                <a:lnTo>
                  <a:pt x="2386889" y="33091"/>
                </a:lnTo>
                <a:lnTo>
                  <a:pt x="2393057" y="35874"/>
                </a:lnTo>
                <a:lnTo>
                  <a:pt x="2399224" y="32750"/>
                </a:lnTo>
                <a:lnTo>
                  <a:pt x="2405392" y="34526"/>
                </a:lnTo>
                <a:lnTo>
                  <a:pt x="2411560" y="31986"/>
                </a:lnTo>
                <a:lnTo>
                  <a:pt x="2417727" y="26485"/>
                </a:lnTo>
                <a:lnTo>
                  <a:pt x="2423895" y="38466"/>
                </a:lnTo>
                <a:lnTo>
                  <a:pt x="2430063" y="21628"/>
                </a:lnTo>
                <a:lnTo>
                  <a:pt x="2436230" y="25421"/>
                </a:lnTo>
                <a:lnTo>
                  <a:pt x="2442398" y="19948"/>
                </a:lnTo>
                <a:lnTo>
                  <a:pt x="2448566" y="19184"/>
                </a:lnTo>
                <a:lnTo>
                  <a:pt x="2454733" y="18209"/>
                </a:lnTo>
                <a:lnTo>
                  <a:pt x="2460901" y="20125"/>
                </a:lnTo>
                <a:lnTo>
                  <a:pt x="2467069" y="20034"/>
                </a:lnTo>
                <a:lnTo>
                  <a:pt x="2473236" y="16354"/>
                </a:lnTo>
                <a:lnTo>
                  <a:pt x="2479404" y="10757"/>
                </a:lnTo>
                <a:lnTo>
                  <a:pt x="2485572" y="13777"/>
                </a:lnTo>
                <a:lnTo>
                  <a:pt x="2491740" y="15109"/>
                </a:lnTo>
                <a:lnTo>
                  <a:pt x="2497907" y="14671"/>
                </a:lnTo>
                <a:lnTo>
                  <a:pt x="2504075" y="11699"/>
                </a:lnTo>
                <a:lnTo>
                  <a:pt x="2510243" y="11545"/>
                </a:lnTo>
                <a:lnTo>
                  <a:pt x="2516410" y="8554"/>
                </a:lnTo>
                <a:lnTo>
                  <a:pt x="2522578" y="13811"/>
                </a:lnTo>
                <a:lnTo>
                  <a:pt x="2528746" y="7196"/>
                </a:lnTo>
                <a:lnTo>
                  <a:pt x="2534913" y="10728"/>
                </a:lnTo>
                <a:lnTo>
                  <a:pt x="2541081" y="8959"/>
                </a:lnTo>
                <a:lnTo>
                  <a:pt x="2547249" y="11104"/>
                </a:lnTo>
                <a:lnTo>
                  <a:pt x="2553416" y="3208"/>
                </a:lnTo>
                <a:lnTo>
                  <a:pt x="2559584" y="45934"/>
                </a:lnTo>
                <a:lnTo>
                  <a:pt x="2565752" y="143338"/>
                </a:lnTo>
                <a:lnTo>
                  <a:pt x="2571919" y="482425"/>
                </a:lnTo>
                <a:lnTo>
                  <a:pt x="2578087" y="735196"/>
                </a:lnTo>
                <a:lnTo>
                  <a:pt x="2584255" y="6571"/>
                </a:lnTo>
                <a:lnTo>
                  <a:pt x="2590422" y="7737"/>
                </a:lnTo>
                <a:lnTo>
                  <a:pt x="2596590" y="9543"/>
                </a:lnTo>
                <a:lnTo>
                  <a:pt x="2602758" y="12090"/>
                </a:lnTo>
                <a:lnTo>
                  <a:pt x="2608925" y="12018"/>
                </a:lnTo>
                <a:lnTo>
                  <a:pt x="2615093" y="8103"/>
                </a:lnTo>
                <a:lnTo>
                  <a:pt x="2621261" y="10468"/>
                </a:lnTo>
                <a:lnTo>
                  <a:pt x="2627428" y="11729"/>
                </a:lnTo>
                <a:lnTo>
                  <a:pt x="2633596" y="12294"/>
                </a:lnTo>
                <a:lnTo>
                  <a:pt x="2639764" y="11505"/>
                </a:lnTo>
                <a:lnTo>
                  <a:pt x="2645931" y="10932"/>
                </a:lnTo>
                <a:lnTo>
                  <a:pt x="2652099" y="9401"/>
                </a:lnTo>
                <a:lnTo>
                  <a:pt x="2658267" y="8308"/>
                </a:lnTo>
                <a:lnTo>
                  <a:pt x="2664434" y="10112"/>
                </a:lnTo>
                <a:lnTo>
                  <a:pt x="2670602" y="11468"/>
                </a:lnTo>
                <a:lnTo>
                  <a:pt x="2676770" y="8173"/>
                </a:lnTo>
                <a:lnTo>
                  <a:pt x="2682937" y="9340"/>
                </a:lnTo>
                <a:lnTo>
                  <a:pt x="2689105" y="8813"/>
                </a:lnTo>
                <a:lnTo>
                  <a:pt x="2695273" y="10041"/>
                </a:lnTo>
                <a:lnTo>
                  <a:pt x="2701440" y="6576"/>
                </a:lnTo>
                <a:lnTo>
                  <a:pt x="2707608" y="9062"/>
                </a:lnTo>
                <a:lnTo>
                  <a:pt x="2713776" y="10330"/>
                </a:lnTo>
                <a:lnTo>
                  <a:pt x="2719943" y="6048"/>
                </a:lnTo>
                <a:lnTo>
                  <a:pt x="2726111" y="13053"/>
                </a:lnTo>
                <a:lnTo>
                  <a:pt x="2732279" y="14777"/>
                </a:lnTo>
                <a:lnTo>
                  <a:pt x="2738446" y="15337"/>
                </a:lnTo>
                <a:lnTo>
                  <a:pt x="2744614" y="12946"/>
                </a:lnTo>
                <a:lnTo>
                  <a:pt x="2750782" y="13381"/>
                </a:lnTo>
                <a:lnTo>
                  <a:pt x="2756949" y="15151"/>
                </a:lnTo>
                <a:lnTo>
                  <a:pt x="2763117" y="15069"/>
                </a:lnTo>
                <a:lnTo>
                  <a:pt x="2769285" y="8235"/>
                </a:lnTo>
                <a:lnTo>
                  <a:pt x="2775452" y="7895"/>
                </a:lnTo>
                <a:lnTo>
                  <a:pt x="2781620" y="14412"/>
                </a:lnTo>
                <a:lnTo>
                  <a:pt x="2787788" y="15127"/>
                </a:lnTo>
                <a:lnTo>
                  <a:pt x="2793955" y="13996"/>
                </a:lnTo>
                <a:lnTo>
                  <a:pt x="2800123" y="12674"/>
                </a:lnTo>
                <a:lnTo>
                  <a:pt x="2806291" y="12062"/>
                </a:lnTo>
                <a:lnTo>
                  <a:pt x="2812459" y="12902"/>
                </a:lnTo>
                <a:lnTo>
                  <a:pt x="2818626" y="10607"/>
                </a:lnTo>
                <a:lnTo>
                  <a:pt x="2824794" y="11818"/>
                </a:lnTo>
                <a:lnTo>
                  <a:pt x="2830962" y="10619"/>
                </a:lnTo>
                <a:lnTo>
                  <a:pt x="2837129" y="13809"/>
                </a:lnTo>
                <a:lnTo>
                  <a:pt x="2843297" y="14137"/>
                </a:lnTo>
                <a:lnTo>
                  <a:pt x="2849465" y="12438"/>
                </a:lnTo>
                <a:lnTo>
                  <a:pt x="2855632" y="10852"/>
                </a:lnTo>
                <a:lnTo>
                  <a:pt x="2861800" y="10303"/>
                </a:lnTo>
                <a:lnTo>
                  <a:pt x="2867968" y="11157"/>
                </a:lnTo>
                <a:lnTo>
                  <a:pt x="2874135" y="9562"/>
                </a:lnTo>
                <a:lnTo>
                  <a:pt x="2880303" y="11078"/>
                </a:lnTo>
                <a:lnTo>
                  <a:pt x="2886471" y="11780"/>
                </a:lnTo>
                <a:lnTo>
                  <a:pt x="2892638" y="10225"/>
                </a:lnTo>
                <a:lnTo>
                  <a:pt x="2898806" y="9228"/>
                </a:lnTo>
                <a:lnTo>
                  <a:pt x="2904974" y="6502"/>
                </a:lnTo>
                <a:lnTo>
                  <a:pt x="2911141" y="11847"/>
                </a:lnTo>
                <a:lnTo>
                  <a:pt x="2917309" y="9963"/>
                </a:lnTo>
                <a:lnTo>
                  <a:pt x="2923477" y="289961"/>
                </a:lnTo>
                <a:lnTo>
                  <a:pt x="2929644" y="1189523"/>
                </a:lnTo>
                <a:lnTo>
                  <a:pt x="2935812" y="1220708"/>
                </a:lnTo>
                <a:lnTo>
                  <a:pt x="2941980" y="1201741"/>
                </a:lnTo>
                <a:lnTo>
                  <a:pt x="2948147" y="450997"/>
                </a:lnTo>
                <a:lnTo>
                  <a:pt x="2954315" y="1888655"/>
                </a:lnTo>
                <a:lnTo>
                  <a:pt x="2960483" y="1867852"/>
                </a:lnTo>
                <a:lnTo>
                  <a:pt x="2966650" y="1802200"/>
                </a:lnTo>
                <a:lnTo>
                  <a:pt x="2972818" y="1884360"/>
                </a:lnTo>
                <a:lnTo>
                  <a:pt x="2978986" y="1688764"/>
                </a:lnTo>
                <a:lnTo>
                  <a:pt x="2985153" y="1735061"/>
                </a:lnTo>
                <a:lnTo>
                  <a:pt x="2991321" y="1691627"/>
                </a:lnTo>
                <a:lnTo>
                  <a:pt x="2997489" y="1691473"/>
                </a:lnTo>
                <a:lnTo>
                  <a:pt x="3003656" y="1737176"/>
                </a:lnTo>
                <a:lnTo>
                  <a:pt x="3009824" y="1737373"/>
                </a:lnTo>
                <a:lnTo>
                  <a:pt x="3015992" y="1732705"/>
                </a:lnTo>
                <a:lnTo>
                  <a:pt x="3022159" y="1738311"/>
                </a:lnTo>
                <a:lnTo>
                  <a:pt x="3028327" y="1251866"/>
                </a:lnTo>
                <a:lnTo>
                  <a:pt x="3034495" y="1245874"/>
                </a:lnTo>
                <a:lnTo>
                  <a:pt x="3040662" y="1247302"/>
                </a:lnTo>
                <a:lnTo>
                  <a:pt x="3046830" y="1251351"/>
                </a:lnTo>
                <a:lnTo>
                  <a:pt x="3052998" y="1250422"/>
                </a:lnTo>
                <a:lnTo>
                  <a:pt x="3059165" y="1255083"/>
                </a:lnTo>
                <a:lnTo>
                  <a:pt x="3065333" y="1255740"/>
                </a:lnTo>
                <a:lnTo>
                  <a:pt x="3071501" y="1257715"/>
                </a:lnTo>
                <a:lnTo>
                  <a:pt x="3077668" y="1257826"/>
                </a:lnTo>
                <a:lnTo>
                  <a:pt x="3083836" y="1256396"/>
                </a:lnTo>
                <a:lnTo>
                  <a:pt x="3090004" y="1257712"/>
                </a:lnTo>
                <a:lnTo>
                  <a:pt x="3096171" y="1258359"/>
                </a:lnTo>
                <a:lnTo>
                  <a:pt x="3102339" y="1256242"/>
                </a:lnTo>
                <a:lnTo>
                  <a:pt x="3108507" y="1253126"/>
                </a:lnTo>
                <a:lnTo>
                  <a:pt x="3114675" y="1254560"/>
                </a:lnTo>
                <a:lnTo>
                  <a:pt x="3120842" y="1257624"/>
                </a:lnTo>
                <a:lnTo>
                  <a:pt x="3127010" y="1259793"/>
                </a:lnTo>
                <a:lnTo>
                  <a:pt x="3133178" y="1255966"/>
                </a:lnTo>
                <a:lnTo>
                  <a:pt x="3139345" y="1251874"/>
                </a:lnTo>
                <a:lnTo>
                  <a:pt x="3145513" y="1249501"/>
                </a:lnTo>
                <a:lnTo>
                  <a:pt x="3151681" y="1249805"/>
                </a:lnTo>
                <a:lnTo>
                  <a:pt x="3157848" y="1250225"/>
                </a:lnTo>
                <a:lnTo>
                  <a:pt x="3164016" y="1250821"/>
                </a:lnTo>
                <a:lnTo>
                  <a:pt x="3170184" y="1249266"/>
                </a:lnTo>
                <a:lnTo>
                  <a:pt x="3176351" y="1254191"/>
                </a:lnTo>
                <a:lnTo>
                  <a:pt x="3182519" y="1251197"/>
                </a:lnTo>
                <a:lnTo>
                  <a:pt x="3188687" y="1250973"/>
                </a:lnTo>
                <a:lnTo>
                  <a:pt x="3194854" y="1252545"/>
                </a:lnTo>
                <a:lnTo>
                  <a:pt x="3201022" y="1253084"/>
                </a:lnTo>
                <a:lnTo>
                  <a:pt x="3207190" y="1251495"/>
                </a:lnTo>
                <a:lnTo>
                  <a:pt x="3213357" y="1252351"/>
                </a:lnTo>
                <a:lnTo>
                  <a:pt x="3219525" y="1258151"/>
                </a:lnTo>
                <a:lnTo>
                  <a:pt x="3225693" y="1258033"/>
                </a:lnTo>
                <a:lnTo>
                  <a:pt x="3231860" y="1260889"/>
                </a:lnTo>
                <a:lnTo>
                  <a:pt x="3238028" y="1261653"/>
                </a:lnTo>
                <a:lnTo>
                  <a:pt x="3244196" y="1262081"/>
                </a:lnTo>
                <a:lnTo>
                  <a:pt x="3250363" y="1736566"/>
                </a:lnTo>
                <a:lnTo>
                  <a:pt x="3256531" y="1266623"/>
                </a:lnTo>
                <a:lnTo>
                  <a:pt x="3262699" y="1259218"/>
                </a:lnTo>
                <a:lnTo>
                  <a:pt x="3268866" y="1261159"/>
                </a:lnTo>
                <a:lnTo>
                  <a:pt x="3275034" y="1253625"/>
                </a:lnTo>
                <a:lnTo>
                  <a:pt x="3281202" y="1253948"/>
                </a:lnTo>
                <a:lnTo>
                  <a:pt x="3287369" y="1254663"/>
                </a:lnTo>
                <a:lnTo>
                  <a:pt x="3293537" y="1689772"/>
                </a:lnTo>
                <a:lnTo>
                  <a:pt x="3299705" y="1724821"/>
                </a:lnTo>
                <a:lnTo>
                  <a:pt x="3305872" y="1735395"/>
                </a:lnTo>
                <a:lnTo>
                  <a:pt x="3312040" y="1727754"/>
                </a:lnTo>
                <a:lnTo>
                  <a:pt x="3318208" y="1208284"/>
                </a:lnTo>
                <a:lnTo>
                  <a:pt x="3324375" y="1284749"/>
                </a:lnTo>
                <a:lnTo>
                  <a:pt x="3330543" y="1296456"/>
                </a:lnTo>
                <a:lnTo>
                  <a:pt x="3336711" y="1297842"/>
                </a:lnTo>
                <a:lnTo>
                  <a:pt x="3342878" y="1295197"/>
                </a:lnTo>
                <a:lnTo>
                  <a:pt x="3349046" y="1292291"/>
                </a:lnTo>
                <a:lnTo>
                  <a:pt x="3355214" y="1288952"/>
                </a:lnTo>
                <a:lnTo>
                  <a:pt x="3361381" y="1291132"/>
                </a:lnTo>
                <a:lnTo>
                  <a:pt x="3367549" y="1291253"/>
                </a:lnTo>
                <a:lnTo>
                  <a:pt x="3373717" y="1290366"/>
                </a:lnTo>
                <a:lnTo>
                  <a:pt x="3379884" y="1289119"/>
                </a:lnTo>
                <a:lnTo>
                  <a:pt x="3386052" y="1293834"/>
                </a:lnTo>
                <a:lnTo>
                  <a:pt x="3392220" y="1296945"/>
                </a:lnTo>
                <a:lnTo>
                  <a:pt x="3398387" y="1296173"/>
                </a:lnTo>
                <a:lnTo>
                  <a:pt x="3404555" y="1297329"/>
                </a:lnTo>
                <a:lnTo>
                  <a:pt x="3410723" y="1297358"/>
                </a:lnTo>
                <a:lnTo>
                  <a:pt x="3416890" y="1291826"/>
                </a:lnTo>
                <a:lnTo>
                  <a:pt x="3423058" y="1278253"/>
                </a:lnTo>
                <a:lnTo>
                  <a:pt x="3429226" y="1275978"/>
                </a:lnTo>
                <a:lnTo>
                  <a:pt x="3435394" y="1275084"/>
                </a:lnTo>
                <a:lnTo>
                  <a:pt x="3441561" y="1288809"/>
                </a:lnTo>
                <a:lnTo>
                  <a:pt x="3447729" y="1289139"/>
                </a:lnTo>
                <a:lnTo>
                  <a:pt x="3453897" y="1287425"/>
                </a:lnTo>
                <a:lnTo>
                  <a:pt x="3460064" y="1286164"/>
                </a:lnTo>
                <a:lnTo>
                  <a:pt x="3466232" y="1293907"/>
                </a:lnTo>
                <a:lnTo>
                  <a:pt x="3472400" y="1285813"/>
                </a:lnTo>
                <a:lnTo>
                  <a:pt x="3478567" y="1284998"/>
                </a:lnTo>
                <a:lnTo>
                  <a:pt x="3484735" y="1290262"/>
                </a:lnTo>
                <a:lnTo>
                  <a:pt x="3490903" y="1285322"/>
                </a:lnTo>
                <a:lnTo>
                  <a:pt x="3497070" y="1288844"/>
                </a:lnTo>
                <a:lnTo>
                  <a:pt x="3503238" y="1288632"/>
                </a:lnTo>
                <a:lnTo>
                  <a:pt x="3509406" y="1292757"/>
                </a:lnTo>
                <a:lnTo>
                  <a:pt x="3515573" y="1291694"/>
                </a:lnTo>
                <a:lnTo>
                  <a:pt x="3521741" y="1293674"/>
                </a:lnTo>
                <a:lnTo>
                  <a:pt x="3527909" y="1293775"/>
                </a:lnTo>
                <a:lnTo>
                  <a:pt x="3534076" y="1283050"/>
                </a:lnTo>
                <a:lnTo>
                  <a:pt x="3540244" y="1298172"/>
                </a:lnTo>
                <a:lnTo>
                  <a:pt x="3546412" y="1269531"/>
                </a:lnTo>
                <a:lnTo>
                  <a:pt x="3552579" y="1266345"/>
                </a:lnTo>
                <a:lnTo>
                  <a:pt x="3558747" y="1286159"/>
                </a:lnTo>
                <a:lnTo>
                  <a:pt x="3564915" y="1282633"/>
                </a:lnTo>
                <a:lnTo>
                  <a:pt x="3571082" y="1266874"/>
                </a:lnTo>
                <a:lnTo>
                  <a:pt x="3577250" y="1270435"/>
                </a:lnTo>
                <a:lnTo>
                  <a:pt x="3583418" y="1270852"/>
                </a:lnTo>
                <a:lnTo>
                  <a:pt x="3589585" y="1277126"/>
                </a:lnTo>
                <a:lnTo>
                  <a:pt x="3595753" y="1276969"/>
                </a:lnTo>
                <a:lnTo>
                  <a:pt x="3601921" y="1277200"/>
                </a:lnTo>
                <a:lnTo>
                  <a:pt x="3608088" y="1272581"/>
                </a:lnTo>
                <a:lnTo>
                  <a:pt x="3614256" y="1264892"/>
                </a:lnTo>
                <a:lnTo>
                  <a:pt x="3620424" y="1266676"/>
                </a:lnTo>
                <a:lnTo>
                  <a:pt x="3626591" y="1267741"/>
                </a:lnTo>
                <a:lnTo>
                  <a:pt x="3632759" y="1266112"/>
                </a:lnTo>
                <a:lnTo>
                  <a:pt x="3638927" y="1265326"/>
                </a:lnTo>
                <a:lnTo>
                  <a:pt x="3645094" y="1264997"/>
                </a:lnTo>
                <a:lnTo>
                  <a:pt x="3651262" y="1266493"/>
                </a:lnTo>
                <a:lnTo>
                  <a:pt x="3657430" y="1267264"/>
                </a:lnTo>
                <a:lnTo>
                  <a:pt x="3663597" y="1273049"/>
                </a:lnTo>
                <a:lnTo>
                  <a:pt x="3669765" y="1267031"/>
                </a:lnTo>
                <a:lnTo>
                  <a:pt x="3675933" y="1269456"/>
                </a:lnTo>
                <a:lnTo>
                  <a:pt x="3682100" y="1269544"/>
                </a:lnTo>
                <a:lnTo>
                  <a:pt x="3688268" y="1272657"/>
                </a:lnTo>
                <a:lnTo>
                  <a:pt x="3694436" y="1622271"/>
                </a:lnTo>
                <a:lnTo>
                  <a:pt x="3700603" y="1618264"/>
                </a:lnTo>
                <a:lnTo>
                  <a:pt x="3706771" y="1713108"/>
                </a:lnTo>
                <a:lnTo>
                  <a:pt x="3712939" y="1744341"/>
                </a:lnTo>
                <a:lnTo>
                  <a:pt x="3719106" y="1728825"/>
                </a:lnTo>
                <a:lnTo>
                  <a:pt x="3725274" y="1720561"/>
                </a:lnTo>
                <a:lnTo>
                  <a:pt x="3731442" y="1029329"/>
                </a:lnTo>
                <a:lnTo>
                  <a:pt x="3737609" y="7350"/>
                </a:lnTo>
                <a:lnTo>
                  <a:pt x="3743777" y="17703"/>
                </a:lnTo>
                <a:lnTo>
                  <a:pt x="3749945" y="16231"/>
                </a:lnTo>
                <a:lnTo>
                  <a:pt x="3756113" y="17328"/>
                </a:lnTo>
                <a:lnTo>
                  <a:pt x="3762280" y="18507"/>
                </a:lnTo>
                <a:lnTo>
                  <a:pt x="3768448" y="18229"/>
                </a:lnTo>
                <a:lnTo>
                  <a:pt x="3774616" y="17547"/>
                </a:lnTo>
                <a:lnTo>
                  <a:pt x="3780783" y="17429"/>
                </a:lnTo>
                <a:lnTo>
                  <a:pt x="3786951" y="17696"/>
                </a:lnTo>
                <a:lnTo>
                  <a:pt x="3793119" y="17894"/>
                </a:lnTo>
                <a:lnTo>
                  <a:pt x="3799286" y="18056"/>
                </a:lnTo>
                <a:lnTo>
                  <a:pt x="3805454" y="18080"/>
                </a:lnTo>
                <a:lnTo>
                  <a:pt x="3811622" y="18531"/>
                </a:lnTo>
                <a:lnTo>
                  <a:pt x="3817789" y="18059"/>
                </a:lnTo>
                <a:lnTo>
                  <a:pt x="3823957" y="17874"/>
                </a:lnTo>
                <a:lnTo>
                  <a:pt x="3830125" y="17097"/>
                </a:lnTo>
                <a:lnTo>
                  <a:pt x="3836292" y="18591"/>
                </a:lnTo>
                <a:lnTo>
                  <a:pt x="3842460" y="17440"/>
                </a:lnTo>
                <a:lnTo>
                  <a:pt x="3848628" y="18367"/>
                </a:lnTo>
                <a:lnTo>
                  <a:pt x="3854795" y="12627"/>
                </a:lnTo>
                <a:lnTo>
                  <a:pt x="3860963" y="10238"/>
                </a:lnTo>
                <a:lnTo>
                  <a:pt x="3867131" y="11178"/>
                </a:lnTo>
                <a:lnTo>
                  <a:pt x="3873298" y="11095"/>
                </a:lnTo>
                <a:lnTo>
                  <a:pt x="3879466" y="9915"/>
                </a:lnTo>
                <a:lnTo>
                  <a:pt x="3885634" y="12261"/>
                </a:lnTo>
                <a:lnTo>
                  <a:pt x="3891801" y="1059510"/>
                </a:lnTo>
                <a:lnTo>
                  <a:pt x="3897969" y="1261560"/>
                </a:lnTo>
                <a:lnTo>
                  <a:pt x="3904137" y="1264605"/>
                </a:lnTo>
                <a:lnTo>
                  <a:pt x="3910304" y="1269025"/>
                </a:lnTo>
                <a:lnTo>
                  <a:pt x="3916472" y="1259653"/>
                </a:lnTo>
                <a:lnTo>
                  <a:pt x="3922640" y="1260757"/>
                </a:lnTo>
                <a:lnTo>
                  <a:pt x="3928807" y="1078415"/>
                </a:lnTo>
                <a:lnTo>
                  <a:pt x="3934975" y="1272492"/>
                </a:lnTo>
                <a:lnTo>
                  <a:pt x="3941143" y="723774"/>
                </a:lnTo>
                <a:lnTo>
                  <a:pt x="3947310" y="1269040"/>
                </a:lnTo>
                <a:lnTo>
                  <a:pt x="3953478" y="1268052"/>
                </a:lnTo>
                <a:lnTo>
                  <a:pt x="3959646" y="9560"/>
                </a:lnTo>
                <a:lnTo>
                  <a:pt x="3965813" y="8912"/>
                </a:lnTo>
                <a:lnTo>
                  <a:pt x="3971981" y="14548"/>
                </a:lnTo>
                <a:lnTo>
                  <a:pt x="3978149" y="16688"/>
                </a:lnTo>
                <a:lnTo>
                  <a:pt x="3984316" y="16201"/>
                </a:lnTo>
                <a:lnTo>
                  <a:pt x="3990484" y="15830"/>
                </a:lnTo>
                <a:lnTo>
                  <a:pt x="3996652" y="15221"/>
                </a:lnTo>
                <a:lnTo>
                  <a:pt x="4002819" y="15137"/>
                </a:lnTo>
                <a:lnTo>
                  <a:pt x="4008987" y="14131"/>
                </a:lnTo>
                <a:lnTo>
                  <a:pt x="4015155" y="8542"/>
                </a:lnTo>
                <a:lnTo>
                  <a:pt x="4021322" y="9311"/>
                </a:lnTo>
                <a:lnTo>
                  <a:pt x="4027490" y="13101"/>
                </a:lnTo>
                <a:lnTo>
                  <a:pt x="4033658" y="13072"/>
                </a:lnTo>
                <a:lnTo>
                  <a:pt x="4039825" y="10953"/>
                </a:lnTo>
                <a:lnTo>
                  <a:pt x="4045993" y="13224"/>
                </a:lnTo>
                <a:lnTo>
                  <a:pt x="4052161" y="11905"/>
                </a:lnTo>
                <a:lnTo>
                  <a:pt x="4058329" y="11022"/>
                </a:lnTo>
                <a:lnTo>
                  <a:pt x="4064496" y="10623"/>
                </a:lnTo>
                <a:lnTo>
                  <a:pt x="4070664" y="0"/>
                </a:lnTo>
                <a:lnTo>
                  <a:pt x="4076832" y="473473"/>
                </a:lnTo>
                <a:lnTo>
                  <a:pt x="4082999" y="1331626"/>
                </a:lnTo>
                <a:lnTo>
                  <a:pt x="4089167" y="1581664"/>
                </a:lnTo>
                <a:lnTo>
                  <a:pt x="4095335" y="1561633"/>
                </a:lnTo>
                <a:lnTo>
                  <a:pt x="4101502" y="2526"/>
                </a:lnTo>
                <a:lnTo>
                  <a:pt x="4107670" y="13637"/>
                </a:lnTo>
                <a:lnTo>
                  <a:pt x="4113838" y="9772"/>
                </a:lnTo>
                <a:lnTo>
                  <a:pt x="4120005" y="11298"/>
                </a:lnTo>
                <a:lnTo>
                  <a:pt x="4126173" y="11384"/>
                </a:lnTo>
                <a:lnTo>
                  <a:pt x="4132341" y="11546"/>
                </a:lnTo>
                <a:lnTo>
                  <a:pt x="4138508" y="11151"/>
                </a:lnTo>
                <a:lnTo>
                  <a:pt x="4144676" y="11398"/>
                </a:lnTo>
                <a:lnTo>
                  <a:pt x="4150844" y="12411"/>
                </a:lnTo>
                <a:lnTo>
                  <a:pt x="4157011" y="10108"/>
                </a:lnTo>
                <a:lnTo>
                  <a:pt x="4163179" y="11172"/>
                </a:lnTo>
                <a:lnTo>
                  <a:pt x="4169347" y="12664"/>
                </a:lnTo>
                <a:lnTo>
                  <a:pt x="4175514" y="13909"/>
                </a:lnTo>
                <a:lnTo>
                  <a:pt x="4181682" y="12998"/>
                </a:lnTo>
                <a:lnTo>
                  <a:pt x="4187850" y="10391"/>
                </a:lnTo>
                <a:lnTo>
                  <a:pt x="4194017" y="9852"/>
                </a:lnTo>
                <a:lnTo>
                  <a:pt x="4200185" y="11063"/>
                </a:lnTo>
                <a:lnTo>
                  <a:pt x="4206353" y="12931"/>
                </a:lnTo>
                <a:lnTo>
                  <a:pt x="4212520" y="12364"/>
                </a:lnTo>
                <a:lnTo>
                  <a:pt x="4218688" y="1008264"/>
                </a:lnTo>
                <a:lnTo>
                  <a:pt x="4224856" y="1060644"/>
                </a:lnTo>
                <a:lnTo>
                  <a:pt x="4231023" y="1074563"/>
                </a:lnTo>
                <a:lnTo>
                  <a:pt x="4237191" y="1081192"/>
                </a:lnTo>
                <a:lnTo>
                  <a:pt x="4243359" y="1089658"/>
                </a:lnTo>
                <a:lnTo>
                  <a:pt x="4249526" y="1092784"/>
                </a:lnTo>
                <a:lnTo>
                  <a:pt x="4255694" y="1105150"/>
                </a:lnTo>
                <a:lnTo>
                  <a:pt x="4261862" y="1106172"/>
                </a:lnTo>
                <a:lnTo>
                  <a:pt x="4268029" y="1111567"/>
                </a:lnTo>
                <a:lnTo>
                  <a:pt x="4274197" y="1118719"/>
                </a:lnTo>
                <a:lnTo>
                  <a:pt x="4280365" y="1134744"/>
                </a:lnTo>
                <a:lnTo>
                  <a:pt x="4286532" y="1136499"/>
                </a:lnTo>
                <a:lnTo>
                  <a:pt x="4292700" y="1142259"/>
                </a:lnTo>
                <a:lnTo>
                  <a:pt x="4298868" y="1152751"/>
                </a:lnTo>
                <a:lnTo>
                  <a:pt x="4305035" y="1166500"/>
                </a:lnTo>
                <a:lnTo>
                  <a:pt x="4311203" y="1173619"/>
                </a:lnTo>
                <a:lnTo>
                  <a:pt x="4317371" y="1040339"/>
                </a:lnTo>
                <a:lnTo>
                  <a:pt x="4323538" y="1033091"/>
                </a:lnTo>
                <a:lnTo>
                  <a:pt x="4329706" y="1032243"/>
                </a:lnTo>
                <a:lnTo>
                  <a:pt x="4335874" y="1028147"/>
                </a:lnTo>
                <a:lnTo>
                  <a:pt x="4342041" y="1034925"/>
                </a:lnTo>
                <a:lnTo>
                  <a:pt x="4348209" y="1034905"/>
                </a:lnTo>
                <a:lnTo>
                  <a:pt x="4354377" y="1042024"/>
                </a:lnTo>
                <a:lnTo>
                  <a:pt x="4360544" y="1059983"/>
                </a:lnTo>
                <a:lnTo>
                  <a:pt x="4366712" y="1043793"/>
                </a:lnTo>
                <a:lnTo>
                  <a:pt x="4372880" y="1046510"/>
                </a:lnTo>
                <a:lnTo>
                  <a:pt x="4379048" y="1047200"/>
                </a:lnTo>
                <a:lnTo>
                  <a:pt x="4385215" y="1042696"/>
                </a:lnTo>
                <a:lnTo>
                  <a:pt x="4391383" y="1041221"/>
                </a:lnTo>
                <a:lnTo>
                  <a:pt x="4397551" y="1041245"/>
                </a:lnTo>
                <a:lnTo>
                  <a:pt x="4403718" y="1043891"/>
                </a:lnTo>
                <a:lnTo>
                  <a:pt x="4409886" y="1045248"/>
                </a:lnTo>
                <a:lnTo>
                  <a:pt x="4416054" y="1055885"/>
                </a:lnTo>
                <a:lnTo>
                  <a:pt x="4422221" y="1084116"/>
                </a:lnTo>
                <a:lnTo>
                  <a:pt x="4428389" y="1095952"/>
                </a:lnTo>
                <a:lnTo>
                  <a:pt x="4434557" y="1041935"/>
                </a:lnTo>
                <a:lnTo>
                  <a:pt x="4440724" y="1036112"/>
                </a:lnTo>
                <a:lnTo>
                  <a:pt x="4446892" y="1034239"/>
                </a:lnTo>
                <a:lnTo>
                  <a:pt x="4453060" y="1012791"/>
                </a:lnTo>
                <a:lnTo>
                  <a:pt x="4459227" y="1008352"/>
                </a:lnTo>
                <a:lnTo>
                  <a:pt x="4465395" y="1014090"/>
                </a:lnTo>
                <a:lnTo>
                  <a:pt x="4471563" y="1015330"/>
                </a:lnTo>
                <a:lnTo>
                  <a:pt x="4477730" y="1021625"/>
                </a:lnTo>
                <a:lnTo>
                  <a:pt x="4483898" y="1019877"/>
                </a:lnTo>
                <a:lnTo>
                  <a:pt x="4490066" y="1017082"/>
                </a:lnTo>
                <a:lnTo>
                  <a:pt x="4496233" y="1016793"/>
                </a:lnTo>
                <a:lnTo>
                  <a:pt x="4502401" y="1019909"/>
                </a:lnTo>
                <a:lnTo>
                  <a:pt x="4508569" y="1039815"/>
                </a:lnTo>
                <a:lnTo>
                  <a:pt x="4514736" y="1050871"/>
                </a:lnTo>
                <a:lnTo>
                  <a:pt x="4520904" y="1067437"/>
                </a:lnTo>
                <a:lnTo>
                  <a:pt x="4527072" y="1078020"/>
                </a:lnTo>
                <a:lnTo>
                  <a:pt x="4533239" y="1069269"/>
                </a:lnTo>
                <a:lnTo>
                  <a:pt x="4539407" y="1067903"/>
                </a:lnTo>
                <a:lnTo>
                  <a:pt x="4545575" y="1068253"/>
                </a:lnTo>
                <a:lnTo>
                  <a:pt x="4551742" y="1073392"/>
                </a:lnTo>
                <a:lnTo>
                  <a:pt x="4557910" y="1070713"/>
                </a:lnTo>
                <a:lnTo>
                  <a:pt x="4564078" y="1072412"/>
                </a:lnTo>
                <a:lnTo>
                  <a:pt x="4570245" y="1074802"/>
                </a:lnTo>
                <a:lnTo>
                  <a:pt x="4576413" y="1078308"/>
                </a:lnTo>
                <a:lnTo>
                  <a:pt x="4582581" y="1078152"/>
                </a:lnTo>
                <a:lnTo>
                  <a:pt x="4588748" y="1080690"/>
                </a:lnTo>
                <a:lnTo>
                  <a:pt x="4594916" y="1306968"/>
                </a:lnTo>
                <a:lnTo>
                  <a:pt x="4601084" y="1355548"/>
                </a:lnTo>
                <a:lnTo>
                  <a:pt x="4607251" y="1328165"/>
                </a:lnTo>
                <a:lnTo>
                  <a:pt x="4613419" y="1149820"/>
                </a:lnTo>
                <a:lnTo>
                  <a:pt x="4619587" y="1109956"/>
                </a:lnTo>
                <a:lnTo>
                  <a:pt x="4625754" y="1097414"/>
                </a:lnTo>
                <a:lnTo>
                  <a:pt x="4631922" y="1077023"/>
                </a:lnTo>
                <a:lnTo>
                  <a:pt x="4638090" y="1067201"/>
                </a:lnTo>
                <a:lnTo>
                  <a:pt x="4644257" y="1057439"/>
                </a:lnTo>
                <a:lnTo>
                  <a:pt x="4650425" y="1047885"/>
                </a:lnTo>
                <a:lnTo>
                  <a:pt x="4656593" y="1043106"/>
                </a:lnTo>
                <a:lnTo>
                  <a:pt x="4662760" y="1041880"/>
                </a:lnTo>
                <a:lnTo>
                  <a:pt x="4668928" y="1041876"/>
                </a:lnTo>
                <a:lnTo>
                  <a:pt x="4675096" y="1039899"/>
                </a:lnTo>
                <a:lnTo>
                  <a:pt x="4681264" y="1026259"/>
                </a:lnTo>
                <a:lnTo>
                  <a:pt x="4687431" y="1028321"/>
                </a:lnTo>
                <a:lnTo>
                  <a:pt x="4693599" y="1034814"/>
                </a:lnTo>
                <a:lnTo>
                  <a:pt x="4699767" y="1032234"/>
                </a:lnTo>
                <a:lnTo>
                  <a:pt x="4705934" y="1031584"/>
                </a:lnTo>
                <a:lnTo>
                  <a:pt x="4712102" y="1027162"/>
                </a:lnTo>
                <a:lnTo>
                  <a:pt x="4718270" y="1024962"/>
                </a:lnTo>
                <a:lnTo>
                  <a:pt x="4724437" y="1022315"/>
                </a:lnTo>
                <a:lnTo>
                  <a:pt x="4730605" y="1012010"/>
                </a:lnTo>
                <a:lnTo>
                  <a:pt x="4736773" y="1010360"/>
                </a:lnTo>
                <a:lnTo>
                  <a:pt x="4742940" y="1044858"/>
                </a:lnTo>
                <a:lnTo>
                  <a:pt x="4749108" y="1053211"/>
                </a:lnTo>
                <a:lnTo>
                  <a:pt x="4755276" y="1005197"/>
                </a:lnTo>
                <a:lnTo>
                  <a:pt x="4761443" y="1010865"/>
                </a:lnTo>
                <a:lnTo>
                  <a:pt x="4767611" y="1011240"/>
                </a:lnTo>
                <a:lnTo>
                  <a:pt x="4773779" y="1010617"/>
                </a:lnTo>
                <a:lnTo>
                  <a:pt x="4779946" y="1007894"/>
                </a:lnTo>
                <a:lnTo>
                  <a:pt x="4786114" y="1008439"/>
                </a:lnTo>
                <a:lnTo>
                  <a:pt x="4792282" y="1008562"/>
                </a:lnTo>
                <a:lnTo>
                  <a:pt x="4798449" y="1013775"/>
                </a:lnTo>
                <a:lnTo>
                  <a:pt x="4804617" y="1008200"/>
                </a:lnTo>
                <a:lnTo>
                  <a:pt x="4810785" y="1010029"/>
                </a:lnTo>
                <a:lnTo>
                  <a:pt x="4816952" y="1010096"/>
                </a:lnTo>
                <a:lnTo>
                  <a:pt x="4823120" y="1014399"/>
                </a:lnTo>
                <a:lnTo>
                  <a:pt x="4829288" y="1015973"/>
                </a:lnTo>
                <a:lnTo>
                  <a:pt x="4835455" y="1017503"/>
                </a:lnTo>
                <a:lnTo>
                  <a:pt x="4841623" y="1020213"/>
                </a:lnTo>
                <a:lnTo>
                  <a:pt x="4847791" y="1023182"/>
                </a:lnTo>
                <a:lnTo>
                  <a:pt x="4853958" y="1023370"/>
                </a:lnTo>
                <a:lnTo>
                  <a:pt x="4860126" y="1025504"/>
                </a:lnTo>
                <a:lnTo>
                  <a:pt x="4866294" y="1027583"/>
                </a:lnTo>
                <a:lnTo>
                  <a:pt x="4872461" y="1027032"/>
                </a:lnTo>
                <a:lnTo>
                  <a:pt x="4878629" y="1028201"/>
                </a:lnTo>
                <a:lnTo>
                  <a:pt x="4884797" y="1030052"/>
                </a:lnTo>
                <a:lnTo>
                  <a:pt x="4890964" y="1032716"/>
                </a:lnTo>
                <a:lnTo>
                  <a:pt x="4897132" y="1033105"/>
                </a:lnTo>
                <a:lnTo>
                  <a:pt x="4903300" y="1030305"/>
                </a:lnTo>
                <a:lnTo>
                  <a:pt x="4909467" y="1033530"/>
                </a:lnTo>
                <a:lnTo>
                  <a:pt x="4915635" y="1038469"/>
                </a:lnTo>
                <a:lnTo>
                  <a:pt x="4921803" y="1060596"/>
                </a:lnTo>
                <a:lnTo>
                  <a:pt x="4927970" y="1066537"/>
                </a:lnTo>
                <a:lnTo>
                  <a:pt x="4934138" y="1066588"/>
                </a:lnTo>
                <a:lnTo>
                  <a:pt x="4940306" y="1068893"/>
                </a:lnTo>
                <a:lnTo>
                  <a:pt x="4946473" y="1070873"/>
                </a:lnTo>
                <a:lnTo>
                  <a:pt x="4952641" y="1074905"/>
                </a:lnTo>
                <a:lnTo>
                  <a:pt x="4958809" y="1098995"/>
                </a:lnTo>
                <a:lnTo>
                  <a:pt x="4964976" y="1099828"/>
                </a:lnTo>
                <a:lnTo>
                  <a:pt x="4971144" y="1101678"/>
                </a:lnTo>
                <a:lnTo>
                  <a:pt x="4977312" y="1110211"/>
                </a:lnTo>
                <a:lnTo>
                  <a:pt x="4983480" y="1405027"/>
                </a:lnTo>
                <a:lnTo>
                  <a:pt x="4989647" y="1400462"/>
                </a:lnTo>
                <a:lnTo>
                  <a:pt x="4995815" y="1411087"/>
                </a:lnTo>
                <a:lnTo>
                  <a:pt x="5001983" y="1392863"/>
                </a:lnTo>
                <a:lnTo>
                  <a:pt x="5008150" y="1527659"/>
                </a:lnTo>
                <a:lnTo>
                  <a:pt x="5014318" y="1520840"/>
                </a:lnTo>
                <a:lnTo>
                  <a:pt x="5020486" y="1496460"/>
                </a:lnTo>
                <a:lnTo>
                  <a:pt x="5026653" y="1522121"/>
                </a:lnTo>
                <a:lnTo>
                  <a:pt x="5032821" y="1536183"/>
                </a:lnTo>
                <a:lnTo>
                  <a:pt x="5038989" y="1548403"/>
                </a:lnTo>
                <a:lnTo>
                  <a:pt x="5045156" y="1554170"/>
                </a:lnTo>
                <a:lnTo>
                  <a:pt x="5051324" y="1549783"/>
                </a:lnTo>
                <a:lnTo>
                  <a:pt x="5057492" y="1549855"/>
                </a:lnTo>
                <a:lnTo>
                  <a:pt x="5063659" y="1548730"/>
                </a:lnTo>
                <a:lnTo>
                  <a:pt x="5069827" y="1573332"/>
                </a:lnTo>
                <a:lnTo>
                  <a:pt x="5075995" y="1547685"/>
                </a:lnTo>
                <a:lnTo>
                  <a:pt x="5082162" y="1549110"/>
                </a:lnTo>
                <a:lnTo>
                  <a:pt x="5088330" y="1539066"/>
                </a:lnTo>
                <a:lnTo>
                  <a:pt x="5094498" y="1580960"/>
                </a:lnTo>
                <a:lnTo>
                  <a:pt x="5100665" y="1607592"/>
                </a:lnTo>
                <a:lnTo>
                  <a:pt x="5106833" y="1594421"/>
                </a:lnTo>
                <a:lnTo>
                  <a:pt x="5113001" y="1593188"/>
                </a:lnTo>
                <a:lnTo>
                  <a:pt x="5119168" y="1612442"/>
                </a:lnTo>
                <a:lnTo>
                  <a:pt x="5125336" y="1574322"/>
                </a:lnTo>
                <a:lnTo>
                  <a:pt x="5131504" y="1584964"/>
                </a:lnTo>
                <a:lnTo>
                  <a:pt x="5137671" y="1542953"/>
                </a:lnTo>
                <a:lnTo>
                  <a:pt x="5143839" y="1567671"/>
                </a:lnTo>
                <a:lnTo>
                  <a:pt x="5150007" y="1562928"/>
                </a:lnTo>
                <a:lnTo>
                  <a:pt x="5156174" y="1582135"/>
                </a:lnTo>
                <a:lnTo>
                  <a:pt x="5162342" y="1596830"/>
                </a:lnTo>
                <a:lnTo>
                  <a:pt x="5168510" y="1598530"/>
                </a:lnTo>
                <a:lnTo>
                  <a:pt x="5174677" y="1573532"/>
                </a:lnTo>
                <a:lnTo>
                  <a:pt x="5180845" y="1579838"/>
                </a:lnTo>
                <a:lnTo>
                  <a:pt x="5187013" y="1576153"/>
                </a:lnTo>
                <a:lnTo>
                  <a:pt x="5193180" y="1612699"/>
                </a:lnTo>
                <a:lnTo>
                  <a:pt x="5199348" y="1572490"/>
                </a:lnTo>
                <a:lnTo>
                  <a:pt x="5205516" y="1566704"/>
                </a:lnTo>
                <a:lnTo>
                  <a:pt x="5211683" y="1573423"/>
                </a:lnTo>
                <a:lnTo>
                  <a:pt x="5217851" y="1634230"/>
                </a:lnTo>
                <a:lnTo>
                  <a:pt x="5224019" y="1597397"/>
                </a:lnTo>
                <a:lnTo>
                  <a:pt x="5230186" y="1580069"/>
                </a:lnTo>
                <a:lnTo>
                  <a:pt x="5236354" y="1574030"/>
                </a:lnTo>
                <a:lnTo>
                  <a:pt x="5242522" y="15451"/>
                </a:lnTo>
                <a:lnTo>
                  <a:pt x="5248689" y="14693"/>
                </a:lnTo>
                <a:lnTo>
                  <a:pt x="5254857" y="13505"/>
                </a:lnTo>
                <a:lnTo>
                  <a:pt x="5261025" y="12641"/>
                </a:lnTo>
                <a:lnTo>
                  <a:pt x="5267192" y="14607"/>
                </a:lnTo>
                <a:lnTo>
                  <a:pt x="5273360" y="14115"/>
                </a:lnTo>
                <a:lnTo>
                  <a:pt x="5279528" y="14552"/>
                </a:lnTo>
                <a:lnTo>
                  <a:pt x="5285695" y="15185"/>
                </a:lnTo>
                <a:lnTo>
                  <a:pt x="5291863" y="13819"/>
                </a:lnTo>
                <a:lnTo>
                  <a:pt x="5298031" y="14267"/>
                </a:lnTo>
                <a:lnTo>
                  <a:pt x="5304199" y="14671"/>
                </a:lnTo>
                <a:lnTo>
                  <a:pt x="5310366" y="13989"/>
                </a:lnTo>
                <a:lnTo>
                  <a:pt x="5316534" y="14958"/>
                </a:lnTo>
                <a:lnTo>
                  <a:pt x="5322702" y="16884"/>
                </a:lnTo>
                <a:lnTo>
                  <a:pt x="5328869" y="16242"/>
                </a:lnTo>
                <a:lnTo>
                  <a:pt x="5335037" y="14489"/>
                </a:lnTo>
                <a:lnTo>
                  <a:pt x="5341205" y="14084"/>
                </a:lnTo>
                <a:lnTo>
                  <a:pt x="5347372" y="14884"/>
                </a:lnTo>
                <a:lnTo>
                  <a:pt x="5353540" y="24250"/>
                </a:lnTo>
                <a:lnTo>
                  <a:pt x="5359708" y="17839"/>
                </a:lnTo>
                <a:lnTo>
                  <a:pt x="5365875" y="14178"/>
                </a:lnTo>
                <a:lnTo>
                  <a:pt x="5372043" y="11946"/>
                </a:lnTo>
                <a:lnTo>
                  <a:pt x="5378211" y="13321"/>
                </a:lnTo>
                <a:lnTo>
                  <a:pt x="5384378" y="14506"/>
                </a:lnTo>
                <a:lnTo>
                  <a:pt x="5390546" y="13355"/>
                </a:lnTo>
                <a:lnTo>
                  <a:pt x="5396714" y="14129"/>
                </a:lnTo>
                <a:lnTo>
                  <a:pt x="5402881" y="13528"/>
                </a:lnTo>
                <a:lnTo>
                  <a:pt x="5409049" y="15968"/>
                </a:lnTo>
                <a:lnTo>
                  <a:pt x="5415217" y="12145"/>
                </a:lnTo>
                <a:lnTo>
                  <a:pt x="5421384" y="12423"/>
                </a:lnTo>
                <a:lnTo>
                  <a:pt x="5427552" y="13209"/>
                </a:lnTo>
                <a:lnTo>
                  <a:pt x="5433720" y="14910"/>
                </a:lnTo>
                <a:lnTo>
                  <a:pt x="5439887" y="16223"/>
                </a:lnTo>
                <a:lnTo>
                  <a:pt x="5446055" y="16362"/>
                </a:lnTo>
                <a:lnTo>
                  <a:pt x="5452223" y="15748"/>
                </a:lnTo>
                <a:lnTo>
                  <a:pt x="5458390" y="16776"/>
                </a:lnTo>
                <a:lnTo>
                  <a:pt x="5464558" y="17582"/>
                </a:lnTo>
                <a:lnTo>
                  <a:pt x="5470726" y="16882"/>
                </a:lnTo>
                <a:lnTo>
                  <a:pt x="5476893" y="18501"/>
                </a:lnTo>
                <a:lnTo>
                  <a:pt x="5483061" y="18251"/>
                </a:lnTo>
                <a:lnTo>
                  <a:pt x="5489229" y="17958"/>
                </a:lnTo>
                <a:lnTo>
                  <a:pt x="5495396" y="16928"/>
                </a:lnTo>
                <a:lnTo>
                  <a:pt x="5501564" y="17116"/>
                </a:lnTo>
                <a:lnTo>
                  <a:pt x="5507732" y="17381"/>
                </a:lnTo>
                <a:lnTo>
                  <a:pt x="5513899" y="18430"/>
                </a:lnTo>
                <a:lnTo>
                  <a:pt x="5520067" y="18043"/>
                </a:lnTo>
                <a:lnTo>
                  <a:pt x="5526235" y="16533"/>
                </a:lnTo>
                <a:lnTo>
                  <a:pt x="5532402" y="16176"/>
                </a:lnTo>
                <a:lnTo>
                  <a:pt x="5538570" y="13449"/>
                </a:lnTo>
                <a:lnTo>
                  <a:pt x="5544738" y="12381"/>
                </a:lnTo>
                <a:lnTo>
                  <a:pt x="5550905" y="14210"/>
                </a:lnTo>
                <a:lnTo>
                  <a:pt x="5557073" y="12007"/>
                </a:lnTo>
                <a:lnTo>
                  <a:pt x="5563241" y="8754"/>
                </a:lnTo>
                <a:lnTo>
                  <a:pt x="5569408" y="13392"/>
                </a:lnTo>
                <a:lnTo>
                  <a:pt x="5575576" y="8960"/>
                </a:lnTo>
                <a:lnTo>
                  <a:pt x="5581744" y="12470"/>
                </a:lnTo>
                <a:lnTo>
                  <a:pt x="5587911" y="9745"/>
                </a:lnTo>
                <a:lnTo>
                  <a:pt x="5594079" y="8972"/>
                </a:lnTo>
                <a:lnTo>
                  <a:pt x="5600247" y="9493"/>
                </a:lnTo>
                <a:lnTo>
                  <a:pt x="5606415" y="10216"/>
                </a:lnTo>
                <a:lnTo>
                  <a:pt x="5612582" y="18050"/>
                </a:lnTo>
                <a:lnTo>
                  <a:pt x="5618750" y="14687"/>
                </a:lnTo>
                <a:lnTo>
                  <a:pt x="5624918" y="18306"/>
                </a:lnTo>
                <a:lnTo>
                  <a:pt x="5631085" y="17199"/>
                </a:lnTo>
                <a:lnTo>
                  <a:pt x="5637253" y="56598"/>
                </a:lnTo>
                <a:lnTo>
                  <a:pt x="5643421" y="499404"/>
                </a:lnTo>
                <a:lnTo>
                  <a:pt x="5649588" y="1680603"/>
                </a:lnTo>
                <a:lnTo>
                  <a:pt x="5655756" y="1659246"/>
                </a:lnTo>
                <a:lnTo>
                  <a:pt x="5661924" y="1659266"/>
                </a:lnTo>
                <a:lnTo>
                  <a:pt x="5668091" y="1620153"/>
                </a:lnTo>
                <a:lnTo>
                  <a:pt x="5674259" y="1634338"/>
                </a:lnTo>
                <a:lnTo>
                  <a:pt x="5680427" y="1549213"/>
                </a:lnTo>
                <a:lnTo>
                  <a:pt x="5686594" y="16992"/>
                </a:lnTo>
                <a:lnTo>
                  <a:pt x="5692762" y="18252"/>
                </a:lnTo>
                <a:lnTo>
                  <a:pt x="5698930" y="17362"/>
                </a:lnTo>
                <a:lnTo>
                  <a:pt x="5705097" y="17012"/>
                </a:lnTo>
                <a:lnTo>
                  <a:pt x="5711265" y="12082"/>
                </a:lnTo>
                <a:lnTo>
                  <a:pt x="5717433" y="13395"/>
                </a:lnTo>
                <a:lnTo>
                  <a:pt x="5723600" y="11573"/>
                </a:lnTo>
                <a:lnTo>
                  <a:pt x="5729768" y="9650"/>
                </a:lnTo>
                <a:lnTo>
                  <a:pt x="5735936" y="9418"/>
                </a:lnTo>
                <a:lnTo>
                  <a:pt x="5742103" y="9712"/>
                </a:lnTo>
                <a:lnTo>
                  <a:pt x="5748271" y="7766"/>
                </a:lnTo>
                <a:lnTo>
                  <a:pt x="5754439" y="8444"/>
                </a:lnTo>
                <a:lnTo>
                  <a:pt x="5760606" y="9782"/>
                </a:lnTo>
                <a:lnTo>
                  <a:pt x="5766774" y="9899"/>
                </a:lnTo>
                <a:lnTo>
                  <a:pt x="5772942" y="10596"/>
                </a:lnTo>
                <a:lnTo>
                  <a:pt x="5779109" y="14558"/>
                </a:lnTo>
                <a:lnTo>
                  <a:pt x="5785277" y="14911"/>
                </a:lnTo>
                <a:lnTo>
                  <a:pt x="5791445" y="15532"/>
                </a:lnTo>
                <a:lnTo>
                  <a:pt x="5797612" y="12642"/>
                </a:lnTo>
                <a:lnTo>
                  <a:pt x="5803780" y="9653"/>
                </a:lnTo>
                <a:lnTo>
                  <a:pt x="5809948" y="16840"/>
                </a:lnTo>
                <a:lnTo>
                  <a:pt x="5816115" y="16275"/>
                </a:lnTo>
                <a:lnTo>
                  <a:pt x="5822283" y="15451"/>
                </a:lnTo>
                <a:lnTo>
                  <a:pt x="5828451" y="15842"/>
                </a:lnTo>
                <a:lnTo>
                  <a:pt x="5834618" y="19911"/>
                </a:lnTo>
                <a:lnTo>
                  <a:pt x="5840786" y="21492"/>
                </a:lnTo>
                <a:lnTo>
                  <a:pt x="5846954" y="15445"/>
                </a:lnTo>
                <a:lnTo>
                  <a:pt x="5853121" y="13957"/>
                </a:lnTo>
                <a:lnTo>
                  <a:pt x="5859289" y="14512"/>
                </a:lnTo>
                <a:lnTo>
                  <a:pt x="5865457" y="16956"/>
                </a:lnTo>
                <a:lnTo>
                  <a:pt x="5871624" y="15020"/>
                </a:lnTo>
                <a:lnTo>
                  <a:pt x="5877792" y="14372"/>
                </a:lnTo>
                <a:lnTo>
                  <a:pt x="5883960" y="13966"/>
                </a:lnTo>
                <a:lnTo>
                  <a:pt x="5890127" y="13820"/>
                </a:lnTo>
                <a:lnTo>
                  <a:pt x="5896295" y="15023"/>
                </a:lnTo>
                <a:lnTo>
                  <a:pt x="5902463" y="14778"/>
                </a:lnTo>
                <a:lnTo>
                  <a:pt x="5908630" y="14117"/>
                </a:lnTo>
                <a:lnTo>
                  <a:pt x="5914798" y="10316"/>
                </a:lnTo>
                <a:lnTo>
                  <a:pt x="5920966" y="11443"/>
                </a:lnTo>
                <a:lnTo>
                  <a:pt x="5927134" y="12336"/>
                </a:lnTo>
                <a:lnTo>
                  <a:pt x="5933301" y="12279"/>
                </a:lnTo>
                <a:lnTo>
                  <a:pt x="5939469" y="9975"/>
                </a:lnTo>
                <a:lnTo>
                  <a:pt x="5945637" y="12940"/>
                </a:lnTo>
                <a:lnTo>
                  <a:pt x="5951804" y="10645"/>
                </a:lnTo>
                <a:lnTo>
                  <a:pt x="5957972" y="10147"/>
                </a:lnTo>
                <a:lnTo>
                  <a:pt x="5964140" y="14577"/>
                </a:lnTo>
                <a:lnTo>
                  <a:pt x="5970307" y="14300"/>
                </a:lnTo>
                <a:lnTo>
                  <a:pt x="5976475" y="14660"/>
                </a:lnTo>
                <a:lnTo>
                  <a:pt x="5982643" y="9692"/>
                </a:lnTo>
                <a:lnTo>
                  <a:pt x="5988810" y="10664"/>
                </a:lnTo>
                <a:lnTo>
                  <a:pt x="5994978" y="11126"/>
                </a:lnTo>
                <a:lnTo>
                  <a:pt x="6001146" y="9315"/>
                </a:lnTo>
                <a:lnTo>
                  <a:pt x="6007313" y="15728"/>
                </a:lnTo>
                <a:lnTo>
                  <a:pt x="6013481" y="16121"/>
                </a:lnTo>
                <a:lnTo>
                  <a:pt x="6019649" y="16178"/>
                </a:lnTo>
                <a:lnTo>
                  <a:pt x="6025816" y="17561"/>
                </a:lnTo>
                <a:lnTo>
                  <a:pt x="6031984" y="14556"/>
                </a:lnTo>
                <a:lnTo>
                  <a:pt x="6038152" y="14918"/>
                </a:lnTo>
                <a:lnTo>
                  <a:pt x="6044319" y="15435"/>
                </a:lnTo>
                <a:lnTo>
                  <a:pt x="6050487" y="15594"/>
                </a:lnTo>
                <a:lnTo>
                  <a:pt x="6056655" y="16829"/>
                </a:lnTo>
                <a:lnTo>
                  <a:pt x="6062822" y="18606"/>
                </a:lnTo>
                <a:lnTo>
                  <a:pt x="6068990" y="25717"/>
                </a:lnTo>
                <a:lnTo>
                  <a:pt x="6075158" y="25866"/>
                </a:lnTo>
                <a:lnTo>
                  <a:pt x="6081325" y="25610"/>
                </a:lnTo>
                <a:lnTo>
                  <a:pt x="6087493" y="26640"/>
                </a:lnTo>
                <a:lnTo>
                  <a:pt x="6093661" y="26552"/>
                </a:lnTo>
                <a:lnTo>
                  <a:pt x="6099828" y="26758"/>
                </a:lnTo>
                <a:lnTo>
                  <a:pt x="6105996" y="590905"/>
                </a:lnTo>
                <a:lnTo>
                  <a:pt x="6112164" y="1231482"/>
                </a:lnTo>
                <a:lnTo>
                  <a:pt x="6118331" y="1226843"/>
                </a:lnTo>
                <a:lnTo>
                  <a:pt x="6124499" y="1227919"/>
                </a:lnTo>
                <a:lnTo>
                  <a:pt x="6130667" y="1246983"/>
                </a:lnTo>
                <a:lnTo>
                  <a:pt x="6136834" y="1231576"/>
                </a:lnTo>
                <a:lnTo>
                  <a:pt x="6143002" y="1230423"/>
                </a:lnTo>
                <a:lnTo>
                  <a:pt x="6149170" y="1229232"/>
                </a:lnTo>
                <a:lnTo>
                  <a:pt x="6155337" y="1469398"/>
                </a:lnTo>
                <a:lnTo>
                  <a:pt x="6161505" y="1537718"/>
                </a:lnTo>
                <a:lnTo>
                  <a:pt x="6167673" y="1547094"/>
                </a:lnTo>
                <a:lnTo>
                  <a:pt x="6173840" y="1553485"/>
                </a:lnTo>
                <a:lnTo>
                  <a:pt x="6180008" y="1557695"/>
                </a:lnTo>
                <a:lnTo>
                  <a:pt x="6186176" y="1549243"/>
                </a:lnTo>
                <a:lnTo>
                  <a:pt x="6192343" y="1555408"/>
                </a:lnTo>
                <a:lnTo>
                  <a:pt x="6198511" y="1553323"/>
                </a:lnTo>
                <a:lnTo>
                  <a:pt x="6204679" y="1548817"/>
                </a:lnTo>
                <a:lnTo>
                  <a:pt x="6210846" y="1550592"/>
                </a:lnTo>
                <a:lnTo>
                  <a:pt x="6217014" y="1552754"/>
                </a:lnTo>
                <a:lnTo>
                  <a:pt x="6223182" y="1550681"/>
                </a:lnTo>
                <a:lnTo>
                  <a:pt x="6229350" y="1548066"/>
                </a:lnTo>
                <a:lnTo>
                  <a:pt x="6235517" y="1551566"/>
                </a:lnTo>
                <a:lnTo>
                  <a:pt x="6241685" y="1552972"/>
                </a:lnTo>
                <a:lnTo>
                  <a:pt x="6247853" y="1554816"/>
                </a:lnTo>
                <a:lnTo>
                  <a:pt x="6254020" y="1558569"/>
                </a:lnTo>
                <a:lnTo>
                  <a:pt x="6260188" y="1578805"/>
                </a:lnTo>
                <a:lnTo>
                  <a:pt x="6266356" y="1581779"/>
                </a:lnTo>
                <a:lnTo>
                  <a:pt x="6272523" y="1578050"/>
                </a:lnTo>
                <a:lnTo>
                  <a:pt x="6278691" y="1581453"/>
                </a:lnTo>
                <a:lnTo>
                  <a:pt x="6284859" y="1583380"/>
                </a:lnTo>
                <a:lnTo>
                  <a:pt x="6291026" y="1580693"/>
                </a:lnTo>
                <a:lnTo>
                  <a:pt x="6297194" y="1547914"/>
                </a:lnTo>
                <a:lnTo>
                  <a:pt x="6303362" y="1300697"/>
                </a:lnTo>
                <a:lnTo>
                  <a:pt x="6309529" y="1290528"/>
                </a:lnTo>
                <a:lnTo>
                  <a:pt x="6315697" y="1291721"/>
                </a:lnTo>
                <a:lnTo>
                  <a:pt x="6321865" y="1285527"/>
                </a:lnTo>
                <a:lnTo>
                  <a:pt x="6328032" y="1288978"/>
                </a:lnTo>
                <a:lnTo>
                  <a:pt x="6334200" y="1289897"/>
                </a:lnTo>
                <a:lnTo>
                  <a:pt x="6340368" y="1290644"/>
                </a:lnTo>
                <a:lnTo>
                  <a:pt x="6346535" y="1290658"/>
                </a:lnTo>
                <a:lnTo>
                  <a:pt x="6352703" y="1291125"/>
                </a:lnTo>
                <a:lnTo>
                  <a:pt x="6358871" y="1276590"/>
                </a:lnTo>
                <a:lnTo>
                  <a:pt x="6365038" y="1272532"/>
                </a:lnTo>
                <a:lnTo>
                  <a:pt x="6371206" y="1266548"/>
                </a:lnTo>
                <a:lnTo>
                  <a:pt x="6377374" y="1275712"/>
                </a:lnTo>
                <a:lnTo>
                  <a:pt x="6383541" y="1284598"/>
                </a:lnTo>
                <a:lnTo>
                  <a:pt x="6389709" y="1286101"/>
                </a:lnTo>
                <a:lnTo>
                  <a:pt x="6395877" y="1287575"/>
                </a:lnTo>
                <a:lnTo>
                  <a:pt x="6402044" y="1292032"/>
                </a:lnTo>
                <a:lnTo>
                  <a:pt x="6408212" y="1228991"/>
                </a:lnTo>
                <a:lnTo>
                  <a:pt x="6414380" y="1197373"/>
                </a:lnTo>
                <a:lnTo>
                  <a:pt x="6420547" y="1189579"/>
                </a:lnTo>
                <a:lnTo>
                  <a:pt x="6426715" y="1198522"/>
                </a:lnTo>
                <a:lnTo>
                  <a:pt x="6432883" y="1186719"/>
                </a:lnTo>
                <a:lnTo>
                  <a:pt x="6439050" y="1184093"/>
                </a:lnTo>
                <a:lnTo>
                  <a:pt x="6445218" y="1186058"/>
                </a:lnTo>
                <a:lnTo>
                  <a:pt x="6451386" y="1197764"/>
                </a:lnTo>
                <a:lnTo>
                  <a:pt x="6457553" y="1187239"/>
                </a:lnTo>
                <a:lnTo>
                  <a:pt x="6463721" y="1185668"/>
                </a:lnTo>
                <a:lnTo>
                  <a:pt x="6469889" y="1185793"/>
                </a:lnTo>
                <a:lnTo>
                  <a:pt x="6476056" y="1198664"/>
                </a:lnTo>
                <a:lnTo>
                  <a:pt x="6482224" y="1187917"/>
                </a:lnTo>
                <a:lnTo>
                  <a:pt x="6488392" y="1185417"/>
                </a:lnTo>
                <a:lnTo>
                  <a:pt x="6494559" y="1184980"/>
                </a:lnTo>
                <a:lnTo>
                  <a:pt x="6500727" y="1200788"/>
                </a:lnTo>
                <a:lnTo>
                  <a:pt x="6506895" y="1188213"/>
                </a:lnTo>
                <a:lnTo>
                  <a:pt x="6513062" y="1185970"/>
                </a:lnTo>
                <a:lnTo>
                  <a:pt x="6519230" y="1185416"/>
                </a:lnTo>
                <a:lnTo>
                  <a:pt x="6525398" y="1201629"/>
                </a:lnTo>
                <a:lnTo>
                  <a:pt x="6531565" y="1191109"/>
                </a:lnTo>
                <a:lnTo>
                  <a:pt x="6537733" y="1188091"/>
                </a:lnTo>
                <a:lnTo>
                  <a:pt x="6543901" y="1188334"/>
                </a:lnTo>
                <a:lnTo>
                  <a:pt x="6550069" y="1191570"/>
                </a:lnTo>
                <a:lnTo>
                  <a:pt x="6556236" y="1189516"/>
                </a:lnTo>
                <a:lnTo>
                  <a:pt x="6562404" y="1187391"/>
                </a:lnTo>
                <a:lnTo>
                  <a:pt x="6568572" y="1187452"/>
                </a:lnTo>
                <a:lnTo>
                  <a:pt x="6574739" y="1202562"/>
                </a:lnTo>
                <a:lnTo>
                  <a:pt x="6580907" y="1195051"/>
                </a:lnTo>
                <a:lnTo>
                  <a:pt x="6587075" y="1193777"/>
                </a:lnTo>
                <a:lnTo>
                  <a:pt x="6593242" y="1181316"/>
                </a:lnTo>
                <a:lnTo>
                  <a:pt x="6599410" y="1289539"/>
                </a:lnTo>
                <a:lnTo>
                  <a:pt x="6605578" y="1292001"/>
                </a:lnTo>
                <a:lnTo>
                  <a:pt x="6611745" y="1291687"/>
                </a:lnTo>
                <a:lnTo>
                  <a:pt x="6617913" y="1287188"/>
                </a:lnTo>
                <a:lnTo>
                  <a:pt x="6624081" y="1285285"/>
                </a:lnTo>
                <a:lnTo>
                  <a:pt x="6630248" y="1285819"/>
                </a:lnTo>
                <a:lnTo>
                  <a:pt x="6636416" y="1284562"/>
                </a:lnTo>
                <a:lnTo>
                  <a:pt x="6642584" y="1160441"/>
                </a:lnTo>
                <a:lnTo>
                  <a:pt x="6648751" y="1282845"/>
                </a:lnTo>
                <a:lnTo>
                  <a:pt x="6654919" y="661943"/>
                </a:lnTo>
                <a:lnTo>
                  <a:pt x="6661087" y="1181669"/>
                </a:lnTo>
                <a:lnTo>
                  <a:pt x="6667254" y="23925"/>
                </a:lnTo>
                <a:lnTo>
                  <a:pt x="6673422" y="20298"/>
                </a:lnTo>
                <a:lnTo>
                  <a:pt x="6679590" y="16874"/>
                </a:lnTo>
                <a:lnTo>
                  <a:pt x="6685757" y="16504"/>
                </a:lnTo>
                <a:lnTo>
                  <a:pt x="6691925" y="16989"/>
                </a:lnTo>
                <a:lnTo>
                  <a:pt x="6698093" y="16579"/>
                </a:lnTo>
                <a:lnTo>
                  <a:pt x="6704260" y="17559"/>
                </a:lnTo>
                <a:lnTo>
                  <a:pt x="6710428" y="16058"/>
                </a:lnTo>
                <a:lnTo>
                  <a:pt x="6716596" y="21273"/>
                </a:lnTo>
                <a:lnTo>
                  <a:pt x="6722763" y="14766"/>
                </a:lnTo>
                <a:lnTo>
                  <a:pt x="6728931" y="12763"/>
                </a:lnTo>
                <a:lnTo>
                  <a:pt x="6735099" y="14815"/>
                </a:lnTo>
                <a:lnTo>
                  <a:pt x="6741266" y="15801"/>
                </a:lnTo>
                <a:lnTo>
                  <a:pt x="6747434" y="15180"/>
                </a:lnTo>
                <a:lnTo>
                  <a:pt x="6753602" y="13633"/>
                </a:lnTo>
                <a:lnTo>
                  <a:pt x="6759769" y="13899"/>
                </a:lnTo>
                <a:lnTo>
                  <a:pt x="6765937" y="13593"/>
                </a:lnTo>
                <a:lnTo>
                  <a:pt x="6772105" y="12163"/>
                </a:lnTo>
                <a:lnTo>
                  <a:pt x="6778272" y="10298"/>
                </a:lnTo>
                <a:lnTo>
                  <a:pt x="6784440" y="11730"/>
                </a:lnTo>
                <a:lnTo>
                  <a:pt x="6790608" y="12653"/>
                </a:lnTo>
                <a:lnTo>
                  <a:pt x="6796775" y="15394"/>
                </a:lnTo>
                <a:lnTo>
                  <a:pt x="6802943" y="7699"/>
                </a:lnTo>
                <a:lnTo>
                  <a:pt x="6809111" y="13549"/>
                </a:lnTo>
                <a:lnTo>
                  <a:pt x="6815278" y="18386"/>
                </a:lnTo>
                <a:lnTo>
                  <a:pt x="6821446" y="14118"/>
                </a:lnTo>
                <a:lnTo>
                  <a:pt x="6827614" y="14254"/>
                </a:lnTo>
                <a:lnTo>
                  <a:pt x="6833781" y="15759"/>
                </a:lnTo>
                <a:lnTo>
                  <a:pt x="6839949" y="16595"/>
                </a:lnTo>
                <a:lnTo>
                  <a:pt x="6846117" y="13510"/>
                </a:lnTo>
                <a:lnTo>
                  <a:pt x="6852284" y="12409"/>
                </a:lnTo>
                <a:lnTo>
                  <a:pt x="6858452" y="10415"/>
                </a:lnTo>
                <a:lnTo>
                  <a:pt x="6864620" y="11105"/>
                </a:lnTo>
                <a:lnTo>
                  <a:pt x="6870788" y="11889"/>
                </a:lnTo>
                <a:lnTo>
                  <a:pt x="6876955" y="13544"/>
                </a:lnTo>
                <a:lnTo>
                  <a:pt x="6883123" y="13505"/>
                </a:lnTo>
                <a:lnTo>
                  <a:pt x="6889291" y="13407"/>
                </a:lnTo>
                <a:lnTo>
                  <a:pt x="6895458" y="13365"/>
                </a:lnTo>
                <a:lnTo>
                  <a:pt x="6901626" y="10738"/>
                </a:lnTo>
                <a:lnTo>
                  <a:pt x="6907794" y="3353"/>
                </a:lnTo>
                <a:lnTo>
                  <a:pt x="6913961" y="14137"/>
                </a:lnTo>
                <a:lnTo>
                  <a:pt x="6920129" y="12313"/>
                </a:lnTo>
                <a:lnTo>
                  <a:pt x="6926297" y="12397"/>
                </a:lnTo>
                <a:lnTo>
                  <a:pt x="6932464" y="15273"/>
                </a:lnTo>
                <a:lnTo>
                  <a:pt x="6938632" y="15067"/>
                </a:lnTo>
                <a:lnTo>
                  <a:pt x="6944800" y="14740"/>
                </a:lnTo>
                <a:lnTo>
                  <a:pt x="6950967" y="13742"/>
                </a:lnTo>
                <a:lnTo>
                  <a:pt x="6957135" y="14704"/>
                </a:lnTo>
                <a:lnTo>
                  <a:pt x="6963303" y="14784"/>
                </a:lnTo>
                <a:lnTo>
                  <a:pt x="6969470" y="14822"/>
                </a:lnTo>
                <a:lnTo>
                  <a:pt x="6975638" y="15608"/>
                </a:lnTo>
                <a:lnTo>
                  <a:pt x="6981806" y="14208"/>
                </a:lnTo>
                <a:lnTo>
                  <a:pt x="6987973" y="15504"/>
                </a:lnTo>
                <a:lnTo>
                  <a:pt x="6994141" y="14374"/>
                </a:lnTo>
                <a:lnTo>
                  <a:pt x="7000309" y="13957"/>
                </a:lnTo>
                <a:lnTo>
                  <a:pt x="7006476" y="13839"/>
                </a:lnTo>
                <a:lnTo>
                  <a:pt x="7012644" y="10217"/>
                </a:lnTo>
                <a:lnTo>
                  <a:pt x="7018812" y="10961"/>
                </a:lnTo>
                <a:lnTo>
                  <a:pt x="7024979" y="12779"/>
                </a:lnTo>
                <a:lnTo>
                  <a:pt x="7031147" y="12746"/>
                </a:lnTo>
                <a:lnTo>
                  <a:pt x="7037315" y="11507"/>
                </a:lnTo>
                <a:lnTo>
                  <a:pt x="7043482" y="11735"/>
                </a:lnTo>
                <a:lnTo>
                  <a:pt x="7049650" y="11693"/>
                </a:lnTo>
                <a:lnTo>
                  <a:pt x="7055818" y="11403"/>
                </a:lnTo>
                <a:lnTo>
                  <a:pt x="7061985" y="11077"/>
                </a:lnTo>
                <a:lnTo>
                  <a:pt x="7068153" y="13738"/>
                </a:lnTo>
                <a:lnTo>
                  <a:pt x="7074321" y="13379"/>
                </a:lnTo>
                <a:lnTo>
                  <a:pt x="7080488" y="15163"/>
                </a:lnTo>
                <a:lnTo>
                  <a:pt x="7086656" y="12437"/>
                </a:lnTo>
                <a:lnTo>
                  <a:pt x="7092824" y="10980"/>
                </a:lnTo>
                <a:lnTo>
                  <a:pt x="7098991" y="9869"/>
                </a:lnTo>
                <a:lnTo>
                  <a:pt x="7105159" y="11177"/>
                </a:lnTo>
                <a:lnTo>
                  <a:pt x="7111327" y="12644"/>
                </a:lnTo>
                <a:lnTo>
                  <a:pt x="7117494" y="12580"/>
                </a:lnTo>
                <a:lnTo>
                  <a:pt x="7123662" y="12203"/>
                </a:lnTo>
                <a:lnTo>
                  <a:pt x="7129830" y="13778"/>
                </a:lnTo>
                <a:lnTo>
                  <a:pt x="7135997" y="16163"/>
                </a:lnTo>
                <a:lnTo>
                  <a:pt x="7142165" y="12830"/>
                </a:lnTo>
                <a:lnTo>
                  <a:pt x="7148333" y="15213"/>
                </a:lnTo>
                <a:lnTo>
                  <a:pt x="7154500" y="13043"/>
                </a:lnTo>
                <a:lnTo>
                  <a:pt x="7160668" y="14356"/>
                </a:lnTo>
                <a:lnTo>
                  <a:pt x="7166836" y="13065"/>
                </a:lnTo>
                <a:lnTo>
                  <a:pt x="7173004" y="10261"/>
                </a:lnTo>
                <a:lnTo>
                  <a:pt x="7179171" y="20495"/>
                </a:lnTo>
                <a:lnTo>
                  <a:pt x="7185339" y="22889"/>
                </a:lnTo>
                <a:lnTo>
                  <a:pt x="7191507" y="23275"/>
                </a:lnTo>
                <a:lnTo>
                  <a:pt x="7197674" y="20200"/>
                </a:lnTo>
                <a:lnTo>
                  <a:pt x="7203842" y="18871"/>
                </a:lnTo>
                <a:lnTo>
                  <a:pt x="7210010" y="22224"/>
                </a:lnTo>
                <a:lnTo>
                  <a:pt x="7216177" y="23272"/>
                </a:lnTo>
                <a:lnTo>
                  <a:pt x="7222345" y="27002"/>
                </a:lnTo>
                <a:lnTo>
                  <a:pt x="7228513" y="24261"/>
                </a:lnTo>
                <a:lnTo>
                  <a:pt x="7234680" y="23486"/>
                </a:lnTo>
                <a:lnTo>
                  <a:pt x="7240848" y="24858"/>
                </a:lnTo>
                <a:lnTo>
                  <a:pt x="7247016" y="13352"/>
                </a:lnTo>
                <a:lnTo>
                  <a:pt x="7253183" y="12166"/>
                </a:lnTo>
                <a:lnTo>
                  <a:pt x="7259351" y="11958"/>
                </a:lnTo>
                <a:lnTo>
                  <a:pt x="7265519" y="10921"/>
                </a:lnTo>
                <a:lnTo>
                  <a:pt x="7271686" y="11731"/>
                </a:lnTo>
                <a:lnTo>
                  <a:pt x="7277854" y="11638"/>
                </a:lnTo>
                <a:lnTo>
                  <a:pt x="7284022" y="12732"/>
                </a:lnTo>
                <a:lnTo>
                  <a:pt x="7290189" y="12125"/>
                </a:lnTo>
                <a:lnTo>
                  <a:pt x="7296357" y="10158"/>
                </a:lnTo>
                <a:lnTo>
                  <a:pt x="7302525" y="11732"/>
                </a:lnTo>
                <a:lnTo>
                  <a:pt x="7308692" y="11148"/>
                </a:lnTo>
                <a:lnTo>
                  <a:pt x="7314860" y="9510"/>
                </a:lnTo>
                <a:lnTo>
                  <a:pt x="7321028" y="13043"/>
                </a:lnTo>
                <a:lnTo>
                  <a:pt x="7327195" y="12503"/>
                </a:lnTo>
                <a:lnTo>
                  <a:pt x="7333363" y="13236"/>
                </a:lnTo>
                <a:lnTo>
                  <a:pt x="7339531" y="16344"/>
                </a:lnTo>
                <a:lnTo>
                  <a:pt x="7345698" y="17001"/>
                </a:lnTo>
                <a:lnTo>
                  <a:pt x="7351866" y="19245"/>
                </a:lnTo>
                <a:lnTo>
                  <a:pt x="7358034" y="19501"/>
                </a:lnTo>
                <a:lnTo>
                  <a:pt x="7364201" y="18661"/>
                </a:lnTo>
                <a:lnTo>
                  <a:pt x="7370369" y="18527"/>
                </a:lnTo>
                <a:lnTo>
                  <a:pt x="7376537" y="17937"/>
                </a:lnTo>
                <a:lnTo>
                  <a:pt x="7382704" y="18641"/>
                </a:lnTo>
                <a:lnTo>
                  <a:pt x="7388872" y="17097"/>
                </a:lnTo>
                <a:lnTo>
                  <a:pt x="7395040" y="11789"/>
                </a:lnTo>
                <a:lnTo>
                  <a:pt x="7401207" y="11035"/>
                </a:lnTo>
                <a:lnTo>
                  <a:pt x="7407375" y="20339"/>
                </a:lnTo>
                <a:lnTo>
                  <a:pt x="7413543" y="17237"/>
                </a:lnTo>
                <a:lnTo>
                  <a:pt x="7419710" y="14720"/>
                </a:lnTo>
                <a:lnTo>
                  <a:pt x="7425878" y="18109"/>
                </a:lnTo>
                <a:lnTo>
                  <a:pt x="7432046" y="20172"/>
                </a:lnTo>
                <a:lnTo>
                  <a:pt x="7438213" y="1044169"/>
                </a:lnTo>
                <a:lnTo>
                  <a:pt x="7444381" y="1547411"/>
                </a:lnTo>
                <a:lnTo>
                  <a:pt x="7450549" y="1548969"/>
                </a:lnTo>
                <a:lnTo>
                  <a:pt x="7456716" y="1552588"/>
                </a:lnTo>
                <a:lnTo>
                  <a:pt x="7462884" y="1561807"/>
                </a:lnTo>
                <a:lnTo>
                  <a:pt x="7469052" y="1557990"/>
                </a:lnTo>
                <a:lnTo>
                  <a:pt x="7475220" y="1564342"/>
                </a:lnTo>
                <a:lnTo>
                  <a:pt x="7481387" y="1567216"/>
                </a:lnTo>
                <a:lnTo>
                  <a:pt x="7487555" y="636960"/>
                </a:lnTo>
                <a:lnTo>
                  <a:pt x="7493723" y="573482"/>
                </a:lnTo>
                <a:lnTo>
                  <a:pt x="7499890" y="935806"/>
                </a:lnTo>
                <a:lnTo>
                  <a:pt x="7506058" y="972969"/>
                </a:lnTo>
                <a:lnTo>
                  <a:pt x="7512226" y="8815"/>
                </a:lnTo>
                <a:lnTo>
                  <a:pt x="7518393" y="11055"/>
                </a:lnTo>
                <a:lnTo>
                  <a:pt x="7524561" y="13402"/>
                </a:lnTo>
                <a:lnTo>
                  <a:pt x="7530729" y="11782"/>
                </a:lnTo>
                <a:lnTo>
                  <a:pt x="7536896" y="8516"/>
                </a:lnTo>
                <a:lnTo>
                  <a:pt x="7543064" y="10266"/>
                </a:lnTo>
                <a:lnTo>
                  <a:pt x="7549232" y="13172"/>
                </a:lnTo>
                <a:lnTo>
                  <a:pt x="7555399" y="12397"/>
                </a:lnTo>
                <a:lnTo>
                  <a:pt x="7561567" y="11020"/>
                </a:lnTo>
                <a:lnTo>
                  <a:pt x="7567735" y="11562"/>
                </a:lnTo>
                <a:lnTo>
                  <a:pt x="7573902" y="13460"/>
                </a:lnTo>
                <a:lnTo>
                  <a:pt x="7580070" y="13579"/>
                </a:lnTo>
                <a:lnTo>
                  <a:pt x="7586238" y="12060"/>
                </a:lnTo>
                <a:lnTo>
                  <a:pt x="7592405" y="12331"/>
                </a:lnTo>
                <a:lnTo>
                  <a:pt x="7598573" y="11630"/>
                </a:lnTo>
                <a:lnTo>
                  <a:pt x="7604741" y="9982"/>
                </a:lnTo>
                <a:lnTo>
                  <a:pt x="7610908" y="12051"/>
                </a:lnTo>
                <a:lnTo>
                  <a:pt x="7617076" y="12733"/>
                </a:lnTo>
                <a:lnTo>
                  <a:pt x="7623244" y="11767"/>
                </a:lnTo>
                <a:lnTo>
                  <a:pt x="7629411" y="11124"/>
                </a:lnTo>
                <a:lnTo>
                  <a:pt x="7635579" y="12232"/>
                </a:lnTo>
                <a:lnTo>
                  <a:pt x="7641747" y="11105"/>
                </a:lnTo>
                <a:lnTo>
                  <a:pt x="7647914" y="11903"/>
                </a:lnTo>
                <a:lnTo>
                  <a:pt x="7654082" y="15708"/>
                </a:lnTo>
                <a:lnTo>
                  <a:pt x="7660250" y="15281"/>
                </a:lnTo>
                <a:lnTo>
                  <a:pt x="7666417" y="13408"/>
                </a:lnTo>
                <a:lnTo>
                  <a:pt x="7672585" y="15123"/>
                </a:lnTo>
                <a:lnTo>
                  <a:pt x="7678753" y="14707"/>
                </a:lnTo>
                <a:lnTo>
                  <a:pt x="7684920" y="13155"/>
                </a:lnTo>
                <a:lnTo>
                  <a:pt x="7691088" y="9768"/>
                </a:lnTo>
                <a:lnTo>
                  <a:pt x="7697256" y="16340"/>
                </a:lnTo>
                <a:lnTo>
                  <a:pt x="7703423" y="15212"/>
                </a:lnTo>
                <a:lnTo>
                  <a:pt x="7709591" y="10296"/>
                </a:lnTo>
                <a:lnTo>
                  <a:pt x="7715759" y="10914"/>
                </a:lnTo>
                <a:lnTo>
                  <a:pt x="7721926" y="9091"/>
                </a:lnTo>
                <a:lnTo>
                  <a:pt x="7728094" y="10491"/>
                </a:lnTo>
                <a:lnTo>
                  <a:pt x="7734262" y="13489"/>
                </a:lnTo>
                <a:lnTo>
                  <a:pt x="7740429" y="11981"/>
                </a:lnTo>
                <a:lnTo>
                  <a:pt x="7746597" y="14691"/>
                </a:lnTo>
                <a:lnTo>
                  <a:pt x="7752765" y="15034"/>
                </a:lnTo>
                <a:lnTo>
                  <a:pt x="7758932" y="14036"/>
                </a:lnTo>
                <a:lnTo>
                  <a:pt x="7765100" y="14655"/>
                </a:lnTo>
                <a:lnTo>
                  <a:pt x="7771268" y="12997"/>
                </a:lnTo>
                <a:lnTo>
                  <a:pt x="7777435" y="10612"/>
                </a:lnTo>
                <a:lnTo>
                  <a:pt x="7783603" y="9795"/>
                </a:lnTo>
                <a:lnTo>
                  <a:pt x="7789771" y="14366"/>
                </a:lnTo>
                <a:lnTo>
                  <a:pt x="7795939" y="13314"/>
                </a:lnTo>
                <a:lnTo>
                  <a:pt x="7802106" y="13621"/>
                </a:lnTo>
                <a:lnTo>
                  <a:pt x="7808274" y="12593"/>
                </a:lnTo>
                <a:lnTo>
                  <a:pt x="7814442" y="12794"/>
                </a:lnTo>
                <a:lnTo>
                  <a:pt x="7820609" y="12506"/>
                </a:lnTo>
                <a:lnTo>
                  <a:pt x="7826777" y="12936"/>
                </a:lnTo>
                <a:lnTo>
                  <a:pt x="7832945" y="13611"/>
                </a:lnTo>
                <a:lnTo>
                  <a:pt x="7839112" y="12601"/>
                </a:lnTo>
                <a:lnTo>
                  <a:pt x="7845280" y="12833"/>
                </a:lnTo>
                <a:lnTo>
                  <a:pt x="7851448" y="13621"/>
                </a:lnTo>
                <a:lnTo>
                  <a:pt x="7857615" y="10686"/>
                </a:lnTo>
                <a:lnTo>
                  <a:pt x="7863783" y="12222"/>
                </a:lnTo>
                <a:lnTo>
                  <a:pt x="7869951" y="14290"/>
                </a:lnTo>
                <a:lnTo>
                  <a:pt x="7876118" y="9043"/>
                </a:lnTo>
                <a:lnTo>
                  <a:pt x="7882286" y="3225"/>
                </a:lnTo>
                <a:lnTo>
                  <a:pt x="7888454" y="7611"/>
                </a:lnTo>
                <a:lnTo>
                  <a:pt x="7894621" y="9915"/>
                </a:lnTo>
                <a:lnTo>
                  <a:pt x="7900789" y="9231"/>
                </a:lnTo>
                <a:lnTo>
                  <a:pt x="7906957" y="7713"/>
                </a:lnTo>
                <a:lnTo>
                  <a:pt x="7913124" y="9905"/>
                </a:lnTo>
                <a:lnTo>
                  <a:pt x="7919292" y="9994"/>
                </a:lnTo>
                <a:lnTo>
                  <a:pt x="7925460" y="9242"/>
                </a:lnTo>
                <a:lnTo>
                  <a:pt x="7931627" y="13786"/>
                </a:lnTo>
                <a:lnTo>
                  <a:pt x="7937795" y="11795"/>
                </a:lnTo>
                <a:lnTo>
                  <a:pt x="7943963" y="11945"/>
                </a:lnTo>
                <a:lnTo>
                  <a:pt x="7950130" y="10516"/>
                </a:lnTo>
                <a:lnTo>
                  <a:pt x="7956298" y="10423"/>
                </a:lnTo>
                <a:lnTo>
                  <a:pt x="7962466" y="11821"/>
                </a:lnTo>
                <a:lnTo>
                  <a:pt x="7968633" y="139311"/>
                </a:lnTo>
                <a:lnTo>
                  <a:pt x="7974801" y="163804"/>
                </a:lnTo>
                <a:lnTo>
                  <a:pt x="7980969" y="181621"/>
                </a:lnTo>
                <a:lnTo>
                  <a:pt x="7987136" y="199829"/>
                </a:lnTo>
                <a:lnTo>
                  <a:pt x="7993304" y="224810"/>
                </a:lnTo>
                <a:lnTo>
                  <a:pt x="7999472" y="248554"/>
                </a:lnTo>
                <a:lnTo>
                  <a:pt x="8005639" y="265957"/>
                </a:lnTo>
                <a:lnTo>
                  <a:pt x="8011807" y="284125"/>
                </a:lnTo>
                <a:lnTo>
                  <a:pt x="8017975" y="310218"/>
                </a:lnTo>
                <a:lnTo>
                  <a:pt x="8024142" y="333874"/>
                </a:lnTo>
                <a:lnTo>
                  <a:pt x="8030310" y="352231"/>
                </a:lnTo>
                <a:lnTo>
                  <a:pt x="8036478" y="373526"/>
                </a:lnTo>
                <a:lnTo>
                  <a:pt x="8042645" y="400913"/>
                </a:lnTo>
                <a:lnTo>
                  <a:pt x="8048813" y="400842"/>
                </a:lnTo>
                <a:lnTo>
                  <a:pt x="8054981" y="391956"/>
                </a:lnTo>
                <a:lnTo>
                  <a:pt x="8061148" y="409085"/>
                </a:lnTo>
                <a:lnTo>
                  <a:pt x="8067316" y="428632"/>
                </a:lnTo>
                <a:lnTo>
                  <a:pt x="8073484" y="454634"/>
                </a:lnTo>
                <a:lnTo>
                  <a:pt x="8079651" y="467989"/>
                </a:lnTo>
                <a:lnTo>
                  <a:pt x="8085819" y="563127"/>
                </a:lnTo>
                <a:lnTo>
                  <a:pt x="8091987" y="588800"/>
                </a:lnTo>
                <a:lnTo>
                  <a:pt x="8098155" y="614874"/>
                </a:lnTo>
                <a:lnTo>
                  <a:pt x="8104322" y="635571"/>
                </a:lnTo>
                <a:lnTo>
                  <a:pt x="8110490" y="655462"/>
                </a:lnTo>
                <a:lnTo>
                  <a:pt x="8116658" y="680557"/>
                </a:lnTo>
                <a:lnTo>
                  <a:pt x="8122825" y="706776"/>
                </a:lnTo>
                <a:lnTo>
                  <a:pt x="8128993" y="724868"/>
                </a:lnTo>
                <a:lnTo>
                  <a:pt x="8135161" y="744022"/>
                </a:lnTo>
                <a:lnTo>
                  <a:pt x="8141328" y="780747"/>
                </a:lnTo>
                <a:lnTo>
                  <a:pt x="8147496" y="808280"/>
                </a:lnTo>
                <a:lnTo>
                  <a:pt x="8153664" y="829351"/>
                </a:lnTo>
                <a:lnTo>
                  <a:pt x="8159831" y="977059"/>
                </a:lnTo>
                <a:lnTo>
                  <a:pt x="8165999" y="1110752"/>
                </a:lnTo>
                <a:lnTo>
                  <a:pt x="8172167" y="1164257"/>
                </a:lnTo>
                <a:lnTo>
                  <a:pt x="8178334" y="1194463"/>
                </a:lnTo>
                <a:lnTo>
                  <a:pt x="8184502" y="1193246"/>
                </a:lnTo>
                <a:lnTo>
                  <a:pt x="8190670" y="1272085"/>
                </a:lnTo>
                <a:lnTo>
                  <a:pt x="8196837" y="1256119"/>
                </a:lnTo>
                <a:lnTo>
                  <a:pt x="8203005" y="1263007"/>
                </a:lnTo>
                <a:lnTo>
                  <a:pt x="8209173" y="1258754"/>
                </a:lnTo>
                <a:lnTo>
                  <a:pt x="8215340" y="1256962"/>
                </a:lnTo>
                <a:lnTo>
                  <a:pt x="8221508" y="1257931"/>
                </a:lnTo>
                <a:lnTo>
                  <a:pt x="8227676" y="1259961"/>
                </a:lnTo>
                <a:lnTo>
                  <a:pt x="8233843" y="1269686"/>
                </a:lnTo>
                <a:lnTo>
                  <a:pt x="8240011" y="1265318"/>
                </a:lnTo>
                <a:lnTo>
                  <a:pt x="8246179" y="1258627"/>
                </a:lnTo>
                <a:lnTo>
                  <a:pt x="8252346" y="1266346"/>
                </a:lnTo>
                <a:lnTo>
                  <a:pt x="8258514" y="1266236"/>
                </a:lnTo>
                <a:lnTo>
                  <a:pt x="8264682" y="1209836"/>
                </a:lnTo>
                <a:lnTo>
                  <a:pt x="8270849" y="1199256"/>
                </a:lnTo>
                <a:lnTo>
                  <a:pt x="8277017" y="1195921"/>
                </a:lnTo>
                <a:lnTo>
                  <a:pt x="8283185" y="1193846"/>
                </a:lnTo>
                <a:lnTo>
                  <a:pt x="8289352" y="1191920"/>
                </a:lnTo>
                <a:lnTo>
                  <a:pt x="8295520" y="1189369"/>
                </a:lnTo>
                <a:lnTo>
                  <a:pt x="8301688" y="1197485"/>
                </a:lnTo>
                <a:lnTo>
                  <a:pt x="8307855" y="1197193"/>
                </a:lnTo>
                <a:lnTo>
                  <a:pt x="8314023" y="1200291"/>
                </a:lnTo>
                <a:lnTo>
                  <a:pt x="8320191" y="1201377"/>
                </a:lnTo>
                <a:lnTo>
                  <a:pt x="8326358" y="1201607"/>
                </a:lnTo>
                <a:lnTo>
                  <a:pt x="8332526" y="1182813"/>
                </a:lnTo>
                <a:lnTo>
                  <a:pt x="8338694" y="1182738"/>
                </a:lnTo>
                <a:lnTo>
                  <a:pt x="8344861" y="1164806"/>
                </a:lnTo>
                <a:lnTo>
                  <a:pt x="8351029" y="1136671"/>
                </a:lnTo>
                <a:lnTo>
                  <a:pt x="8357197" y="1176547"/>
                </a:lnTo>
                <a:lnTo>
                  <a:pt x="8363364" y="1242867"/>
                </a:lnTo>
                <a:lnTo>
                  <a:pt x="8369532" y="1254700"/>
                </a:lnTo>
                <a:lnTo>
                  <a:pt x="8375700" y="1268824"/>
                </a:lnTo>
                <a:lnTo>
                  <a:pt x="8381867" y="1273494"/>
                </a:lnTo>
                <a:lnTo>
                  <a:pt x="8388035" y="1273127"/>
                </a:lnTo>
                <a:lnTo>
                  <a:pt x="8394203" y="9700"/>
                </a:lnTo>
                <a:lnTo>
                  <a:pt x="8400370" y="10466"/>
                </a:lnTo>
                <a:lnTo>
                  <a:pt x="8406538" y="9620"/>
                </a:lnTo>
                <a:lnTo>
                  <a:pt x="8412706" y="10069"/>
                </a:lnTo>
                <a:lnTo>
                  <a:pt x="8418874" y="8301"/>
                </a:lnTo>
                <a:lnTo>
                  <a:pt x="8425041" y="9810"/>
                </a:lnTo>
                <a:lnTo>
                  <a:pt x="8431209" y="11447"/>
                </a:lnTo>
                <a:lnTo>
                  <a:pt x="8437377" y="8511"/>
                </a:lnTo>
                <a:lnTo>
                  <a:pt x="8443544" y="11181"/>
                </a:lnTo>
                <a:lnTo>
                  <a:pt x="8449712" y="10201"/>
                </a:lnTo>
                <a:lnTo>
                  <a:pt x="8455880" y="10756"/>
                </a:lnTo>
                <a:lnTo>
                  <a:pt x="8462047" y="11812"/>
                </a:lnTo>
                <a:lnTo>
                  <a:pt x="8468215" y="7045"/>
                </a:lnTo>
                <a:lnTo>
                  <a:pt x="8474383" y="8852"/>
                </a:lnTo>
                <a:lnTo>
                  <a:pt x="8480550" y="9621"/>
                </a:lnTo>
                <a:lnTo>
                  <a:pt x="8486718" y="9988"/>
                </a:lnTo>
                <a:lnTo>
                  <a:pt x="8492886" y="9305"/>
                </a:lnTo>
                <a:lnTo>
                  <a:pt x="8499053" y="13247"/>
                </a:lnTo>
                <a:lnTo>
                  <a:pt x="8505221" y="6797"/>
                </a:lnTo>
                <a:lnTo>
                  <a:pt x="8511389" y="9396"/>
                </a:lnTo>
                <a:lnTo>
                  <a:pt x="8517556" y="10598"/>
                </a:lnTo>
                <a:lnTo>
                  <a:pt x="8523724" y="13871"/>
                </a:lnTo>
                <a:lnTo>
                  <a:pt x="8529892" y="13511"/>
                </a:lnTo>
                <a:lnTo>
                  <a:pt x="8536059" y="14691"/>
                </a:lnTo>
                <a:lnTo>
                  <a:pt x="8542227" y="11484"/>
                </a:lnTo>
                <a:lnTo>
                  <a:pt x="8548395" y="7202"/>
                </a:lnTo>
                <a:lnTo>
                  <a:pt x="8554562" y="8642"/>
                </a:lnTo>
                <a:lnTo>
                  <a:pt x="8560730" y="7961"/>
                </a:lnTo>
                <a:lnTo>
                  <a:pt x="8566898" y="7602"/>
                </a:lnTo>
                <a:lnTo>
                  <a:pt x="8573065" y="8330"/>
                </a:lnTo>
                <a:lnTo>
                  <a:pt x="8579233" y="8670"/>
                </a:lnTo>
                <a:lnTo>
                  <a:pt x="8585401" y="9023"/>
                </a:lnTo>
                <a:lnTo>
                  <a:pt x="8591568" y="6934"/>
                </a:lnTo>
                <a:lnTo>
                  <a:pt x="8597736" y="9656"/>
                </a:lnTo>
                <a:lnTo>
                  <a:pt x="8603904" y="9354"/>
                </a:lnTo>
                <a:lnTo>
                  <a:pt x="8610071" y="9958"/>
                </a:lnTo>
                <a:lnTo>
                  <a:pt x="8616239" y="11114"/>
                </a:lnTo>
                <a:lnTo>
                  <a:pt x="8622407" y="9589"/>
                </a:lnTo>
                <a:lnTo>
                  <a:pt x="8628574" y="8103"/>
                </a:lnTo>
                <a:lnTo>
                  <a:pt x="8634742" y="7920"/>
                </a:lnTo>
                <a:lnTo>
                  <a:pt x="8640910" y="10214"/>
                </a:lnTo>
                <a:lnTo>
                  <a:pt x="8647077" y="5258"/>
                </a:lnTo>
                <a:lnTo>
                  <a:pt x="8653245" y="9841"/>
                </a:lnTo>
                <a:lnTo>
                  <a:pt x="8659413" y="8284"/>
                </a:lnTo>
                <a:lnTo>
                  <a:pt x="8665580" y="7849"/>
                </a:lnTo>
                <a:lnTo>
                  <a:pt x="8671748" y="5929"/>
                </a:lnTo>
                <a:lnTo>
                  <a:pt x="8677916" y="6604"/>
                </a:lnTo>
                <a:lnTo>
                  <a:pt x="8684083" y="9053"/>
                </a:lnTo>
                <a:lnTo>
                  <a:pt x="8690251" y="9472"/>
                </a:lnTo>
                <a:lnTo>
                  <a:pt x="8696419" y="11978"/>
                </a:lnTo>
                <a:lnTo>
                  <a:pt x="8702586" y="12659"/>
                </a:lnTo>
                <a:lnTo>
                  <a:pt x="8708754" y="11833"/>
                </a:lnTo>
                <a:lnTo>
                  <a:pt x="8714922" y="11458"/>
                </a:lnTo>
                <a:lnTo>
                  <a:pt x="8721090" y="13018"/>
                </a:lnTo>
                <a:lnTo>
                  <a:pt x="8727257" y="13725"/>
                </a:lnTo>
                <a:lnTo>
                  <a:pt x="8733425" y="9814"/>
                </a:lnTo>
                <a:lnTo>
                  <a:pt x="8739593" y="4467"/>
                </a:lnTo>
                <a:lnTo>
                  <a:pt x="8745760" y="13158"/>
                </a:lnTo>
                <a:lnTo>
                  <a:pt x="8751928" y="19077"/>
                </a:lnTo>
                <a:lnTo>
                  <a:pt x="8758096" y="17826"/>
                </a:lnTo>
                <a:lnTo>
                  <a:pt x="8764263" y="13526"/>
                </a:lnTo>
                <a:lnTo>
                  <a:pt x="8770431" y="14891"/>
                </a:lnTo>
                <a:lnTo>
                  <a:pt x="8776599" y="12891"/>
                </a:lnTo>
                <a:lnTo>
                  <a:pt x="8782766" y="16117"/>
                </a:lnTo>
                <a:lnTo>
                  <a:pt x="8788934" y="19433"/>
                </a:lnTo>
                <a:lnTo>
                  <a:pt x="8795102" y="19994"/>
                </a:lnTo>
                <a:lnTo>
                  <a:pt x="8801269" y="19700"/>
                </a:lnTo>
                <a:lnTo>
                  <a:pt x="8807437" y="19942"/>
                </a:lnTo>
                <a:lnTo>
                  <a:pt x="8813605" y="19826"/>
                </a:lnTo>
                <a:lnTo>
                  <a:pt x="8819772" y="19867"/>
                </a:lnTo>
                <a:lnTo>
                  <a:pt x="8825940" y="17032"/>
                </a:lnTo>
                <a:lnTo>
                  <a:pt x="8832108" y="19268"/>
                </a:lnTo>
                <a:lnTo>
                  <a:pt x="8838275" y="16546"/>
                </a:lnTo>
                <a:lnTo>
                  <a:pt x="8844443" y="18443"/>
                </a:lnTo>
                <a:lnTo>
                  <a:pt x="8850611" y="18411"/>
                </a:lnTo>
                <a:lnTo>
                  <a:pt x="8856778" y="20641"/>
                </a:lnTo>
                <a:lnTo>
                  <a:pt x="8862946" y="20234"/>
                </a:lnTo>
                <a:lnTo>
                  <a:pt x="8869114" y="14973"/>
                </a:lnTo>
                <a:lnTo>
                  <a:pt x="8875281" y="119716"/>
                </a:lnTo>
                <a:lnTo>
                  <a:pt x="8881449" y="176271"/>
                </a:lnTo>
                <a:lnTo>
                  <a:pt x="8887617" y="202453"/>
                </a:lnTo>
                <a:lnTo>
                  <a:pt x="8893784" y="221043"/>
                </a:lnTo>
                <a:lnTo>
                  <a:pt x="8899952" y="236246"/>
                </a:lnTo>
                <a:lnTo>
                  <a:pt x="8906120" y="255265"/>
                </a:lnTo>
                <a:lnTo>
                  <a:pt x="8912287" y="274905"/>
                </a:lnTo>
                <a:lnTo>
                  <a:pt x="8918455" y="292817"/>
                </a:lnTo>
                <a:lnTo>
                  <a:pt x="8924623" y="1730393"/>
                </a:lnTo>
                <a:lnTo>
                  <a:pt x="8930790" y="1734356"/>
                </a:lnTo>
                <a:lnTo>
                  <a:pt x="8936958" y="1729147"/>
                </a:lnTo>
                <a:lnTo>
                  <a:pt x="8943126" y="1739466"/>
                </a:lnTo>
                <a:lnTo>
                  <a:pt x="8949293" y="1733654"/>
                </a:lnTo>
                <a:lnTo>
                  <a:pt x="8955461" y="1744769"/>
                </a:lnTo>
                <a:lnTo>
                  <a:pt x="8961629" y="1745165"/>
                </a:lnTo>
                <a:lnTo>
                  <a:pt x="8967796" y="1731206"/>
                </a:lnTo>
                <a:lnTo>
                  <a:pt x="8973964" y="1712729"/>
                </a:lnTo>
                <a:lnTo>
                  <a:pt x="8980132" y="1713048"/>
                </a:lnTo>
                <a:lnTo>
                  <a:pt x="8986299" y="1702703"/>
                </a:lnTo>
                <a:lnTo>
                  <a:pt x="8992467" y="1708881"/>
                </a:lnTo>
                <a:lnTo>
                  <a:pt x="8998635" y="1670086"/>
                </a:lnTo>
                <a:lnTo>
                  <a:pt x="9004802" y="1669719"/>
                </a:lnTo>
                <a:lnTo>
                  <a:pt x="9010970" y="1680212"/>
                </a:lnTo>
                <a:lnTo>
                  <a:pt x="9017138" y="1697231"/>
                </a:lnTo>
                <a:lnTo>
                  <a:pt x="9023305" y="1704812"/>
                </a:lnTo>
                <a:lnTo>
                  <a:pt x="9029473" y="1710006"/>
                </a:lnTo>
                <a:lnTo>
                  <a:pt x="9035641" y="1706781"/>
                </a:lnTo>
                <a:lnTo>
                  <a:pt x="9041809" y="1701817"/>
                </a:lnTo>
                <a:lnTo>
                  <a:pt x="9047976" y="1696219"/>
                </a:lnTo>
                <a:lnTo>
                  <a:pt x="9054144" y="1693631"/>
                </a:lnTo>
                <a:lnTo>
                  <a:pt x="9060312" y="1697408"/>
                </a:lnTo>
                <a:lnTo>
                  <a:pt x="9066479" y="1732935"/>
                </a:lnTo>
                <a:lnTo>
                  <a:pt x="9072647" y="1713609"/>
                </a:lnTo>
                <a:lnTo>
                  <a:pt x="9078815" y="1702426"/>
                </a:lnTo>
                <a:lnTo>
                  <a:pt x="9084982" y="1675692"/>
                </a:lnTo>
                <a:lnTo>
                  <a:pt x="9091150" y="1720227"/>
                </a:lnTo>
                <a:lnTo>
                  <a:pt x="9097318" y="1706938"/>
                </a:lnTo>
                <a:lnTo>
                  <a:pt x="9103485" y="1707752"/>
                </a:lnTo>
                <a:lnTo>
                  <a:pt x="9109653" y="1699978"/>
                </a:lnTo>
                <a:lnTo>
                  <a:pt x="9115821" y="1719463"/>
                </a:lnTo>
                <a:lnTo>
                  <a:pt x="9121988" y="1703752"/>
                </a:lnTo>
                <a:lnTo>
                  <a:pt x="9128156" y="1702717"/>
                </a:lnTo>
                <a:lnTo>
                  <a:pt x="9134324" y="1703785"/>
                </a:lnTo>
                <a:lnTo>
                  <a:pt x="9140491" y="1703936"/>
                </a:lnTo>
                <a:lnTo>
                  <a:pt x="9146659" y="1704268"/>
                </a:lnTo>
                <a:lnTo>
                  <a:pt x="9152827" y="1711553"/>
                </a:lnTo>
                <a:lnTo>
                  <a:pt x="9158994" y="1712707"/>
                </a:lnTo>
                <a:lnTo>
                  <a:pt x="9165162" y="1706973"/>
                </a:lnTo>
                <a:lnTo>
                  <a:pt x="9171330" y="1714960"/>
                </a:lnTo>
                <a:lnTo>
                  <a:pt x="9177497" y="1718577"/>
                </a:lnTo>
                <a:lnTo>
                  <a:pt x="9183665" y="1713052"/>
                </a:lnTo>
                <a:lnTo>
                  <a:pt x="9189833" y="1712670"/>
                </a:lnTo>
                <a:lnTo>
                  <a:pt x="9196000" y="1678388"/>
                </a:lnTo>
                <a:lnTo>
                  <a:pt x="9202168" y="1662337"/>
                </a:lnTo>
                <a:lnTo>
                  <a:pt x="9208336" y="1658853"/>
                </a:lnTo>
                <a:lnTo>
                  <a:pt x="9214503" y="1703978"/>
                </a:lnTo>
                <a:lnTo>
                  <a:pt x="9220671" y="1713172"/>
                </a:lnTo>
                <a:lnTo>
                  <a:pt x="9226839" y="1704286"/>
                </a:lnTo>
                <a:lnTo>
                  <a:pt x="9233006" y="1689888"/>
                </a:lnTo>
                <a:lnTo>
                  <a:pt x="9239174" y="1640318"/>
                </a:lnTo>
                <a:lnTo>
                  <a:pt x="9245342" y="1658359"/>
                </a:lnTo>
                <a:lnTo>
                  <a:pt x="9251509" y="1716204"/>
                </a:lnTo>
                <a:lnTo>
                  <a:pt x="9257677" y="1709900"/>
                </a:lnTo>
                <a:lnTo>
                  <a:pt x="9263845" y="1709746"/>
                </a:lnTo>
                <a:lnTo>
                  <a:pt x="9270012" y="1714489"/>
                </a:lnTo>
                <a:lnTo>
                  <a:pt x="9276180" y="1719599"/>
                </a:lnTo>
                <a:lnTo>
                  <a:pt x="9282348" y="1724337"/>
                </a:lnTo>
                <a:lnTo>
                  <a:pt x="9288515" y="1721146"/>
                </a:lnTo>
                <a:lnTo>
                  <a:pt x="9294683" y="1715992"/>
                </a:lnTo>
                <a:lnTo>
                  <a:pt x="9300851" y="1714284"/>
                </a:lnTo>
                <a:lnTo>
                  <a:pt x="9307018" y="1720891"/>
                </a:lnTo>
                <a:lnTo>
                  <a:pt x="9313186" y="1712498"/>
                </a:lnTo>
                <a:lnTo>
                  <a:pt x="9319354" y="1704408"/>
                </a:lnTo>
                <a:lnTo>
                  <a:pt x="9325521" y="1704160"/>
                </a:lnTo>
                <a:lnTo>
                  <a:pt x="9331689" y="1722066"/>
                </a:lnTo>
                <a:lnTo>
                  <a:pt x="9337857" y="1710708"/>
                </a:lnTo>
                <a:lnTo>
                  <a:pt x="9344025" y="1702992"/>
                </a:lnTo>
                <a:lnTo>
                  <a:pt x="9350192" y="1701979"/>
                </a:lnTo>
                <a:lnTo>
                  <a:pt x="9356360" y="1723781"/>
                </a:lnTo>
                <a:lnTo>
                  <a:pt x="9362528" y="1707426"/>
                </a:lnTo>
                <a:lnTo>
                  <a:pt x="9368695" y="1716504"/>
                </a:lnTo>
                <a:lnTo>
                  <a:pt x="9374863" y="1718011"/>
                </a:lnTo>
                <a:lnTo>
                  <a:pt x="9381031" y="1724477"/>
                </a:lnTo>
                <a:lnTo>
                  <a:pt x="9387198" y="1698360"/>
                </a:lnTo>
                <a:lnTo>
                  <a:pt x="9393366" y="1675210"/>
                </a:lnTo>
                <a:lnTo>
                  <a:pt x="9399534" y="1665843"/>
                </a:lnTo>
                <a:lnTo>
                  <a:pt x="9405701" y="1676889"/>
                </a:lnTo>
                <a:lnTo>
                  <a:pt x="9411869" y="1684543"/>
                </a:lnTo>
                <a:lnTo>
                  <a:pt x="9418037" y="1698200"/>
                </a:lnTo>
                <a:lnTo>
                  <a:pt x="9424204" y="1705823"/>
                </a:lnTo>
                <a:lnTo>
                  <a:pt x="9430372" y="1713920"/>
                </a:lnTo>
                <a:lnTo>
                  <a:pt x="9436540" y="1713774"/>
                </a:lnTo>
                <a:lnTo>
                  <a:pt x="9442707" y="1710908"/>
                </a:lnTo>
                <a:lnTo>
                  <a:pt x="9448875" y="1698080"/>
                </a:lnTo>
                <a:lnTo>
                  <a:pt x="9455043" y="1707775"/>
                </a:lnTo>
                <a:lnTo>
                  <a:pt x="9461210" y="1711088"/>
                </a:lnTo>
                <a:lnTo>
                  <a:pt x="9467378" y="1703785"/>
                </a:lnTo>
                <a:lnTo>
                  <a:pt x="9473546" y="1695187"/>
                </a:lnTo>
                <a:lnTo>
                  <a:pt x="9479713" y="1701315"/>
                </a:lnTo>
                <a:lnTo>
                  <a:pt x="9485881" y="1702869"/>
                </a:lnTo>
                <a:lnTo>
                  <a:pt x="9492049" y="1715810"/>
                </a:lnTo>
                <a:lnTo>
                  <a:pt x="9498216" y="1092504"/>
                </a:lnTo>
                <a:lnTo>
                  <a:pt x="9504384" y="1059897"/>
                </a:lnTo>
                <a:lnTo>
                  <a:pt x="9510552" y="1022184"/>
                </a:lnTo>
                <a:lnTo>
                  <a:pt x="9516719" y="1024425"/>
                </a:lnTo>
                <a:lnTo>
                  <a:pt x="9522887" y="1019501"/>
                </a:lnTo>
                <a:lnTo>
                  <a:pt x="9529055" y="1019817"/>
                </a:lnTo>
                <a:lnTo>
                  <a:pt x="9535222" y="1016695"/>
                </a:lnTo>
                <a:lnTo>
                  <a:pt x="9541390" y="1016380"/>
                </a:lnTo>
                <a:lnTo>
                  <a:pt x="9547558" y="1024403"/>
                </a:lnTo>
                <a:lnTo>
                  <a:pt x="9553725" y="1016559"/>
                </a:lnTo>
                <a:lnTo>
                  <a:pt x="9559893" y="1011805"/>
                </a:lnTo>
                <a:lnTo>
                  <a:pt x="9566061" y="1010166"/>
                </a:lnTo>
                <a:lnTo>
                  <a:pt x="9572228" y="1010104"/>
                </a:lnTo>
                <a:lnTo>
                  <a:pt x="9578396" y="1008117"/>
                </a:lnTo>
                <a:lnTo>
                  <a:pt x="9584564" y="1008626"/>
                </a:lnTo>
                <a:lnTo>
                  <a:pt x="9590731" y="1033718"/>
                </a:lnTo>
                <a:lnTo>
                  <a:pt x="9596899" y="1099304"/>
                </a:lnTo>
                <a:lnTo>
                  <a:pt x="9603067" y="1105253"/>
                </a:lnTo>
                <a:lnTo>
                  <a:pt x="9609234" y="1114874"/>
                </a:lnTo>
                <a:lnTo>
                  <a:pt x="9615402" y="1619438"/>
                </a:lnTo>
                <a:lnTo>
                  <a:pt x="9621570" y="1630999"/>
                </a:lnTo>
                <a:lnTo>
                  <a:pt x="9627737" y="1628957"/>
                </a:lnTo>
                <a:lnTo>
                  <a:pt x="9633905" y="1598813"/>
                </a:lnTo>
                <a:lnTo>
                  <a:pt x="9640073" y="1603219"/>
                </a:lnTo>
                <a:lnTo>
                  <a:pt x="9646240" y="1637611"/>
                </a:lnTo>
                <a:lnTo>
                  <a:pt x="9652408" y="1642134"/>
                </a:lnTo>
                <a:lnTo>
                  <a:pt x="9658576" y="1633256"/>
                </a:lnTo>
                <a:lnTo>
                  <a:pt x="9664744" y="1617560"/>
                </a:lnTo>
                <a:lnTo>
                  <a:pt x="9670911" y="1605162"/>
                </a:lnTo>
                <a:lnTo>
                  <a:pt x="9677079" y="1608536"/>
                </a:lnTo>
                <a:lnTo>
                  <a:pt x="9683247" y="1299735"/>
                </a:lnTo>
                <a:lnTo>
                  <a:pt x="9689414" y="1278244"/>
                </a:lnTo>
                <a:lnTo>
                  <a:pt x="9695582" y="1283634"/>
                </a:lnTo>
                <a:lnTo>
                  <a:pt x="9701750" y="1277212"/>
                </a:lnTo>
                <a:lnTo>
                  <a:pt x="9707917" y="1286897"/>
                </a:lnTo>
                <a:lnTo>
                  <a:pt x="9714085" y="1263093"/>
                </a:lnTo>
                <a:lnTo>
                  <a:pt x="9720253" y="1280644"/>
                </a:lnTo>
                <a:lnTo>
                  <a:pt x="9726420" y="1616883"/>
                </a:lnTo>
                <a:lnTo>
                  <a:pt x="9732588" y="1602847"/>
                </a:lnTo>
                <a:lnTo>
                  <a:pt x="9738756" y="1626536"/>
                </a:lnTo>
                <a:lnTo>
                  <a:pt x="9744923" y="1632366"/>
                </a:lnTo>
                <a:lnTo>
                  <a:pt x="9751091" y="1264440"/>
                </a:lnTo>
                <a:lnTo>
                  <a:pt x="9757259" y="1095626"/>
                </a:lnTo>
                <a:lnTo>
                  <a:pt x="9763426" y="667835"/>
                </a:lnTo>
                <a:lnTo>
                  <a:pt x="9769594" y="1723124"/>
                </a:lnTo>
                <a:lnTo>
                  <a:pt x="9775762" y="10015"/>
                </a:lnTo>
                <a:lnTo>
                  <a:pt x="9781929" y="9043"/>
                </a:lnTo>
                <a:lnTo>
                  <a:pt x="9788097" y="14293"/>
                </a:lnTo>
                <a:lnTo>
                  <a:pt x="9794265" y="15413"/>
                </a:lnTo>
                <a:lnTo>
                  <a:pt x="9800432" y="14976"/>
                </a:lnTo>
                <a:lnTo>
                  <a:pt x="9806600" y="10012"/>
                </a:lnTo>
                <a:lnTo>
                  <a:pt x="9812768" y="12763"/>
                </a:lnTo>
                <a:lnTo>
                  <a:pt x="9818935" y="13436"/>
                </a:lnTo>
                <a:lnTo>
                  <a:pt x="9825103" y="13901"/>
                </a:lnTo>
                <a:lnTo>
                  <a:pt x="9831271" y="10453"/>
                </a:lnTo>
                <a:lnTo>
                  <a:pt x="9837438" y="11654"/>
                </a:lnTo>
                <a:lnTo>
                  <a:pt x="9843606" y="10771"/>
                </a:lnTo>
                <a:lnTo>
                  <a:pt x="9849774" y="14709"/>
                </a:lnTo>
                <a:lnTo>
                  <a:pt x="9855941" y="14884"/>
                </a:lnTo>
                <a:lnTo>
                  <a:pt x="9862109" y="13989"/>
                </a:lnTo>
                <a:lnTo>
                  <a:pt x="9868277" y="13159"/>
                </a:lnTo>
                <a:lnTo>
                  <a:pt x="9874444" y="12205"/>
                </a:lnTo>
                <a:lnTo>
                  <a:pt x="9880612" y="12359"/>
                </a:lnTo>
                <a:lnTo>
                  <a:pt x="9886780" y="11409"/>
                </a:lnTo>
                <a:lnTo>
                  <a:pt x="9892947" y="9941"/>
                </a:lnTo>
                <a:lnTo>
                  <a:pt x="9899115" y="6386"/>
                </a:lnTo>
                <a:lnTo>
                  <a:pt x="9905283" y="2236"/>
                </a:lnTo>
                <a:lnTo>
                  <a:pt x="9911450" y="1367"/>
                </a:lnTo>
                <a:lnTo>
                  <a:pt x="9917618" y="3838"/>
                </a:lnTo>
                <a:lnTo>
                  <a:pt x="9923786" y="2672"/>
                </a:lnTo>
                <a:lnTo>
                  <a:pt x="9929953" y="3441"/>
                </a:lnTo>
                <a:lnTo>
                  <a:pt x="9936121" y="8116"/>
                </a:lnTo>
                <a:lnTo>
                  <a:pt x="9942289" y="12184"/>
                </a:lnTo>
                <a:lnTo>
                  <a:pt x="9948456" y="13015"/>
                </a:lnTo>
                <a:lnTo>
                  <a:pt x="9954624" y="13436"/>
                </a:lnTo>
                <a:lnTo>
                  <a:pt x="9960792" y="13054"/>
                </a:lnTo>
                <a:lnTo>
                  <a:pt x="9966960" y="16855"/>
                </a:lnTo>
              </a:path>
            </a:pathLst>
          </a:custGeom>
          <a:noFill/>
          <a:ln w="12700">
            <a:solidFill>
              <a:srgbClr val="292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280160" y="4466922"/>
            <a:ext cx="9966960" cy="0"/>
          </a:xfrm>
          <a:prstGeom prst="line">
            <a:avLst/>
          </a:prstGeom>
          <a:ln w="25400">
            <a:solidFill>
              <a:srgbClr val="B79A5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503920" y="4503498"/>
            <a:ext cx="2743200" cy="237744"/>
          </a:xfrm>
          <a:prstGeom prst="rect">
            <a:avLst/>
          </a:prstGeom>
          <a:noFill/>
        </p:spPr>
        <p:txBody>
          <a:bodyPr wrap="square" lIns="0" rIns="0" tIns="0" bIns="0" anchor="t">
            <a:noAutofit/>
          </a:bodyPr>
          <a:lstStyle/>
          <a:p>
            <a:pPr algn="r">
              <a:lnSpc>
                <a:spcPct val="108000"/>
              </a:lnSpc>
            </a:pPr>
            <a:r>
              <a:rPr sz="1100" b="1" i="0">
                <a:solidFill>
                  <a:srgbClr val="292D32"/>
                </a:solidFill>
                <a:latin typeface="Calibri"/>
              </a:rPr>
              <a:t>99% limit = 46</a:t>
            </a:r>
          </a:p>
        </p:txBody>
      </p:sp>
      <p:cxnSp>
        <p:nvCxnSpPr>
          <p:cNvPr id="30" name="Connector 29"/>
          <p:cNvCxnSpPr/>
          <p:nvPr/>
        </p:nvCxnSpPr>
        <p:spPr>
          <a:xfrm>
            <a:off x="1280160" y="5074920"/>
            <a:ext cx="9966960" cy="0"/>
          </a:xfrm>
          <a:prstGeom prst="line">
            <a:avLst/>
          </a:prstGeom>
          <a:ln w="12700">
            <a:solidFill>
              <a:srgbClr val="5F656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748903"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91703"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2025</a:t>
            </a:r>
          </a:p>
        </p:txBody>
      </p:sp>
      <p:cxnSp>
        <p:nvCxnSpPr>
          <p:cNvPr id="33" name="Connector 32"/>
          <p:cNvCxnSpPr/>
          <p:nvPr/>
        </p:nvCxnSpPr>
        <p:spPr>
          <a:xfrm>
            <a:off x="4018606"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561406"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Aug 2025</a:t>
            </a:r>
          </a:p>
        </p:txBody>
      </p:sp>
      <p:cxnSp>
        <p:nvCxnSpPr>
          <p:cNvPr id="35" name="Connector 34"/>
          <p:cNvCxnSpPr/>
          <p:nvPr/>
        </p:nvCxnSpPr>
        <p:spPr>
          <a:xfrm>
            <a:off x="6288310"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831110"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Nov 2025</a:t>
            </a:r>
          </a:p>
        </p:txBody>
      </p:sp>
      <p:cxnSp>
        <p:nvCxnSpPr>
          <p:cNvPr id="37" name="Connector 36"/>
          <p:cNvCxnSpPr/>
          <p:nvPr/>
        </p:nvCxnSpPr>
        <p:spPr>
          <a:xfrm>
            <a:off x="8558014"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100814"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Feb 2026</a:t>
            </a:r>
          </a:p>
        </p:txBody>
      </p:sp>
      <p:cxnSp>
        <p:nvCxnSpPr>
          <p:cNvPr id="39" name="Connector 38"/>
          <p:cNvCxnSpPr/>
          <p:nvPr/>
        </p:nvCxnSpPr>
        <p:spPr>
          <a:xfrm>
            <a:off x="10753706" y="5074920"/>
            <a:ext cx="0" cy="64008"/>
          </a:xfrm>
          <a:prstGeom prst="line">
            <a:avLst/>
          </a:prstGeom>
          <a:ln w="9525">
            <a:solidFill>
              <a:srgbClr val="5F656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96506" y="5157216"/>
            <a:ext cx="914400" cy="201168"/>
          </a:xfrm>
          <a:prstGeom prst="rect">
            <a:avLst/>
          </a:prstGeom>
          <a:noFill/>
        </p:spPr>
        <p:txBody>
          <a:bodyPr wrap="square" lIns="0" rIns="0" tIns="0" bIns="0" anchor="ctr">
            <a:noAutofit/>
          </a:bodyPr>
          <a:lstStyle/>
          <a:p>
            <a:pPr algn="ctr">
              <a:lnSpc>
                <a:spcPct val="108000"/>
              </a:lnSpc>
            </a:pPr>
            <a:r>
              <a:rPr sz="950" b="0" i="0">
                <a:solidFill>
                  <a:srgbClr val="5F656B"/>
                </a:solidFill>
                <a:latin typeface="Calibri"/>
              </a:rPr>
              <a:t>May 2026</a:t>
            </a:r>
          </a:p>
        </p:txBody>
      </p:sp>
      <p:sp>
        <p:nvSpPr>
          <p:cNvPr id="41" name="TextBox 40"/>
          <p:cNvSpPr txBox="1"/>
          <p:nvPr/>
        </p:nvSpPr>
        <p:spPr>
          <a:xfrm>
            <a:off x="685799" y="1847088"/>
            <a:ext cx="5486400" cy="237744"/>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Hotelling T², log scale. Gold bands: training data</a:t>
            </a:r>
          </a:p>
        </p:txBody>
      </p:sp>
      <p:sp>
        <p:nvSpPr>
          <p:cNvPr id="42" name="TextBox 41"/>
          <p:cNvSpPr txBox="1"/>
          <p:nvPr/>
        </p:nvSpPr>
        <p:spPr>
          <a:xfrm>
            <a:off x="594360"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99.4 %</a:t>
            </a:r>
          </a:p>
        </p:txBody>
      </p:sp>
      <p:sp>
        <p:nvSpPr>
          <p:cNvPr id="43" name="TextBox 42"/>
          <p:cNvSpPr txBox="1"/>
          <p:nvPr/>
        </p:nvSpPr>
        <p:spPr>
          <a:xfrm>
            <a:off x="594360"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test minutes are above the limit</a:t>
            </a:r>
          </a:p>
        </p:txBody>
      </p:sp>
      <p:sp>
        <p:nvSpPr>
          <p:cNvPr id="44" name="TextBox 43"/>
          <p:cNvSpPr txBox="1"/>
          <p:nvPr/>
        </p:nvSpPr>
        <p:spPr>
          <a:xfrm>
            <a:off x="4325112"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9.2 %</a:t>
            </a:r>
          </a:p>
        </p:txBody>
      </p:sp>
      <p:sp>
        <p:nvSpPr>
          <p:cNvPr id="45" name="TextBox 44"/>
          <p:cNvSpPr txBox="1"/>
          <p:nvPr/>
        </p:nvSpPr>
        <p:spPr>
          <a:xfrm>
            <a:off x="4325112"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training minutes are above it too (1% expected)</a:t>
            </a:r>
          </a:p>
        </p:txBody>
      </p:sp>
      <p:sp>
        <p:nvSpPr>
          <p:cNvPr id="46" name="TextBox 45"/>
          <p:cNvSpPr txBox="1"/>
          <p:nvPr/>
        </p:nvSpPr>
        <p:spPr>
          <a:xfrm>
            <a:off x="8055864" y="5532120"/>
            <a:ext cx="3474720" cy="363220"/>
          </a:xfrm>
          <a:prstGeom prst="rect">
            <a:avLst/>
          </a:prstGeom>
          <a:noFill/>
        </p:spPr>
        <p:txBody>
          <a:bodyPr wrap="square" lIns="0" rIns="0" tIns="0" bIns="0" anchor="t">
            <a:noAutofit/>
          </a:bodyPr>
          <a:lstStyle/>
          <a:p>
            <a:pPr algn="l">
              <a:lnSpc>
                <a:spcPct val="108000"/>
              </a:lnSpc>
            </a:pPr>
            <a:r>
              <a:rPr sz="2200" b="0" i="0">
                <a:solidFill>
                  <a:srgbClr val="174A3A"/>
                </a:solidFill>
                <a:latin typeface="Georgia"/>
              </a:rPr>
              <a:t>100 %</a:t>
            </a:r>
          </a:p>
        </p:txBody>
      </p:sp>
      <p:sp>
        <p:nvSpPr>
          <p:cNvPr id="47" name="TextBox 46"/>
          <p:cNvSpPr txBox="1"/>
          <p:nvPr/>
        </p:nvSpPr>
        <p:spPr>
          <a:xfrm>
            <a:off x="8055864" y="5913627"/>
            <a:ext cx="3474720"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test minutes are above the Q limit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WHAT DRIVES THE ALARM</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One tag explains almost all of the biggest alarm</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pca_pc_t2/outputs/tables/event_peak_tag_contrib.csv, audit_tags.csv, t2_events.csv</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9</a:t>
            </a:r>
          </a:p>
        </p:txBody>
      </p:sp>
      <p:sp>
        <p:nvSpPr>
          <p:cNvPr id="7" name="TextBox 6"/>
          <p:cNvSpPr txBox="1"/>
          <p:nvPr/>
        </p:nvSpPr>
        <p:spPr>
          <a:xfrm>
            <a:off x="594360" y="1920240"/>
            <a:ext cx="6949440" cy="27432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Share of the peak T² value (92.8 million) by tag, top 10</a:t>
            </a:r>
          </a:p>
        </p:txBody>
      </p:sp>
      <p:sp>
        <p:nvSpPr>
          <p:cNvPr id="8" name="TextBox 7"/>
          <p:cNvSpPr txBox="1"/>
          <p:nvPr/>
        </p:nvSpPr>
        <p:spPr>
          <a:xfrm>
            <a:off x="594360" y="2377440"/>
            <a:ext cx="2103120" cy="274320"/>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99PI3219</a:t>
            </a:r>
          </a:p>
        </p:txBody>
      </p:sp>
      <p:sp>
        <p:nvSpPr>
          <p:cNvPr id="9" name="TextBox 8"/>
          <p:cNvSpPr txBox="1"/>
          <p:nvPr/>
        </p:nvSpPr>
        <p:spPr>
          <a:xfrm>
            <a:off x="2697479" y="237744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LOUP</a:t>
            </a:r>
          </a:p>
        </p:txBody>
      </p:sp>
      <p:sp>
        <p:nvSpPr>
          <p:cNvPr id="10" name="Rectangle 9"/>
          <p:cNvSpPr/>
          <p:nvPr/>
        </p:nvSpPr>
        <p:spPr>
          <a:xfrm>
            <a:off x="3931920" y="2423160"/>
            <a:ext cx="3657600" cy="201168"/>
          </a:xfrm>
          <a:prstGeom prst="rect">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2377440"/>
            <a:ext cx="1371600" cy="274320"/>
          </a:xfrm>
          <a:prstGeom prst="rect">
            <a:avLst/>
          </a:prstGeom>
          <a:noFill/>
        </p:spPr>
        <p:txBody>
          <a:bodyPr wrap="square" lIns="0" rIns="0" tIns="0" bIns="0" anchor="t">
            <a:noAutofit/>
          </a:bodyPr>
          <a:lstStyle/>
          <a:p>
            <a:pPr algn="l">
              <a:lnSpc>
                <a:spcPct val="108000"/>
              </a:lnSpc>
            </a:pPr>
            <a:r>
              <a:rPr sz="1050" b="1" i="0">
                <a:solidFill>
                  <a:srgbClr val="292D32"/>
                </a:solidFill>
                <a:latin typeface="Calibri"/>
              </a:rPr>
              <a:t>92.8 million</a:t>
            </a:r>
          </a:p>
        </p:txBody>
      </p:sp>
      <p:sp>
        <p:nvSpPr>
          <p:cNvPr id="12" name="TextBox 11"/>
          <p:cNvSpPr txBox="1"/>
          <p:nvPr/>
        </p:nvSpPr>
        <p:spPr>
          <a:xfrm>
            <a:off x="594360" y="274320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99TI4140</a:t>
            </a:r>
          </a:p>
        </p:txBody>
      </p:sp>
      <p:sp>
        <p:nvSpPr>
          <p:cNvPr id="13" name="TextBox 12"/>
          <p:cNvSpPr txBox="1"/>
          <p:nvPr/>
        </p:nvSpPr>
        <p:spPr>
          <a:xfrm>
            <a:off x="2697479" y="274320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LOUP</a:t>
            </a:r>
          </a:p>
        </p:txBody>
      </p:sp>
      <p:sp>
        <p:nvSpPr>
          <p:cNvPr id="14" name="Rectangle 13"/>
          <p:cNvSpPr/>
          <p:nvPr/>
        </p:nvSpPr>
        <p:spPr>
          <a:xfrm>
            <a:off x="3931920" y="278892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41648" y="274320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29,926</a:t>
            </a:r>
          </a:p>
        </p:txBody>
      </p:sp>
      <p:sp>
        <p:nvSpPr>
          <p:cNvPr id="16" name="TextBox 15"/>
          <p:cNvSpPr txBox="1"/>
          <p:nvPr/>
        </p:nvSpPr>
        <p:spPr>
          <a:xfrm>
            <a:off x="594360" y="310896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102PI1457B</a:t>
            </a:r>
          </a:p>
        </p:txBody>
      </p:sp>
      <p:sp>
        <p:nvSpPr>
          <p:cNvPr id="17" name="TextBox 16"/>
          <p:cNvSpPr txBox="1"/>
          <p:nvPr/>
        </p:nvSpPr>
        <p:spPr>
          <a:xfrm>
            <a:off x="2697479" y="310896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NSU_NHT_CCR</a:t>
            </a:r>
          </a:p>
        </p:txBody>
      </p:sp>
      <p:sp>
        <p:nvSpPr>
          <p:cNvPr id="18" name="Rectangle 17"/>
          <p:cNvSpPr/>
          <p:nvPr/>
        </p:nvSpPr>
        <p:spPr>
          <a:xfrm>
            <a:off x="3931920" y="315468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41648" y="310896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21,980</a:t>
            </a:r>
          </a:p>
        </p:txBody>
      </p:sp>
      <p:sp>
        <p:nvSpPr>
          <p:cNvPr id="20" name="TextBox 19"/>
          <p:cNvSpPr txBox="1"/>
          <p:nvPr/>
        </p:nvSpPr>
        <p:spPr>
          <a:xfrm>
            <a:off x="594360" y="347472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71PC9101</a:t>
            </a:r>
          </a:p>
        </p:txBody>
      </p:sp>
      <p:sp>
        <p:nvSpPr>
          <p:cNvPr id="21" name="TextBox 20"/>
          <p:cNvSpPr txBox="1"/>
          <p:nvPr/>
        </p:nvSpPr>
        <p:spPr>
          <a:xfrm>
            <a:off x="2697479" y="347472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DIU</a:t>
            </a:r>
          </a:p>
        </p:txBody>
      </p:sp>
      <p:sp>
        <p:nvSpPr>
          <p:cNvPr id="22" name="Rectangle 21"/>
          <p:cNvSpPr/>
          <p:nvPr/>
        </p:nvSpPr>
        <p:spPr>
          <a:xfrm>
            <a:off x="3931920" y="352044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41648" y="347472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15,745</a:t>
            </a:r>
          </a:p>
        </p:txBody>
      </p:sp>
      <p:sp>
        <p:nvSpPr>
          <p:cNvPr id="24" name="TextBox 23"/>
          <p:cNvSpPr txBox="1"/>
          <p:nvPr/>
        </p:nvSpPr>
        <p:spPr>
          <a:xfrm>
            <a:off x="594360" y="384048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PPC3501</a:t>
            </a:r>
          </a:p>
        </p:txBody>
      </p:sp>
      <p:sp>
        <p:nvSpPr>
          <p:cNvPr id="25" name="TextBox 24"/>
          <p:cNvSpPr txBox="1"/>
          <p:nvPr/>
        </p:nvSpPr>
        <p:spPr>
          <a:xfrm>
            <a:off x="2697479" y="384048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SEU2</a:t>
            </a:r>
          </a:p>
        </p:txBody>
      </p:sp>
      <p:sp>
        <p:nvSpPr>
          <p:cNvPr id="26" name="Rectangle 25"/>
          <p:cNvSpPr/>
          <p:nvPr/>
        </p:nvSpPr>
        <p:spPr>
          <a:xfrm>
            <a:off x="3931920" y="388620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41648" y="384048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10,722</a:t>
            </a:r>
          </a:p>
        </p:txBody>
      </p:sp>
      <p:sp>
        <p:nvSpPr>
          <p:cNvPr id="28" name="TextBox 27"/>
          <p:cNvSpPr txBox="1"/>
          <p:nvPr/>
        </p:nvSpPr>
        <p:spPr>
          <a:xfrm>
            <a:off x="594360" y="420624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41TI4124</a:t>
            </a:r>
          </a:p>
        </p:txBody>
      </p:sp>
      <p:sp>
        <p:nvSpPr>
          <p:cNvPr id="29" name="TextBox 28"/>
          <p:cNvSpPr txBox="1"/>
          <p:nvPr/>
        </p:nvSpPr>
        <p:spPr>
          <a:xfrm>
            <a:off x="2697479" y="420624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PDA</a:t>
            </a:r>
          </a:p>
        </p:txBody>
      </p:sp>
      <p:sp>
        <p:nvSpPr>
          <p:cNvPr id="30" name="Rectangle 29"/>
          <p:cNvSpPr/>
          <p:nvPr/>
        </p:nvSpPr>
        <p:spPr>
          <a:xfrm>
            <a:off x="3931920" y="4251959"/>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41648" y="420624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7,487</a:t>
            </a:r>
          </a:p>
        </p:txBody>
      </p:sp>
      <p:sp>
        <p:nvSpPr>
          <p:cNvPr id="32" name="TextBox 31"/>
          <p:cNvSpPr txBox="1"/>
          <p:nvPr/>
        </p:nvSpPr>
        <p:spPr>
          <a:xfrm>
            <a:off x="594360" y="457200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71TC8702</a:t>
            </a:r>
          </a:p>
        </p:txBody>
      </p:sp>
      <p:sp>
        <p:nvSpPr>
          <p:cNvPr id="33" name="TextBox 32"/>
          <p:cNvSpPr txBox="1"/>
          <p:nvPr/>
        </p:nvSpPr>
        <p:spPr>
          <a:xfrm>
            <a:off x="2697479" y="457200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DIU</a:t>
            </a:r>
          </a:p>
        </p:txBody>
      </p:sp>
      <p:sp>
        <p:nvSpPr>
          <p:cNvPr id="34" name="Rectangle 33"/>
          <p:cNvSpPr/>
          <p:nvPr/>
        </p:nvSpPr>
        <p:spPr>
          <a:xfrm>
            <a:off x="3931920" y="461772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41648" y="457200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5,355</a:t>
            </a:r>
          </a:p>
        </p:txBody>
      </p:sp>
      <p:sp>
        <p:nvSpPr>
          <p:cNvPr id="36" name="TextBox 35"/>
          <p:cNvSpPr txBox="1"/>
          <p:nvPr/>
        </p:nvSpPr>
        <p:spPr>
          <a:xfrm>
            <a:off x="594360" y="493776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102PI4457</a:t>
            </a:r>
          </a:p>
        </p:txBody>
      </p:sp>
      <p:sp>
        <p:nvSpPr>
          <p:cNvPr id="37" name="TextBox 36"/>
          <p:cNvSpPr txBox="1"/>
          <p:nvPr/>
        </p:nvSpPr>
        <p:spPr>
          <a:xfrm>
            <a:off x="2697479" y="493776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NSU_NHT_CCR</a:t>
            </a:r>
          </a:p>
        </p:txBody>
      </p:sp>
      <p:sp>
        <p:nvSpPr>
          <p:cNvPr id="38" name="Rectangle 37"/>
          <p:cNvSpPr/>
          <p:nvPr/>
        </p:nvSpPr>
        <p:spPr>
          <a:xfrm>
            <a:off x="3931920" y="498348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41648" y="493776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4,893</a:t>
            </a:r>
          </a:p>
        </p:txBody>
      </p:sp>
      <p:sp>
        <p:nvSpPr>
          <p:cNvPr id="40" name="TextBox 39"/>
          <p:cNvSpPr txBox="1"/>
          <p:nvPr/>
        </p:nvSpPr>
        <p:spPr>
          <a:xfrm>
            <a:off x="594360" y="530352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102PC4602R</a:t>
            </a:r>
          </a:p>
        </p:txBody>
      </p:sp>
      <p:sp>
        <p:nvSpPr>
          <p:cNvPr id="41" name="TextBox 40"/>
          <p:cNvSpPr txBox="1"/>
          <p:nvPr/>
        </p:nvSpPr>
        <p:spPr>
          <a:xfrm>
            <a:off x="2697479" y="530352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NSU_NHT_CCR</a:t>
            </a:r>
          </a:p>
        </p:txBody>
      </p:sp>
      <p:sp>
        <p:nvSpPr>
          <p:cNvPr id="42" name="Rectangle 41"/>
          <p:cNvSpPr/>
          <p:nvPr/>
        </p:nvSpPr>
        <p:spPr>
          <a:xfrm>
            <a:off x="3931920" y="534924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41648" y="530352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4,626</a:t>
            </a:r>
          </a:p>
        </p:txBody>
      </p:sp>
      <p:sp>
        <p:nvSpPr>
          <p:cNvPr id="44" name="TextBox 43"/>
          <p:cNvSpPr txBox="1"/>
          <p:nvPr/>
        </p:nvSpPr>
        <p:spPr>
          <a:xfrm>
            <a:off x="594360" y="5669280"/>
            <a:ext cx="2103120" cy="274320"/>
          </a:xfrm>
          <a:prstGeom prst="rect">
            <a:avLst/>
          </a:prstGeom>
          <a:noFill/>
        </p:spPr>
        <p:txBody>
          <a:bodyPr wrap="square" lIns="0" rIns="0" tIns="0" bIns="0" anchor="t">
            <a:noAutofit/>
          </a:bodyPr>
          <a:lstStyle/>
          <a:p>
            <a:pPr algn="l">
              <a:lnSpc>
                <a:spcPct val="108000"/>
              </a:lnSpc>
            </a:pPr>
            <a:r>
              <a:rPr sz="1100" b="0" i="0">
                <a:solidFill>
                  <a:srgbClr val="292D32"/>
                </a:solidFill>
                <a:latin typeface="Calibri"/>
              </a:rPr>
              <a:t>41TI41116B</a:t>
            </a:r>
          </a:p>
        </p:txBody>
      </p:sp>
      <p:sp>
        <p:nvSpPr>
          <p:cNvPr id="45" name="TextBox 44"/>
          <p:cNvSpPr txBox="1"/>
          <p:nvPr/>
        </p:nvSpPr>
        <p:spPr>
          <a:xfrm>
            <a:off x="2697479" y="5669280"/>
            <a:ext cx="1188720" cy="274320"/>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PDA</a:t>
            </a:r>
          </a:p>
        </p:txBody>
      </p:sp>
      <p:sp>
        <p:nvSpPr>
          <p:cNvPr id="46" name="Rectangle 45"/>
          <p:cNvSpPr/>
          <p:nvPr/>
        </p:nvSpPr>
        <p:spPr>
          <a:xfrm>
            <a:off x="3931920" y="5715000"/>
            <a:ext cx="18288"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41648" y="5669280"/>
            <a:ext cx="1371600" cy="274320"/>
          </a:xfrm>
          <a:prstGeom prst="rect">
            <a:avLst/>
          </a:prstGeom>
          <a:noFill/>
        </p:spPr>
        <p:txBody>
          <a:bodyPr wrap="square" lIns="0" rIns="0" tIns="0" bIns="0" anchor="t">
            <a:noAutofit/>
          </a:bodyPr>
          <a:lstStyle/>
          <a:p>
            <a:pPr algn="l">
              <a:lnSpc>
                <a:spcPct val="108000"/>
              </a:lnSpc>
            </a:pPr>
            <a:r>
              <a:rPr sz="1050" b="0" i="0">
                <a:solidFill>
                  <a:srgbClr val="292D32"/>
                </a:solidFill>
                <a:latin typeface="Calibri"/>
              </a:rPr>
              <a:t>4,076</a:t>
            </a:r>
          </a:p>
        </p:txBody>
      </p:sp>
      <p:sp>
        <p:nvSpPr>
          <p:cNvPr id="48" name="TextBox 47"/>
          <p:cNvSpPr txBox="1"/>
          <p:nvPr/>
        </p:nvSpPr>
        <p:spPr>
          <a:xfrm>
            <a:off x="8778240" y="1965960"/>
            <a:ext cx="2816352" cy="495300"/>
          </a:xfrm>
          <a:prstGeom prst="rect">
            <a:avLst/>
          </a:prstGeom>
          <a:noFill/>
        </p:spPr>
        <p:txBody>
          <a:bodyPr wrap="square" lIns="0" rIns="0" tIns="0" bIns="0" anchor="t">
            <a:noAutofit/>
          </a:bodyPr>
          <a:lstStyle/>
          <a:p>
            <a:pPr algn="l">
              <a:lnSpc>
                <a:spcPct val="108000"/>
              </a:lnSpc>
            </a:pPr>
            <a:r>
              <a:rPr sz="3000" b="0" i="0">
                <a:solidFill>
                  <a:srgbClr val="B79A5B"/>
                </a:solidFill>
                <a:latin typeface="Georgia"/>
              </a:rPr>
              <a:t>≈100 %</a:t>
            </a:r>
          </a:p>
        </p:txBody>
      </p:sp>
      <p:sp>
        <p:nvSpPr>
          <p:cNvPr id="49" name="TextBox 48"/>
          <p:cNvSpPr txBox="1"/>
          <p:nvPr/>
        </p:nvSpPr>
        <p:spPr>
          <a:xfrm>
            <a:off x="8778240" y="2479548"/>
            <a:ext cx="2816352"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the peak comes from this one tag</a:t>
            </a:r>
          </a:p>
        </p:txBody>
      </p:sp>
      <p:sp>
        <p:nvSpPr>
          <p:cNvPr id="50" name="TextBox 49"/>
          <p:cNvSpPr txBox="1"/>
          <p:nvPr/>
        </p:nvSpPr>
        <p:spPr>
          <a:xfrm>
            <a:off x="8778240" y="3063240"/>
            <a:ext cx="281635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0.09 to 169</a:t>
            </a:r>
          </a:p>
        </p:txBody>
      </p:sp>
      <p:sp>
        <p:nvSpPr>
          <p:cNvPr id="51" name="TextBox 50"/>
          <p:cNvSpPr txBox="1"/>
          <p:nvPr/>
        </p:nvSpPr>
        <p:spPr>
          <a:xfrm>
            <a:off x="8778240" y="3477768"/>
            <a:ext cx="2816352"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range of the tag over the year</a:t>
            </a:r>
          </a:p>
        </p:txBody>
      </p:sp>
      <p:sp>
        <p:nvSpPr>
          <p:cNvPr id="52" name="TextBox 51"/>
          <p:cNvSpPr txBox="1"/>
          <p:nvPr/>
        </p:nvSpPr>
        <p:spPr>
          <a:xfrm>
            <a:off x="8778240" y="4069080"/>
            <a:ext cx="281635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40 %</a:t>
            </a:r>
          </a:p>
        </p:txBody>
      </p:sp>
      <p:sp>
        <p:nvSpPr>
          <p:cNvPr id="53" name="TextBox 52"/>
          <p:cNvSpPr txBox="1"/>
          <p:nvPr/>
        </p:nvSpPr>
        <p:spPr>
          <a:xfrm>
            <a:off x="8778240" y="4483608"/>
            <a:ext cx="2816352" cy="2743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of its samples look like outliers</a:t>
            </a:r>
          </a:p>
        </p:txBody>
      </p:sp>
      <p:sp>
        <p:nvSpPr>
          <p:cNvPr id="54" name="Rectangle 53"/>
          <p:cNvSpPr/>
          <p:nvPr/>
        </p:nvSpPr>
        <p:spPr>
          <a:xfrm>
            <a:off x="8778240" y="5120640"/>
            <a:ext cx="54864" cy="1097280"/>
          </a:xfrm>
          <a:prstGeom prst="rect">
            <a:avLst/>
          </a:prstGeom>
          <a:solidFill>
            <a:srgbClr val="B7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79408" y="5120640"/>
            <a:ext cx="2615184" cy="1097280"/>
          </a:xfrm>
          <a:prstGeom prst="rect">
            <a:avLst/>
          </a:prstGeom>
          <a:noFill/>
        </p:spPr>
        <p:txBody>
          <a:bodyPr wrap="square" lIns="0" rIns="0" tIns="0" bIns="0" anchor="ctr">
            <a:noAutofit/>
          </a:bodyPr>
          <a:lstStyle/>
          <a:p>
            <a:pPr algn="l">
              <a:lnSpc>
                <a:spcPct val="108000"/>
              </a:lnSpc>
            </a:pPr>
            <a:r>
              <a:rPr sz="1200" b="0" i="0">
                <a:solidFill>
                  <a:srgbClr val="292D32"/>
                </a:solidFill>
                <a:latin typeface="Calibri"/>
              </a:rPr>
              <a:t>Check this tag with operations: a sensor fault or a real change.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DETECTION SCORES</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The detection scores look good, but they do not mean much yet</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pca_pc_t2/outputs/tables/detection_metrics.csv, flare_detection.csv; RESULTS.md</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10</a:t>
            </a:r>
          </a:p>
        </p:txBody>
      </p:sp>
      <p:sp>
        <p:nvSpPr>
          <p:cNvPr id="7" name="TextBox 6"/>
          <p:cNvSpPr txBox="1"/>
          <p:nvPr/>
        </p:nvSpPr>
        <p:spPr>
          <a:xfrm>
            <a:off x="594360" y="1965960"/>
            <a:ext cx="4206240" cy="274320"/>
          </a:xfrm>
          <a:prstGeom prst="rect">
            <a:avLst/>
          </a:prstGeom>
          <a:noFill/>
        </p:spPr>
        <p:txBody>
          <a:bodyPr wrap="square" lIns="0" rIns="0" tIns="0" bIns="0" anchor="t">
            <a:noAutofit/>
          </a:bodyPr>
          <a:lstStyle/>
          <a:p>
            <a:pPr algn="l">
              <a:lnSpc>
                <a:spcPct val="108000"/>
              </a:lnSpc>
            </a:pPr>
            <a:r>
              <a:rPr sz="1300" b="1" i="0">
                <a:solidFill>
                  <a:srgbClr val="5F656B"/>
                </a:solidFill>
                <a:latin typeface="Calibri"/>
              </a:rPr>
              <a:t>What the run reported</a:t>
            </a:r>
          </a:p>
        </p:txBody>
      </p:sp>
      <p:sp>
        <p:nvSpPr>
          <p:cNvPr id="8" name="TextBox 7"/>
          <p:cNvSpPr txBox="1"/>
          <p:nvPr/>
        </p:nvSpPr>
        <p:spPr>
          <a:xfrm>
            <a:off x="5669280" y="1965960"/>
            <a:ext cx="5925312" cy="274320"/>
          </a:xfrm>
          <a:prstGeom prst="rect">
            <a:avLst/>
          </a:prstGeom>
          <a:noFill/>
        </p:spPr>
        <p:txBody>
          <a:bodyPr wrap="square" lIns="0" rIns="0" tIns="0" bIns="0" anchor="t">
            <a:noAutofit/>
          </a:bodyPr>
          <a:lstStyle/>
          <a:p>
            <a:pPr algn="l">
              <a:lnSpc>
                <a:spcPct val="108000"/>
              </a:lnSpc>
            </a:pPr>
            <a:r>
              <a:rPr sz="1300" b="1" i="0">
                <a:solidFill>
                  <a:srgbClr val="174A3A"/>
                </a:solidFill>
                <a:latin typeface="Calibri"/>
              </a:rPr>
              <a:t>Why it does not hold</a:t>
            </a:r>
          </a:p>
        </p:txBody>
      </p:sp>
      <p:sp>
        <p:nvSpPr>
          <p:cNvPr id="9" name="Rectangle 8"/>
          <p:cNvSpPr/>
          <p:nvPr/>
        </p:nvSpPr>
        <p:spPr>
          <a:xfrm>
            <a:off x="594360" y="2468880"/>
            <a:ext cx="4206240" cy="100584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42032"/>
            <a:ext cx="3840480" cy="502920"/>
          </a:xfrm>
          <a:prstGeom prst="rect">
            <a:avLst/>
          </a:prstGeom>
          <a:noFill/>
        </p:spPr>
        <p:txBody>
          <a:bodyPr wrap="square" lIns="0" rIns="0" tIns="0" bIns="0" anchor="t">
            <a:noAutofit/>
          </a:bodyPr>
          <a:lstStyle/>
          <a:p>
            <a:pPr algn="l">
              <a:lnSpc>
                <a:spcPct val="108000"/>
              </a:lnSpc>
            </a:pPr>
            <a:r>
              <a:rPr sz="2800" b="0" i="0">
                <a:solidFill>
                  <a:srgbClr val="174A3A"/>
                </a:solidFill>
                <a:latin typeface="Georgia"/>
              </a:rPr>
              <a:t>2 of 2</a:t>
            </a:r>
          </a:p>
        </p:txBody>
      </p:sp>
      <p:sp>
        <p:nvSpPr>
          <p:cNvPr id="11" name="TextBox 10"/>
          <p:cNvSpPr txBox="1"/>
          <p:nvPr/>
        </p:nvSpPr>
        <p:spPr>
          <a:xfrm>
            <a:off x="777240" y="3072384"/>
            <a:ext cx="3840480" cy="320040"/>
          </a:xfrm>
          <a:prstGeom prst="rect">
            <a:avLst/>
          </a:prstGeom>
          <a:noFill/>
        </p:spPr>
        <p:txBody>
          <a:bodyPr wrap="square" lIns="0" rIns="0" tIns="0" bIns="0" anchor="t">
            <a:noAutofit/>
          </a:bodyPr>
          <a:lstStyle/>
          <a:p>
            <a:pPr algn="l">
              <a:lnSpc>
                <a:spcPct val="108000"/>
              </a:lnSpc>
            </a:pPr>
            <a:r>
              <a:rPr sz="1200" b="0" i="0">
                <a:solidFill>
                  <a:srgbClr val="5F656B"/>
                </a:solidFill>
                <a:latin typeface="Calibri"/>
              </a:rPr>
              <a:t>flares detected</a:t>
            </a:r>
          </a:p>
        </p:txBody>
      </p:sp>
      <p:cxnSp>
        <p:nvCxnSpPr>
          <p:cNvPr id="12" name="Connector 11"/>
          <p:cNvCxnSpPr/>
          <p:nvPr/>
        </p:nvCxnSpPr>
        <p:spPr>
          <a:xfrm>
            <a:off x="4937760" y="2971800"/>
            <a:ext cx="548640" cy="0"/>
          </a:xfrm>
          <a:prstGeom prst="line">
            <a:avLst/>
          </a:prstGeom>
          <a:ln w="19050">
            <a:solidFill>
              <a:srgbClr val="5F65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0" y="2468880"/>
            <a:ext cx="5925312" cy="1005840"/>
          </a:xfrm>
          <a:prstGeom prst="rect">
            <a:avLst/>
          </a:prstGeom>
          <a:noFill/>
        </p:spPr>
        <p:txBody>
          <a:bodyPr wrap="square" lIns="0" rIns="0" tIns="0" bIns="0" anchor="ctr">
            <a:noAutofit/>
          </a:bodyPr>
          <a:lstStyle/>
          <a:p>
            <a:pPr algn="l">
              <a:lnSpc>
                <a:spcPct val="108000"/>
              </a:lnSpc>
            </a:pPr>
            <a:r>
              <a:rPr sz="1400" b="0" i="0">
                <a:solidFill>
                  <a:srgbClr val="292D32"/>
                </a:solidFill>
                <a:latin typeface="Calibri"/>
              </a:rPr>
              <a:t>The 2 'flares' are windows of 82 and 318 days. Any alarm will hit them.</a:t>
            </a:r>
          </a:p>
        </p:txBody>
      </p:sp>
      <p:sp>
        <p:nvSpPr>
          <p:cNvPr id="14" name="Rectangle 13"/>
          <p:cNvSpPr/>
          <p:nvPr/>
        </p:nvSpPr>
        <p:spPr>
          <a:xfrm>
            <a:off x="594360" y="3657600"/>
            <a:ext cx="4206240" cy="100584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730752"/>
            <a:ext cx="3840480" cy="502920"/>
          </a:xfrm>
          <a:prstGeom prst="rect">
            <a:avLst/>
          </a:prstGeom>
          <a:noFill/>
        </p:spPr>
        <p:txBody>
          <a:bodyPr wrap="square" lIns="0" rIns="0" tIns="0" bIns="0" anchor="t">
            <a:noAutofit/>
          </a:bodyPr>
          <a:lstStyle/>
          <a:p>
            <a:pPr algn="l">
              <a:lnSpc>
                <a:spcPct val="108000"/>
              </a:lnSpc>
            </a:pPr>
            <a:r>
              <a:rPr sz="2800" b="0" i="0">
                <a:solidFill>
                  <a:srgbClr val="174A3A"/>
                </a:solidFill>
                <a:latin typeface="Georgia"/>
              </a:rPr>
              <a:t>2.5 h</a:t>
            </a:r>
          </a:p>
        </p:txBody>
      </p:sp>
      <p:sp>
        <p:nvSpPr>
          <p:cNvPr id="16" name="TextBox 15"/>
          <p:cNvSpPr txBox="1"/>
          <p:nvPr/>
        </p:nvSpPr>
        <p:spPr>
          <a:xfrm>
            <a:off x="777240" y="4261104"/>
            <a:ext cx="3840480" cy="320040"/>
          </a:xfrm>
          <a:prstGeom prst="rect">
            <a:avLst/>
          </a:prstGeom>
          <a:noFill/>
        </p:spPr>
        <p:txBody>
          <a:bodyPr wrap="square" lIns="0" rIns="0" tIns="0" bIns="0" anchor="t">
            <a:noAutofit/>
          </a:bodyPr>
          <a:lstStyle/>
          <a:p>
            <a:pPr algn="l">
              <a:lnSpc>
                <a:spcPct val="108000"/>
              </a:lnSpc>
            </a:pPr>
            <a:r>
              <a:rPr sz="1200" b="0" i="0">
                <a:solidFill>
                  <a:srgbClr val="5F656B"/>
                </a:solidFill>
                <a:latin typeface="Calibri"/>
              </a:rPr>
              <a:t>median warning before a flare starts</a:t>
            </a:r>
          </a:p>
        </p:txBody>
      </p:sp>
      <p:cxnSp>
        <p:nvCxnSpPr>
          <p:cNvPr id="17" name="Connector 16"/>
          <p:cNvCxnSpPr/>
          <p:nvPr/>
        </p:nvCxnSpPr>
        <p:spPr>
          <a:xfrm>
            <a:off x="4937760" y="4160520"/>
            <a:ext cx="548640" cy="0"/>
          </a:xfrm>
          <a:prstGeom prst="line">
            <a:avLst/>
          </a:prstGeom>
          <a:ln w="19050">
            <a:solidFill>
              <a:srgbClr val="5F65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0" y="3657600"/>
            <a:ext cx="5925312" cy="1005840"/>
          </a:xfrm>
          <a:prstGeom prst="rect">
            <a:avLst/>
          </a:prstGeom>
          <a:noFill/>
        </p:spPr>
        <p:txBody>
          <a:bodyPr wrap="square" lIns="0" rIns="0" tIns="0" bIns="0" anchor="ctr">
            <a:noAutofit/>
          </a:bodyPr>
          <a:lstStyle/>
          <a:p>
            <a:pPr algn="l">
              <a:lnSpc>
                <a:spcPct val="108000"/>
              </a:lnSpc>
            </a:pPr>
            <a:r>
              <a:rPr sz="1400" b="0" i="0">
                <a:solidFill>
                  <a:srgbClr val="292D32"/>
                </a:solidFill>
                <a:latin typeface="Calibri"/>
              </a:rPr>
              <a:t>The alarm is on 99.4% of the time, so it is always early.</a:t>
            </a:r>
          </a:p>
        </p:txBody>
      </p:sp>
      <p:sp>
        <p:nvSpPr>
          <p:cNvPr id="19" name="Rectangle 18"/>
          <p:cNvSpPr/>
          <p:nvPr/>
        </p:nvSpPr>
        <p:spPr>
          <a:xfrm>
            <a:off x="594360" y="4846320"/>
            <a:ext cx="4206240" cy="100584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19472"/>
            <a:ext cx="3840480" cy="502920"/>
          </a:xfrm>
          <a:prstGeom prst="rect">
            <a:avLst/>
          </a:prstGeom>
          <a:noFill/>
        </p:spPr>
        <p:txBody>
          <a:bodyPr wrap="square" lIns="0" rIns="0" tIns="0" bIns="0" anchor="t">
            <a:noAutofit/>
          </a:bodyPr>
          <a:lstStyle/>
          <a:p>
            <a:pPr algn="l">
              <a:lnSpc>
                <a:spcPct val="108000"/>
              </a:lnSpc>
            </a:pPr>
            <a:r>
              <a:rPr sz="2800" b="0" i="0">
                <a:solidFill>
                  <a:srgbClr val="174A3A"/>
                </a:solidFill>
                <a:latin typeface="Georgia"/>
              </a:rPr>
              <a:t>0.75</a:t>
            </a:r>
          </a:p>
        </p:txBody>
      </p:sp>
      <p:sp>
        <p:nvSpPr>
          <p:cNvPr id="21" name="TextBox 20"/>
          <p:cNvSpPr txBox="1"/>
          <p:nvPr/>
        </p:nvSpPr>
        <p:spPr>
          <a:xfrm>
            <a:off x="777240" y="5449824"/>
            <a:ext cx="3840480" cy="320040"/>
          </a:xfrm>
          <a:prstGeom prst="rect">
            <a:avLst/>
          </a:prstGeom>
          <a:noFill/>
        </p:spPr>
        <p:txBody>
          <a:bodyPr wrap="square" lIns="0" rIns="0" tIns="0" bIns="0" anchor="t">
            <a:noAutofit/>
          </a:bodyPr>
          <a:lstStyle/>
          <a:p>
            <a:pPr algn="l">
              <a:lnSpc>
                <a:spcPct val="108000"/>
              </a:lnSpc>
            </a:pPr>
            <a:r>
              <a:rPr sz="1200" b="0" i="0">
                <a:solidFill>
                  <a:srgbClr val="5F656B"/>
                </a:solidFill>
                <a:latin typeface="Calibri"/>
              </a:rPr>
              <a:t>AUC for T²</a:t>
            </a:r>
          </a:p>
        </p:txBody>
      </p:sp>
      <p:cxnSp>
        <p:nvCxnSpPr>
          <p:cNvPr id="22" name="Connector 21"/>
          <p:cNvCxnSpPr/>
          <p:nvPr/>
        </p:nvCxnSpPr>
        <p:spPr>
          <a:xfrm>
            <a:off x="4937760" y="5349240"/>
            <a:ext cx="548640" cy="0"/>
          </a:xfrm>
          <a:prstGeom prst="line">
            <a:avLst/>
          </a:prstGeom>
          <a:ln w="19050">
            <a:solidFill>
              <a:srgbClr val="5F65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0" y="4846320"/>
            <a:ext cx="5925312" cy="1005840"/>
          </a:xfrm>
          <a:prstGeom prst="rect">
            <a:avLst/>
          </a:prstGeom>
          <a:noFill/>
        </p:spPr>
        <p:txBody>
          <a:bodyPr wrap="square" lIns="0" rIns="0" tIns="0" bIns="0" anchor="ctr">
            <a:noAutofit/>
          </a:bodyPr>
          <a:lstStyle/>
          <a:p>
            <a:pPr algn="l">
              <a:lnSpc>
                <a:spcPct val="108000"/>
              </a:lnSpc>
            </a:pPr>
            <a:r>
              <a:rPr sz="1400" b="0" i="0">
                <a:solidFill>
                  <a:srgbClr val="292D32"/>
                </a:solidFill>
                <a:latin typeface="Calibri"/>
              </a:rPr>
              <a:t>Only 516 non-flare minutes are left to score against, and 70% of them raise an alarm.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PC ALGORITHM</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The PC algorithm found no links on the training data, as expected</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pca_pc_t2/outputs/tables/pc_variants_summary.csv, fig14_pc_sensitivity.csv; RESULTS.md section 3</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11</a:t>
            </a:r>
          </a:p>
        </p:txBody>
      </p:sp>
      <p:sp>
        <p:nvSpPr>
          <p:cNvPr id="7" name="TextBox 6"/>
          <p:cNvSpPr txBox="1"/>
          <p:nvPr/>
        </p:nvSpPr>
        <p:spPr>
          <a:xfrm>
            <a:off x="594360" y="2194560"/>
            <a:ext cx="3017520" cy="45720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Training data (planned)</a:t>
            </a:r>
          </a:p>
        </p:txBody>
      </p:sp>
      <p:sp>
        <p:nvSpPr>
          <p:cNvPr id="8" name="Rectangle 7"/>
          <p:cNvSpPr/>
          <p:nvPr/>
        </p:nvSpPr>
        <p:spPr>
          <a:xfrm>
            <a:off x="3657600" y="2167128"/>
            <a:ext cx="27432" cy="20116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2130552"/>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0</a:t>
            </a:r>
          </a:p>
        </p:txBody>
      </p:sp>
      <p:sp>
        <p:nvSpPr>
          <p:cNvPr id="10" name="Rectangle 9"/>
          <p:cNvSpPr/>
          <p:nvPr/>
        </p:nvSpPr>
        <p:spPr>
          <a:xfrm>
            <a:off x="3657600" y="2423160"/>
            <a:ext cx="27432"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6472" y="2386584"/>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0</a:t>
            </a:r>
          </a:p>
        </p:txBody>
      </p:sp>
      <p:sp>
        <p:nvSpPr>
          <p:cNvPr id="12" name="TextBox 11"/>
          <p:cNvSpPr txBox="1"/>
          <p:nvPr/>
        </p:nvSpPr>
        <p:spPr>
          <a:xfrm>
            <a:off x="594360" y="2880360"/>
            <a:ext cx="3017520" cy="457200"/>
          </a:xfrm>
          <a:prstGeom prst="rect">
            <a:avLst/>
          </a:prstGeom>
          <a:noFill/>
        </p:spPr>
        <p:txBody>
          <a:bodyPr wrap="square" lIns="0" rIns="0" tIns="0" bIns="0" anchor="t">
            <a:noAutofit/>
          </a:bodyPr>
          <a:lstStyle/>
          <a:p>
            <a:pPr algn="l">
              <a:lnSpc>
                <a:spcPct val="108000"/>
              </a:lnSpc>
            </a:pPr>
            <a:r>
              <a:rPr sz="1200" b="1" i="0">
                <a:solidFill>
                  <a:srgbClr val="292D32"/>
                </a:solidFill>
                <a:latin typeface="Calibri"/>
              </a:rPr>
              <a:t>Test data (final graph)</a:t>
            </a:r>
          </a:p>
        </p:txBody>
      </p:sp>
      <p:sp>
        <p:nvSpPr>
          <p:cNvPr id="13" name="Rectangle 12"/>
          <p:cNvSpPr/>
          <p:nvPr/>
        </p:nvSpPr>
        <p:spPr>
          <a:xfrm>
            <a:off x="3657600" y="2852928"/>
            <a:ext cx="2438400" cy="20116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7439" y="2816352"/>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48</a:t>
            </a:r>
          </a:p>
        </p:txBody>
      </p:sp>
      <p:sp>
        <p:nvSpPr>
          <p:cNvPr id="15" name="Rectangle 14"/>
          <p:cNvSpPr/>
          <p:nvPr/>
        </p:nvSpPr>
        <p:spPr>
          <a:xfrm>
            <a:off x="3657600" y="3108960"/>
            <a:ext cx="2743200"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072384"/>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54</a:t>
            </a:r>
          </a:p>
        </p:txBody>
      </p:sp>
      <p:sp>
        <p:nvSpPr>
          <p:cNvPr id="17" name="TextBox 16"/>
          <p:cNvSpPr txBox="1"/>
          <p:nvPr/>
        </p:nvSpPr>
        <p:spPr>
          <a:xfrm>
            <a:off x="594360" y="3566160"/>
            <a:ext cx="3017520" cy="45720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Flare rows only</a:t>
            </a:r>
          </a:p>
        </p:txBody>
      </p:sp>
      <p:sp>
        <p:nvSpPr>
          <p:cNvPr id="18" name="Rectangle 17"/>
          <p:cNvSpPr/>
          <p:nvPr/>
        </p:nvSpPr>
        <p:spPr>
          <a:xfrm>
            <a:off x="3657600" y="3538728"/>
            <a:ext cx="2590799" cy="20116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9839" y="3502152"/>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51</a:t>
            </a:r>
          </a:p>
        </p:txBody>
      </p:sp>
      <p:sp>
        <p:nvSpPr>
          <p:cNvPr id="20" name="Rectangle 19"/>
          <p:cNvSpPr/>
          <p:nvPr/>
        </p:nvSpPr>
        <p:spPr>
          <a:xfrm>
            <a:off x="3657600" y="3794759"/>
            <a:ext cx="2794000"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3039" y="3758184"/>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55</a:t>
            </a:r>
          </a:p>
        </p:txBody>
      </p:sp>
      <p:sp>
        <p:nvSpPr>
          <p:cNvPr id="22" name="TextBox 21"/>
          <p:cNvSpPr txBox="1"/>
          <p:nvPr/>
        </p:nvSpPr>
        <p:spPr>
          <a:xfrm>
            <a:off x="594360" y="4251959"/>
            <a:ext cx="3017520" cy="45720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Nonlinear test, 300 training rows</a:t>
            </a:r>
          </a:p>
        </p:txBody>
      </p:sp>
      <p:sp>
        <p:nvSpPr>
          <p:cNvPr id="23" name="Rectangle 22"/>
          <p:cNvSpPr/>
          <p:nvPr/>
        </p:nvSpPr>
        <p:spPr>
          <a:xfrm>
            <a:off x="3657600" y="4224527"/>
            <a:ext cx="863600" cy="20116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2640" y="4187952"/>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17</a:t>
            </a:r>
          </a:p>
        </p:txBody>
      </p:sp>
      <p:sp>
        <p:nvSpPr>
          <p:cNvPr id="25" name="TextBox 24"/>
          <p:cNvSpPr txBox="1"/>
          <p:nvPr/>
        </p:nvSpPr>
        <p:spPr>
          <a:xfrm>
            <a:off x="3749039" y="4462272"/>
            <a:ext cx="1828800" cy="237744"/>
          </a:xfrm>
          <a:prstGeom prst="rect">
            <a:avLst/>
          </a:prstGeom>
          <a:noFill/>
        </p:spPr>
        <p:txBody>
          <a:bodyPr wrap="square" lIns="0" rIns="0" tIns="0" bIns="0" anchor="t">
            <a:noAutofit/>
          </a:bodyPr>
          <a:lstStyle/>
          <a:p>
            <a:pPr algn="l">
              <a:lnSpc>
                <a:spcPct val="108000"/>
              </a:lnSpc>
            </a:pPr>
            <a:r>
              <a:rPr sz="1000" b="0" i="0">
                <a:solidFill>
                  <a:srgbClr val="5F656B"/>
                </a:solidFill>
                <a:latin typeface="Calibri"/>
              </a:rPr>
              <a:t>not run</a:t>
            </a:r>
          </a:p>
        </p:txBody>
      </p:sp>
      <p:sp>
        <p:nvSpPr>
          <p:cNvPr id="26" name="TextBox 25"/>
          <p:cNvSpPr txBox="1"/>
          <p:nvPr/>
        </p:nvSpPr>
        <p:spPr>
          <a:xfrm>
            <a:off x="594360" y="4937759"/>
            <a:ext cx="3017520" cy="45720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With time lags (check only)</a:t>
            </a:r>
          </a:p>
        </p:txBody>
      </p:sp>
      <p:sp>
        <p:nvSpPr>
          <p:cNvPr id="27" name="Rectangle 26"/>
          <p:cNvSpPr/>
          <p:nvPr/>
        </p:nvSpPr>
        <p:spPr>
          <a:xfrm>
            <a:off x="3657600" y="4910327"/>
            <a:ext cx="4318000" cy="201168"/>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7040" y="4873752"/>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85</a:t>
            </a:r>
          </a:p>
        </p:txBody>
      </p:sp>
      <p:sp>
        <p:nvSpPr>
          <p:cNvPr id="29" name="Rectangle 28"/>
          <p:cNvSpPr/>
          <p:nvPr/>
        </p:nvSpPr>
        <p:spPr>
          <a:xfrm>
            <a:off x="3657600" y="5166359"/>
            <a:ext cx="4114800" cy="201168"/>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5129784"/>
            <a:ext cx="548640" cy="237744"/>
          </a:xfrm>
          <a:prstGeom prst="rect">
            <a:avLst/>
          </a:prstGeom>
          <a:noFill/>
        </p:spPr>
        <p:txBody>
          <a:bodyPr wrap="square" lIns="0" rIns="0" tIns="0" bIns="0" anchor="t">
            <a:noAutofit/>
          </a:bodyPr>
          <a:lstStyle/>
          <a:p>
            <a:pPr algn="l">
              <a:lnSpc>
                <a:spcPct val="108000"/>
              </a:lnSpc>
            </a:pPr>
            <a:r>
              <a:rPr sz="1100" b="1" i="0">
                <a:solidFill>
                  <a:srgbClr val="292D32"/>
                </a:solidFill>
                <a:latin typeface="Calibri"/>
              </a:rPr>
              <a:t>81</a:t>
            </a:r>
          </a:p>
        </p:txBody>
      </p:sp>
      <p:sp>
        <p:nvSpPr>
          <p:cNvPr id="31" name="Rectangle 30"/>
          <p:cNvSpPr/>
          <p:nvPr/>
        </p:nvSpPr>
        <p:spPr>
          <a:xfrm>
            <a:off x="3657600" y="5669280"/>
            <a:ext cx="164592" cy="128016"/>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86200" y="5614416"/>
            <a:ext cx="914400" cy="237744"/>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α = 0.05</a:t>
            </a:r>
          </a:p>
        </p:txBody>
      </p:sp>
      <p:sp>
        <p:nvSpPr>
          <p:cNvPr id="33" name="Rectangle 32"/>
          <p:cNvSpPr/>
          <p:nvPr/>
        </p:nvSpPr>
        <p:spPr>
          <a:xfrm>
            <a:off x="4846320" y="5669280"/>
            <a:ext cx="164592" cy="128016"/>
          </a:xfrm>
          <a:prstGeom prst="rect">
            <a:avLst/>
          </a:prstGeom>
          <a:solidFill>
            <a:srgbClr val="8D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5614416"/>
            <a:ext cx="914400" cy="237744"/>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α = 0.01</a:t>
            </a:r>
          </a:p>
        </p:txBody>
      </p:sp>
      <p:sp>
        <p:nvSpPr>
          <p:cNvPr id="35" name="TextBox 34"/>
          <p:cNvSpPr txBox="1"/>
          <p:nvPr/>
        </p:nvSpPr>
        <p:spPr>
          <a:xfrm>
            <a:off x="594360" y="5614416"/>
            <a:ext cx="3017520" cy="237744"/>
          </a:xfrm>
          <a:prstGeom prst="rect">
            <a:avLst/>
          </a:prstGeom>
          <a:noFill/>
        </p:spPr>
        <p:txBody>
          <a:bodyPr wrap="square" lIns="0" rIns="0" tIns="0" bIns="0" anchor="t">
            <a:noAutofit/>
          </a:bodyPr>
          <a:lstStyle/>
          <a:p>
            <a:pPr algn="l">
              <a:lnSpc>
                <a:spcPct val="108000"/>
              </a:lnSpc>
            </a:pPr>
            <a:r>
              <a:rPr sz="1050" b="0" i="0">
                <a:solidFill>
                  <a:srgbClr val="5F656B"/>
                </a:solidFill>
                <a:latin typeface="Calibri"/>
              </a:rPr>
              <a:t>Number of links found</a:t>
            </a:r>
          </a:p>
        </p:txBody>
      </p:sp>
      <p:sp>
        <p:nvSpPr>
          <p:cNvPr id="36" name="TextBox 35"/>
          <p:cNvSpPr txBox="1"/>
          <p:nvPr/>
        </p:nvSpPr>
        <p:spPr>
          <a:xfrm>
            <a:off x="8778240" y="2011680"/>
            <a:ext cx="2816352" cy="1280160"/>
          </a:xfrm>
          <a:prstGeom prst="rect">
            <a:avLst/>
          </a:prstGeom>
          <a:noFill/>
        </p:spPr>
        <p:txBody>
          <a:bodyPr wrap="square" lIns="0" rIns="0" tIns="0" bIns="0" anchor="t">
            <a:noAutofit/>
          </a:bodyPr>
          <a:lstStyle/>
          <a:p>
            <a:pPr algn="l">
              <a:lnSpc>
                <a:spcPct val="108000"/>
              </a:lnSpc>
            </a:pPr>
            <a:r>
              <a:rPr sz="1250" b="0" i="0">
                <a:solidFill>
                  <a:srgbClr val="292D32"/>
                </a:solidFill>
                <a:latin typeface="Calibri"/>
              </a:rPr>
              <a:t>Training data gives 0 links because PCA makes the components uncorrelated there.</a:t>
            </a:r>
          </a:p>
        </p:txBody>
      </p:sp>
      <p:sp>
        <p:nvSpPr>
          <p:cNvPr id="37" name="TextBox 36"/>
          <p:cNvSpPr txBox="1"/>
          <p:nvPr/>
        </p:nvSpPr>
        <p:spPr>
          <a:xfrm>
            <a:off x="8778240" y="3246120"/>
            <a:ext cx="281635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16 of 48</a:t>
            </a:r>
          </a:p>
        </p:txBody>
      </p:sp>
      <p:sp>
        <p:nvSpPr>
          <p:cNvPr id="38" name="TextBox 37"/>
          <p:cNvSpPr txBox="1"/>
          <p:nvPr/>
        </p:nvSpPr>
        <p:spPr>
          <a:xfrm>
            <a:off x="8778240" y="3660647"/>
            <a:ext cx="2816352" cy="5029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links in the final graph appear in at least 70% of 10 resamples</a:t>
            </a:r>
          </a:p>
        </p:txBody>
      </p:sp>
      <p:sp>
        <p:nvSpPr>
          <p:cNvPr id="39" name="TextBox 38"/>
          <p:cNvSpPr txBox="1"/>
          <p:nvPr/>
        </p:nvSpPr>
        <p:spPr>
          <a:xfrm>
            <a:off x="8778240" y="4480560"/>
            <a:ext cx="2816352" cy="396240"/>
          </a:xfrm>
          <a:prstGeom prst="rect">
            <a:avLst/>
          </a:prstGeom>
          <a:noFill/>
        </p:spPr>
        <p:txBody>
          <a:bodyPr wrap="square" lIns="0" rIns="0" tIns="0" bIns="0" anchor="t">
            <a:noAutofit/>
          </a:bodyPr>
          <a:lstStyle/>
          <a:p>
            <a:pPr algn="l">
              <a:lnSpc>
                <a:spcPct val="108000"/>
              </a:lnSpc>
            </a:pPr>
            <a:r>
              <a:rPr sz="2400" b="0" i="0">
                <a:solidFill>
                  <a:srgbClr val="174A3A"/>
                </a:solidFill>
                <a:latin typeface="Georgia"/>
              </a:rPr>
              <a:t>0.62</a:t>
            </a:r>
          </a:p>
        </p:txBody>
      </p:sp>
      <p:sp>
        <p:nvSpPr>
          <p:cNvPr id="40" name="TextBox 39"/>
          <p:cNvSpPr txBox="1"/>
          <p:nvPr/>
        </p:nvSpPr>
        <p:spPr>
          <a:xfrm>
            <a:off x="8778240" y="4895088"/>
            <a:ext cx="2816352" cy="502920"/>
          </a:xfrm>
          <a:prstGeom prst="rect">
            <a:avLst/>
          </a:prstGeom>
          <a:noFill/>
        </p:spPr>
        <p:txBody>
          <a:bodyPr wrap="square" lIns="0" rIns="0" tIns="0" bIns="0" anchor="t">
            <a:noAutofit/>
          </a:bodyPr>
          <a:lstStyle/>
          <a:p>
            <a:pPr algn="l">
              <a:lnSpc>
                <a:spcPct val="108000"/>
              </a:lnSpc>
            </a:pPr>
            <a:r>
              <a:rPr sz="1150" b="0" i="0">
                <a:solidFill>
                  <a:srgbClr val="5F656B"/>
                </a:solidFill>
                <a:latin typeface="Calibri"/>
              </a:rPr>
              <a:t>overlap between the graphs at α = 0.05 and α = 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LINKS BETWEEN UNITS</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Most links connect NSU_NHT_CCR, ISOM and LOUP, but no root cause is found yet</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pca_pc_t2/outputs/tables/fig13_unit_level_graph.csv, root_cause_hypotheses.csv, pc_edges_stable.csv</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12</a:t>
            </a:r>
          </a:p>
        </p:txBody>
      </p:sp>
      <p:cxnSp>
        <p:nvCxnSpPr>
          <p:cNvPr id="7" name="Connector 6"/>
          <p:cNvCxnSpPr/>
          <p:nvPr/>
        </p:nvCxnSpPr>
        <p:spPr>
          <a:xfrm flipV="1">
            <a:off x="3621024" y="2569463"/>
            <a:ext cx="0" cy="1170433"/>
          </a:xfrm>
          <a:prstGeom prst="line">
            <a:avLst/>
          </a:prstGeom>
          <a:ln w="53902">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11296" y="2569463"/>
            <a:ext cx="0" cy="1170433"/>
          </a:xfrm>
          <a:prstGeom prst="line">
            <a:avLst/>
          </a:prstGeom>
          <a:ln w="51807">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21621" y="3361920"/>
            <a:ext cx="1157357" cy="408479"/>
          </a:xfrm>
          <a:prstGeom prst="line">
            <a:avLst/>
          </a:prstGeom>
          <a:ln w="43157">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234355" y="3412789"/>
            <a:ext cx="1302692" cy="411376"/>
          </a:xfrm>
          <a:prstGeom prst="line">
            <a:avLst/>
          </a:prstGeom>
          <a:ln w="39901">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201312" y="3308154"/>
            <a:ext cx="1302692" cy="411376"/>
          </a:xfrm>
          <a:prstGeom prst="line">
            <a:avLst/>
          </a:prstGeom>
          <a:ln w="38817">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821621" y="2538960"/>
            <a:ext cx="1157357" cy="408479"/>
          </a:xfrm>
          <a:prstGeom prst="line">
            <a:avLst/>
          </a:prstGeom>
          <a:ln w="37726">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17833" y="2537511"/>
            <a:ext cx="1302693" cy="411377"/>
          </a:xfrm>
          <a:prstGeom prst="line">
            <a:avLst/>
          </a:prstGeom>
          <a:ln w="34248">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566160" y="4215383"/>
            <a:ext cx="0" cy="1170433"/>
          </a:xfrm>
          <a:prstGeom prst="line">
            <a:avLst/>
          </a:prstGeom>
          <a:ln w="34096">
            <a:solidFill>
              <a:srgbClr val="174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34639" y="2139696"/>
            <a:ext cx="1463040" cy="384048"/>
          </a:xfrm>
          <a:prstGeom prst="roundRect">
            <a:avLst>
              <a:gd name="adj" fmla="val 15000"/>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1" i="0">
                <a:solidFill>
                  <a:srgbClr val="F7F5EF"/>
                </a:solidFill>
                <a:latin typeface="Calibri"/>
              </a:rPr>
              <a:t>ISOM</a:t>
            </a:r>
          </a:p>
        </p:txBody>
      </p:sp>
      <p:sp>
        <p:nvSpPr>
          <p:cNvPr id="16" name="Rounded Rectangle 15"/>
          <p:cNvSpPr/>
          <p:nvPr/>
        </p:nvSpPr>
        <p:spPr>
          <a:xfrm>
            <a:off x="2834639" y="3785615"/>
            <a:ext cx="1463040" cy="384048"/>
          </a:xfrm>
          <a:prstGeom prst="roundRect">
            <a:avLst>
              <a:gd name="adj" fmla="val 15000"/>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1" i="0">
                <a:solidFill>
                  <a:srgbClr val="F7F5EF"/>
                </a:solidFill>
                <a:latin typeface="Calibri"/>
              </a:rPr>
              <a:t>NSU_NHT_CCR</a:t>
            </a:r>
          </a:p>
        </p:txBody>
      </p:sp>
      <p:sp>
        <p:nvSpPr>
          <p:cNvPr id="17" name="Rounded Rectangle 16"/>
          <p:cNvSpPr/>
          <p:nvPr/>
        </p:nvSpPr>
        <p:spPr>
          <a:xfrm>
            <a:off x="5440680" y="2962656"/>
            <a:ext cx="1463040" cy="384048"/>
          </a:xfrm>
          <a:prstGeom prst="roundRect">
            <a:avLst>
              <a:gd name="adj" fmla="val 15000"/>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1" i="0">
                <a:solidFill>
                  <a:srgbClr val="F7F5EF"/>
                </a:solidFill>
                <a:latin typeface="Calibri"/>
              </a:rPr>
              <a:t>LOUP</a:t>
            </a:r>
          </a:p>
        </p:txBody>
      </p:sp>
      <p:sp>
        <p:nvSpPr>
          <p:cNvPr id="18" name="Rounded Rectangle 17"/>
          <p:cNvSpPr/>
          <p:nvPr/>
        </p:nvSpPr>
        <p:spPr>
          <a:xfrm>
            <a:off x="502920" y="2962656"/>
            <a:ext cx="1463040" cy="384048"/>
          </a:xfrm>
          <a:prstGeom prst="roundRect">
            <a:avLst>
              <a:gd name="adj" fmla="val 15000"/>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1" i="0">
                <a:solidFill>
                  <a:srgbClr val="F7F5EF"/>
                </a:solidFill>
                <a:latin typeface="Calibri"/>
              </a:rPr>
              <a:t>PDA</a:t>
            </a:r>
          </a:p>
        </p:txBody>
      </p:sp>
      <p:sp>
        <p:nvSpPr>
          <p:cNvPr id="19" name="Rounded Rectangle 18"/>
          <p:cNvSpPr/>
          <p:nvPr/>
        </p:nvSpPr>
        <p:spPr>
          <a:xfrm>
            <a:off x="2834639" y="5431536"/>
            <a:ext cx="1463040" cy="384048"/>
          </a:xfrm>
          <a:prstGeom prst="roundRect">
            <a:avLst>
              <a:gd name="adj" fmla="val 15000"/>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100" b="1" i="0">
                <a:solidFill>
                  <a:srgbClr val="F7F5EF"/>
                </a:solidFill>
                <a:latin typeface="Calibri"/>
              </a:rPr>
              <a:t>PG</a:t>
            </a:r>
          </a:p>
        </p:txBody>
      </p:sp>
      <p:sp>
        <p:nvSpPr>
          <p:cNvPr id="20" name="TextBox 19"/>
          <p:cNvSpPr txBox="1"/>
          <p:nvPr/>
        </p:nvSpPr>
        <p:spPr>
          <a:xfrm>
            <a:off x="594360" y="5989320"/>
            <a:ext cx="6400800" cy="274320"/>
          </a:xfrm>
          <a:prstGeom prst="rect">
            <a:avLst/>
          </a:prstGeom>
          <a:noFill/>
        </p:spPr>
        <p:txBody>
          <a:bodyPr wrap="square" lIns="0" rIns="0" tIns="0" bIns="0" anchor="t">
            <a:noAutofit/>
          </a:bodyPr>
          <a:lstStyle/>
          <a:p>
            <a:pPr algn="l">
              <a:lnSpc>
                <a:spcPct val="108000"/>
              </a:lnSpc>
            </a:pPr>
            <a:r>
              <a:rPr sz="1000" b="0" i="0">
                <a:solidFill>
                  <a:srgbClr val="5F656B"/>
                </a:solidFill>
                <a:latin typeface="Calibri"/>
              </a:rPr>
              <a:t>Top 8 links shown, line width = weight. No strong links for: SEU1, SEU2, SEU3, APS_NVPS_LEU, DAK, DIU, ISOM_3, ISOM_4.</a:t>
            </a:r>
          </a:p>
        </p:txBody>
      </p:sp>
      <p:sp>
        <p:nvSpPr>
          <p:cNvPr id="21" name="TextBox 20"/>
          <p:cNvSpPr txBox="1"/>
          <p:nvPr/>
        </p:nvSpPr>
        <p:spPr>
          <a:xfrm>
            <a:off x="7315200" y="1965960"/>
            <a:ext cx="4279392" cy="274320"/>
          </a:xfrm>
          <a:prstGeom prst="rect">
            <a:avLst/>
          </a:prstGeom>
          <a:noFill/>
        </p:spPr>
        <p:txBody>
          <a:bodyPr wrap="square" lIns="0" rIns="0" tIns="0" bIns="0" anchor="t">
            <a:noAutofit/>
          </a:bodyPr>
          <a:lstStyle/>
          <a:p>
            <a:pPr algn="l">
              <a:lnSpc>
                <a:spcPct val="108000"/>
              </a:lnSpc>
            </a:pPr>
            <a:r>
              <a:rPr sz="1300" b="1" i="0">
                <a:solidFill>
                  <a:srgbClr val="292D32"/>
                </a:solidFill>
                <a:latin typeface="Calibri"/>
              </a:rPr>
              <a:t>Strongest links (weight from 0 to 1)</a:t>
            </a:r>
          </a:p>
        </p:txBody>
      </p:sp>
      <p:sp>
        <p:nvSpPr>
          <p:cNvPr id="22" name="TextBox 21"/>
          <p:cNvSpPr txBox="1"/>
          <p:nvPr/>
        </p:nvSpPr>
        <p:spPr>
          <a:xfrm>
            <a:off x="7315200" y="2377440"/>
            <a:ext cx="3474720" cy="2743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NSU_NHT_CCR → ISOM</a:t>
            </a:r>
          </a:p>
        </p:txBody>
      </p:sp>
      <p:sp>
        <p:nvSpPr>
          <p:cNvPr id="23" name="TextBox 22"/>
          <p:cNvSpPr txBox="1"/>
          <p:nvPr/>
        </p:nvSpPr>
        <p:spPr>
          <a:xfrm>
            <a:off x="10789920" y="2377440"/>
            <a:ext cx="804672" cy="274320"/>
          </a:xfrm>
          <a:prstGeom prst="rect">
            <a:avLst/>
          </a:prstGeom>
          <a:noFill/>
        </p:spPr>
        <p:txBody>
          <a:bodyPr wrap="square" lIns="0" rIns="0" tIns="0" bIns="0" anchor="t">
            <a:noAutofit/>
          </a:bodyPr>
          <a:lstStyle/>
          <a:p>
            <a:pPr algn="r">
              <a:lnSpc>
                <a:spcPct val="108000"/>
              </a:lnSpc>
            </a:pPr>
            <a:r>
              <a:rPr sz="1200" b="1" i="0">
                <a:solidFill>
                  <a:srgbClr val="292D32"/>
                </a:solidFill>
                <a:latin typeface="Calibri"/>
              </a:rPr>
              <a:t>0.93</a:t>
            </a:r>
          </a:p>
        </p:txBody>
      </p:sp>
      <p:sp>
        <p:nvSpPr>
          <p:cNvPr id="24" name="TextBox 23"/>
          <p:cNvSpPr txBox="1"/>
          <p:nvPr/>
        </p:nvSpPr>
        <p:spPr>
          <a:xfrm>
            <a:off x="7315200" y="2706624"/>
            <a:ext cx="3474720" cy="2743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ISOM → NSU_NHT_CCR</a:t>
            </a:r>
          </a:p>
        </p:txBody>
      </p:sp>
      <p:sp>
        <p:nvSpPr>
          <p:cNvPr id="25" name="TextBox 24"/>
          <p:cNvSpPr txBox="1"/>
          <p:nvPr/>
        </p:nvSpPr>
        <p:spPr>
          <a:xfrm>
            <a:off x="10789920" y="2706624"/>
            <a:ext cx="804672" cy="274320"/>
          </a:xfrm>
          <a:prstGeom prst="rect">
            <a:avLst/>
          </a:prstGeom>
          <a:noFill/>
        </p:spPr>
        <p:txBody>
          <a:bodyPr wrap="square" lIns="0" rIns="0" tIns="0" bIns="0" anchor="t">
            <a:noAutofit/>
          </a:bodyPr>
          <a:lstStyle/>
          <a:p>
            <a:pPr algn="r">
              <a:lnSpc>
                <a:spcPct val="108000"/>
              </a:lnSpc>
            </a:pPr>
            <a:r>
              <a:rPr sz="1200" b="1" i="0">
                <a:solidFill>
                  <a:srgbClr val="292D32"/>
                </a:solidFill>
                <a:latin typeface="Calibri"/>
              </a:rPr>
              <a:t>0.88</a:t>
            </a:r>
          </a:p>
        </p:txBody>
      </p:sp>
      <p:sp>
        <p:nvSpPr>
          <p:cNvPr id="26" name="TextBox 25"/>
          <p:cNvSpPr txBox="1"/>
          <p:nvPr/>
        </p:nvSpPr>
        <p:spPr>
          <a:xfrm>
            <a:off x="7315200" y="3035808"/>
            <a:ext cx="3474720" cy="2743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PDA → NSU_NHT_CCR</a:t>
            </a:r>
          </a:p>
        </p:txBody>
      </p:sp>
      <p:sp>
        <p:nvSpPr>
          <p:cNvPr id="27" name="TextBox 26"/>
          <p:cNvSpPr txBox="1"/>
          <p:nvPr/>
        </p:nvSpPr>
        <p:spPr>
          <a:xfrm>
            <a:off x="10789920" y="3035808"/>
            <a:ext cx="804672" cy="274320"/>
          </a:xfrm>
          <a:prstGeom prst="rect">
            <a:avLst/>
          </a:prstGeom>
          <a:noFill/>
        </p:spPr>
        <p:txBody>
          <a:bodyPr wrap="square" lIns="0" rIns="0" tIns="0" bIns="0" anchor="t">
            <a:noAutofit/>
          </a:bodyPr>
          <a:lstStyle/>
          <a:p>
            <a:pPr algn="r">
              <a:lnSpc>
                <a:spcPct val="108000"/>
              </a:lnSpc>
            </a:pPr>
            <a:r>
              <a:rPr sz="1200" b="1" i="0">
                <a:solidFill>
                  <a:srgbClr val="292D32"/>
                </a:solidFill>
                <a:latin typeface="Calibri"/>
              </a:rPr>
              <a:t>0.69</a:t>
            </a:r>
          </a:p>
        </p:txBody>
      </p:sp>
      <p:sp>
        <p:nvSpPr>
          <p:cNvPr id="28" name="TextBox 27"/>
          <p:cNvSpPr txBox="1"/>
          <p:nvPr/>
        </p:nvSpPr>
        <p:spPr>
          <a:xfrm>
            <a:off x="7315200" y="3364992"/>
            <a:ext cx="3474720" cy="2743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NSU_NHT_CCR → LOUP</a:t>
            </a:r>
          </a:p>
        </p:txBody>
      </p:sp>
      <p:sp>
        <p:nvSpPr>
          <p:cNvPr id="29" name="TextBox 28"/>
          <p:cNvSpPr txBox="1"/>
          <p:nvPr/>
        </p:nvSpPr>
        <p:spPr>
          <a:xfrm>
            <a:off x="10789920" y="3364992"/>
            <a:ext cx="804672" cy="274320"/>
          </a:xfrm>
          <a:prstGeom prst="rect">
            <a:avLst/>
          </a:prstGeom>
          <a:noFill/>
        </p:spPr>
        <p:txBody>
          <a:bodyPr wrap="square" lIns="0" rIns="0" tIns="0" bIns="0" anchor="t">
            <a:noAutofit/>
          </a:bodyPr>
          <a:lstStyle/>
          <a:p>
            <a:pPr algn="r">
              <a:lnSpc>
                <a:spcPct val="108000"/>
              </a:lnSpc>
            </a:pPr>
            <a:r>
              <a:rPr sz="1200" b="1" i="0">
                <a:solidFill>
                  <a:srgbClr val="292D32"/>
                </a:solidFill>
                <a:latin typeface="Calibri"/>
              </a:rPr>
              <a:t>0.61</a:t>
            </a:r>
          </a:p>
        </p:txBody>
      </p:sp>
      <p:sp>
        <p:nvSpPr>
          <p:cNvPr id="30" name="TextBox 29"/>
          <p:cNvSpPr txBox="1"/>
          <p:nvPr/>
        </p:nvSpPr>
        <p:spPr>
          <a:xfrm>
            <a:off x="7315200" y="3694176"/>
            <a:ext cx="3474720" cy="2743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LOUP → NSU_NHT_CCR</a:t>
            </a:r>
          </a:p>
        </p:txBody>
      </p:sp>
      <p:sp>
        <p:nvSpPr>
          <p:cNvPr id="31" name="TextBox 30"/>
          <p:cNvSpPr txBox="1"/>
          <p:nvPr/>
        </p:nvSpPr>
        <p:spPr>
          <a:xfrm>
            <a:off x="10789920" y="3694176"/>
            <a:ext cx="804672" cy="274320"/>
          </a:xfrm>
          <a:prstGeom prst="rect">
            <a:avLst/>
          </a:prstGeom>
          <a:noFill/>
        </p:spPr>
        <p:txBody>
          <a:bodyPr wrap="square" lIns="0" rIns="0" tIns="0" bIns="0" anchor="t">
            <a:noAutofit/>
          </a:bodyPr>
          <a:lstStyle/>
          <a:p>
            <a:pPr algn="r">
              <a:lnSpc>
                <a:spcPct val="108000"/>
              </a:lnSpc>
            </a:pPr>
            <a:r>
              <a:rPr sz="1200" b="1" i="0">
                <a:solidFill>
                  <a:srgbClr val="292D32"/>
                </a:solidFill>
                <a:latin typeface="Calibri"/>
              </a:rPr>
              <a:t>0.59</a:t>
            </a:r>
          </a:p>
        </p:txBody>
      </p:sp>
      <p:sp>
        <p:nvSpPr>
          <p:cNvPr id="32" name="TextBox 31"/>
          <p:cNvSpPr txBox="1"/>
          <p:nvPr/>
        </p:nvSpPr>
        <p:spPr>
          <a:xfrm>
            <a:off x="7315200" y="4206240"/>
            <a:ext cx="4279392" cy="274320"/>
          </a:xfrm>
          <a:prstGeom prst="rect">
            <a:avLst/>
          </a:prstGeom>
          <a:noFill/>
        </p:spPr>
        <p:txBody>
          <a:bodyPr wrap="square" lIns="0" rIns="0" tIns="0" bIns="0" anchor="t">
            <a:noAutofit/>
          </a:bodyPr>
          <a:lstStyle/>
          <a:p>
            <a:pPr algn="l">
              <a:lnSpc>
                <a:spcPct val="108000"/>
              </a:lnSpc>
            </a:pPr>
            <a:r>
              <a:rPr sz="1300" b="1" i="0">
                <a:solidFill>
                  <a:srgbClr val="292D32"/>
                </a:solidFill>
                <a:latin typeface="Calibri"/>
              </a:rPr>
              <a:t>Root-cause trace for the alarm</a:t>
            </a:r>
          </a:p>
        </p:txBody>
      </p:sp>
      <p:sp>
        <p:nvSpPr>
          <p:cNvPr id="33" name="TextBox 32"/>
          <p:cNvSpPr txBox="1"/>
          <p:nvPr/>
        </p:nvSpPr>
        <p:spPr>
          <a:xfrm>
            <a:off x="7315200" y="4553712"/>
            <a:ext cx="4279392" cy="91440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At the alarm peak, component 24 rises most. It is led by PDA. No component points into it, so no root-cause unit can be named.</a:t>
            </a:r>
          </a:p>
        </p:txBody>
      </p:sp>
      <p:sp>
        <p:nvSpPr>
          <p:cNvPr id="34" name="TextBox 33"/>
          <p:cNvSpPr txBox="1"/>
          <p:nvPr/>
        </p:nvSpPr>
        <p:spPr>
          <a:xfrm>
            <a:off x="7315200" y="5532120"/>
            <a:ext cx="4279392" cy="731520"/>
          </a:xfrm>
          <a:prstGeom prst="rect">
            <a:avLst/>
          </a:prstGeom>
          <a:noFill/>
        </p:spPr>
        <p:txBody>
          <a:bodyPr wrap="square" lIns="0" rIns="0" tIns="0" bIns="0" anchor="t">
            <a:noAutofit/>
          </a:bodyPr>
          <a:lstStyle/>
          <a:p>
            <a:pPr algn="l">
              <a:lnSpc>
                <a:spcPct val="108000"/>
              </a:lnSpc>
            </a:pPr>
            <a:r>
              <a:rPr sz="1100" b="0" i="0">
                <a:solidFill>
                  <a:srgbClr val="5F656B"/>
                </a:solidFill>
                <a:latin typeface="Calibri"/>
              </a:rPr>
              <a:t>These links join components, not tags, and reflect drift as much as cause.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1002975" cy="256032"/>
          </a:xfrm>
          <a:prstGeom prst="rect">
            <a:avLst/>
          </a:prstGeom>
          <a:noFill/>
        </p:spPr>
        <p:txBody>
          <a:bodyPr wrap="square" lIns="0" rIns="0" tIns="0" bIns="0" anchor="t">
            <a:noAutofit/>
          </a:bodyPr>
          <a:lstStyle/>
          <a:p>
            <a:pPr algn="l">
              <a:lnSpc>
                <a:spcPct val="108000"/>
              </a:lnSpc>
            </a:pPr>
            <a:r>
              <a:rPr sz="1100" b="1" i="0">
                <a:solidFill>
                  <a:srgbClr val="174A3A"/>
                </a:solidFill>
                <a:latin typeface="Calibri"/>
              </a:rPr>
              <a:t>NEXT STEPS</a:t>
            </a:r>
          </a:p>
        </p:txBody>
      </p:sp>
      <p:sp>
        <p:nvSpPr>
          <p:cNvPr id="3" name="TextBox 2"/>
          <p:cNvSpPr txBox="1"/>
          <p:nvPr/>
        </p:nvSpPr>
        <p:spPr>
          <a:xfrm>
            <a:off x="594360" y="676656"/>
            <a:ext cx="11002975" cy="960120"/>
          </a:xfrm>
          <a:prstGeom prst="rect">
            <a:avLst/>
          </a:prstGeom>
          <a:noFill/>
        </p:spPr>
        <p:txBody>
          <a:bodyPr wrap="square" lIns="0" rIns="0" tIns="0" bIns="0" anchor="t">
            <a:noAutofit/>
          </a:bodyPr>
          <a:lstStyle/>
          <a:p>
            <a:pPr algn="l">
              <a:lnSpc>
                <a:spcPct val="100000"/>
              </a:lnSpc>
            </a:pPr>
            <a:r>
              <a:rPr sz="2600" b="0" i="0">
                <a:solidFill>
                  <a:srgbClr val="292D32"/>
                </a:solidFill>
                <a:latin typeface="Georgia"/>
              </a:rPr>
              <a:t>We need three fixes before the next run, and two more after it</a:t>
            </a:r>
          </a:p>
        </p:txBody>
      </p:sp>
      <p:cxnSp>
        <p:nvCxnSpPr>
          <p:cNvPr id="4" name="Connector 3"/>
          <p:cNvCxnSpPr/>
          <p:nvPr/>
        </p:nvCxnSpPr>
        <p:spPr>
          <a:xfrm>
            <a:off x="594360" y="1737360"/>
            <a:ext cx="11002975" cy="0"/>
          </a:xfrm>
          <a:prstGeom prst="line">
            <a:avLst/>
          </a:prstGeom>
          <a:ln w="9525">
            <a:solidFill>
              <a:srgbClr val="D6D2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419088"/>
            <a:ext cx="10271455" cy="329184"/>
          </a:xfrm>
          <a:prstGeom prst="rect">
            <a:avLst/>
          </a:prstGeom>
          <a:noFill/>
        </p:spPr>
        <p:txBody>
          <a:bodyPr wrap="square" lIns="0" rIns="0" tIns="0" bIns="0" anchor="t">
            <a:noAutofit/>
          </a:bodyPr>
          <a:lstStyle/>
          <a:p>
            <a:pPr algn="l">
              <a:lnSpc>
                <a:spcPct val="108000"/>
              </a:lnSpc>
            </a:pPr>
            <a:r>
              <a:rPr sz="900" b="0" i="0">
                <a:solidFill>
                  <a:srgbClr val="5F656B"/>
                </a:solidFill>
                <a:latin typeface="Calibri"/>
              </a:rPr>
              <a:t>Source: pca_pc_t2/outputs/RESULTS.md (limitations and suggested next step)</a:t>
            </a:r>
          </a:p>
        </p:txBody>
      </p:sp>
      <p:sp>
        <p:nvSpPr>
          <p:cNvPr id="6" name="TextBox 5"/>
          <p:cNvSpPr txBox="1"/>
          <p:nvPr/>
        </p:nvSpPr>
        <p:spPr>
          <a:xfrm>
            <a:off x="11048695" y="6419088"/>
            <a:ext cx="548640" cy="274320"/>
          </a:xfrm>
          <a:prstGeom prst="rect">
            <a:avLst/>
          </a:prstGeom>
          <a:noFill/>
        </p:spPr>
        <p:txBody>
          <a:bodyPr wrap="square" lIns="0" rIns="0" tIns="0" bIns="0" anchor="t">
            <a:noAutofit/>
          </a:bodyPr>
          <a:lstStyle/>
          <a:p>
            <a:pPr algn="r">
              <a:lnSpc>
                <a:spcPct val="108000"/>
              </a:lnSpc>
            </a:pPr>
            <a:r>
              <a:rPr sz="900" b="0" i="0">
                <a:solidFill>
                  <a:srgbClr val="5F656B"/>
                </a:solidFill>
                <a:latin typeface="Calibri"/>
              </a:rPr>
              <a:t>13</a:t>
            </a:r>
          </a:p>
        </p:txBody>
      </p:sp>
      <p:sp>
        <p:nvSpPr>
          <p:cNvPr id="7" name="Rectangle 6"/>
          <p:cNvSpPr/>
          <p:nvPr/>
        </p:nvSpPr>
        <p:spPr>
          <a:xfrm>
            <a:off x="594360" y="2103120"/>
            <a:ext cx="2054291" cy="292608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40280"/>
            <a:ext cx="1688531" cy="548640"/>
          </a:xfrm>
          <a:prstGeom prst="rect">
            <a:avLst/>
          </a:prstGeom>
          <a:noFill/>
        </p:spPr>
        <p:txBody>
          <a:bodyPr wrap="square" lIns="0" rIns="0" tIns="0" bIns="0" anchor="t">
            <a:noAutofit/>
          </a:bodyPr>
          <a:lstStyle/>
          <a:p>
            <a:pPr algn="l">
              <a:lnSpc>
                <a:spcPct val="108000"/>
              </a:lnSpc>
            </a:pPr>
            <a:r>
              <a:rPr sz="3000" b="0" i="0">
                <a:solidFill>
                  <a:srgbClr val="C9D6C9"/>
                </a:solidFill>
                <a:latin typeface="Georgia"/>
              </a:rPr>
              <a:t>1</a:t>
            </a:r>
          </a:p>
        </p:txBody>
      </p:sp>
      <p:sp>
        <p:nvSpPr>
          <p:cNvPr id="9" name="TextBox 8"/>
          <p:cNvSpPr txBox="1"/>
          <p:nvPr/>
        </p:nvSpPr>
        <p:spPr>
          <a:xfrm>
            <a:off x="777240" y="2880360"/>
            <a:ext cx="1688531" cy="822960"/>
          </a:xfrm>
          <a:prstGeom prst="rect">
            <a:avLst/>
          </a:prstGeom>
          <a:noFill/>
        </p:spPr>
        <p:txBody>
          <a:bodyPr wrap="square" lIns="0" rIns="0" tIns="0" bIns="0" anchor="t">
            <a:noAutofit/>
          </a:bodyPr>
          <a:lstStyle/>
          <a:p>
            <a:pPr algn="l">
              <a:lnSpc>
                <a:spcPct val="108000"/>
              </a:lnSpc>
            </a:pPr>
            <a:r>
              <a:rPr sz="1500" b="1" i="0">
                <a:solidFill>
                  <a:srgbClr val="F7F5EF"/>
                </a:solidFill>
                <a:latin typeface="Calibri"/>
              </a:rPr>
              <a:t>Rebuild the flare labels</a:t>
            </a:r>
          </a:p>
        </p:txBody>
      </p:sp>
      <p:sp>
        <p:nvSpPr>
          <p:cNvPr id="10" name="TextBox 9"/>
          <p:cNvSpPr txBox="1"/>
          <p:nvPr/>
        </p:nvSpPr>
        <p:spPr>
          <a:xfrm>
            <a:off x="777240" y="3749039"/>
            <a:ext cx="1688531" cy="1188720"/>
          </a:xfrm>
          <a:prstGeom prst="rect">
            <a:avLst/>
          </a:prstGeom>
          <a:noFill/>
        </p:spPr>
        <p:txBody>
          <a:bodyPr wrap="square" lIns="0" rIns="0" tIns="0" bIns="0" anchor="t">
            <a:noAutofit/>
          </a:bodyPr>
          <a:lstStyle/>
          <a:p>
            <a:pPr algn="l">
              <a:lnSpc>
                <a:spcPct val="108000"/>
              </a:lnSpc>
            </a:pPr>
            <a:r>
              <a:rPr sz="1200" b="0" i="0">
                <a:solidFill>
                  <a:srgbClr val="F7F5EF"/>
                </a:solidFill>
                <a:latin typeface="Calibri"/>
              </a:rPr>
              <a:t>One event list per signal, checked against the operator log</a:t>
            </a:r>
          </a:p>
        </p:txBody>
      </p:sp>
      <p:sp>
        <p:nvSpPr>
          <p:cNvPr id="11" name="Rectangle 10"/>
          <p:cNvSpPr/>
          <p:nvPr/>
        </p:nvSpPr>
        <p:spPr>
          <a:xfrm>
            <a:off x="2831531" y="2103120"/>
            <a:ext cx="2054291" cy="292608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4411" y="2240280"/>
            <a:ext cx="1688531" cy="548640"/>
          </a:xfrm>
          <a:prstGeom prst="rect">
            <a:avLst/>
          </a:prstGeom>
          <a:noFill/>
        </p:spPr>
        <p:txBody>
          <a:bodyPr wrap="square" lIns="0" rIns="0" tIns="0" bIns="0" anchor="t">
            <a:noAutofit/>
          </a:bodyPr>
          <a:lstStyle/>
          <a:p>
            <a:pPr algn="l">
              <a:lnSpc>
                <a:spcPct val="108000"/>
              </a:lnSpc>
            </a:pPr>
            <a:r>
              <a:rPr sz="3000" b="0" i="0">
                <a:solidFill>
                  <a:srgbClr val="C9D6C9"/>
                </a:solidFill>
                <a:latin typeface="Georgia"/>
              </a:rPr>
              <a:t>2</a:t>
            </a:r>
          </a:p>
        </p:txBody>
      </p:sp>
      <p:sp>
        <p:nvSpPr>
          <p:cNvPr id="13" name="TextBox 12"/>
          <p:cNvSpPr txBox="1"/>
          <p:nvPr/>
        </p:nvSpPr>
        <p:spPr>
          <a:xfrm>
            <a:off x="3014411" y="2880360"/>
            <a:ext cx="1688531" cy="822960"/>
          </a:xfrm>
          <a:prstGeom prst="rect">
            <a:avLst/>
          </a:prstGeom>
          <a:noFill/>
        </p:spPr>
        <p:txBody>
          <a:bodyPr wrap="square" lIns="0" rIns="0" tIns="0" bIns="0" anchor="t">
            <a:noAutofit/>
          </a:bodyPr>
          <a:lstStyle/>
          <a:p>
            <a:pPr algn="l">
              <a:lnSpc>
                <a:spcPct val="108000"/>
              </a:lnSpc>
            </a:pPr>
            <a:r>
              <a:rPr sz="1500" b="1" i="0">
                <a:solidFill>
                  <a:srgbClr val="F7F5EF"/>
                </a:solidFill>
                <a:latin typeface="Calibri"/>
              </a:rPr>
              <a:t>Rebuild the normal baseline</a:t>
            </a:r>
          </a:p>
        </p:txBody>
      </p:sp>
      <p:sp>
        <p:nvSpPr>
          <p:cNvPr id="14" name="TextBox 13"/>
          <p:cNvSpPr txBox="1"/>
          <p:nvPr/>
        </p:nvSpPr>
        <p:spPr>
          <a:xfrm>
            <a:off x="3014411" y="3749039"/>
            <a:ext cx="1688531" cy="1188720"/>
          </a:xfrm>
          <a:prstGeom prst="rect">
            <a:avLst/>
          </a:prstGeom>
          <a:noFill/>
        </p:spPr>
        <p:txBody>
          <a:bodyPr wrap="square" lIns="0" rIns="0" tIns="0" bIns="0" anchor="t">
            <a:noAutofit/>
          </a:bodyPr>
          <a:lstStyle/>
          <a:p>
            <a:pPr algn="l">
              <a:lnSpc>
                <a:spcPct val="108000"/>
              </a:lnSpc>
            </a:pPr>
            <a:r>
              <a:rPr sz="1200" b="0" i="0">
                <a:solidFill>
                  <a:srgbClr val="F7F5EF"/>
                </a:solidFill>
                <a:latin typeface="Calibri"/>
              </a:rPr>
              <a:t>Take months of non-flaring data that cover both operating states</a:t>
            </a:r>
          </a:p>
        </p:txBody>
      </p:sp>
      <p:sp>
        <p:nvSpPr>
          <p:cNvPr id="15" name="Rectangle 14"/>
          <p:cNvSpPr/>
          <p:nvPr/>
        </p:nvSpPr>
        <p:spPr>
          <a:xfrm>
            <a:off x="5068702" y="2103120"/>
            <a:ext cx="2054291" cy="292608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1582" y="2240280"/>
            <a:ext cx="1688531" cy="548640"/>
          </a:xfrm>
          <a:prstGeom prst="rect">
            <a:avLst/>
          </a:prstGeom>
          <a:noFill/>
        </p:spPr>
        <p:txBody>
          <a:bodyPr wrap="square" lIns="0" rIns="0" tIns="0" bIns="0" anchor="t">
            <a:noAutofit/>
          </a:bodyPr>
          <a:lstStyle/>
          <a:p>
            <a:pPr algn="l">
              <a:lnSpc>
                <a:spcPct val="108000"/>
              </a:lnSpc>
            </a:pPr>
            <a:r>
              <a:rPr sz="3000" b="0" i="0">
                <a:solidFill>
                  <a:srgbClr val="C9D6C9"/>
                </a:solidFill>
                <a:latin typeface="Georgia"/>
              </a:rPr>
              <a:t>3</a:t>
            </a:r>
          </a:p>
        </p:txBody>
      </p:sp>
      <p:sp>
        <p:nvSpPr>
          <p:cNvPr id="17" name="TextBox 16"/>
          <p:cNvSpPr txBox="1"/>
          <p:nvPr/>
        </p:nvSpPr>
        <p:spPr>
          <a:xfrm>
            <a:off x="5251582" y="2880360"/>
            <a:ext cx="1688531" cy="822960"/>
          </a:xfrm>
          <a:prstGeom prst="rect">
            <a:avLst/>
          </a:prstGeom>
          <a:noFill/>
        </p:spPr>
        <p:txBody>
          <a:bodyPr wrap="square" lIns="0" rIns="0" tIns="0" bIns="0" anchor="t">
            <a:noAutofit/>
          </a:bodyPr>
          <a:lstStyle/>
          <a:p>
            <a:pPr algn="l">
              <a:lnSpc>
                <a:spcPct val="108000"/>
              </a:lnSpc>
            </a:pPr>
            <a:r>
              <a:rPr sz="1500" b="1" i="0">
                <a:solidFill>
                  <a:srgbClr val="F7F5EF"/>
                </a:solidFill>
                <a:latin typeface="Calibri"/>
              </a:rPr>
              <a:t>Check tag 99PI3219</a:t>
            </a:r>
          </a:p>
        </p:txBody>
      </p:sp>
      <p:sp>
        <p:nvSpPr>
          <p:cNvPr id="18" name="TextBox 17"/>
          <p:cNvSpPr txBox="1"/>
          <p:nvPr/>
        </p:nvSpPr>
        <p:spPr>
          <a:xfrm>
            <a:off x="5251582" y="3749039"/>
            <a:ext cx="1688531" cy="1188720"/>
          </a:xfrm>
          <a:prstGeom prst="rect">
            <a:avLst/>
          </a:prstGeom>
          <a:noFill/>
        </p:spPr>
        <p:txBody>
          <a:bodyPr wrap="square" lIns="0" rIns="0" tIns="0" bIns="0" anchor="t">
            <a:noAutofit/>
          </a:bodyPr>
          <a:lstStyle/>
          <a:p>
            <a:pPr algn="l">
              <a:lnSpc>
                <a:spcPct val="108000"/>
              </a:lnSpc>
            </a:pPr>
            <a:r>
              <a:rPr sz="1200" b="0" i="0">
                <a:solidFill>
                  <a:srgbClr val="F7F5EF"/>
                </a:solidFill>
                <a:latin typeface="Calibri"/>
              </a:rPr>
              <a:t>Find out if it is a sensor fault or a real change</a:t>
            </a:r>
          </a:p>
        </p:txBody>
      </p:sp>
      <p:sp>
        <p:nvSpPr>
          <p:cNvPr id="19" name="Rectangle 18"/>
          <p:cNvSpPr/>
          <p:nvPr/>
        </p:nvSpPr>
        <p:spPr>
          <a:xfrm>
            <a:off x="7305873" y="2103120"/>
            <a:ext cx="2054291" cy="292608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753" y="2240280"/>
            <a:ext cx="1688531" cy="548640"/>
          </a:xfrm>
          <a:prstGeom prst="rect">
            <a:avLst/>
          </a:prstGeom>
          <a:noFill/>
        </p:spPr>
        <p:txBody>
          <a:bodyPr wrap="square" lIns="0" rIns="0" tIns="0" bIns="0" anchor="t">
            <a:noAutofit/>
          </a:bodyPr>
          <a:lstStyle/>
          <a:p>
            <a:pPr algn="l">
              <a:lnSpc>
                <a:spcPct val="108000"/>
              </a:lnSpc>
            </a:pPr>
            <a:r>
              <a:rPr sz="3000" b="0" i="0">
                <a:solidFill>
                  <a:srgbClr val="5F656B"/>
                </a:solidFill>
                <a:latin typeface="Georgia"/>
              </a:rPr>
              <a:t>4</a:t>
            </a:r>
          </a:p>
        </p:txBody>
      </p:sp>
      <p:sp>
        <p:nvSpPr>
          <p:cNvPr id="21" name="TextBox 20"/>
          <p:cNvSpPr txBox="1"/>
          <p:nvPr/>
        </p:nvSpPr>
        <p:spPr>
          <a:xfrm>
            <a:off x="7488753" y="2880360"/>
            <a:ext cx="1688531" cy="822960"/>
          </a:xfrm>
          <a:prstGeom prst="rect">
            <a:avLst/>
          </a:prstGeom>
          <a:noFill/>
        </p:spPr>
        <p:txBody>
          <a:bodyPr wrap="square" lIns="0" rIns="0" tIns="0" bIns="0" anchor="t">
            <a:noAutofit/>
          </a:bodyPr>
          <a:lstStyle/>
          <a:p>
            <a:pPr algn="l">
              <a:lnSpc>
                <a:spcPct val="108000"/>
              </a:lnSpc>
            </a:pPr>
            <a:r>
              <a:rPr sz="1500" b="1" i="0">
                <a:solidFill>
                  <a:srgbClr val="292D32"/>
                </a:solidFill>
                <a:latin typeface="Calibri"/>
              </a:rPr>
              <a:t>Find the 42 missing tags</a:t>
            </a:r>
          </a:p>
        </p:txBody>
      </p:sp>
      <p:sp>
        <p:nvSpPr>
          <p:cNvPr id="22" name="TextBox 21"/>
          <p:cNvSpPr txBox="1"/>
          <p:nvPr/>
        </p:nvSpPr>
        <p:spPr>
          <a:xfrm>
            <a:off x="7488753" y="3749039"/>
            <a:ext cx="1688531"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Confirm 418 against 376 with the data owner</a:t>
            </a:r>
          </a:p>
        </p:txBody>
      </p:sp>
      <p:sp>
        <p:nvSpPr>
          <p:cNvPr id="23" name="Rectangle 22"/>
          <p:cNvSpPr/>
          <p:nvPr/>
        </p:nvSpPr>
        <p:spPr>
          <a:xfrm>
            <a:off x="9543044" y="2103120"/>
            <a:ext cx="2054291" cy="2926080"/>
          </a:xfrm>
          <a:prstGeom prst="rect">
            <a:avLst/>
          </a:prstGeom>
          <a:solidFill>
            <a:srgbClr val="E9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5924" y="2240280"/>
            <a:ext cx="1688531" cy="548640"/>
          </a:xfrm>
          <a:prstGeom prst="rect">
            <a:avLst/>
          </a:prstGeom>
          <a:noFill/>
        </p:spPr>
        <p:txBody>
          <a:bodyPr wrap="square" lIns="0" rIns="0" tIns="0" bIns="0" anchor="t">
            <a:noAutofit/>
          </a:bodyPr>
          <a:lstStyle/>
          <a:p>
            <a:pPr algn="l">
              <a:lnSpc>
                <a:spcPct val="108000"/>
              </a:lnSpc>
            </a:pPr>
            <a:r>
              <a:rPr sz="3000" b="0" i="0">
                <a:solidFill>
                  <a:srgbClr val="5F656B"/>
                </a:solidFill>
                <a:latin typeface="Georgia"/>
              </a:rPr>
              <a:t>5</a:t>
            </a:r>
          </a:p>
        </p:txBody>
      </p:sp>
      <p:sp>
        <p:nvSpPr>
          <p:cNvPr id="25" name="TextBox 24"/>
          <p:cNvSpPr txBox="1"/>
          <p:nvPr/>
        </p:nvSpPr>
        <p:spPr>
          <a:xfrm>
            <a:off x="9725924" y="2880360"/>
            <a:ext cx="1688531" cy="822960"/>
          </a:xfrm>
          <a:prstGeom prst="rect">
            <a:avLst/>
          </a:prstGeom>
          <a:noFill/>
        </p:spPr>
        <p:txBody>
          <a:bodyPr wrap="square" lIns="0" rIns="0" tIns="0" bIns="0" anchor="t">
            <a:noAutofit/>
          </a:bodyPr>
          <a:lstStyle/>
          <a:p>
            <a:pPr algn="l">
              <a:lnSpc>
                <a:spcPct val="108000"/>
              </a:lnSpc>
            </a:pPr>
            <a:r>
              <a:rPr sz="1500" b="1" i="0">
                <a:solidFill>
                  <a:srgbClr val="292D32"/>
                </a:solidFill>
                <a:latin typeface="Calibri"/>
              </a:rPr>
              <a:t>Find links between tags</a:t>
            </a:r>
          </a:p>
        </p:txBody>
      </p:sp>
      <p:sp>
        <p:nvSpPr>
          <p:cNvPr id="26" name="TextBox 25"/>
          <p:cNvSpPr txBox="1"/>
          <p:nvPr/>
        </p:nvSpPr>
        <p:spPr>
          <a:xfrm>
            <a:off x="9725924" y="3749039"/>
            <a:ext cx="1688531" cy="1188720"/>
          </a:xfrm>
          <a:prstGeom prst="rect">
            <a:avLst/>
          </a:prstGeom>
          <a:noFill/>
        </p:spPr>
        <p:txBody>
          <a:bodyPr wrap="square" lIns="0" rIns="0" tIns="0" bIns="0" anchor="t">
            <a:noAutofit/>
          </a:bodyPr>
          <a:lstStyle/>
          <a:p>
            <a:pPr algn="l">
              <a:lnSpc>
                <a:spcPct val="108000"/>
              </a:lnSpc>
            </a:pPr>
            <a:r>
              <a:rPr sz="1200" b="0" i="0">
                <a:solidFill>
                  <a:srgbClr val="292D32"/>
                </a:solidFill>
                <a:latin typeface="Calibri"/>
              </a:rPr>
              <a:t>Use a method that handles time lags, such as PCMCI+, on flare windows</a:t>
            </a:r>
          </a:p>
        </p:txBody>
      </p:sp>
      <p:sp>
        <p:nvSpPr>
          <p:cNvPr id="27" name="TextBox 26"/>
          <p:cNvSpPr txBox="1"/>
          <p:nvPr/>
        </p:nvSpPr>
        <p:spPr>
          <a:xfrm>
            <a:off x="594360" y="5166360"/>
            <a:ext cx="6528633" cy="274320"/>
          </a:xfrm>
          <a:prstGeom prst="rect">
            <a:avLst/>
          </a:prstGeom>
          <a:noFill/>
        </p:spPr>
        <p:txBody>
          <a:bodyPr wrap="square" lIns="0" rIns="0" tIns="0" bIns="0" anchor="t">
            <a:noAutofit/>
          </a:bodyPr>
          <a:lstStyle/>
          <a:p>
            <a:pPr algn="ctr">
              <a:lnSpc>
                <a:spcPct val="108000"/>
              </a:lnSpc>
            </a:pPr>
            <a:r>
              <a:rPr sz="1100" b="1" i="0">
                <a:solidFill>
                  <a:srgbClr val="174A3A"/>
                </a:solidFill>
                <a:latin typeface="Calibri"/>
              </a:rPr>
              <a:t>Needed before the next run</a:t>
            </a:r>
          </a:p>
        </p:txBody>
      </p:sp>
      <p:sp>
        <p:nvSpPr>
          <p:cNvPr id="28" name="TextBox 27"/>
          <p:cNvSpPr txBox="1"/>
          <p:nvPr/>
        </p:nvSpPr>
        <p:spPr>
          <a:xfrm>
            <a:off x="7305873" y="5166360"/>
            <a:ext cx="4291462" cy="274320"/>
          </a:xfrm>
          <a:prstGeom prst="rect">
            <a:avLst/>
          </a:prstGeom>
          <a:noFill/>
        </p:spPr>
        <p:txBody>
          <a:bodyPr wrap="square" lIns="0" rIns="0" tIns="0" bIns="0" anchor="t">
            <a:noAutofit/>
          </a:bodyPr>
          <a:lstStyle/>
          <a:p>
            <a:pPr algn="ctr">
              <a:lnSpc>
                <a:spcPct val="108000"/>
              </a:lnSpc>
            </a:pPr>
            <a:r>
              <a:rPr sz="1100" b="1" i="0">
                <a:solidFill>
                  <a:srgbClr val="5F656B"/>
                </a:solidFill>
                <a:latin typeface="Calibri"/>
              </a:rPr>
              <a:t>After that</a:t>
            </a:r>
          </a:p>
        </p:txBody>
      </p:sp>
      <p:sp>
        <p:nvSpPr>
          <p:cNvPr id="29" name="Rectangle 28"/>
          <p:cNvSpPr/>
          <p:nvPr/>
        </p:nvSpPr>
        <p:spPr>
          <a:xfrm>
            <a:off x="594360" y="5623560"/>
            <a:ext cx="11002975" cy="594360"/>
          </a:xfrm>
          <a:prstGeom prst="rect">
            <a:avLst/>
          </a:prstGeom>
          <a:solidFill>
            <a:srgbClr val="174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8000"/>
              </a:lnSpc>
            </a:pPr>
            <a:r>
              <a:rPr sz="1500" b="0" i="0">
                <a:solidFill>
                  <a:srgbClr val="F7F5EF"/>
                </a:solidFill>
                <a:latin typeface="Calibri"/>
              </a:rPr>
              <a:t>Decision needed: approve fixes 1 to 3 so the next run gives results we can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