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7"/>
    <p:sldId id="277" r:id="rId28"/>
    <p:sldId id="278" r:id="rId29"/>
    <p:sldId id="279" r:id="rId30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tup" id="{95fc16fd-ce29-9234-b6f5-8a3c8693038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</c:v>
                </c:pt>
              </c:strCache>
            </c:strRef>
          </c:tx>
          <c:spPr>
            <a:ln w="28575">
              <a:solidFill>
                <a:srgbClr val="174A3A"/>
              </a:solidFill>
            </a:ln>
          </c:spPr>
          <c:marker>
            <c:size val="5"/>
            <c:spPr>
              <a:solidFill>
                <a:srgbClr val="174A3A"/>
              </a:solidFill>
              <a:ln>
                <a:solidFill>
                  <a:srgbClr val="174A3A"/>
                </a:solidFill>
              </a:ln>
            </c:spPr>
          </c:marker>
          <c:cat>
            <c:strRef>
              <c:f>Sheet1!$A$2:$A$27</c:f>
              <c:strCache>
                <c:ptCount val="2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19.6</c:v>
                </c:pt>
                <c:pt idx="1">
                  <c:v>32.0</c:v>
                </c:pt>
                <c:pt idx="2">
                  <c:v>41.1</c:v>
                </c:pt>
                <c:pt idx="3">
                  <c:v>47.1</c:v>
                </c:pt>
                <c:pt idx="4">
                  <c:v>51.9</c:v>
                </c:pt>
                <c:pt idx="5">
                  <c:v>55.2</c:v>
                </c:pt>
                <c:pt idx="6">
                  <c:v>58.5</c:v>
                </c:pt>
                <c:pt idx="7">
                  <c:v>60.7</c:v>
                </c:pt>
                <c:pt idx="8">
                  <c:v>62.9</c:v>
                </c:pt>
                <c:pt idx="9">
                  <c:v>64.8</c:v>
                </c:pt>
                <c:pt idx="10">
                  <c:v>66.6</c:v>
                </c:pt>
                <c:pt idx="11">
                  <c:v>68.0</c:v>
                </c:pt>
                <c:pt idx="12">
                  <c:v>69.4</c:v>
                </c:pt>
                <c:pt idx="13">
                  <c:v>70.6</c:v>
                </c:pt>
                <c:pt idx="14">
                  <c:v>71.8</c:v>
                </c:pt>
                <c:pt idx="15">
                  <c:v>72.8</c:v>
                </c:pt>
                <c:pt idx="16">
                  <c:v>73.8</c:v>
                </c:pt>
                <c:pt idx="17">
                  <c:v>74.6</c:v>
                </c:pt>
                <c:pt idx="18">
                  <c:v>75.5</c:v>
                </c:pt>
                <c:pt idx="19">
                  <c:v>76.3</c:v>
                </c:pt>
                <c:pt idx="20">
                  <c:v>77.0</c:v>
                </c:pt>
                <c:pt idx="21">
                  <c:v>77.7</c:v>
                </c:pt>
                <c:pt idx="22">
                  <c:v>78.3</c:v>
                </c:pt>
                <c:pt idx="23">
                  <c:v>78.9</c:v>
                </c:pt>
                <c:pt idx="24">
                  <c:v>79.5</c:v>
                </c:pt>
                <c:pt idx="25">
                  <c:v>80.1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AD4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3DE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20.0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676B70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three sensors and the same generating equations as the PCMCI+ half. The only difference is that the shocks are uniform, not Gaussian.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Motivation slide. The whole algorithm exists because lag-0 links carry no time ordering.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identity B_tau = (I - B0) M_tau is the whole reason the algorithm works. Everything else is estimation.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slide. Panels 1 and 4 are the before and after of the same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 is a prediction object. Row P carries contamination from the instantaneous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Dependence is a normalised HSIC. Zero means independent.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 and T tie because there is no lag-0 edge between them. Any order with P last yields the same B0.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Adaptive lasso or bootstrap thresholds replace the fixed cut-off in production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failure mode is the live one on the Tennessee Eastman data, where VAR residuals are close to Gaussian.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4028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 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520440"/>
            <a:ext cx="8778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 </a:t>
            </a:r>
            <a:endParaRPr lang="en-US" sz="1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2788920"/>
            <a:ext cx="9509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 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417320" y="3794760"/>
            <a:ext cx="8595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 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</a:t>
            </a: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C586B"/>
                </a:solidFill>
              </a:rPr>
              <a:t/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toy example: three reactor sensors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Three sensors on a reactor cooling loop, read once a minute for 300 minutes. We generated the data, so the true graph is known from the start.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91640"/>
            <a:ext cx="534924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676B70"/>
                </a:solidFill>
              </a:rPr>
              <a:t>THE THREE SENSORS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60120" y="2286000"/>
            <a:ext cx="310896" cy="310896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34086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coolant flow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688336"/>
            <a:ext cx="310896" cy="310896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7340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reactor temperature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3090672"/>
            <a:ext cx="310896" cy="310896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14553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136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vessel pressure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99632" y="1691640"/>
            <a:ext cx="534924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676B70"/>
                </a:solidFill>
              </a:rPr>
              <a:t>HOW THE DATA WAS MADE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286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B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F(t)  =  0.60 F(t−1)                + ε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651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C7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T(t)  =  0.65 T(t−1) + 0.50 F(t−1) + ε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F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P(t)  =  0.80 T(t)                  + ε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3467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ε is fresh noise, independent across sensors and across time.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3767328"/>
            <a:ext cx="6949440" cy="2240280"/>
          </a:xfrm>
          <a:prstGeom prst="roundRect">
            <a:avLst>
              <a:gd name="adj" fmla="val 4082"/>
            </a:avLst>
          </a:prstGeom>
          <a:solidFill>
            <a:srgbClr val="E8F0E9"/>
          </a:solidFill>
          <a:ln w="12700">
            <a:solidFill>
              <a:srgbClr val="2F7A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39502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2F7A5C"/>
                </a:solidFill>
              </a:rPr>
              <a:t>THE TRUE GRAPH — FOUR LINKS, WHICH THE ALGORITHM MUST REDISCOVER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395728" y="4480560"/>
            <a:ext cx="1234440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41648" y="4480560"/>
            <a:ext cx="1234440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389069" y="4531889"/>
            <a:ext cx="1248060" cy="329349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034989" y="4531889"/>
            <a:ext cx="1248060" cy="329349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395728" y="4914900"/>
            <a:ext cx="1234440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041648" y="4914900"/>
            <a:ext cx="1234440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840480" y="5116068"/>
            <a:ext cx="0" cy="2286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0" y="5116068"/>
            <a:ext cx="0" cy="2286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029968" y="4315968"/>
            <a:ext cx="329184" cy="329184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029968" y="4315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029968" y="4750308"/>
            <a:ext cx="329184" cy="329184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029968" y="47503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029968" y="5184648"/>
            <a:ext cx="329184" cy="329184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029968" y="5184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75888" y="4315968"/>
            <a:ext cx="329184" cy="329184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75888" y="4315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75888" y="4750308"/>
            <a:ext cx="329184" cy="329184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675888" y="47503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675888" y="5184648"/>
            <a:ext cx="329184" cy="329184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75888" y="5184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321808" y="4315968"/>
            <a:ext cx="329184" cy="329184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321808" y="4315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321808" y="4750308"/>
            <a:ext cx="329184" cy="329184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321808" y="47503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321808" y="5184648"/>
            <a:ext cx="329184" cy="329184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321808" y="5184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14400" y="5623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 → F and T → T one minute later, F → T one minute later, and T → P inside the same minute.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863840" y="3767328"/>
            <a:ext cx="3685032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156448" y="3950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676B70"/>
                </a:solidFill>
              </a:rPr>
              <a:t>SETTINGS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8156448" y="4297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A8E70"/>
                </a:solidFill>
              </a:rPr>
              <a:t>τmax = 2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8156448" y="449884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look back at most two minutes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8156448" y="4709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A8E70"/>
                </a:solidFill>
              </a:rPr>
              <a:t>N = 300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156448" y="491032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rows of data, 298 usable after cutting the lag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8156448" y="5120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A8E70"/>
                </a:solidFill>
              </a:rPr>
              <a:t>α = 0.01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8156448" y="532180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link is cut when the test cannot reject independence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8156448" y="5532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A8E70"/>
                </a:solidFill>
              </a:rPr>
              <a:t>partial correlation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156448" y="573328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dependence measure used in every test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PCMCI+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pair we will follow: T and P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slide from here shows where this one pair stands. At the start the algorithm knows none of this.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91640"/>
            <a:ext cx="5852160" cy="402336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676B70"/>
                </a:solidFill>
              </a:rPr>
              <a:t>WHAT THE ALGORITHM STARTS WITH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67328" y="2834640"/>
            <a:ext cx="1280160" cy="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flipV="1">
            <a:off x="3740125" y="2951472"/>
            <a:ext cx="1335573" cy="684909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 flipV="1">
            <a:off x="3692793" y="3017959"/>
            <a:ext cx="1431991" cy="1468709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984248" y="2834640"/>
            <a:ext cx="3063240" cy="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 flipV="1">
            <a:off x="1976511" y="2898232"/>
            <a:ext cx="3079000" cy="789487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flipV="1">
            <a:off x="1957045" y="2951472"/>
            <a:ext cx="3118653" cy="1599309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740125" y="2947299"/>
            <a:ext cx="1335573" cy="684909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767328" y="3749040"/>
            <a:ext cx="1280160" cy="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V="1">
            <a:off x="3740125" y="3865872"/>
            <a:ext cx="1335573" cy="684909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976511" y="2895961"/>
            <a:ext cx="3079000" cy="789487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984248" y="3749040"/>
            <a:ext cx="3063240" cy="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 flipV="1">
            <a:off x="1976511" y="3812632"/>
            <a:ext cx="3079000" cy="789487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692793" y="3011412"/>
            <a:ext cx="1431991" cy="1468709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740125" y="3861699"/>
            <a:ext cx="1335573" cy="684909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767328" y="4663440"/>
            <a:ext cx="1280160" cy="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957045" y="2947299"/>
            <a:ext cx="3118653" cy="1599309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976511" y="3810361"/>
            <a:ext cx="3079000" cy="789487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984248" y="4663440"/>
            <a:ext cx="3063240" cy="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303520" y="3081528"/>
            <a:ext cx="0" cy="41148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303520" y="3995928"/>
            <a:ext cx="0" cy="411480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303520" y="3081528"/>
            <a:ext cx="0" cy="132588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527048" y="2624328"/>
            <a:ext cx="420624" cy="420624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527048" y="2624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527048" y="3538728"/>
            <a:ext cx="420624" cy="420624"/>
          </a:xfrm>
          <a:prstGeom prst="ellipse">
            <a:avLst/>
          </a:prstGeom>
          <a:solidFill>
            <a:schemeClr val="bg1"/>
          </a:solidFill>
          <a:ln w="38100">
            <a:solidFill>
              <a:srgbClr val="9C7A3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527048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527048" y="4453128"/>
            <a:ext cx="420624" cy="420624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527048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310128" y="2624328"/>
            <a:ext cx="420624" cy="420624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10128" y="2624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310128" y="3538728"/>
            <a:ext cx="420624" cy="420624"/>
          </a:xfrm>
          <a:prstGeom prst="ellipse">
            <a:avLst/>
          </a:prstGeom>
          <a:solidFill>
            <a:schemeClr val="bg1"/>
          </a:solidFill>
          <a:ln w="38100">
            <a:solidFill>
              <a:srgbClr val="9C7A3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310128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310128" y="4453128"/>
            <a:ext cx="420624" cy="420624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310128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093208" y="2624328"/>
            <a:ext cx="420624" cy="420624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93208" y="2624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093208" y="3538728"/>
            <a:ext cx="420624" cy="420624"/>
          </a:xfrm>
          <a:prstGeom prst="ellipse">
            <a:avLst/>
          </a:prstGeom>
          <a:solidFill>
            <a:schemeClr val="bg1"/>
          </a:solidFill>
          <a:ln w="38100">
            <a:solidFill>
              <a:srgbClr val="9C7A3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93208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093208" y="4453128"/>
            <a:ext cx="420624" cy="420624"/>
          </a:xfrm>
          <a:prstGeom prst="ellipse">
            <a:avLst/>
          </a:prstGeom>
          <a:solidFill>
            <a:schemeClr val="bg1"/>
          </a:solidFill>
          <a:ln w="38100">
            <a:solidFill>
              <a:srgbClr val="9C7A3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093208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P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914400" y="50292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Every node at every past lag is a candidate cause of every present node. The three gold arrows are the ones that involve T and P.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812280" y="1691640"/>
            <a:ext cx="4736592" cy="402336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104888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9C7A35"/>
                </a:solidFill>
              </a:rPr>
              <a:t>WHAT THE ALGORITHM MUST WORK OUT ABOUT THIS PAIR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104888" y="2487168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6510">
            <a:solidFill>
              <a:srgbClr val="A84A3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315200" y="26151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A84A3E"/>
                </a:solidFill>
              </a:rPr>
              <a:t>Cut  T(t−1) → P(t)</a:t>
            </a:r>
            <a:endParaRPr lang="en-US" sz="1450" dirty="0"/>
          </a:p>
        </p:txBody>
      </p:sp>
      <p:sp>
        <p:nvSpPr>
          <p:cNvPr id="53" name="Text 51"/>
          <p:cNvSpPr txBox="1"/>
          <p:nvPr/>
        </p:nvSpPr>
        <p:spPr>
          <a:xfrm>
            <a:off x="7315200" y="291693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Their plain correlation is 0.617, which looks like a strong lagged cause. It is not one.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104888" y="3566160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6510">
            <a:solidFill>
              <a:srgbClr val="2F7A5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315200" y="3694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F7A5C"/>
                </a:solidFill>
              </a:rPr>
              <a:t>Keep  T(t) — P(t)</a:t>
            </a:r>
            <a:endParaRPr lang="en-US" sz="1450" dirty="0"/>
          </a:p>
        </p:txBody>
      </p:sp>
      <p:sp>
        <p:nvSpPr>
          <p:cNvPr id="56" name="Text 54"/>
          <p:cNvSpPr txBox="1"/>
          <p:nvPr/>
        </p:nvSpPr>
        <p:spPr>
          <a:xfrm>
            <a:off x="7315200" y="39959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only real link between the two sensors, and it acts inside a single minute.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104888" y="4645152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6510">
            <a:solidFill>
              <a:srgbClr val="7B5577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315200" y="4773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7B5577"/>
                </a:solidFill>
              </a:rPr>
              <a:t>Point it  T(t) → P(t)</a:t>
            </a:r>
            <a:endParaRPr lang="en-US" sz="1450" dirty="0"/>
          </a:p>
        </p:txBody>
      </p:sp>
      <p:sp>
        <p:nvSpPr>
          <p:cNvPr id="59" name="Text 57"/>
          <p:cNvSpPr txBox="1"/>
          <p:nvPr/>
        </p:nvSpPr>
        <p:spPr>
          <a:xfrm>
            <a:off x="7315200" y="50749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Surviving a test gives an edge, not an arrow. Direction comes last.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PCMCI+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PCMCI+ in four pictures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Two estimation parts, then orientation. Each stage removes something from the picture before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2606040" cy="38404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676B70"/>
                </a:solidFill>
              </a:rPr>
              <a:t>EVERY CANDIDATE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4018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80260" y="2651760"/>
            <a:ext cx="425196" cy="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flipV="1">
            <a:off x="2050214" y="2757215"/>
            <a:ext cx="486791" cy="319891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 flipV="1">
            <a:off x="2008118" y="2804578"/>
            <a:ext cx="573087" cy="753201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280160" y="2651760"/>
            <a:ext cx="1225296" cy="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 flipV="1">
            <a:off x="1271022" y="2711701"/>
            <a:ext cx="1244029" cy="408752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flipV="1">
            <a:off x="1250114" y="2757215"/>
            <a:ext cx="1286891" cy="845671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050214" y="2752194"/>
            <a:ext cx="486791" cy="319891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080260" y="3177540"/>
            <a:ext cx="425196" cy="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V="1">
            <a:off x="2050214" y="3282995"/>
            <a:ext cx="486791" cy="319891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271022" y="2708847"/>
            <a:ext cx="1244029" cy="408752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280160" y="3177540"/>
            <a:ext cx="1225296" cy="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 flipV="1">
            <a:off x="1271022" y="3237481"/>
            <a:ext cx="1244029" cy="408752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008118" y="2797301"/>
            <a:ext cx="573087" cy="753201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050214" y="3277974"/>
            <a:ext cx="486791" cy="319891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080260" y="3703320"/>
            <a:ext cx="425196" cy="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250114" y="2752194"/>
            <a:ext cx="1286891" cy="845671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271022" y="3234627"/>
            <a:ext cx="1244029" cy="408752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280160" y="3703320"/>
            <a:ext cx="1225296" cy="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697480" y="2834640"/>
            <a:ext cx="0" cy="150876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2697480" y="3360420"/>
            <a:ext cx="0" cy="150876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697480" y="2834640"/>
            <a:ext cx="0" cy="676656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50976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50976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50976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0976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50976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50976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751076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751076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751076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751076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751076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751076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551176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551176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551176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551176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551176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551176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786384" y="4069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Nothing has been ruled out. 21 possible links.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300984" y="3017520"/>
            <a:ext cx="301752" cy="310896"/>
          </a:xfrm>
          <a:prstGeom prst="rightArrow">
            <a:avLst/>
          </a:prstGeom>
          <a:solidFill>
            <a:srgbClr val="E3DED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38144" y="1627632"/>
            <a:ext cx="2606040" cy="38404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639312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7B5577"/>
                </a:solidFill>
              </a:rPr>
              <a:t>AFTER PART 1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896612" y="2651760"/>
            <a:ext cx="425196" cy="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4866566" y="2752194"/>
            <a:ext cx="486791" cy="319891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4896612" y="3177540"/>
            <a:ext cx="425196" cy="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4824470" y="2797301"/>
            <a:ext cx="573087" cy="753201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4866566" y="3277974"/>
            <a:ext cx="486791" cy="319891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5513832" y="2834640"/>
            <a:ext cx="0" cy="150876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5513832" y="3360420"/>
            <a:ext cx="0" cy="150876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5513832" y="2834640"/>
            <a:ext cx="0" cy="676656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3767328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767328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3767328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767328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3767328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767328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4567428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567428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567428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567428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4567428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567428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5367528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367528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5367528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367528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5367528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367528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3602736" y="4069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short lagged parent list per target. Same-instant links are untouched — part 1 never looks at them.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6117336" y="3017520"/>
            <a:ext cx="301752" cy="310896"/>
          </a:xfrm>
          <a:prstGeom prst="rightArrow">
            <a:avLst/>
          </a:prstGeom>
          <a:solidFill>
            <a:srgbClr val="E3DED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254496" y="1627632"/>
            <a:ext cx="2606040" cy="38404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455664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2F7A5C"/>
                </a:solidFill>
              </a:rPr>
              <a:t>AFTER PART 2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7712964" y="2651760"/>
            <a:ext cx="425196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682918" y="2752194"/>
            <a:ext cx="486791" cy="319891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712964" y="3177540"/>
            <a:ext cx="425196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30184" y="3360420"/>
            <a:ext cx="0" cy="150876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583680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58368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6583680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583680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6583680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658368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7383780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738378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7383780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7383780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7383780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738378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8183880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818388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8183880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8183880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8183880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818388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6419088" y="4069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Survivors of the MCI test. Adjacencies only, still no arrowheads.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8933688" y="3017520"/>
            <a:ext cx="301752" cy="310896"/>
          </a:xfrm>
          <a:prstGeom prst="rightArrow">
            <a:avLst/>
          </a:prstGeom>
          <a:solidFill>
            <a:srgbClr val="E3DED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070848" y="1627632"/>
            <a:ext cx="2606040" cy="38404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9272016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9C7A35"/>
                </a:solidFill>
              </a:rPr>
              <a:t>AFTER ORIENTATION</a:t>
            </a:r>
            <a:endParaRPr lang="en-US" sz="1150" dirty="0"/>
          </a:p>
        </p:txBody>
      </p:sp>
      <p:sp>
        <p:nvSpPr>
          <p:cNvPr id="108" name="Shape 106"/>
          <p:cNvSpPr/>
          <p:nvPr/>
        </p:nvSpPr>
        <p:spPr>
          <a:xfrm>
            <a:off x="10529316" y="2651760"/>
            <a:ext cx="425196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10499270" y="2752194"/>
            <a:ext cx="486791" cy="319891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10529316" y="3177540"/>
            <a:ext cx="425196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11146536" y="3360420"/>
            <a:ext cx="0" cy="150876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112" name="Shape 110"/>
          <p:cNvSpPr/>
          <p:nvPr/>
        </p:nvSpPr>
        <p:spPr>
          <a:xfrm>
            <a:off x="9400032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94000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9400032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9400032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9400032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94000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10200132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102001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120" name="Shape 118"/>
          <p:cNvSpPr/>
          <p:nvPr/>
        </p:nvSpPr>
        <p:spPr>
          <a:xfrm>
            <a:off x="10200132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10200132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10200132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102001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124" name="Shape 122"/>
          <p:cNvSpPr/>
          <p:nvPr/>
        </p:nvSpPr>
        <p:spPr>
          <a:xfrm>
            <a:off x="11000232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11000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126" name="Shape 124"/>
          <p:cNvSpPr/>
          <p:nvPr/>
        </p:nvSpPr>
        <p:spPr>
          <a:xfrm>
            <a:off x="11000232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11000232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128" name="Shape 126"/>
          <p:cNvSpPr/>
          <p:nvPr/>
        </p:nvSpPr>
        <p:spPr>
          <a:xfrm>
            <a:off x="11000232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11000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130" name="Text 128"/>
          <p:cNvSpPr txBox="1"/>
          <p:nvPr/>
        </p:nvSpPr>
        <p:spPr>
          <a:xfrm>
            <a:off x="9235440" y="4069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Time orients the lagged links, one triple settles the last edge.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621792" y="562356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5EEDD"/>
          </a:solidFill>
          <a:ln w="15240">
            <a:solidFill>
              <a:srgbClr val="9C7A35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822960" y="5751576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7A35"/>
                </a:solidFill>
              </a:rPr>
              <a:t>OUR PAIR   </a:t>
            </a:r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gold marks T and P. The lagged arrow T(t−1) → P(t) survives part 1, dies in part 2, and the same-instant edge is the one that finally gets an arrowhead.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PCMCI+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basic test: partial correlation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removal in the whole algorithm is this picture. Only the contents of Z change.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4206240" cy="411480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676B70"/>
                </a:solidFill>
              </a:rPr>
              <a:t>WHAT THE TEST DOES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14400" y="221284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6A8E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2539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A8E70"/>
                </a:solidFill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2203704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Pick a pair of columns, X and Y, and a set of other columns called Z.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08152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6A8E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1226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A8E70"/>
                </a:solidFill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316736" y="3072384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From X, strip out everything the columns in Z can predict. Do the same to 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95020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6A8E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9913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A8E70"/>
                </a:solidFill>
              </a:rPr>
              <a:t>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316736" y="3941064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Correlate the two leftovers. That number is the partial correlation.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81888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6A8E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8600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A8E70"/>
                </a:solidFill>
              </a:rPr>
              <a:t>4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4809744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Near zero means Z explained the whole relationship, so the link is cut and this Z is kept as the pair’s separating set.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120640" y="1627632"/>
            <a:ext cx="31089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94960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676B70"/>
                </a:solidFill>
              </a:rPr>
              <a:t>BEFORE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40680" y="2286000"/>
            <a:ext cx="1325880" cy="1051560"/>
          </a:xfrm>
          <a:prstGeom prst="ellipse">
            <a:avLst/>
          </a:prstGeom>
          <a:solidFill>
            <a:srgbClr val="6A8E70">
              <a:alpha val="28000"/>
            </a:srgbClr>
          </a:solidFill>
          <a:ln w="20320">
            <a:solidFill>
              <a:srgbClr val="6A8E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2286000"/>
            <a:ext cx="1325880" cy="1051560"/>
          </a:xfrm>
          <a:prstGeom prst="ellipse">
            <a:avLst/>
          </a:prstGeom>
          <a:solidFill>
            <a:srgbClr val="9C7A35">
              <a:alpha val="28000"/>
            </a:srgbClr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A8E70"/>
                </a:solidFill>
              </a:rPr>
              <a:t>X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C7A35"/>
                </a:solidFill>
              </a:rPr>
              <a:t>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382512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shared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58200" y="1627632"/>
            <a:ext cx="3090672" cy="1920240"/>
          </a:xfrm>
          <a:prstGeom prst="roundRect">
            <a:avLst>
              <a:gd name="adj" fmla="val 4762"/>
            </a:avLst>
          </a:prstGeom>
          <a:solidFill>
            <a:srgbClr val="F6E7E3"/>
          </a:solidFill>
          <a:ln w="12700">
            <a:solidFill>
              <a:srgbClr val="A84A3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32520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A84A3E"/>
                </a:solidFill>
              </a:rPr>
              <a:t>NOTHING LEFT  →  CUT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915400" y="2331720"/>
            <a:ext cx="1005840" cy="914400"/>
          </a:xfrm>
          <a:prstGeom prst="ellipse">
            <a:avLst/>
          </a:prstGeom>
          <a:solidFill>
            <a:srgbClr val="6A8E70">
              <a:alpha val="20000"/>
            </a:srgbClr>
          </a:solidFill>
          <a:ln w="17780">
            <a:solidFill>
              <a:srgbClr val="6A8E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49840" y="2331720"/>
            <a:ext cx="1005840" cy="914400"/>
          </a:xfrm>
          <a:prstGeom prst="ellipse">
            <a:avLst/>
          </a:prstGeom>
          <a:solidFill>
            <a:srgbClr val="9C7A35">
              <a:alpha val="20000"/>
            </a:srgbClr>
          </a:solidFill>
          <a:ln w="17780">
            <a:solidFill>
              <a:srgbClr val="9C7A3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32520" y="32918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4A3E"/>
                </a:solidFill>
              </a:rPr>
              <a:t>write Z down as the separating set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0" y="3822192"/>
            <a:ext cx="31089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9496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676B70"/>
                </a:solidFill>
              </a:rPr>
              <a:t>CUTTING AWAY Z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39496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A8E70"/>
                </a:solidFill>
              </a:rPr>
              <a:t>X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69280" y="448056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6A8E70">
              <a:alpha val="45000"/>
            </a:srgbClr>
          </a:solidFill>
          <a:ln w="12700">
            <a:solidFill>
              <a:srgbClr val="6A8E7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24144" y="4544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explained by Z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32320" y="4480560"/>
            <a:ext cx="914400" cy="347472"/>
          </a:xfrm>
          <a:prstGeom prst="roundRect">
            <a:avLst>
              <a:gd name="adj" fmla="val 18421"/>
            </a:avLst>
          </a:prstGeom>
          <a:solidFill>
            <a:schemeClr val="bg1"/>
          </a:solidFill>
          <a:ln w="16510">
            <a:solidFill>
              <a:srgbClr val="6A8E7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68896" y="45445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8E70"/>
                </a:solidFill>
              </a:rPr>
              <a:t>leftover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394960" y="50749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669280" y="502920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9C7A35">
              <a:alpha val="45000"/>
            </a:srgbClr>
          </a:solidFill>
          <a:ln w="12700">
            <a:solidFill>
              <a:srgbClr val="9C7A3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724144" y="5093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explained by Z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32320" y="5029200"/>
            <a:ext cx="914400" cy="347472"/>
          </a:xfrm>
          <a:prstGeom prst="roundRect">
            <a:avLst>
              <a:gd name="adj" fmla="val 18421"/>
            </a:avLst>
          </a:prstGeom>
          <a:solidFill>
            <a:schemeClr val="bg1"/>
          </a:solidFill>
          <a:ln w="16510">
            <a:solidFill>
              <a:srgbClr val="9C7A3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68896" y="509320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7A35"/>
                </a:solidFill>
              </a:rPr>
              <a:t>leftover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394960" y="5486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test looks only at the two leftovers.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58200" y="3822192"/>
            <a:ext cx="3090672" cy="1920240"/>
          </a:xfrm>
          <a:prstGeom prst="roundRect">
            <a:avLst>
              <a:gd name="adj" fmla="val 4762"/>
            </a:avLst>
          </a:prstGeom>
          <a:solidFill>
            <a:srgbClr val="E8F0E9"/>
          </a:solidFill>
          <a:ln w="12700">
            <a:solidFill>
              <a:srgbClr val="2F7A5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732520" y="4005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2F7A5C"/>
                </a:solidFill>
              </a:rPr>
              <a:t>SOMETHING LEFT  →  KEEP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098280" y="4526280"/>
            <a:ext cx="1005840" cy="914400"/>
          </a:xfrm>
          <a:prstGeom prst="ellipse">
            <a:avLst/>
          </a:prstGeom>
          <a:solidFill>
            <a:srgbClr val="6A8E70">
              <a:alpha val="20000"/>
            </a:srgbClr>
          </a:solidFill>
          <a:ln w="17780">
            <a:solidFill>
              <a:srgbClr val="6A8E7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875520" y="4526280"/>
            <a:ext cx="1005840" cy="914400"/>
          </a:xfrm>
          <a:prstGeom prst="ellipse">
            <a:avLst/>
          </a:prstGeom>
          <a:solidFill>
            <a:srgbClr val="9C7A35">
              <a:alpha val="20000"/>
            </a:srgbClr>
          </a:solidFill>
          <a:ln w="17780">
            <a:solidFill>
              <a:srgbClr val="9C7A3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732520" y="55046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7A5C"/>
                </a:solidFill>
              </a:rPr>
              <a:t>the link survives into the next round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PCMCI+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Part 1: build the parent list of P(t)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One target at a time. Only lagged nodes are candidates, so the same-instant node T(t) is not even in the running.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3337560" cy="411480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7B5577"/>
                </a:solidFill>
              </a:rPr>
              <a:t>THE PROCEDURE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86968" y="221284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7B557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2539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5577"/>
                </a:solidFill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289304" y="2203704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Correlate every candidate with the target, with nothing held fixed. Rank them, strongest first.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86968" y="308152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7B557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31226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5577"/>
                </a:solidFill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072384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Take the strongest, T(t−1), and hold it fixed. Re-test every other candidate against the target.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6968" y="395020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7B557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39913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5577"/>
                </a:solidFill>
              </a:rPr>
              <a:t>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3941064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Whatever collapses to near zero leaves the list for good. The rest stay.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6968" y="481888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7B557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48600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5577"/>
                </a:solidFill>
              </a:rPr>
              <a:t>4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289304" y="4809744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Now hold pairs fixed, then triples, always strongest first, until no candidate has enough others left to pair with.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0" y="1627632"/>
            <a:ext cx="2377440" cy="411480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97680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9C7A35"/>
                </a:solidFill>
              </a:rPr>
              <a:t>ROUND p = 0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078224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09744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541264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66158" y="2840101"/>
            <a:ext cx="527869" cy="758812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08020" y="3324659"/>
            <a:ext cx="441942" cy="317646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40680" y="3749040"/>
            <a:ext cx="374904" cy="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676500" y="2798879"/>
            <a:ext cx="1173462" cy="843426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698923" y="3282017"/>
            <a:ext cx="1127438" cy="405173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709160" y="3749040"/>
            <a:ext cx="1106424" cy="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398264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98264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98264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98264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98264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9826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129784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29784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129784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29784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129784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2978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861304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861304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861304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861304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861304" y="3611880"/>
            <a:ext cx="274320" cy="2743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9C7A3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86130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P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261104" y="41148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Nothing held fixed. All six candidates survive — plain correlation cuts nothing.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547104" y="3017520"/>
            <a:ext cx="256032" cy="310896"/>
          </a:xfrm>
          <a:prstGeom prst="rightArrow">
            <a:avLst/>
          </a:prstGeom>
          <a:solidFill>
            <a:srgbClr val="E3DED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29400" y="1627632"/>
            <a:ext cx="2377440" cy="411480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812280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9C7A35"/>
                </a:solidFill>
              </a:rPr>
              <a:t>ROUND p = 1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880758" y="2840101"/>
            <a:ext cx="527869" cy="758812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7922620" y="3324659"/>
            <a:ext cx="441942" cy="317646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191100" y="2798879"/>
            <a:ext cx="1173462" cy="843426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7955280" y="3749040"/>
            <a:ext cx="374904" cy="0"/>
          </a:xfrm>
          <a:prstGeom prst="line">
            <a:avLst/>
          </a:prstGeom>
          <a:noFill/>
          <a:ln w="17780">
            <a:solidFill>
              <a:srgbClr val="A84A3E"/>
            </a:solidFill>
            <a:prstDash val="dash"/>
          </a:ln>
        </p:spPr>
      </p:sp>
      <p:sp>
        <p:nvSpPr>
          <p:cNvPr id="55" name="Text 53"/>
          <p:cNvSpPr txBox="1"/>
          <p:nvPr/>
        </p:nvSpPr>
        <p:spPr>
          <a:xfrm>
            <a:off x="8014716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4A3E"/>
                </a:solidFill>
              </a:rPr>
              <a:t>✕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213523" y="3282017"/>
            <a:ext cx="1127438" cy="405173"/>
          </a:xfrm>
          <a:prstGeom prst="line">
            <a:avLst/>
          </a:prstGeom>
          <a:noFill/>
          <a:ln w="17780">
            <a:solidFill>
              <a:srgbClr val="A84A3E"/>
            </a:solidFill>
            <a:prstDash val="dash"/>
          </a:ln>
        </p:spPr>
      </p:sp>
      <p:sp>
        <p:nvSpPr>
          <p:cNvPr id="57" name="Text 55"/>
          <p:cNvSpPr txBox="1"/>
          <p:nvPr/>
        </p:nvSpPr>
        <p:spPr>
          <a:xfrm>
            <a:off x="7649225" y="33565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4A3E"/>
                </a:solidFill>
              </a:rPr>
              <a:t>✕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223760" y="3749040"/>
            <a:ext cx="1106424" cy="0"/>
          </a:xfrm>
          <a:prstGeom prst="line">
            <a:avLst/>
          </a:prstGeom>
          <a:noFill/>
          <a:ln w="17780">
            <a:solidFill>
              <a:srgbClr val="A84A3E"/>
            </a:solidFill>
            <a:prstDash val="dash"/>
          </a:ln>
        </p:spPr>
      </p:sp>
      <p:sp>
        <p:nvSpPr>
          <p:cNvPr id="59" name="Text 57"/>
          <p:cNvSpPr txBox="1"/>
          <p:nvPr/>
        </p:nvSpPr>
        <p:spPr>
          <a:xfrm>
            <a:off x="7648956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4A3E"/>
                </a:solidFill>
              </a:rPr>
              <a:t>✕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912864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912864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912864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912864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912864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91286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7644384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644384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7644384" y="3086100"/>
            <a:ext cx="274320" cy="274320"/>
          </a:xfrm>
          <a:prstGeom prst="ellipse">
            <a:avLst/>
          </a:prstGeom>
          <a:solidFill>
            <a:srgbClr val="E3DED2"/>
          </a:solidFill>
          <a:ln w="20320">
            <a:solidFill>
              <a:srgbClr val="A39D8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644384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2D32"/>
                </a:solidFill>
              </a:rPr>
              <a:t>T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7644384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64438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375904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375904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375904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375904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8375904" y="3611880"/>
            <a:ext cx="274320" cy="2743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9C7A35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37590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P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6775704" y="41148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T(t−1) held fixed. P(t−1), T(t−2) and P(t−2) collapse and leave.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9061704" y="3017520"/>
            <a:ext cx="256032" cy="310896"/>
          </a:xfrm>
          <a:prstGeom prst="rightArrow">
            <a:avLst/>
          </a:prstGeom>
          <a:solidFill>
            <a:srgbClr val="E3DED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144000" y="1627632"/>
            <a:ext cx="2377440" cy="411480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326880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9C7A35"/>
                </a:solidFill>
              </a:rPr>
              <a:t>ROUND p = 2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10395358" y="2840101"/>
            <a:ext cx="527869" cy="758812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10437220" y="3324659"/>
            <a:ext cx="441942" cy="317646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9705700" y="2798879"/>
            <a:ext cx="1173462" cy="843426"/>
          </a:xfrm>
          <a:prstGeom prst="line">
            <a:avLst/>
          </a:prstGeom>
          <a:noFill/>
          <a:ln w="17780">
            <a:solidFill>
              <a:srgbClr val="A84A3E"/>
            </a:solidFill>
            <a:prstDash val="dash"/>
          </a:ln>
        </p:spPr>
      </p:sp>
      <p:sp>
        <p:nvSpPr>
          <p:cNvPr id="85" name="Text 83"/>
          <p:cNvSpPr txBox="1"/>
          <p:nvPr/>
        </p:nvSpPr>
        <p:spPr>
          <a:xfrm>
            <a:off x="10164415" y="309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4A3E"/>
                </a:solidFill>
              </a:rPr>
              <a:t>✕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9427464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9427464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9427464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9427464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9427464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942746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10158984" y="2560320"/>
            <a:ext cx="274320" cy="274320"/>
          </a:xfrm>
          <a:prstGeom prst="ellipse">
            <a:avLst/>
          </a:prstGeom>
          <a:solidFill>
            <a:srgbClr val="E3DED2"/>
          </a:solidFill>
          <a:ln w="20320">
            <a:solidFill>
              <a:srgbClr val="A39D8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0158984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2D32"/>
                </a:solidFill>
              </a:rPr>
              <a:t>F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10158984" y="3086100"/>
            <a:ext cx="274320" cy="274320"/>
          </a:xfrm>
          <a:prstGeom prst="ellipse">
            <a:avLst/>
          </a:prstGeom>
          <a:solidFill>
            <a:srgbClr val="E3DED2"/>
          </a:solidFill>
          <a:ln w="20320">
            <a:solidFill>
              <a:srgbClr val="A39D8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10158984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2D32"/>
                </a:solidFill>
              </a:rPr>
              <a:t>T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10158984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015898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10890504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0890504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10890504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10890504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10890504" y="3611880"/>
            <a:ext cx="274320" cy="2743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9C7A35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1089050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P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9290304" y="41148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T(t−1) and F(t−1) held fixed. F(t−2) collapses. Two candidates remain.</a:t>
            </a:r>
            <a:endParaRPr lang="en-US" sz="1150" dirty="0"/>
          </a:p>
        </p:txBody>
      </p:sp>
      <p:sp>
        <p:nvSpPr>
          <p:cNvPr id="105" name="Shape 103"/>
          <p:cNvSpPr/>
          <p:nvPr/>
        </p:nvSpPr>
        <p:spPr>
          <a:xfrm>
            <a:off x="621792" y="5870448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5EEDD"/>
          </a:solidFill>
          <a:ln w="15240">
            <a:solidFill>
              <a:srgbClr val="9C7A35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822960" y="5998464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7A35"/>
                </a:solidFill>
              </a:rPr>
              <a:t>OUR PAIR   </a:t>
            </a:r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T(t−1) was the strongest candidate, so it is the first thing put into Z — and it survives every round. Part 1 hands on B(P) = { F(t−1), T(t−1) }.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PCMCI+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the Part 1 list is not final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Part 1 conditions on lagged nodes only, so it cannot block a path that passes through the present minute.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91640"/>
            <a:ext cx="5029200" cy="36576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7B5577"/>
                </a:solidFill>
              </a:rPr>
              <a:t>WHAT PART 1 KEPT FOR P(t)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573" y="3006006"/>
            <a:ext cx="817382" cy="1021727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883578" y="3636751"/>
            <a:ext cx="717329" cy="448331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17320" y="26517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17320" y="33375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417320" y="40233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732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6517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1460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14600" y="3337560"/>
            <a:ext cx="365760" cy="3657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9C7A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1460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14600" y="40233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1460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11880" y="26517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11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11880" y="33375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118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11880" y="4023360"/>
            <a:ext cx="365760" cy="3657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9C7A3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1188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P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47091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Both arrows passed every lagged test, so both are on the list.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870448" y="3246120"/>
            <a:ext cx="457200" cy="310896"/>
          </a:xfrm>
          <a:prstGeom prst="rightArrow">
            <a:avLst/>
          </a:prstGeom>
          <a:solidFill>
            <a:srgbClr val="E3DED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87568" y="3657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F7A5C"/>
                </a:solidFill>
              </a:rPr>
              <a:t>truth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37960" y="1691640"/>
            <a:ext cx="5010912" cy="36576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30568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2F7A5C"/>
                </a:solidFill>
              </a:rPr>
              <a:t>WHAT IS ACTUALLY THERE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445752" y="3136392"/>
            <a:ext cx="768096" cy="768096"/>
          </a:xfrm>
          <a:prstGeom prst="ellipse">
            <a:avLst/>
          </a:prstGeom>
          <a:solidFill>
            <a:srgbClr val="9C7A35">
              <a:alpha val="15000"/>
            </a:srgbClr>
          </a:solidFill>
          <a:ln w="19050">
            <a:solidFill>
              <a:srgbClr val="9C7A35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717804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37260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918618" y="2950951"/>
            <a:ext cx="717329" cy="448331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951976" y="3520440"/>
            <a:ext cx="649224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829800" y="3739896"/>
            <a:ext cx="0" cy="237744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452360" y="26517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5236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452360" y="33375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5236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452360" y="40233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5236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549640" y="26517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4964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549640" y="33375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549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549640" y="40233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5496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646920" y="26517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6469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9646920" y="33375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6469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646920" y="4023360"/>
            <a:ext cx="365760" cy="3657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9C7A3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64692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P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10305288" y="34107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7A35"/>
                </a:solidFill>
              </a:rPr>
              <a:t>the mediator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6830568" y="47091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Neither lagged node touches P directly. Both reach it through T(t), which sits at lag 0 — invisible to part 1.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21792" y="553212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5EEDD"/>
          </a:solidFill>
          <a:ln w="15240">
            <a:solidFill>
              <a:srgbClr val="9C7A3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22960" y="5660136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7A35"/>
                </a:solidFill>
              </a:rPr>
              <a:t>OUR PAIR   </a:t>
            </a:r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This is why T(t−1) → P(t) is still standing. To cut it, something has to put T(t) into Z. That is exactly what part 2 adds.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PCMCI+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Part 2: build the test set Z for our link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Link under test: T(t−1) → P(t), in gold. Z is no longer a few candidates — it is assembled from three fixed sources.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11880" y="233172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2F7A5C">
              <a:alpha val="14000"/>
            </a:srgbClr>
          </a:solidFill>
          <a:ln w="19050">
            <a:solidFill>
              <a:srgbClr val="2F7A5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71600" y="2331720"/>
            <a:ext cx="822960" cy="1874520"/>
          </a:xfrm>
          <a:prstGeom prst="roundRect">
            <a:avLst>
              <a:gd name="adj" fmla="val 15556"/>
            </a:avLst>
          </a:prstGeom>
          <a:solidFill>
            <a:srgbClr val="7B5577">
              <a:alpha val="14000"/>
            </a:srgbClr>
          </a:solidFill>
          <a:ln w="19050">
            <a:solidFill>
              <a:srgbClr val="7B5577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852160" y="338328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9C7A35">
              <a:alpha val="14000"/>
            </a:srgbClr>
          </a:solidFill>
          <a:ln w="19050">
            <a:solidFill>
              <a:srgbClr val="9C7A3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263407" y="3907435"/>
            <a:ext cx="1751908" cy="822324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88536" y="2743200"/>
            <a:ext cx="1700784" cy="0"/>
          </a:xfrm>
          <a:prstGeom prst="line">
            <a:avLst/>
          </a:prstGeom>
          <a:noFill/>
          <a:ln w="17780">
            <a:solidFill>
              <a:srgbClr val="C9C2B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63407" y="2855875"/>
            <a:ext cx="1751908" cy="822324"/>
          </a:xfrm>
          <a:prstGeom prst="line">
            <a:avLst/>
          </a:prstGeom>
          <a:noFill/>
          <a:ln w="17780">
            <a:solidFill>
              <a:srgbClr val="C9C2B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88536" y="3794760"/>
            <a:ext cx="1700784" cy="0"/>
          </a:xfrm>
          <a:prstGeom prst="line">
            <a:avLst/>
          </a:prstGeom>
          <a:noFill/>
          <a:ln w="17780">
            <a:solidFill>
              <a:srgbClr val="C9C2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63640" y="4059936"/>
            <a:ext cx="0" cy="512064"/>
          </a:xfrm>
          <a:prstGeom prst="line">
            <a:avLst/>
          </a:prstGeom>
          <a:noFill/>
          <a:ln w="17780">
            <a:solidFill>
              <a:srgbClr val="C9C2B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554480" y="2514600"/>
            <a:ext cx="457200" cy="457200"/>
          </a:xfrm>
          <a:prstGeom prst="ellipse">
            <a:avLst/>
          </a:prstGeom>
          <a:solidFill>
            <a:srgbClr val="E3DED2"/>
          </a:solidFill>
          <a:ln w="20320">
            <a:solidFill>
              <a:srgbClr val="A3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2D32"/>
                </a:solidFill>
              </a:rPr>
              <a:t>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54480" y="3566160"/>
            <a:ext cx="457200" cy="457200"/>
          </a:xfrm>
          <a:prstGeom prst="ellipse">
            <a:avLst/>
          </a:prstGeom>
          <a:solidFill>
            <a:srgbClr val="E3DED2"/>
          </a:solidFill>
          <a:ln w="20320">
            <a:solidFill>
              <a:srgbClr val="A3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544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2D32"/>
                </a:solidFill>
              </a:rPr>
              <a:t>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54480" y="4617720"/>
            <a:ext cx="457200" cy="45720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544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94760" y="2514600"/>
            <a:ext cx="457200" cy="457200"/>
          </a:xfrm>
          <a:prstGeom prst="ellipse">
            <a:avLst/>
          </a:prstGeom>
          <a:solidFill>
            <a:srgbClr val="E3DED2"/>
          </a:solidFill>
          <a:ln w="20320">
            <a:solidFill>
              <a:srgbClr val="A39D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947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2D32"/>
                </a:solidFill>
              </a:rPr>
              <a:t>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94760" y="356616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9C7A3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947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94760" y="4617720"/>
            <a:ext cx="457200" cy="45720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9476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35040" y="2514600"/>
            <a:ext cx="457200" cy="45720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3566160"/>
            <a:ext cx="457200" cy="457200"/>
          </a:xfrm>
          <a:prstGeom prst="ellipse">
            <a:avLst/>
          </a:prstGeom>
          <a:solidFill>
            <a:srgbClr val="E3DED2"/>
          </a:solidFill>
          <a:ln w="20320">
            <a:solidFill>
              <a:srgbClr val="A39D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350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2D32"/>
                </a:solidFill>
              </a:rPr>
              <a:t>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461772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9C7A3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350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P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2084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t−2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3611880" y="2084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t−1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852160" y="2084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949440" y="1664208"/>
            <a:ext cx="4599432" cy="1261872"/>
          </a:xfrm>
          <a:prstGeom prst="roundRect">
            <a:avLst>
              <a:gd name="adj" fmla="val 7246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87184" y="1828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F7A5C"/>
          </a:solidFill>
          <a:ln w="12700">
            <a:solidFill>
              <a:srgbClr val="2F7A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61504" y="17922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parents of the TARGET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187184" y="21031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P(t) is the target, so B(P) goes in — minus the source itself. B(P) = {F(t−1), T(t−1)}, and T(t−1) is the link under test, so only F(t−1) is left.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49440" y="3035808"/>
            <a:ext cx="4599432" cy="1261872"/>
          </a:xfrm>
          <a:prstGeom prst="roundRect">
            <a:avLst>
              <a:gd name="adj" fmla="val 7246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87184" y="32004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7B5577"/>
          </a:solidFill>
          <a:ln w="12700">
            <a:solidFill>
              <a:srgbClr val="7B557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61504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parents of the SOURCE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187184" y="3474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T(t−1) is the source, so B(T) goes in as well, slid back to its own time slice.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949440" y="4407408"/>
            <a:ext cx="4599432" cy="1261872"/>
          </a:xfrm>
          <a:prstGeom prst="roundRect">
            <a:avLst>
              <a:gd name="adj" fmla="val 7246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87184" y="45720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9C7A35"/>
          </a:solidFill>
          <a:ln w="12700">
            <a:solidFill>
              <a:srgbClr val="9C7A3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61504" y="4535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S — same-instant neighbors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7187184" y="4846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Nodes still adjacent to P at lag 0. S is empty in the first round and takes one more neighbor in each round after that.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21792" y="5806440"/>
            <a:ext cx="6035040" cy="457200"/>
          </a:xfrm>
          <a:prstGeom prst="roundRect">
            <a:avLst>
              <a:gd name="adj" fmla="val 20000"/>
            </a:avLst>
          </a:prstGeom>
          <a:solidFill>
            <a:srgbClr val="F5EEDD"/>
          </a:solidFill>
          <a:ln w="15240">
            <a:solidFill>
              <a:srgbClr val="9C7A3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2960" y="59344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7A35"/>
                </a:solidFill>
              </a:rPr>
              <a:t>OUR PAIR   </a:t>
            </a:r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Once T(t) enters the gold box, our link can finally be cut.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PCMCI+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parent list moves back in time with its node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Part 1 reports every list as if its owner sat at time t. When that owner is the source of a lagged link, the list slides back with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4480560" cy="356616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676B70"/>
                </a:solidFill>
              </a:rPr>
              <a:t>AS PART 1 REPORTS IT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51760" y="2514600"/>
            <a:ext cx="731520" cy="1417320"/>
          </a:xfrm>
          <a:prstGeom prst="roundRect">
            <a:avLst>
              <a:gd name="adj" fmla="val 17500"/>
            </a:avLst>
          </a:prstGeom>
          <a:solidFill>
            <a:srgbClr val="7B5577">
              <a:alpha val="14000"/>
            </a:srgbClr>
          </a:solidFill>
          <a:ln w="19050">
            <a:solidFill>
              <a:srgbClr val="7B5577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37160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3450" y="2999166"/>
            <a:ext cx="768939" cy="443619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55264" y="3566160"/>
            <a:ext cx="704088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627632" y="26791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27632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27632" y="33649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27632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27632" y="40507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2763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16352" y="26791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16352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16352" y="33649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16352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16352" y="40507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1635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005072" y="26791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05072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005072" y="3364992"/>
            <a:ext cx="402336" cy="40233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C7A3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05072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005072" y="40507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00507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46177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B(T) = { F(t−1), T(t−1) }, written for T sitting at time t.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577840" y="3200400"/>
            <a:ext cx="548640" cy="310896"/>
          </a:xfrm>
          <a:prstGeom prst="rightArrow">
            <a:avLst/>
          </a:prstGeom>
          <a:solidFill>
            <a:srgbClr val="E3DED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0" y="3611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F7A5C"/>
                </a:solidFill>
              </a:rPr>
              <a:t>slide back by τ = 1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58000" y="1783080"/>
            <a:ext cx="4480560" cy="3566160"/>
          </a:xfrm>
          <a:prstGeom prst="roundRect">
            <a:avLst>
              <a:gd name="adj" fmla="val 2564"/>
            </a:avLst>
          </a:prstGeom>
          <a:solidFill>
            <a:srgbClr val="E8F0E9"/>
          </a:solidFill>
          <a:ln w="12700">
            <a:solidFill>
              <a:srgbClr val="2F7A5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32320" y="1965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2F7A5C"/>
                </a:solidFill>
              </a:rPr>
              <a:t>AS PART 2 USES IT FOR OUR LINK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498080" y="2514600"/>
            <a:ext cx="731520" cy="1417320"/>
          </a:xfrm>
          <a:prstGeom prst="roundRect">
            <a:avLst>
              <a:gd name="adj" fmla="val 17500"/>
            </a:avLst>
          </a:prstGeom>
          <a:solidFill>
            <a:srgbClr val="7B5577">
              <a:alpha val="14000"/>
            </a:srgbClr>
          </a:solidFill>
          <a:ln w="19050">
            <a:solidFill>
              <a:srgbClr val="7B5577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740664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59536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78408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069770" y="2999166"/>
            <a:ext cx="768939" cy="443619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101584" y="3566160"/>
            <a:ext cx="704088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662672" y="26791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662672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662672" y="33649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662672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662672" y="40507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66267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851392" y="26791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851392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851392" y="3364992"/>
            <a:ext cx="402336" cy="402336"/>
          </a:xfrm>
          <a:prstGeom prst="ellipse">
            <a:avLst/>
          </a:prstGeom>
          <a:solidFill>
            <a:schemeClr val="bg1"/>
          </a:solidFill>
          <a:ln w="38100">
            <a:solidFill>
              <a:srgbClr val="9C7A3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851392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851392" y="40507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85139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10040112" y="26791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040112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0040112" y="33649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040112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10040112" y="40507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04011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7132320" y="46177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Here T is the source at t − 1, so the same list enters as { F(t−2), T(t−2) }.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621792" y="553212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5EEDD"/>
          </a:solidFill>
          <a:ln w="15240">
            <a:solidFill>
              <a:srgbClr val="9C7A35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22960" y="5660136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7A35"/>
                </a:solidFill>
              </a:rPr>
              <a:t>OUR PAIR   </a:t>
            </a:r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Stationarity is what makes the slide legal: one graph describes every minute, so a parent list can be moved along the time axis.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PCMCI+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Part 2 rounds: where our link is removed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Grey ring = held fixed in Z for that round. Red dashes = cut in that round.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3108960" cy="393192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2F7A5C"/>
                </a:solidFill>
              </a:rPr>
              <a:t>THE PROCEDURE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86968" y="221284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2F7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2539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A5C"/>
                </a:solidFill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289304" y="220370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Start from the lagged links part 1 kept, plus every same-instant pair.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86968" y="308152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2F7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31226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A5C"/>
                </a:solidFill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07238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Round p: for each surviving link, build Z from both parent lists plus every S of size p drawn from the target’s same-instant neighbors.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6968" y="395020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2F7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39913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A5C"/>
                </a:solidFill>
              </a:rPr>
              <a:t>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394106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link dies at the first Z that zeroes its leftover. That Z is stored as the pair’s separating set.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6968" y="481888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2F7A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48600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A5C"/>
                </a:solidFill>
              </a:rPr>
              <a:t>4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289304" y="480974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Raise p and repeat until no target has enough neighbors left to fill 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886200" y="1627632"/>
            <a:ext cx="2441448" cy="3931920"/>
          </a:xfrm>
          <a:prstGeom prst="roundRect">
            <a:avLst>
              <a:gd name="adj" fmla="val 3745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69080" y="1810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9C7A35"/>
                </a:solidFill>
              </a:rPr>
              <a:t>WHAT ENTERS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867912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22292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76672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53228" y="2697480"/>
            <a:ext cx="397764" cy="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222025" y="2796821"/>
            <a:ext cx="461813" cy="32187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253228" y="3223260"/>
            <a:ext cx="397764" cy="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180764" y="2838647"/>
            <a:ext cx="546506" cy="761796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222025" y="3322601"/>
            <a:ext cx="461813" cy="321870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833872" y="2871216"/>
            <a:ext cx="0" cy="169164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833872" y="3396996"/>
            <a:ext cx="0" cy="169164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187952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87952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187952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87952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187952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18795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942332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42332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942332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42332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942332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94233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696712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96712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696712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696712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696712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69671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032504" y="41148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Six lagged links from part 1, plus the three same-instant pairs.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382512" y="3017520"/>
            <a:ext cx="256032" cy="310896"/>
          </a:xfrm>
          <a:prstGeom prst="rightArrow">
            <a:avLst/>
          </a:prstGeom>
          <a:solidFill>
            <a:srgbClr val="E3DED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64808" y="1627632"/>
            <a:ext cx="2441448" cy="3931920"/>
          </a:xfrm>
          <a:prstGeom prst="roundRect">
            <a:avLst>
              <a:gd name="adj" fmla="val 3745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647688" y="1810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9C7A35"/>
                </a:solidFill>
              </a:rPr>
              <a:t>ROUND p = 0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831836" y="2697480"/>
            <a:ext cx="397764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800633" y="2796821"/>
            <a:ext cx="461813" cy="32187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831836" y="3223260"/>
            <a:ext cx="397764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7759372" y="2838647"/>
            <a:ext cx="546506" cy="761796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800633" y="3322601"/>
            <a:ext cx="461813" cy="321870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412480" y="3396996"/>
            <a:ext cx="0" cy="169164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12480" y="2871216"/>
            <a:ext cx="0" cy="169164"/>
          </a:xfrm>
          <a:prstGeom prst="line">
            <a:avLst/>
          </a:prstGeom>
          <a:noFill/>
          <a:ln w="17780">
            <a:solidFill>
              <a:srgbClr val="A84A3E"/>
            </a:solidFill>
            <a:prstDash val="dash"/>
          </a:ln>
        </p:spPr>
      </p:sp>
      <p:sp>
        <p:nvSpPr>
          <p:cNvPr id="59" name="Text 57"/>
          <p:cNvSpPr txBox="1"/>
          <p:nvPr/>
        </p:nvSpPr>
        <p:spPr>
          <a:xfrm>
            <a:off x="8284464" y="28277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4A3E"/>
                </a:solidFill>
              </a:rPr>
              <a:t>✕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766560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76656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766560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766560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766560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76656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7520940" y="2560320"/>
            <a:ext cx="274320" cy="274320"/>
          </a:xfrm>
          <a:prstGeom prst="ellipse">
            <a:avLst/>
          </a:prstGeom>
          <a:solidFill>
            <a:srgbClr val="E3DED2"/>
          </a:solidFill>
          <a:ln w="20320">
            <a:solidFill>
              <a:srgbClr val="A39D8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52094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2D32"/>
                </a:solidFill>
              </a:rPr>
              <a:t>F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7520940" y="3086100"/>
            <a:ext cx="274320" cy="274320"/>
          </a:xfrm>
          <a:prstGeom prst="ellipse">
            <a:avLst/>
          </a:prstGeom>
          <a:solidFill>
            <a:srgbClr val="E3DED2"/>
          </a:solidFill>
          <a:ln w="20320">
            <a:solidFill>
              <a:srgbClr val="A39D8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520940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2D32"/>
                </a:solidFill>
              </a:rPr>
              <a:t>T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7520940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52094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275320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27532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275320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275320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8275320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27532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6611112" y="41148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 is empty, but both parent lists are already in Z. The two false same-instant links collapse. Our link survives.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8961120" y="3017520"/>
            <a:ext cx="256032" cy="310896"/>
          </a:xfrm>
          <a:prstGeom prst="rightArrow">
            <a:avLst/>
          </a:prstGeom>
          <a:solidFill>
            <a:srgbClr val="E3DED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043416" y="1627632"/>
            <a:ext cx="2441448" cy="3931920"/>
          </a:xfrm>
          <a:prstGeom prst="roundRect">
            <a:avLst>
              <a:gd name="adj" fmla="val 3745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226296" y="1810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9C7A35"/>
                </a:solidFill>
              </a:rPr>
              <a:t>ROUND p = 1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10410444" y="2697480"/>
            <a:ext cx="397764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10379241" y="2796821"/>
            <a:ext cx="461813" cy="32187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10410444" y="3223260"/>
            <a:ext cx="397764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10337980" y="2838647"/>
            <a:ext cx="546506" cy="761796"/>
          </a:xfrm>
          <a:prstGeom prst="line">
            <a:avLst/>
          </a:prstGeom>
          <a:noFill/>
          <a:ln w="17780">
            <a:solidFill>
              <a:srgbClr val="A84A3E"/>
            </a:solidFill>
            <a:prstDash val="dash"/>
          </a:ln>
        </p:spPr>
      </p:sp>
      <p:sp>
        <p:nvSpPr>
          <p:cNvPr id="86" name="Text 84"/>
          <p:cNvSpPr txBox="1"/>
          <p:nvPr/>
        </p:nvSpPr>
        <p:spPr>
          <a:xfrm>
            <a:off x="10483217" y="30915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4A3E"/>
                </a:solidFill>
              </a:rPr>
              <a:t>✕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10379241" y="3322601"/>
            <a:ext cx="461813" cy="321870"/>
          </a:xfrm>
          <a:prstGeom prst="line">
            <a:avLst/>
          </a:prstGeom>
          <a:noFill/>
          <a:ln w="17780">
            <a:solidFill>
              <a:srgbClr val="A84A3E"/>
            </a:solidFill>
            <a:prstDash val="dash"/>
          </a:ln>
        </p:spPr>
      </p:sp>
      <p:sp>
        <p:nvSpPr>
          <p:cNvPr id="88" name="Text 86"/>
          <p:cNvSpPr txBox="1"/>
          <p:nvPr/>
        </p:nvSpPr>
        <p:spPr>
          <a:xfrm>
            <a:off x="10482131" y="3355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4A3E"/>
                </a:solidFill>
              </a:rPr>
              <a:t>✕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10991088" y="3396996"/>
            <a:ext cx="0" cy="169164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345168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9345168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9345168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9345168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9345168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9345168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10099548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0099548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10099548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0099548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10099548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10099548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10853928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10853928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10853928" y="3086100"/>
            <a:ext cx="274320" cy="274320"/>
          </a:xfrm>
          <a:prstGeom prst="ellipse">
            <a:avLst/>
          </a:prstGeom>
          <a:solidFill>
            <a:srgbClr val="E3DED2"/>
          </a:solidFill>
          <a:ln w="20320">
            <a:solidFill>
              <a:srgbClr val="A39D8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0853928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2D32"/>
                </a:solidFill>
              </a:rPr>
              <a:t>T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10853928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10853928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9189720" y="41148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 takes T(t). Both remaining arrows into P were only passing through it, so both are cut — ours included.</a:t>
            </a:r>
            <a:endParaRPr lang="en-US" sz="1150" dirty="0"/>
          </a:p>
        </p:txBody>
      </p:sp>
      <p:sp>
        <p:nvSpPr>
          <p:cNvPr id="109" name="Shape 107"/>
          <p:cNvSpPr/>
          <p:nvPr/>
        </p:nvSpPr>
        <p:spPr>
          <a:xfrm>
            <a:off x="621792" y="5687568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5EEDD"/>
          </a:solidFill>
          <a:ln w="15240">
            <a:solidFill>
              <a:srgbClr val="9C7A35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822960" y="5815584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7A35"/>
                </a:solidFill>
              </a:rPr>
              <a:t>OUR PAIR   </a:t>
            </a:r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T(t−1) → P(t) is gone, and the Z that killed it contained T(t). That note is written down — orientation is about to need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PCMCI+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Orientation: give each link a direction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skeleton has four edges and no arrowheads. Direction comes from the clock, then from one triple.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3456432" cy="3703320"/>
          </a:xfrm>
          <a:prstGeom prst="roundRect">
            <a:avLst>
              <a:gd name="adj" fmla="val 2646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810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2F7A5C"/>
                </a:solidFill>
              </a:rPr>
              <a:t>TIME SETTLES THREE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89738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4892" y="2697480"/>
            <a:ext cx="553212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36396" y="2803187"/>
            <a:ext cx="611442" cy="35549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64892" y="3268980"/>
            <a:ext cx="553212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37560" y="3479292"/>
            <a:ext cx="0" cy="141732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97864" y="2523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97864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97864" y="30952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97864" y="3095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97864" y="3666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97864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80844" y="2523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80844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80844" y="30952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80844" y="3095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80844" y="3666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80844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63824" y="2523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163824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163824" y="30952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163824" y="3095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163824" y="3666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163824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" y="44622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Anything crossing a time slice can only point forward. Three edges are directed without a single test.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42232" y="3108960"/>
            <a:ext cx="301752" cy="310896"/>
          </a:xfrm>
          <a:prstGeom prst="rightArrow">
            <a:avLst/>
          </a:prstGeom>
          <a:solidFill>
            <a:srgbClr val="E3DED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43400" y="1627632"/>
            <a:ext cx="3456432" cy="3703320"/>
          </a:xfrm>
          <a:prstGeom prst="roundRect">
            <a:avLst>
              <a:gd name="adj" fmla="val 2646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81144" y="1810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9C7A35"/>
                </a:solidFill>
              </a:rPr>
              <a:t>THE TRIPLE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86500" y="3268980"/>
            <a:ext cx="553212" cy="0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059168" y="3479292"/>
            <a:ext cx="0" cy="141732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58004" y="3374687"/>
            <a:ext cx="611442" cy="355490"/>
          </a:xfrm>
          <a:prstGeom prst="line">
            <a:avLst/>
          </a:prstGeom>
          <a:noFill/>
          <a:ln w="17780">
            <a:solidFill>
              <a:srgbClr val="A84A3E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6435709" y="3424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4A3E"/>
                </a:solidFill>
              </a:rPr>
              <a:t>✕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86500" y="2697480"/>
            <a:ext cx="553212" cy="0"/>
          </a:xfrm>
          <a:prstGeom prst="line">
            <a:avLst/>
          </a:prstGeom>
          <a:noFill/>
          <a:ln w="17780">
            <a:solidFill>
              <a:srgbClr val="C9C2B2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258004" y="2803187"/>
            <a:ext cx="611442" cy="355490"/>
          </a:xfrm>
          <a:prstGeom prst="line">
            <a:avLst/>
          </a:prstGeom>
          <a:noFill/>
          <a:ln w="17780">
            <a:solidFill>
              <a:srgbClr val="C9C2B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919472" y="2523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919472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919472" y="30952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919472" y="3095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919472" y="3666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919472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902452" y="2523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902452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902452" y="3095244"/>
            <a:ext cx="347472" cy="347472"/>
          </a:xfrm>
          <a:prstGeom prst="ellipse">
            <a:avLst/>
          </a:prstGeom>
          <a:solidFill>
            <a:schemeClr val="bg1"/>
          </a:solidFill>
          <a:ln w="38100">
            <a:solidFill>
              <a:srgbClr val="9C7A3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902452" y="3095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902452" y="3666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902452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885432" y="2523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885432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885432" y="3095244"/>
            <a:ext cx="347472" cy="347472"/>
          </a:xfrm>
          <a:prstGeom prst="ellipse">
            <a:avLst/>
          </a:prstGeom>
          <a:solidFill>
            <a:schemeClr val="bg1"/>
          </a:solidFill>
          <a:ln w="38100">
            <a:solidFill>
              <a:srgbClr val="9C7A3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885432" y="3095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885432" y="3666744"/>
            <a:ext cx="347472" cy="347472"/>
          </a:xfrm>
          <a:prstGeom prst="ellipse">
            <a:avLst/>
          </a:prstGeom>
          <a:solidFill>
            <a:schemeClr val="bg1"/>
          </a:solidFill>
          <a:ln w="38100">
            <a:solidFill>
              <a:srgbClr val="9C7A3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885432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P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056632" y="4041648"/>
            <a:ext cx="2057400" cy="292608"/>
          </a:xfrm>
          <a:prstGeom prst="roundRect">
            <a:avLst>
              <a:gd name="adj" fmla="val 43750"/>
            </a:avLst>
          </a:prstGeom>
          <a:solidFill>
            <a:schemeClr val="bg1"/>
          </a:solidFill>
          <a:ln w="16510">
            <a:solidFill>
              <a:srgbClr val="9C7A3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056632" y="40919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C7A35"/>
                </a:solidFill>
              </a:rPr>
              <a:t>T(t)  ∈  the cutting set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4526280" y="44622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T(t−1) → T(t) — P(t). The outer two are not adjacent, because we cut them in round 1, and T(t) was in the Z that cut them.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7863840" y="3108960"/>
            <a:ext cx="301752" cy="310896"/>
          </a:xfrm>
          <a:prstGeom prst="rightArrow">
            <a:avLst/>
          </a:prstGeom>
          <a:solidFill>
            <a:srgbClr val="E3DED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65008" y="1627632"/>
            <a:ext cx="3456432" cy="3703320"/>
          </a:xfrm>
          <a:prstGeom prst="roundRect">
            <a:avLst>
              <a:gd name="adj" fmla="val 2646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302752" y="1810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7B5577"/>
                </a:solidFill>
              </a:rPr>
              <a:t>THE ONLY WAY LEFT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10008108" y="2697480"/>
            <a:ext cx="553212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9979612" y="2803187"/>
            <a:ext cx="611442" cy="35549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0008108" y="3268980"/>
            <a:ext cx="553212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10780776" y="3479292"/>
            <a:ext cx="0" cy="141732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8641080" y="2523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641080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8641080" y="30952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641080" y="3095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8641080" y="3666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64108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9624060" y="2523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624060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9624060" y="30952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9624060" y="3095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9624060" y="3666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62406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10607040" y="2523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0607040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10607040" y="30952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0607040" y="3095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10607040" y="3666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060704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8247888" y="44622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If the edge read P(t) → T(t), then T(t) would be a collider. A node inside the cutting set is never a collider, so the arrow points the other way.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621792" y="548640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5EEDD"/>
          </a:solidFill>
          <a:ln w="15240">
            <a:solidFill>
              <a:srgbClr val="9C7A35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822960" y="5614416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7A35"/>
                </a:solidFill>
              </a:rPr>
              <a:t>OUR PAIR   </a:t>
            </a:r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T(t) → P(t). The pair we picked at the start is finished, and the direction is the one the data was generated with.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PCMCI+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pair, from start to finish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Four moments in the life of one relationship — and the same four moments happened to every other link in parallel.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676B70"/>
                </a:solidFill>
              </a:rPr>
              <a:t>CANDIDATE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4018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48225" y="3103717"/>
            <a:ext cx="490471" cy="280269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97480" y="3191256"/>
            <a:ext cx="0" cy="100584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264331" y="3065249"/>
            <a:ext cx="1257305" cy="359230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60120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760220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76022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60220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76022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760220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76022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60320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56032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60320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6032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60320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6032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" y="37673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T(t−1) → P(t) and T(t) — P(t) both start as guesses, among 21.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00984" y="2834640"/>
            <a:ext cx="301752" cy="310896"/>
          </a:xfrm>
          <a:prstGeom prst="rightArrow">
            <a:avLst/>
          </a:prstGeom>
          <a:solidFill>
            <a:srgbClr val="E3DED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38144" y="1627632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39312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7B5577"/>
                </a:solidFill>
              </a:rPr>
              <a:t>SURVIVES PART 1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64577" y="3103717"/>
            <a:ext cx="490471" cy="280269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513832" y="3191256"/>
            <a:ext cx="0" cy="100584"/>
          </a:xfrm>
          <a:prstGeom prst="line">
            <a:avLst/>
          </a:prstGeom>
          <a:noFill/>
          <a:ln w="12700">
            <a:solidFill>
              <a:srgbClr val="C9C2B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3776472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776472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776472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776472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776472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776472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6572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76572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76572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76572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6572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576572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376672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376672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376672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376672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376672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376672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3602736" y="37673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The lagged arrow is on B(P), because part 1 cannot see the mediator T(t).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117336" y="2834640"/>
            <a:ext cx="301752" cy="310896"/>
          </a:xfrm>
          <a:prstGeom prst="rightArrow">
            <a:avLst/>
          </a:prstGeom>
          <a:solidFill>
            <a:srgbClr val="E3DED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54496" y="1627632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455664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A84A3E"/>
                </a:solidFill>
              </a:rPr>
              <a:t>CUT IN PART 2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7680929" y="3103717"/>
            <a:ext cx="490471" cy="280269"/>
          </a:xfrm>
          <a:prstGeom prst="line">
            <a:avLst/>
          </a:prstGeom>
          <a:noFill/>
          <a:ln w="17780">
            <a:solidFill>
              <a:srgbClr val="A84A3E"/>
            </a:solidFill>
            <a:prstDash val="dash"/>
          </a:ln>
        </p:spPr>
      </p:sp>
      <p:sp>
        <p:nvSpPr>
          <p:cNvPr id="59" name="Text 57"/>
          <p:cNvSpPr txBox="1"/>
          <p:nvPr/>
        </p:nvSpPr>
        <p:spPr>
          <a:xfrm>
            <a:off x="7798148" y="31158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4A3E"/>
                </a:solidFill>
              </a:rPr>
              <a:t>✕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330184" y="3191256"/>
            <a:ext cx="0" cy="100584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92824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592824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592824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592824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592824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592824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7392924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392924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7392924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392924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7392924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392924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8193024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193024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8193024" y="2880360"/>
            <a:ext cx="274320" cy="274320"/>
          </a:xfrm>
          <a:prstGeom prst="ellipse">
            <a:avLst/>
          </a:prstGeom>
          <a:solidFill>
            <a:srgbClr val="E3DED2"/>
          </a:solidFill>
          <a:ln w="20320">
            <a:solidFill>
              <a:srgbClr val="A39D8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8193024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2D32"/>
                </a:solidFill>
              </a:rPr>
              <a:t>T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8193024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193024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6419088" y="37673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With T(t) in S, the lagged arrow drops to nothing and is cut. T(t) is recorded.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8933688" y="2834640"/>
            <a:ext cx="301752" cy="310896"/>
          </a:xfrm>
          <a:prstGeom prst="rightArrow">
            <a:avLst/>
          </a:prstGeom>
          <a:solidFill>
            <a:srgbClr val="E3DED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070848" y="1627632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9272016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2F7A5C"/>
                </a:solidFill>
              </a:rPr>
              <a:t>ORIENTED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10520172" y="3017520"/>
            <a:ext cx="443484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11146536" y="3191256"/>
            <a:ext cx="0" cy="100584"/>
          </a:xfrm>
          <a:prstGeom prst="line">
            <a:avLst/>
          </a:prstGeom>
          <a:noFill/>
          <a:ln w="3810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9409176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409176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9409176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9409176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9409176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9409176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10209276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0209276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10209276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0209276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10209276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10209276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11009376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1009376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11009376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1009376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11009376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11009376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103" name="Text 101"/>
          <p:cNvSpPr txBox="1"/>
          <p:nvPr/>
        </p:nvSpPr>
        <p:spPr>
          <a:xfrm>
            <a:off x="9235440" y="37673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That record makes the triple a non-collider, which forces T(t) → P(t).</a:t>
            </a:r>
            <a:endParaRPr lang="en-US" sz="1150" dirty="0"/>
          </a:p>
        </p:txBody>
      </p:sp>
      <p:sp>
        <p:nvSpPr>
          <p:cNvPr id="104" name="Shape 102"/>
          <p:cNvSpPr/>
          <p:nvPr/>
        </p:nvSpPr>
        <p:spPr>
          <a:xfrm>
            <a:off x="621792" y="4709160"/>
            <a:ext cx="6675120" cy="1554480"/>
          </a:xfrm>
          <a:prstGeom prst="roundRect">
            <a:avLst>
              <a:gd name="adj" fmla="val 5882"/>
            </a:avLst>
          </a:prstGeom>
          <a:solidFill>
            <a:srgbClr val="E8F0E9"/>
          </a:solidFill>
          <a:ln w="12700">
            <a:solidFill>
              <a:srgbClr val="2F7A5C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914400" y="48737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2F7A5C"/>
                </a:solidFill>
              </a:rPr>
              <a:t>RECOVERED GRAPH — the same four links as the equations on the setup slide, nothing extra, nothing missing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816352" y="5349240"/>
            <a:ext cx="1170432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4325112" y="5349240"/>
            <a:ext cx="1170432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2811938" y="5387100"/>
            <a:ext cx="1179504" cy="278792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4320698" y="5387100"/>
            <a:ext cx="1179504" cy="278792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2816352" y="5705856"/>
            <a:ext cx="1170432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4325112" y="5705856"/>
            <a:ext cx="1170432" cy="0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112" name="Shape 110"/>
          <p:cNvSpPr/>
          <p:nvPr/>
        </p:nvSpPr>
        <p:spPr>
          <a:xfrm>
            <a:off x="4160520" y="5870448"/>
            <a:ext cx="0" cy="18288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5669280" y="5870448"/>
            <a:ext cx="0" cy="18288"/>
          </a:xfrm>
          <a:prstGeom prst="line">
            <a:avLst/>
          </a:prstGeom>
          <a:noFill/>
          <a:ln w="28575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2523744" y="5221224"/>
            <a:ext cx="256032" cy="256032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2523744" y="5221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2523744" y="5577840"/>
            <a:ext cx="256032" cy="25603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2523744" y="5577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2523744" y="5934456"/>
            <a:ext cx="256032" cy="256032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2523744" y="5934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120" name="Shape 118"/>
          <p:cNvSpPr/>
          <p:nvPr/>
        </p:nvSpPr>
        <p:spPr>
          <a:xfrm>
            <a:off x="4032504" y="5221224"/>
            <a:ext cx="256032" cy="256032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4032504" y="5221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4032504" y="5577840"/>
            <a:ext cx="256032" cy="25603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4032504" y="5577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124" name="Shape 122"/>
          <p:cNvSpPr/>
          <p:nvPr/>
        </p:nvSpPr>
        <p:spPr>
          <a:xfrm>
            <a:off x="4032504" y="5934456"/>
            <a:ext cx="256032" cy="256032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4032504" y="5934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126" name="Shape 124"/>
          <p:cNvSpPr/>
          <p:nvPr/>
        </p:nvSpPr>
        <p:spPr>
          <a:xfrm>
            <a:off x="5541264" y="5221224"/>
            <a:ext cx="256032" cy="256032"/>
          </a:xfrm>
          <a:prstGeom prst="ellipse">
            <a:avLst/>
          </a:prstGeom>
          <a:solidFill>
            <a:schemeClr val="bg1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5541264" y="5221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577"/>
                </a:solidFill>
              </a:rPr>
              <a:t>F</a:t>
            </a:r>
            <a:endParaRPr lang="en-US" sz="1300" dirty="0"/>
          </a:p>
        </p:txBody>
      </p:sp>
      <p:sp>
        <p:nvSpPr>
          <p:cNvPr id="128" name="Shape 126"/>
          <p:cNvSpPr/>
          <p:nvPr/>
        </p:nvSpPr>
        <p:spPr>
          <a:xfrm>
            <a:off x="5541264" y="5577840"/>
            <a:ext cx="256032" cy="25603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5541264" y="5577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35"/>
                </a:solidFill>
              </a:rPr>
              <a:t>T</a:t>
            </a:r>
            <a:endParaRPr lang="en-US" sz="1300" dirty="0"/>
          </a:p>
        </p:txBody>
      </p:sp>
      <p:sp>
        <p:nvSpPr>
          <p:cNvPr id="130" name="Shape 128"/>
          <p:cNvSpPr/>
          <p:nvPr/>
        </p:nvSpPr>
        <p:spPr>
          <a:xfrm>
            <a:off x="5541264" y="5934456"/>
            <a:ext cx="256032" cy="256032"/>
          </a:xfrm>
          <a:prstGeom prst="ellipse">
            <a:avLst/>
          </a:prstGeom>
          <a:solidFill>
            <a:schemeClr val="bg1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5541264" y="5934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A5C"/>
                </a:solidFill>
              </a:rPr>
              <a:t>P</a:t>
            </a:r>
            <a:endParaRPr lang="en-US" sz="1300" dirty="0"/>
          </a:p>
        </p:txBody>
      </p:sp>
      <p:sp>
        <p:nvSpPr>
          <p:cNvPr id="132" name="Shape 130"/>
          <p:cNvSpPr/>
          <p:nvPr/>
        </p:nvSpPr>
        <p:spPr>
          <a:xfrm>
            <a:off x="7589520" y="4709160"/>
            <a:ext cx="3959352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7882128" y="4873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676B70"/>
                </a:solidFill>
              </a:rPr>
              <a:t>WHAT EACH PART BOUGHT</a:t>
            </a:r>
            <a:endParaRPr lang="en-US" sz="1150" dirty="0"/>
          </a:p>
        </p:txBody>
      </p:sp>
      <p:sp>
        <p:nvSpPr>
          <p:cNvPr id="134" name="Text 132"/>
          <p:cNvSpPr txBox="1"/>
          <p:nvPr/>
        </p:nvSpPr>
        <p:spPr>
          <a:xfrm>
            <a:off x="7882128" y="523036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7B5577"/>
                </a:solidFill>
              </a:rPr>
              <a:t>Part 1  a small, relevant Z for every later test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F7A5C"/>
                </a:solidFill>
              </a:rPr>
              <a:t>Part 2  a cut for every link that was only indirect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C7A35"/>
                </a:solidFill>
              </a:rPr>
              <a:t>Orientation  an arrowhead on what is left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PCMCI+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reactor, one change: non-Gaussian noise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Three sensors on a reactor cooling loop, read once a minute for 300 minutes. Only the noise distribution has changed.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9164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562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THE THREE SENSORS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60120" y="2286000"/>
            <a:ext cx="310896" cy="31089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351288"/>
            <a:ext cx="31089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F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13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92D32"/>
                </a:solidFill>
              </a:rPr>
              <a:t>coolant flow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l/min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2688336"/>
            <a:ext cx="310896" cy="31089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2753624"/>
            <a:ext cx="31089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715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92D32"/>
                </a:solidFill>
              </a:rPr>
              <a:t>reactor temperature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734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°C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0120" y="3090672"/>
            <a:ext cx="310896" cy="31089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155960"/>
            <a:ext cx="31089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P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118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92D32"/>
                </a:solidFill>
              </a:rPr>
              <a:t>vessel pressure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136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bar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99632" y="169164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73952" y="18562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HOW THE DATA WAS MADE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92D32"/>
                </a:solidFill>
              </a:rPr>
              <a:t>F(t)  =  0.60 F(t−1)   +  ε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92D32"/>
                </a:solidFill>
              </a:rPr>
              <a:t>T(t)  =  0.65 T(t−1)  +  0.50 F(t−1)   +  ε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7A35"/>
                </a:solidFill>
              </a:rPr>
              <a:t>P(t)  =  0.80 T(t)   +  ε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378440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7A35"/>
                </a:solidFill>
              </a:rPr>
              <a:t>same minute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16382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ε is uniform noise, independent across sensors and across time — not Gaussian. That one change is what VAR-LiNGAM feeds 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" y="3767328"/>
            <a:ext cx="694944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6112" y="39319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THE FIRST SIX MINUTES OF THE RECORDING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2245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minute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514600" y="42245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F   l/min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114800" y="42245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T   °C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715000" y="42245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P   bar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4400" y="4480560"/>
            <a:ext cx="6309360" cy="0"/>
          </a:xfrm>
          <a:prstGeom prst="line">
            <a:avLst/>
          </a:prstGeom>
          <a:noFill/>
          <a:ln w="12700">
            <a:solidFill>
              <a:srgbClr val="DAD4C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4535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76B70"/>
                </a:solidFill>
              </a:rPr>
              <a:t>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514600" y="45354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40.69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114800" y="45354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309.52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715000" y="45354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7A35"/>
                </a:solidFill>
              </a:rPr>
              <a:t>11.83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4754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76B70"/>
                </a:solidFill>
              </a:rPr>
              <a:t>2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514600" y="47548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39.88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114800" y="47548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308.72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715000" y="47548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7A35"/>
                </a:solidFill>
              </a:rPr>
              <a:t>10.89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14400" y="49743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76B70"/>
                </a:solidFill>
              </a:rPr>
              <a:t>3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514600" y="49743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38.37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114800" y="49743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308.85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715000" y="49743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7A35"/>
                </a:solidFill>
              </a:rPr>
              <a:t>11.91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14400" y="5193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76B70"/>
                </a:solidFill>
              </a:rPr>
              <a:t>4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2514600" y="5193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40.17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114800" y="5193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309.60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715000" y="5193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7A35"/>
                </a:solidFill>
              </a:rPr>
              <a:t>11.69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914400" y="54132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76B70"/>
                </a:solidFill>
              </a:rPr>
              <a:t>5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2514600" y="54132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39.67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114800" y="54132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308.63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5715000" y="54132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7A35"/>
                </a:solidFill>
              </a:rPr>
              <a:t>11.11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914400" y="56327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76B70"/>
                </a:solidFill>
              </a:rPr>
              <a:t>6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2514600" y="56327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39.19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114800" y="56327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308.00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5715000" y="56327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7A35"/>
                </a:solidFill>
              </a:rPr>
              <a:t>9.03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914400" y="5760720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300 rows in total · 299 usable once one lag is cut off the front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863840" y="3767328"/>
            <a:ext cx="3685032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138160" y="393192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SETTINGS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8156448" y="42062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92D32"/>
                </a:solidFill>
              </a:rPr>
              <a:t>τmax = 1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8156448" y="442569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one minute of memory covers the true delays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8156448" y="465429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92D32"/>
                </a:solidFill>
              </a:rPr>
              <a:t>N = 300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8156448" y="487375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rows, estimated by ordinary least squares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8156448" y="510235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7A5C"/>
                </a:solidFill>
              </a:rPr>
              <a:t>excess kurtosis  −1.14, −1.09, −0.60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8156448" y="532180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the residuals are flat-topped, far from Gaussian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8156448" y="555040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92D32"/>
                </a:solidFill>
              </a:rPr>
              <a:t>prune at |b| &lt; 0.05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8156448" y="576986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anything smaller is read as estimation noise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VAR-LiNGAM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kinds of link need different tools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lagged link is ordered by the clock. A same-minute link is not, so the algorithm has to read the shape of the noise instead.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3703320" cy="39319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LAGGED  —  THE CLOCK DECIDES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220529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t − 1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08176" y="2414016"/>
            <a:ext cx="384048" cy="38404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08176" y="2494666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B5577"/>
                </a:solidFill>
              </a:rPr>
              <a:t>F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08176" y="3035808"/>
            <a:ext cx="384048" cy="38404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08176" y="3116458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B5577"/>
                </a:solidFill>
              </a:rPr>
              <a:t>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08176" y="3657600"/>
            <a:ext cx="384048" cy="38404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08176" y="3738250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B5577"/>
                </a:solidFill>
              </a:rPr>
              <a:t>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2220529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91256" y="2414016"/>
            <a:ext cx="384048" cy="38404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91256" y="2494666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B5577"/>
                </a:solidFill>
              </a:rPr>
              <a:t>F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191256" y="3035808"/>
            <a:ext cx="384048" cy="38404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91256" y="3116458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B5577"/>
                </a:solidFill>
              </a:rPr>
              <a:t>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191256" y="3657600"/>
            <a:ext cx="384048" cy="38404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91256" y="3738250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B5577"/>
                </a:solidFill>
              </a:rPr>
              <a:t>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792224" y="2606040"/>
            <a:ext cx="1399032" cy="0"/>
          </a:xfrm>
          <a:prstGeom prst="line">
            <a:avLst/>
          </a:prstGeom>
          <a:noFill/>
          <a:ln w="19050">
            <a:solidFill>
              <a:srgbClr val="7B557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792224" y="3227832"/>
            <a:ext cx="1399032" cy="0"/>
          </a:xfrm>
          <a:prstGeom prst="line">
            <a:avLst/>
          </a:prstGeom>
          <a:noFill/>
          <a:ln w="19050">
            <a:solidFill>
              <a:srgbClr val="7B557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781516" y="2669268"/>
            <a:ext cx="1420448" cy="495336"/>
          </a:xfrm>
          <a:prstGeom prst="line">
            <a:avLst/>
          </a:prstGeom>
          <a:noFill/>
          <a:ln w="19050">
            <a:solidFill>
              <a:srgbClr val="7B5577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914400" y="427939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A cause in an earlier minute cannot be the effect of a later one. Nothing has to be tested — the direction is given.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26280" y="1627632"/>
            <a:ext cx="3703320" cy="39319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17922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SAME MINUTE  —  THE CLOCK IS SILENT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294376" y="2414016"/>
            <a:ext cx="384048" cy="38404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94376" y="2494666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C7A35"/>
                </a:solidFill>
              </a:rPr>
              <a:t>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031736" y="2414016"/>
            <a:ext cx="384048" cy="38404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31736" y="2494666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C7A35"/>
                </a:solidFill>
              </a:rPr>
              <a:t>P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678424" y="2606040"/>
            <a:ext cx="1353312" cy="0"/>
          </a:xfrm>
          <a:prstGeom prst="line">
            <a:avLst/>
          </a:prstGeom>
          <a:noFill/>
          <a:ln w="25400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294376" y="3236976"/>
            <a:ext cx="384048" cy="38404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94376" y="3317626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C7A35"/>
                </a:solidFill>
              </a:rPr>
              <a:t>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031736" y="3236976"/>
            <a:ext cx="384048" cy="38404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31736" y="3317626"/>
            <a:ext cx="3840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C7A35"/>
                </a:solidFill>
              </a:rPr>
              <a:t>P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 flipH="1">
            <a:off x="5678424" y="3429000"/>
            <a:ext cx="1353312" cy="0"/>
          </a:xfrm>
          <a:prstGeom prst="line">
            <a:avLst/>
          </a:prstGeom>
          <a:noFill/>
          <a:ln w="25400">
            <a:solidFill>
              <a:srgbClr val="A84A3E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80060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C7A35"/>
                </a:solidFill>
              </a:rPr>
              <a:t>corr( n</a:t>
            </a:r>
            <a:pPr algn="ctr" indent="0" marL="0">
              <a:lnSpc>
                <a:spcPct val="100000"/>
              </a:lnSpc>
              <a:buNone/>
            </a:pPr>
            <a:r>
              <a:rPr lang="en-US" sz="1350" b="1" baseline="-40000" dirty="0">
                <a:solidFill>
                  <a:srgbClr val="9C7A35"/>
                </a:solidFill>
              </a:rPr>
              <a:t>T</a:t>
            </a:r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C7A35"/>
                </a:solidFill>
              </a:rPr>
              <a:t> , n</a:t>
            </a:r>
            <a:pPr algn="ctr" indent="0" marL="0">
              <a:lnSpc>
                <a:spcPct val="100000"/>
              </a:lnSpc>
              <a:buNone/>
            </a:pPr>
            <a:r>
              <a:rPr lang="en-US" sz="1350" b="1" baseline="-40000" dirty="0">
                <a:solidFill>
                  <a:srgbClr val="9C7A35"/>
                </a:solidFill>
              </a:rPr>
              <a:t>P</a:t>
            </a:r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C7A35"/>
                </a:solidFill>
              </a:rPr>
              <a:t> )  =  0.771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4800600" y="43434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One number, two stories. A correlation is symmetric, so least squares alone can never choose between these two arrows.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458200" y="1627632"/>
            <a:ext cx="3090672" cy="3931920"/>
          </a:xfrm>
          <a:prstGeom prst="roundRect">
            <a:avLst>
              <a:gd name="adj" fmla="val 1775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732520" y="179222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THE NEW INGREDIENT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750808" y="22402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one shock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759952" y="2914101"/>
            <a:ext cx="174439" cy="213147"/>
          </a:xfrm>
          <a:prstGeom prst="rect">
            <a:avLst/>
          </a:prstGeom>
          <a:solidFill>
            <a:srgbClr val="6A8E70"/>
          </a:solidFill>
          <a:ln w="3810">
            <a:solidFill>
              <a:srgbClr val="6A8E7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52679" y="2661910"/>
            <a:ext cx="174439" cy="465338"/>
          </a:xfrm>
          <a:prstGeom prst="rect">
            <a:avLst/>
          </a:prstGeom>
          <a:solidFill>
            <a:srgbClr val="6A8E70"/>
          </a:solidFill>
          <a:ln w="3810">
            <a:solidFill>
              <a:srgbClr val="6A8E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5407" y="2758562"/>
            <a:ext cx="174439" cy="368686"/>
          </a:xfrm>
          <a:prstGeom prst="rect">
            <a:avLst/>
          </a:prstGeom>
          <a:solidFill>
            <a:srgbClr val="6A8E70"/>
          </a:solidFill>
          <a:ln w="3810">
            <a:solidFill>
              <a:srgbClr val="6A8E7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38134" y="2720157"/>
            <a:ext cx="174439" cy="407091"/>
          </a:xfrm>
          <a:prstGeom prst="rect">
            <a:avLst/>
          </a:prstGeom>
          <a:solidFill>
            <a:srgbClr val="6A8E70"/>
          </a:solidFill>
          <a:ln w="3810">
            <a:solidFill>
              <a:srgbClr val="6A8E7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30862" y="2603663"/>
            <a:ext cx="174439" cy="523585"/>
          </a:xfrm>
          <a:prstGeom prst="rect">
            <a:avLst/>
          </a:prstGeom>
          <a:solidFill>
            <a:srgbClr val="6A8E70"/>
          </a:solidFill>
          <a:ln w="3810">
            <a:solidFill>
              <a:srgbClr val="6A8E7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23589" y="2739360"/>
            <a:ext cx="174439" cy="387888"/>
          </a:xfrm>
          <a:prstGeom prst="rect">
            <a:avLst/>
          </a:prstGeom>
          <a:solidFill>
            <a:srgbClr val="6A8E70"/>
          </a:solidFill>
          <a:ln w="3810">
            <a:solidFill>
              <a:srgbClr val="6A8E7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16316" y="2681112"/>
            <a:ext cx="174439" cy="446136"/>
          </a:xfrm>
          <a:prstGeom prst="rect">
            <a:avLst/>
          </a:prstGeom>
          <a:solidFill>
            <a:srgbClr val="6A8E70"/>
          </a:solidFill>
          <a:ln w="3810">
            <a:solidFill>
              <a:srgbClr val="6A8E7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09044" y="2487168"/>
            <a:ext cx="174439" cy="640080"/>
          </a:xfrm>
          <a:prstGeom prst="rect">
            <a:avLst/>
          </a:prstGeom>
          <a:solidFill>
            <a:srgbClr val="6A8E70"/>
          </a:solidFill>
          <a:ln w="3810">
            <a:solidFill>
              <a:srgbClr val="6A8E7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01771" y="2661910"/>
            <a:ext cx="174439" cy="465338"/>
          </a:xfrm>
          <a:prstGeom prst="rect">
            <a:avLst/>
          </a:prstGeom>
          <a:solidFill>
            <a:srgbClr val="6A8E70"/>
          </a:solidFill>
          <a:ln w="3810">
            <a:solidFill>
              <a:srgbClr val="6A8E7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494498" y="2526213"/>
            <a:ext cx="174439" cy="601035"/>
          </a:xfrm>
          <a:prstGeom prst="rect">
            <a:avLst/>
          </a:prstGeom>
          <a:solidFill>
            <a:srgbClr val="6A8E70"/>
          </a:solidFill>
          <a:ln w="3810">
            <a:solidFill>
              <a:srgbClr val="6A8E7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687226" y="2603663"/>
            <a:ext cx="174439" cy="523585"/>
          </a:xfrm>
          <a:prstGeom prst="rect">
            <a:avLst/>
          </a:prstGeom>
          <a:solidFill>
            <a:srgbClr val="6A8E70"/>
          </a:solidFill>
          <a:ln w="3810">
            <a:solidFill>
              <a:srgbClr val="6A8E7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879953" y="2836012"/>
            <a:ext cx="174439" cy="291236"/>
          </a:xfrm>
          <a:prstGeom prst="rect">
            <a:avLst/>
          </a:prstGeom>
          <a:solidFill>
            <a:srgbClr val="6A8E70"/>
          </a:solidFill>
          <a:ln w="3810">
            <a:solidFill>
              <a:srgbClr val="6A8E7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72681" y="2661910"/>
            <a:ext cx="174439" cy="465338"/>
          </a:xfrm>
          <a:prstGeom prst="rect">
            <a:avLst/>
          </a:prstGeom>
          <a:solidFill>
            <a:srgbClr val="6A8E70"/>
          </a:solidFill>
          <a:ln w="3810">
            <a:solidFill>
              <a:srgbClr val="6A8E7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750808" y="31638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two shocks added together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759952" y="3936218"/>
            <a:ext cx="174439" cy="114574"/>
          </a:xfrm>
          <a:prstGeom prst="rect">
            <a:avLst/>
          </a:prstGeom>
          <a:solidFill>
            <a:srgbClr val="9C7A35"/>
          </a:solidFill>
          <a:ln w="3810">
            <a:solidFill>
              <a:srgbClr val="9C7A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952679" y="3788359"/>
            <a:ext cx="174439" cy="262433"/>
          </a:xfrm>
          <a:prstGeom prst="rect">
            <a:avLst/>
          </a:prstGeom>
          <a:solidFill>
            <a:srgbClr val="9C7A35"/>
          </a:solidFill>
          <a:ln w="3810">
            <a:solidFill>
              <a:srgbClr val="9C7A3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45407" y="3788359"/>
            <a:ext cx="174439" cy="262433"/>
          </a:xfrm>
          <a:prstGeom prst="rect">
            <a:avLst/>
          </a:prstGeom>
          <a:solidFill>
            <a:srgbClr val="9C7A35"/>
          </a:solidFill>
          <a:ln w="3810">
            <a:solidFill>
              <a:srgbClr val="9C7A3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38134" y="3706429"/>
            <a:ext cx="174439" cy="344363"/>
          </a:xfrm>
          <a:prstGeom prst="rect">
            <a:avLst/>
          </a:prstGeom>
          <a:solidFill>
            <a:srgbClr val="9C7A35"/>
          </a:solidFill>
          <a:ln w="3810">
            <a:solidFill>
              <a:srgbClr val="9C7A3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530862" y="3574572"/>
            <a:ext cx="174439" cy="476220"/>
          </a:xfrm>
          <a:prstGeom prst="rect">
            <a:avLst/>
          </a:prstGeom>
          <a:solidFill>
            <a:srgbClr val="9C7A35"/>
          </a:solidFill>
          <a:ln w="3810">
            <a:solidFill>
              <a:srgbClr val="9C7A3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723589" y="3427354"/>
            <a:ext cx="174439" cy="623438"/>
          </a:xfrm>
          <a:prstGeom prst="rect">
            <a:avLst/>
          </a:prstGeom>
          <a:solidFill>
            <a:srgbClr val="9C7A35"/>
          </a:solidFill>
          <a:ln w="3810">
            <a:solidFill>
              <a:srgbClr val="9C7A3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916316" y="3476640"/>
            <a:ext cx="174439" cy="574152"/>
          </a:xfrm>
          <a:prstGeom prst="rect">
            <a:avLst/>
          </a:prstGeom>
          <a:solidFill>
            <a:srgbClr val="9C7A35"/>
          </a:solidFill>
          <a:ln w="3810">
            <a:solidFill>
              <a:srgbClr val="9C7A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09044" y="3410712"/>
            <a:ext cx="174439" cy="640080"/>
          </a:xfrm>
          <a:prstGeom prst="rect">
            <a:avLst/>
          </a:prstGeom>
          <a:solidFill>
            <a:srgbClr val="9C7A35"/>
          </a:solidFill>
          <a:ln w="3810">
            <a:solidFill>
              <a:srgbClr val="9C7A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301771" y="3509284"/>
            <a:ext cx="174439" cy="541508"/>
          </a:xfrm>
          <a:prstGeom prst="rect">
            <a:avLst/>
          </a:prstGeom>
          <a:solidFill>
            <a:srgbClr val="9C7A35"/>
          </a:solidFill>
          <a:ln w="3810">
            <a:solidFill>
              <a:srgbClr val="9C7A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494498" y="3640501"/>
            <a:ext cx="174439" cy="410291"/>
          </a:xfrm>
          <a:prstGeom prst="rect">
            <a:avLst/>
          </a:prstGeom>
          <a:solidFill>
            <a:srgbClr val="9C7A35"/>
          </a:solidFill>
          <a:ln w="3810">
            <a:solidFill>
              <a:srgbClr val="9C7A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87226" y="3739073"/>
            <a:ext cx="174439" cy="311719"/>
          </a:xfrm>
          <a:prstGeom prst="rect">
            <a:avLst/>
          </a:prstGeom>
          <a:solidFill>
            <a:srgbClr val="9C7A35"/>
          </a:solidFill>
          <a:ln w="3810">
            <a:solidFill>
              <a:srgbClr val="9C7A3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879953" y="3821003"/>
            <a:ext cx="174439" cy="229789"/>
          </a:xfrm>
          <a:prstGeom prst="rect">
            <a:avLst/>
          </a:prstGeom>
          <a:solidFill>
            <a:srgbClr val="9C7A35"/>
          </a:solidFill>
          <a:ln w="3810">
            <a:solidFill>
              <a:srgbClr val="9C7A3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072681" y="3936218"/>
            <a:ext cx="174439" cy="114574"/>
          </a:xfrm>
          <a:prstGeom prst="rect">
            <a:avLst/>
          </a:prstGeom>
          <a:solidFill>
            <a:srgbClr val="9C7A35"/>
          </a:solidFill>
          <a:ln w="3810">
            <a:solidFill>
              <a:srgbClr val="9C7A35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750808" y="42062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Adding independent shocks pulls the shape toward a bell. So the direction whose leftover stays un-bell-like, and independent of its predictor, is the one that un-mixed the data.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21792" y="576072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5EEDD"/>
          </a:solidFill>
          <a:ln w="12700">
            <a:solidFill>
              <a:srgbClr val="9C7A35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22960" y="58887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C7A35"/>
                </a:solidFill>
              </a:rPr>
              <a:t>OUR PAIR</a:t>
            </a:r>
            <a:endParaRPr lang="en-US" sz="1150" dirty="0"/>
          </a:p>
        </p:txBody>
      </p:sp>
      <p:sp>
        <p:nvSpPr>
          <p:cNvPr id="71" name="Text 69"/>
          <p:cNvSpPr txBox="1"/>
          <p:nvPr/>
        </p:nvSpPr>
        <p:spPr>
          <a:xfrm>
            <a:off x="1920240" y="5888736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We follow T and P again — the same pair the PCMCI+ half followed, settled here by a completely different argument.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VAR-LiNGAM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model in two forms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Two ways to write the same process. A VAR fits the second one, and the algorithm is the trip back to the first.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55778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WHAT THE PROCESS ACTUALLY OBEYS  —  STRUCTURAL FORM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92D32"/>
                </a:solidFill>
              </a:rPr>
              <a:t>x(t)  =  B₀ x(t)  +  Στ Bτ x(t−τ)  +  e(t)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151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7A35"/>
                </a:solidFill>
              </a:rPr>
              <a:t>B₀  same-minute weights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6151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B5577"/>
                </a:solidFill>
              </a:rPr>
              <a:t>Bτ  lagged weights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76B70"/>
                </a:solidFill>
              </a:rPr>
              <a:t>e(t)  independent, non-Gaussian shocks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627632"/>
            <a:ext cx="514807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792224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WHAT A VAR CAN FIT  —  REDUCED FORM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693408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92D32"/>
                </a:solidFill>
              </a:rPr>
              <a:t>x(t)  =  Στ Mτ x(t−τ)  +  n(t)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93408" y="26151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76B70"/>
                </a:solidFill>
              </a:rPr>
              <a:t>No term on the right is dated t, so this is pure prediction from the past. Everything that happens inside the minute is pushed into the residual n(t).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" y="3611880"/>
            <a:ext cx="557784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" y="3776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THE BRIDGE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420624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DAD4C6"/>
          </a:solidFill>
          <a:ln w="12700">
            <a:solidFill>
              <a:srgbClr val="6A8E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3251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8E70"/>
                </a:solidFill>
              </a:rPr>
              <a:t>e(t)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83080" y="4453128"/>
            <a:ext cx="640080" cy="0"/>
          </a:xfrm>
          <a:prstGeom prst="line">
            <a:avLst/>
          </a:prstGeom>
          <a:noFill/>
          <a:ln w="19050">
            <a:solidFill>
              <a:srgbClr val="676B7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423160" y="4206240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F5EEDD"/>
          </a:solidFill>
          <a:ln w="12700">
            <a:solidFill>
              <a:srgbClr val="9C7A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23160" y="43251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7A35"/>
                </a:solidFill>
              </a:rPr>
              <a:t>( I − B₀ )⁻¹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0" y="4453128"/>
            <a:ext cx="640080" cy="0"/>
          </a:xfrm>
          <a:prstGeom prst="line">
            <a:avLst/>
          </a:prstGeom>
          <a:noFill/>
          <a:ln w="19050">
            <a:solidFill>
              <a:srgbClr val="676B7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54880" y="420624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DAD4C6"/>
          </a:solidFill>
          <a:ln w="12700">
            <a:solidFill>
              <a:srgbClr val="2F7A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43251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F7A5C"/>
                </a:solidFill>
              </a:rPr>
              <a:t>n(t)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8463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the VAR residual is a mixture of the true shocks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51937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76B70"/>
                </a:solidFill>
              </a:rPr>
              <a:t>Mτ  =  ( I − B₀ )⁻¹ Bτ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80160" y="5513832"/>
            <a:ext cx="4023360" cy="411480"/>
          </a:xfrm>
          <a:prstGeom prst="roundRect">
            <a:avLst>
              <a:gd name="adj" fmla="val 26667"/>
            </a:avLst>
          </a:prstGeom>
          <a:solidFill>
            <a:srgbClr val="E8F0E9"/>
          </a:solidFill>
          <a:ln w="12700">
            <a:solidFill>
              <a:srgbClr val="2F7A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280160" y="56052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F7A5C"/>
                </a:solidFill>
              </a:rPr>
              <a:t>Bτ  =  ( I − B₀ )  Mτ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0" y="3611880"/>
            <a:ext cx="5148072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3776472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WHAT MUST BE TRUE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20840" y="4169664"/>
            <a:ext cx="100584" cy="100584"/>
          </a:xfrm>
          <a:prstGeom prst="ellipse">
            <a:avLst/>
          </a:prstGeom>
          <a:solidFill>
            <a:srgbClr val="7B5577"/>
          </a:solidFill>
          <a:ln w="12700">
            <a:solidFill>
              <a:srgbClr val="7B557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67728" y="409651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76B70"/>
                </a:solidFill>
              </a:rPr>
              <a:t>B₀ is acyclic — the same-minute links admit an ordering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720840" y="4535424"/>
            <a:ext cx="100584" cy="100584"/>
          </a:xfrm>
          <a:prstGeom prst="ellipse">
            <a:avLst/>
          </a:prstGeom>
          <a:solidFill>
            <a:srgbClr val="7B5577"/>
          </a:solidFill>
          <a:ln w="12700">
            <a:solidFill>
              <a:srgbClr val="7B557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67728" y="446227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76B70"/>
                </a:solidFill>
              </a:rPr>
              <a:t>the shocks are mutually independent — no hidden common cause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720840" y="4901184"/>
            <a:ext cx="100584" cy="100584"/>
          </a:xfrm>
          <a:prstGeom prst="ellipse">
            <a:avLst/>
          </a:prstGeom>
          <a:solidFill>
            <a:srgbClr val="2F7A5C"/>
          </a:solidFill>
          <a:ln w="12700">
            <a:solidFill>
              <a:srgbClr val="2F7A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67728" y="482803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the shocks are non-Gaussian — otherwise the lag-0 order is unidentifiable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720840" y="5266944"/>
            <a:ext cx="100584" cy="100584"/>
          </a:xfrm>
          <a:prstGeom prst="ellipse">
            <a:avLst/>
          </a:prstGeom>
          <a:solidFill>
            <a:srgbClr val="7B5577"/>
          </a:solidFill>
          <a:ln w="12700">
            <a:solidFill>
              <a:srgbClr val="7B557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67728" y="519379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76B70"/>
                </a:solidFill>
              </a:rPr>
              <a:t>the process is stationary over the window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720840" y="5632704"/>
            <a:ext cx="100584" cy="100584"/>
          </a:xfrm>
          <a:prstGeom prst="ellipse">
            <a:avLst/>
          </a:prstGeom>
          <a:solidFill>
            <a:srgbClr val="7B5577"/>
          </a:solidFill>
          <a:ln w="12700">
            <a:solidFill>
              <a:srgbClr val="7B557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67728" y="555955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76B70"/>
                </a:solidFill>
              </a:rPr>
              <a:t>the lag order τmax is large enough to hold the real delays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VAR-LiNGAM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VAR-LiNGAM in four pictures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Fit the past, read the leftovers, order the minute, then undo the mixing. Each stage adds something the one before it could not see.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2606040" cy="38404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1 · VAR FIT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21321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t − 1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2395728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2457176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2926080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2987528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88720" y="3456432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3517880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084832" y="221321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95728" y="2395728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95728" y="2457176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95728" y="2926080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95728" y="2987528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95728" y="3456432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95728" y="3517880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481328" y="2542032"/>
            <a:ext cx="914400" cy="0"/>
          </a:xfrm>
          <a:prstGeom prst="line">
            <a:avLst/>
          </a:prstGeom>
          <a:noFill/>
          <a:ln w="19050">
            <a:solidFill>
              <a:srgbClr val="7B557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481328" y="3072384"/>
            <a:ext cx="914400" cy="0"/>
          </a:xfrm>
          <a:prstGeom prst="line">
            <a:avLst/>
          </a:prstGeom>
          <a:noFill/>
          <a:ln w="19050">
            <a:solidFill>
              <a:srgbClr val="7B557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468968" y="2600886"/>
            <a:ext cx="939120" cy="412643"/>
          </a:xfrm>
          <a:prstGeom prst="line">
            <a:avLst/>
          </a:prstGeom>
          <a:noFill/>
          <a:ln w="19050">
            <a:solidFill>
              <a:srgbClr val="7B557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44922" y="2638609"/>
            <a:ext cx="987211" cy="867549"/>
          </a:xfrm>
          <a:prstGeom prst="line">
            <a:avLst/>
          </a:prstGeom>
          <a:noFill/>
          <a:ln w="1905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468968" y="3131238"/>
            <a:ext cx="939120" cy="412643"/>
          </a:xfrm>
          <a:prstGeom prst="line">
            <a:avLst/>
          </a:prstGeom>
          <a:noFill/>
          <a:ln w="19050">
            <a:solidFill>
              <a:srgbClr val="9C7A35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822960" y="41605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Everything the past can explain, with no same-minute term allowed. P picks up two lagged links it does not really have.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00984" y="3017520"/>
            <a:ext cx="274320" cy="310896"/>
          </a:xfrm>
          <a:prstGeom prst="chevron">
            <a:avLst/>
          </a:prstGeom>
          <a:solidFill>
            <a:srgbClr val="DAD4C6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38144" y="1627632"/>
            <a:ext cx="2606040" cy="38404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12464" y="17922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2 · THE RESIDUALS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3694176" y="221321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t − 1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05072" y="2395728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05072" y="2457176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F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05072" y="2926080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05072" y="2987528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005072" y="3456432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005072" y="3517880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P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901184" y="221321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12080" y="2395728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12080" y="2457176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212080" y="2926080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212080" y="2987528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212080" y="3456432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212080" y="3517880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P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605272" y="2423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n</a:t>
            </a:r>
            <a:pPr algn="l" indent="0" marL="0">
              <a:lnSpc>
                <a:spcPct val="100000"/>
              </a:lnSpc>
              <a:buNone/>
            </a:pPr>
            <a:r>
              <a:rPr lang="en-US" sz="1100" baseline="-40000" dirty="0">
                <a:solidFill>
                  <a:srgbClr val="676B70"/>
                </a:solidFill>
              </a:rPr>
              <a:t>F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605272" y="29535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F7A5C"/>
                </a:solidFill>
              </a:rPr>
              <a:t>n</a:t>
            </a:r>
            <a:pPr algn="l" indent="0" marL="0">
              <a:lnSpc>
                <a:spcPct val="100000"/>
              </a:lnSpc>
              <a:buNone/>
            </a:pPr>
            <a:r>
              <a:rPr lang="en-US" sz="1100" baseline="-40000" dirty="0">
                <a:solidFill>
                  <a:srgbClr val="2F7A5C"/>
                </a:solidFill>
              </a:rPr>
              <a:t>T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605272" y="34838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F7A5C"/>
                </a:solidFill>
              </a:rPr>
              <a:t>n</a:t>
            </a:r>
            <a:pPr algn="l" indent="0" marL="0">
              <a:lnSpc>
                <a:spcPct val="100000"/>
              </a:lnSpc>
              <a:buNone/>
            </a:pPr>
            <a:r>
              <a:rPr lang="en-US" sz="1100" baseline="-40000" dirty="0">
                <a:solidFill>
                  <a:srgbClr val="2F7A5C"/>
                </a:solidFill>
              </a:rPr>
              <a:t>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358384" y="3227832"/>
            <a:ext cx="0" cy="219456"/>
          </a:xfrm>
          <a:prstGeom prst="line">
            <a:avLst/>
          </a:prstGeom>
          <a:noFill/>
          <a:ln w="19050">
            <a:solidFill>
              <a:srgbClr val="2F7A5C"/>
            </a:solidFill>
            <a:prstDash val="dash"/>
            <a:tailEnd type="none"/>
          </a:ln>
        </p:spPr>
      </p:sp>
      <p:sp>
        <p:nvSpPr>
          <p:cNvPr id="47" name="Text 45"/>
          <p:cNvSpPr txBox="1"/>
          <p:nvPr/>
        </p:nvSpPr>
        <p:spPr>
          <a:xfrm>
            <a:off x="3639312" y="41605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What is left is a mixture of the true shocks. The T and P residuals still move together.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117336" y="3017520"/>
            <a:ext cx="274320" cy="310896"/>
          </a:xfrm>
          <a:prstGeom prst="chevron">
            <a:avLst/>
          </a:prstGeom>
          <a:solidFill>
            <a:srgbClr val="DAD4C6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54496" y="1627632"/>
            <a:ext cx="2606040" cy="38404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28816" y="17922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3 · LiNGAM ON n(t)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6510528" y="221321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t − 1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821424" y="2395728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821424" y="2457176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F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821424" y="2926080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821424" y="2987528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C7A35"/>
                </a:solidFill>
              </a:rPr>
              <a:t>T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821424" y="3456432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821424" y="3517880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C7A35"/>
                </a:solidFill>
              </a:rPr>
              <a:t>P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7717536" y="221321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028432" y="2395728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028432" y="2457176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F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028432" y="2926080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028432" y="2987528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C7A35"/>
                </a:solidFill>
              </a:rPr>
              <a:t>T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028432" y="3456432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9C7A35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028432" y="3517880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C7A35"/>
                </a:solidFill>
              </a:rPr>
              <a:t>P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174736" y="3218688"/>
            <a:ext cx="0" cy="237744"/>
          </a:xfrm>
          <a:prstGeom prst="line">
            <a:avLst/>
          </a:prstGeom>
          <a:noFill/>
          <a:ln w="25400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66" name="Text 64"/>
          <p:cNvSpPr txBox="1"/>
          <p:nvPr/>
        </p:nvSpPr>
        <p:spPr>
          <a:xfrm>
            <a:off x="6528816" y="38404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C7A35"/>
                </a:solidFill>
              </a:rPr>
              <a:t>order   F  →  T  →  P</a:t>
            </a:r>
            <a:endParaRPr lang="en-US" sz="1150" dirty="0"/>
          </a:p>
        </p:txBody>
      </p:sp>
      <p:sp>
        <p:nvSpPr>
          <p:cNvPr id="67" name="Text 65"/>
          <p:cNvSpPr txBox="1"/>
          <p:nvPr/>
        </p:nvSpPr>
        <p:spPr>
          <a:xfrm>
            <a:off x="6455664" y="41605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Independence picks the same-minute order, and B₀ becomes triangular in it.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8933688" y="3017520"/>
            <a:ext cx="274320" cy="310896"/>
          </a:xfrm>
          <a:prstGeom prst="chevron">
            <a:avLst/>
          </a:prstGeom>
          <a:solidFill>
            <a:srgbClr val="DAD4C6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70848" y="1627632"/>
            <a:ext cx="2606040" cy="38404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345168" y="17922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4 · CONVERT AND PRUNE</a:t>
            </a:r>
            <a:endParaRPr lang="en-US" sz="1150" dirty="0"/>
          </a:p>
        </p:txBody>
      </p:sp>
      <p:sp>
        <p:nvSpPr>
          <p:cNvPr id="71" name="Text 69"/>
          <p:cNvSpPr txBox="1"/>
          <p:nvPr/>
        </p:nvSpPr>
        <p:spPr>
          <a:xfrm>
            <a:off x="9326880" y="221321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t − 1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637776" y="2395728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637776" y="2457176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F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9637776" y="2926080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637776" y="2987528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T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9637776" y="3456432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637776" y="3517880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P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533888" y="221321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t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10844784" y="2395728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0844784" y="2457176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F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10844784" y="2926080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0844784" y="2987528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T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10844784" y="3456432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0844784" y="3517880"/>
            <a:ext cx="29260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P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9930384" y="2542032"/>
            <a:ext cx="914400" cy="0"/>
          </a:xfrm>
          <a:prstGeom prst="line">
            <a:avLst/>
          </a:prstGeom>
          <a:noFill/>
          <a:ln w="19050">
            <a:solidFill>
              <a:srgbClr val="7B5577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9930384" y="3072384"/>
            <a:ext cx="914400" cy="0"/>
          </a:xfrm>
          <a:prstGeom prst="line">
            <a:avLst/>
          </a:prstGeom>
          <a:noFill/>
          <a:ln w="19050">
            <a:solidFill>
              <a:srgbClr val="7B5577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9918024" y="2600886"/>
            <a:ext cx="939120" cy="412643"/>
          </a:xfrm>
          <a:prstGeom prst="line">
            <a:avLst/>
          </a:prstGeom>
          <a:noFill/>
          <a:ln w="19050">
            <a:solidFill>
              <a:srgbClr val="7B5577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10991088" y="3218688"/>
            <a:ext cx="0" cy="237744"/>
          </a:xfrm>
          <a:prstGeom prst="line">
            <a:avLst/>
          </a:prstGeom>
          <a:noFill/>
          <a:ln w="25400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89" name="Text 87"/>
          <p:cNvSpPr txBox="1"/>
          <p:nvPr/>
        </p:nvSpPr>
        <p:spPr>
          <a:xfrm>
            <a:off x="9272016" y="41605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( I − B₀ ) Mτ removes the contamination, and small weights are dropped.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621792" y="562356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5EEDD"/>
          </a:solidFill>
          <a:ln w="12700">
            <a:solidFill>
              <a:srgbClr val="9C7A35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822960" y="57515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C7A35"/>
                </a:solidFill>
              </a:rPr>
              <a:t>OUR PAIR</a:t>
            </a:r>
            <a:endParaRPr lang="en-US" sz="1150" dirty="0"/>
          </a:p>
        </p:txBody>
      </p:sp>
      <p:sp>
        <p:nvSpPr>
          <p:cNvPr id="92" name="Text 90"/>
          <p:cNvSpPr txBox="1"/>
          <p:nvPr/>
        </p:nvSpPr>
        <p:spPr>
          <a:xfrm>
            <a:off x="1920240" y="5751576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T(t−1) → P(t) appears in picture 1 and is gone by picture 4 — not cut by a test, but cancelled by an identity.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VAR-LiNGAM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Step 1: fit the VAR and keep the residuals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Ordinary least squares, one equation per sensor. The output is a prediction matrix and a residual column for each sensor.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3108960" cy="3931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THE PROCEDURE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86968" y="22128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AD4C6"/>
          </a:solidFill>
          <a:ln w="12700">
            <a:solidFill>
              <a:srgbClr val="7B557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2539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B5577"/>
                </a:solidFill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289304" y="220370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Center every column, then regress x(t) on x(t−1) by ordinary least squares.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86968" y="30815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AD4C6"/>
          </a:solidFill>
          <a:ln w="12700">
            <a:solidFill>
              <a:srgbClr val="7B557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31226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B5577"/>
                </a:solidFill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07238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Collect the coefficients into M₁. This is prediction, not yet structure.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6968" y="395020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AD4C6"/>
          </a:solidFill>
          <a:ln w="12700">
            <a:solidFill>
              <a:srgbClr val="7B557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39913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B5577"/>
                </a:solidFill>
              </a:rPr>
              <a:t>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394106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Keep the residuals n(t) = x(t) − M₁ x(t−1), one column per sensor.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6968" y="48188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AD4C6"/>
          </a:solidFill>
          <a:ln w="12700">
            <a:solidFill>
              <a:srgbClr val="2F7A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48600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7A5C"/>
                </a:solidFill>
              </a:rPr>
              <a:t>4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289304" y="480974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Check that the residuals are non-Gaussian. If they are not, stop — the next step cannot work.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886200" y="1627632"/>
            <a:ext cx="3886200" cy="393192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60520" y="17922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M₁  —  WHAT THE PAST PREDICTS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26280" y="2377440"/>
            <a:ext cx="3017520" cy="1426464"/>
          </a:xfrm>
          <a:prstGeom prst="roundRect">
            <a:avLst>
              <a:gd name="adj" fmla="val 3205"/>
            </a:avLst>
          </a:prstGeom>
          <a:solidFill>
            <a:srgbClr val="F1EEE6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2139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F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2139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2139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P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142232" y="250545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F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142232" y="298094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142232" y="345643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P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2496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0.572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2496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-0.018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2496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0.001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26280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0.513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532120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0.646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-0.037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0" y="3364992"/>
            <a:ext cx="914400" cy="402336"/>
          </a:xfrm>
          <a:prstGeom prst="roundRect">
            <a:avLst>
              <a:gd name="adj" fmla="val 22727"/>
            </a:avLst>
          </a:prstGeom>
          <a:solidFill>
            <a:srgbClr val="F5EEDD"/>
          </a:solidFill>
          <a:ln w="12700">
            <a:solidFill>
              <a:srgbClr val="9C7A3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26280" y="34472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C7A35"/>
                </a:solidFill>
              </a:rPr>
              <a:t>0.436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577840" y="3364992"/>
            <a:ext cx="914400" cy="402336"/>
          </a:xfrm>
          <a:prstGeom prst="roundRect">
            <a:avLst>
              <a:gd name="adj" fmla="val 22727"/>
            </a:avLst>
          </a:prstGeom>
          <a:solidFill>
            <a:srgbClr val="F5EEDD"/>
          </a:solidFill>
          <a:ln w="12700">
            <a:solidFill>
              <a:srgbClr val="9C7A3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32120" y="34472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C7A35"/>
                </a:solidFill>
              </a:rPr>
              <a:t>0.553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537960" y="34472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-0.062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178808" y="39136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rows = target at t  ·  columns = source at t − 1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178808" y="42062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Row P says that both F(t−1) and T(t−1) predict pressure. Neither link exists in the equations that made the data. They are the same-minute arrow T(t) → P(t), seen through one lag.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927848" y="1627632"/>
            <a:ext cx="3621024" cy="39319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02168" y="179222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CORRELATION OF THE RESIDUALS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549640" y="2377440"/>
            <a:ext cx="2606040" cy="1426464"/>
          </a:xfrm>
          <a:prstGeom prst="roundRect">
            <a:avLst>
              <a:gd name="adj" fmla="val 3205"/>
            </a:avLst>
          </a:prstGeom>
          <a:solidFill>
            <a:srgbClr val="F1EEE6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549640" y="213969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F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9418320" y="213969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T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10287000" y="213969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P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8165592" y="250545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F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165592" y="298094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T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165592" y="345643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P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8549640" y="24963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1.000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418320" y="24963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0.003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287000" y="24963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0.015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8549640" y="29718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0.003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9418320" y="29718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1.000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0332720" y="2889504"/>
            <a:ext cx="777240" cy="402336"/>
          </a:xfrm>
          <a:prstGeom prst="roundRect">
            <a:avLst>
              <a:gd name="adj" fmla="val 22727"/>
            </a:avLst>
          </a:prstGeom>
          <a:solidFill>
            <a:srgbClr val="F5EEDD"/>
          </a:solidFill>
          <a:ln w="12700">
            <a:solidFill>
              <a:srgbClr val="9C7A3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287000" y="29718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C7A35"/>
                </a:solidFill>
              </a:rPr>
              <a:t>0.771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8549640" y="34472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0.015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464040" y="3364992"/>
            <a:ext cx="777240" cy="402336"/>
          </a:xfrm>
          <a:prstGeom prst="roundRect">
            <a:avLst>
              <a:gd name="adj" fmla="val 22727"/>
            </a:avLst>
          </a:prstGeom>
          <a:solidFill>
            <a:srgbClr val="F5EEDD"/>
          </a:solidFill>
          <a:ln w="12700">
            <a:solidFill>
              <a:srgbClr val="9C7A3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418320" y="34472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C7A35"/>
                </a:solidFill>
              </a:rPr>
              <a:t>0.771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10287000" y="34472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1.000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8220456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F7A5C"/>
                </a:solidFill>
              </a:rPr>
              <a:t>excess kurtosis   −1.14   −1.09   −0.60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8220456" y="427939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If the VAR were the whole story these columns would be independent. F is clean, but T and P share 0.771. That leftover dependence is the same-minute link, and it is what step 2 works on.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21792" y="5687568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5EEDD"/>
          </a:solidFill>
          <a:ln w="12700">
            <a:solidFill>
              <a:srgbClr val="9C7A3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22960" y="58155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C7A35"/>
                </a:solidFill>
              </a:rPr>
              <a:t>OUR PAIR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1920240" y="5815584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The VAR scores T(t−1) → P(t) at 0.553 and cannot tell that the number is borrowed.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VAR-LiNGAM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Step 2a: how one direction is decided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This one test is the whole of LiNGAM. Regress one residual on another, then ask whether the leftover is independent of what you regressed 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3108960" cy="3931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THE TEST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86968" y="22128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AD4C6"/>
          </a:solidFill>
          <a:ln w="12700">
            <a:solidFill>
              <a:srgbClr val="7B557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2539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B5577"/>
                </a:solidFill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289304" y="220370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Take the two residual columns and assume a direction, say T causes 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86968" y="30815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AD4C6"/>
          </a:solidFill>
          <a:ln w="12700">
            <a:solidFill>
              <a:srgbClr val="7B557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31226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B5577"/>
                </a:solidFill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07238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Regress the second residual on the first by least squares and keep the leftover.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6968" y="395020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AD4C6"/>
          </a:solidFill>
          <a:ln w="12700">
            <a:solidFill>
              <a:srgbClr val="7B557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39913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B5577"/>
                </a:solidFill>
              </a:rPr>
              <a:t>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394106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Measure the dependence between the leftover and the predictor. Zero means independent.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6968" y="48188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AD4C6"/>
          </a:solidFill>
          <a:ln w="12700">
            <a:solidFill>
              <a:srgbClr val="7B557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48600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B5577"/>
                </a:solidFill>
              </a:rPr>
              <a:t>4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289304" y="480974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Do the same the other way. The direction with the smaller dependence is the cause.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886200" y="1627632"/>
            <a:ext cx="3749040" cy="3931920"/>
          </a:xfrm>
          <a:prstGeom prst="roundRect">
            <a:avLst>
              <a:gd name="adj" fmla="val 1463"/>
            </a:avLst>
          </a:prstGeom>
          <a:solidFill>
            <a:srgbClr val="E8F0E9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60520" y="1792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DIRECTION  A   —   T(t)  →  P(t)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92D32"/>
                </a:solidFill>
              </a:rPr>
              <a:t>slope  =  0.831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60520" y="2697480"/>
            <a:ext cx="3200400" cy="1371600"/>
          </a:xfrm>
          <a:prstGeom prst="roundRect">
            <a:avLst>
              <a:gd name="adj" fmla="val 3333"/>
            </a:avLst>
          </a:prstGeom>
          <a:solidFill>
            <a:srgbClr val="F1EEE6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5263" y="3365211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27274" y="2983093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67602" y="3635929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2604" y="3202302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4075" y="3619159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7015" y="3843159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66611" y="3163970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39535" y="3646709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51950" y="3383179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52674" y="3050173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3495" y="3847951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14289" y="3568848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58919" y="2762686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0205" y="3458645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17143" y="3098088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53283" y="3682645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5133" y="2774665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45666" y="2832162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13069" y="3474217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51797" y="3059756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87669" y="2836953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89954" y="2930387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07053" y="2803413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53283" y="2876483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39763" y="2955542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19924" y="2945959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23046" y="3710196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21713" y="2935178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8667" y="3147200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19428" y="3586816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82376" y="3494581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48218" y="2786643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25712" y="3057360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59147" y="3758111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44600" y="3166366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81538" y="3016633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86336" y="3602389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76969" y="2969916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66611" y="3295735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619314" y="2910023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50008" y="3662282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03816" y="2984291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32681" y="3601191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63984" y="3692228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86946" y="3174751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75026" y="2929189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83100" y="3217874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250503" y="2878879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977311" y="3147200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70115" y="2929189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57585" y="3864721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700540" y="2836953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438242" y="3099286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742658" y="2900440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450275" y="3707801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10289" y="3092098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564593" y="3601191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326932" y="3107671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675903" y="3464634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305873" y="2858515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465887" y="3645512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178302" y="3804828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39535" y="3789255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585652" y="2869296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121713" y="3718581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67220" y="3401147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028453" y="3325682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707776" y="3662282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70457" y="3026216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811850" y="2942365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236031" y="3375992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121143" y="3620356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943649" y="3879095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459870" y="3410730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64440" y="3462238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025445" y="3452656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244486" y="3268184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319696" y="3032205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112688" y="3308912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837136" y="3317297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050731" y="3469426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280587" y="3461041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967716" y="3550880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521257" y="3192719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154235" y="3692228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530282" y="3510153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983328" y="3403543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67716" y="3535308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763716" y="3471821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642811" y="3837170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023656" y="3346046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459300" y="3617961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011622" y="3352035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951455" y="3881491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596466" y="3621554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101873" y="2827371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458081" y="3821598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074798" y="3510153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223428" y="3638324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504996" y="3078922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75066" y="3455051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85652" y="3859929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330510" y="3435885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34510" y="3207093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54463" y="3732956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88660" y="3123243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847951" y="3391564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902102" y="3573640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87327" y="3255008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752902" y="3486196"/>
            <a:ext cx="45720" cy="45720"/>
          </a:xfrm>
          <a:prstGeom prst="ellipse">
            <a:avLst/>
          </a:prstGeom>
          <a:solidFill>
            <a:srgbClr val="2F7A5C"/>
          </a:solidFill>
          <a:ln w="5080">
            <a:solidFill>
              <a:srgbClr val="2F7A5C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4160520" y="40965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76B70"/>
                </a:solidFill>
              </a:rPr>
              <a:t>leftover  (vertical)   against   predictor  (horizontal)</a:t>
            </a:r>
            <a:endParaRPr lang="en-US" sz="1000" dirty="0"/>
          </a:p>
        </p:txBody>
      </p:sp>
      <p:sp>
        <p:nvSpPr>
          <p:cNvPr id="133" name="Text 131"/>
          <p:cNvSpPr txBox="1"/>
          <p:nvPr/>
        </p:nvSpPr>
        <p:spPr>
          <a:xfrm>
            <a:off x="4160520" y="4407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dependence</a:t>
            </a:r>
            <a:endParaRPr lang="en-US" sz="1150" dirty="0"/>
          </a:p>
        </p:txBody>
      </p:sp>
      <p:sp>
        <p:nvSpPr>
          <p:cNvPr id="134" name="Text 132"/>
          <p:cNvSpPr txBox="1"/>
          <p:nvPr/>
        </p:nvSpPr>
        <p:spPr>
          <a:xfrm>
            <a:off x="5897880" y="4389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F7A5C"/>
                </a:solidFill>
              </a:rPr>
              <a:t>0.0051</a:t>
            </a:r>
            <a:endParaRPr lang="en-US" sz="1400" dirty="0"/>
          </a:p>
        </p:txBody>
      </p:sp>
      <p:sp>
        <p:nvSpPr>
          <p:cNvPr id="135" name="Text 133"/>
          <p:cNvSpPr txBox="1"/>
          <p:nvPr/>
        </p:nvSpPr>
        <p:spPr>
          <a:xfrm>
            <a:off x="4160520" y="47183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leftover kurtosis</a:t>
            </a:r>
            <a:endParaRPr lang="en-US" sz="1150" dirty="0"/>
          </a:p>
        </p:txBody>
      </p:sp>
      <p:sp>
        <p:nvSpPr>
          <p:cNvPr id="136" name="Text 134"/>
          <p:cNvSpPr txBox="1"/>
          <p:nvPr/>
        </p:nvSpPr>
        <p:spPr>
          <a:xfrm>
            <a:off x="5897880" y="47000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F7A5C"/>
                </a:solidFill>
              </a:rPr>
              <a:t>-1.20</a:t>
            </a:r>
            <a:endParaRPr lang="en-US" sz="1400" dirty="0"/>
          </a:p>
        </p:txBody>
      </p:sp>
      <p:sp>
        <p:nvSpPr>
          <p:cNvPr id="137" name="Text 135"/>
          <p:cNvSpPr txBox="1"/>
          <p:nvPr/>
        </p:nvSpPr>
        <p:spPr>
          <a:xfrm>
            <a:off x="4160520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92D32"/>
                </a:solidFill>
              </a:rPr>
              <a:t>An even band. The spread does not change across the plot, and the leftover is still as flat-topped as the original shock.</a:t>
            </a:r>
            <a:endParaRPr lang="en-US" sz="1150" dirty="0"/>
          </a:p>
        </p:txBody>
      </p:sp>
      <p:sp>
        <p:nvSpPr>
          <p:cNvPr id="138" name="Shape 136"/>
          <p:cNvSpPr/>
          <p:nvPr/>
        </p:nvSpPr>
        <p:spPr>
          <a:xfrm>
            <a:off x="6217920" y="2286000"/>
            <a:ext cx="1143000" cy="274320"/>
          </a:xfrm>
          <a:prstGeom prst="roundRect">
            <a:avLst>
              <a:gd name="adj" fmla="val 40000"/>
            </a:avLst>
          </a:prstGeom>
          <a:solidFill>
            <a:srgbClr val="E8F0E9"/>
          </a:solidFill>
          <a:ln w="12700">
            <a:solidFill>
              <a:srgbClr val="2F7A5C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6217920" y="232257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7A5C"/>
                </a:solidFill>
              </a:rPr>
              <a:t>KEEP</a:t>
            </a:r>
            <a:endParaRPr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7799832" y="1627632"/>
            <a:ext cx="3749040" cy="3931920"/>
          </a:xfrm>
          <a:prstGeom prst="roundRect">
            <a:avLst>
              <a:gd name="adj" fmla="val 1463"/>
            </a:avLst>
          </a:prstGeom>
          <a:solidFill>
            <a:srgbClr val="F6E7E3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8074152" y="1792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DIRECTION  B   —   P(t)  →  T(t)</a:t>
            </a:r>
            <a:endParaRPr lang="en-US" sz="1150" dirty="0"/>
          </a:p>
        </p:txBody>
      </p:sp>
      <p:sp>
        <p:nvSpPr>
          <p:cNvPr id="142" name="Text 140"/>
          <p:cNvSpPr txBox="1"/>
          <p:nvPr/>
        </p:nvSpPr>
        <p:spPr>
          <a:xfrm>
            <a:off x="8074152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92D32"/>
                </a:solidFill>
              </a:rPr>
              <a:t>slope  =  0.715</a:t>
            </a:r>
            <a:endParaRPr lang="en-US" sz="1300" dirty="0"/>
          </a:p>
        </p:txBody>
      </p:sp>
      <p:sp>
        <p:nvSpPr>
          <p:cNvPr id="143" name="Shape 141"/>
          <p:cNvSpPr/>
          <p:nvPr/>
        </p:nvSpPr>
        <p:spPr>
          <a:xfrm>
            <a:off x="8074152" y="2697480"/>
            <a:ext cx="3200400" cy="1371600"/>
          </a:xfrm>
          <a:prstGeom prst="roundRect">
            <a:avLst>
              <a:gd name="adj" fmla="val 3333"/>
            </a:avLst>
          </a:prstGeom>
          <a:solidFill>
            <a:srgbClr val="F1EEE6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019733" y="3549683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994447" y="3632335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508309" y="3435885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0725482" y="3179543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585308" y="3114858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147304" y="3354431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0307318" y="3349639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654500" y="3064548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155110" y="3488591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528149" y="3710196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853053" y="2798622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758004" y="3425105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436678" y="3716186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0060631" y="3128034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0755566" y="3275372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369924" y="3431094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0704424" y="3619159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990219" y="3471821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537174" y="3276570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960136" y="3251414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749549" y="3542495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695398" y="3464634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412611" y="3682645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428872" y="3916229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1089496" y="3316099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430661" y="3531715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690601" y="2987884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101529" y="3331671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9871103" y="3502966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180966" y="2960333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816953" y="3167564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000464" y="3827587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9765810" y="3628742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9654500" y="2951948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828986" y="3496976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247150" y="3517340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0138849" y="2957938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174949" y="3588014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0132832" y="3270580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806708" y="3450260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510098" y="3094494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648484" y="3738945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513107" y="3155585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758004" y="3300527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0373502" y="3318495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0951110" y="3386773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0114782" y="3355629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949321" y="3750924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0731499" y="3234644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0027539" y="3675458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380738" y="2929189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954119" y="3479009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125026" y="3785662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899968" y="3431094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333823" y="3416720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0560022" y="3342452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8550426" y="3457447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043800" y="3803630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803130" y="3517340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353663" y="3958154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741743" y="3039392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685803" y="3208291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467981" y="2978301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9525140" y="3894667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072665" y="2859713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666534" y="3310110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529938" y="3116056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221294" y="3185532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689382" y="3370003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890943" y="3391564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599130" y="3042986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890373" y="3330473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436108" y="3211885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045589" y="3181938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108765" y="3108869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361469" y="3040590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9434889" y="3518538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9792886" y="3644314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605147" y="3108869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9759794" y="3366409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9699626" y="3229853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203244" y="3393960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881348" y="3404741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714668" y="3506559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818172" y="3281361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302520" y="3313703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397569" y="3077724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902406" y="3414324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162916" y="3082516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291706" y="3299329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844028" y="3311308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460175" y="3469426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825978" y="3308912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91934" y="3003457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200236" y="3232249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0575063" y="3607180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848256" y="3141211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660517" y="3201104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935499" y="3299329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0508879" y="3373597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619619" y="3584421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225522" y="3296933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925254" y="3193917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046808" y="3700613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290487" y="3092098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194219" y="3740143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0325368" y="3113660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0120799" y="2992676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413830" y="3537704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483023" y="3282559"/>
            <a:ext cx="45720" cy="45720"/>
          </a:xfrm>
          <a:prstGeom prst="ellipse">
            <a:avLst/>
          </a:prstGeom>
          <a:solidFill>
            <a:srgbClr val="A84A3E"/>
          </a:solidFill>
          <a:ln w="5080">
            <a:solidFill>
              <a:srgbClr val="A84A3E"/>
            </a:solidFill>
            <a:prstDash val="solid"/>
          </a:ln>
        </p:spPr>
      </p:sp>
      <p:sp>
        <p:nvSpPr>
          <p:cNvPr id="254" name="Text 252"/>
          <p:cNvSpPr txBox="1"/>
          <p:nvPr/>
        </p:nvSpPr>
        <p:spPr>
          <a:xfrm>
            <a:off x="8074152" y="40965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76B70"/>
                </a:solidFill>
              </a:rPr>
              <a:t>leftover  (vertical)   against   predictor  (horizontal)</a:t>
            </a:r>
            <a:endParaRPr lang="en-US" sz="1000" dirty="0"/>
          </a:p>
        </p:txBody>
      </p:sp>
      <p:sp>
        <p:nvSpPr>
          <p:cNvPr id="255" name="Text 253"/>
          <p:cNvSpPr txBox="1"/>
          <p:nvPr/>
        </p:nvSpPr>
        <p:spPr>
          <a:xfrm>
            <a:off x="8074152" y="4407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dependence</a:t>
            </a:r>
            <a:endParaRPr lang="en-US" sz="1150" dirty="0"/>
          </a:p>
        </p:txBody>
      </p:sp>
      <p:sp>
        <p:nvSpPr>
          <p:cNvPr id="256" name="Text 254"/>
          <p:cNvSpPr txBox="1"/>
          <p:nvPr/>
        </p:nvSpPr>
        <p:spPr>
          <a:xfrm>
            <a:off x="9811512" y="4389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84A3E"/>
                </a:solidFill>
              </a:rPr>
              <a:t>0.0464</a:t>
            </a:r>
            <a:endParaRPr lang="en-US" sz="1400" dirty="0"/>
          </a:p>
        </p:txBody>
      </p:sp>
      <p:sp>
        <p:nvSpPr>
          <p:cNvPr id="257" name="Text 255"/>
          <p:cNvSpPr txBox="1"/>
          <p:nvPr/>
        </p:nvSpPr>
        <p:spPr>
          <a:xfrm>
            <a:off x="8074152" y="47183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leftover kurtosis</a:t>
            </a:r>
            <a:endParaRPr lang="en-US" sz="1150" dirty="0"/>
          </a:p>
        </p:txBody>
      </p:sp>
      <p:sp>
        <p:nvSpPr>
          <p:cNvPr id="258" name="Text 256"/>
          <p:cNvSpPr txBox="1"/>
          <p:nvPr/>
        </p:nvSpPr>
        <p:spPr>
          <a:xfrm>
            <a:off x="9811512" y="47000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84A3E"/>
                </a:solidFill>
              </a:rPr>
              <a:t>-0.71</a:t>
            </a:r>
            <a:endParaRPr lang="en-US" sz="1400" dirty="0"/>
          </a:p>
        </p:txBody>
      </p:sp>
      <p:sp>
        <p:nvSpPr>
          <p:cNvPr id="259" name="Text 257"/>
          <p:cNvSpPr txBox="1"/>
          <p:nvPr/>
        </p:nvSpPr>
        <p:spPr>
          <a:xfrm>
            <a:off x="8074152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92D32"/>
                </a:solidFill>
              </a:rPr>
              <a:t>Pinched at both ends. The spread depends on the predictor, and the leftover has drifted toward a bell.</a:t>
            </a:r>
            <a:endParaRPr lang="en-US" sz="1150" dirty="0"/>
          </a:p>
        </p:txBody>
      </p:sp>
      <p:sp>
        <p:nvSpPr>
          <p:cNvPr id="260" name="Shape 258"/>
          <p:cNvSpPr/>
          <p:nvPr/>
        </p:nvSpPr>
        <p:spPr>
          <a:xfrm>
            <a:off x="10131552" y="2286000"/>
            <a:ext cx="1143000" cy="274320"/>
          </a:xfrm>
          <a:prstGeom prst="roundRect">
            <a:avLst>
              <a:gd name="adj" fmla="val 40000"/>
            </a:avLst>
          </a:prstGeom>
          <a:solidFill>
            <a:srgbClr val="F6E7E3"/>
          </a:solidFill>
          <a:ln w="12700">
            <a:solidFill>
              <a:srgbClr val="A84A3E"/>
            </a:solidFill>
            <a:prstDash val="solid"/>
          </a:ln>
        </p:spPr>
      </p:sp>
      <p:sp>
        <p:nvSpPr>
          <p:cNvPr id="261" name="Text 259"/>
          <p:cNvSpPr txBox="1"/>
          <p:nvPr/>
        </p:nvSpPr>
        <p:spPr>
          <a:xfrm>
            <a:off x="10131552" y="232257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84A3E"/>
                </a:solidFill>
              </a:rPr>
              <a:t>REJECT</a:t>
            </a:r>
            <a:endParaRPr lang="en-US" sz="1100" dirty="0"/>
          </a:p>
        </p:txBody>
      </p:sp>
      <p:sp>
        <p:nvSpPr>
          <p:cNvPr id="262" name="Shape 260"/>
          <p:cNvSpPr/>
          <p:nvPr/>
        </p:nvSpPr>
        <p:spPr>
          <a:xfrm>
            <a:off x="621792" y="5687568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5EEDD"/>
          </a:solidFill>
          <a:ln w="12700">
            <a:solidFill>
              <a:srgbClr val="9C7A35"/>
            </a:solidFill>
            <a:prstDash val="solid"/>
          </a:ln>
        </p:spPr>
      </p:sp>
      <p:sp>
        <p:nvSpPr>
          <p:cNvPr id="263" name="Text 261"/>
          <p:cNvSpPr txBox="1"/>
          <p:nvPr/>
        </p:nvSpPr>
        <p:spPr>
          <a:xfrm>
            <a:off x="822960" y="58155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C7A35"/>
                </a:solidFill>
              </a:rPr>
              <a:t>OUR PAIR</a:t>
            </a:r>
            <a:endParaRPr lang="en-US" sz="1150" dirty="0"/>
          </a:p>
        </p:txBody>
      </p:sp>
      <p:sp>
        <p:nvSpPr>
          <p:cNvPr id="264" name="Text 262"/>
          <p:cNvSpPr txBox="1"/>
          <p:nvPr/>
        </p:nvSpPr>
        <p:spPr>
          <a:xfrm>
            <a:off x="1920240" y="5815584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Nine times more dependence the wrong way round. T(t) → P(t) — the same arrow the PCMCI+ half reached through a collider rule.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VAR-LiNGAM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Step 2b: find the order, one sensor at a time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sensor with no same-minute parent leaves no trace in anything it explains. Find it, remove it, repeat.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3108960" cy="3931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THE PROCEDURE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86968" y="22128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AD4C6"/>
          </a:solidFill>
          <a:ln w="12700">
            <a:solidFill>
              <a:srgbClr val="7B557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2539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B5577"/>
                </a:solidFill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289304" y="220370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For each remaining sensor, regress every other one on it and score the worst dependence left behind.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86968" y="30815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AD4C6"/>
          </a:solidFill>
          <a:ln w="12700">
            <a:solidFill>
              <a:srgbClr val="7B557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31226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B5577"/>
                </a:solidFill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07238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The lowest score has no same-minute parent. It goes next in the order.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6968" y="395020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AD4C6"/>
          </a:solidFill>
          <a:ln w="12700">
            <a:solidFill>
              <a:srgbClr val="7B557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39913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B5577"/>
                </a:solidFill>
              </a:rPr>
              <a:t>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394106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Replace every other column by its leftover after removing that sensor.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6968" y="48188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AD4C6"/>
          </a:solidFill>
          <a:ln w="12700">
            <a:solidFill>
              <a:srgbClr val="7B557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48600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B5577"/>
                </a:solidFill>
              </a:rPr>
              <a:t>4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289304" y="480974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Repeat on what remains. Then regress each sensor on its predecessors to fill B₀.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886200" y="1627632"/>
            <a:ext cx="2441448" cy="393192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60520" y="179222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ROUND  1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087368" y="22860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worst dependence as root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87368" y="2596896"/>
            <a:ext cx="2057400" cy="384048"/>
          </a:xfrm>
          <a:prstGeom prst="roundRect">
            <a:avLst>
              <a:gd name="adj" fmla="val 23810"/>
            </a:avLst>
          </a:prstGeom>
          <a:solidFill>
            <a:srgbClr val="E8F0E9"/>
          </a:solidFill>
          <a:ln w="12700">
            <a:solidFill>
              <a:srgbClr val="2F7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87952" y="2660904"/>
            <a:ext cx="256032" cy="25603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87952" y="2714671"/>
            <a:ext cx="25603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7A5C"/>
                </a:solidFill>
              </a:rPr>
              <a:t>F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44568" y="2679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7A5C"/>
                </a:solidFill>
              </a:rPr>
              <a:t>chosen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26609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7A5C"/>
                </a:solidFill>
              </a:rPr>
              <a:t>0.0030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87368" y="3072384"/>
            <a:ext cx="20574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87952" y="3136392"/>
            <a:ext cx="256032" cy="25603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A84A3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87952" y="3190159"/>
            <a:ext cx="25603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4A3E"/>
                </a:solidFill>
              </a:rPr>
              <a:t>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44568" y="31546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not yet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349240" y="3136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84A3E"/>
                </a:solidFill>
              </a:rPr>
              <a:t>0.0051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087368" y="3547872"/>
            <a:ext cx="20574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87952" y="3611880"/>
            <a:ext cx="256032" cy="25603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A84A3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87952" y="3665647"/>
            <a:ext cx="25603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4A3E"/>
                </a:solidFill>
              </a:rPr>
              <a:t>P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44568" y="3630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not yet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349240" y="36118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84A3E"/>
                </a:solidFill>
              </a:rPr>
              <a:t>0.0464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087368" y="42976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P leaves 0.0464 behind in T, so it cannot be first. F and T both sit near zero because no same-minute link joins them, so either may go first.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73368" y="3017520"/>
            <a:ext cx="274320" cy="310896"/>
          </a:xfrm>
          <a:prstGeom prst="chevron">
            <a:avLst/>
          </a:prstGeom>
          <a:solidFill>
            <a:srgbClr val="DAD4C6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64808" y="1627632"/>
            <a:ext cx="2441448" cy="393192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39128" y="179222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ROUND  2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665976" y="22860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worst dependence as root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665976" y="2596896"/>
            <a:ext cx="2057400" cy="384048"/>
          </a:xfrm>
          <a:prstGeom prst="roundRect">
            <a:avLst>
              <a:gd name="adj" fmla="val 23810"/>
            </a:avLst>
          </a:prstGeom>
          <a:solidFill>
            <a:srgbClr val="E8F0E9"/>
          </a:solidFill>
          <a:ln w="12700">
            <a:solidFill>
              <a:srgbClr val="2F7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0" y="2660904"/>
            <a:ext cx="256032" cy="25603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766560" y="2714671"/>
            <a:ext cx="25603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7A5C"/>
                </a:solidFill>
              </a:rPr>
              <a:t>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123176" y="2679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7A5C"/>
                </a:solidFill>
              </a:rPr>
              <a:t>chosen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927848" y="26609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7A5C"/>
                </a:solidFill>
              </a:rPr>
              <a:t>0.0050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665976" y="3072384"/>
            <a:ext cx="20574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6560" y="3136392"/>
            <a:ext cx="256032" cy="25603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A84A3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766560" y="3190159"/>
            <a:ext cx="25603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4A3E"/>
                </a:solidFill>
              </a:rPr>
              <a:t>P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123176" y="31546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not yet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7927848" y="3136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84A3E"/>
                </a:solidFill>
              </a:rPr>
              <a:t>0.0457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665976" y="42976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After F is removed, P still leaves 0.0457 in T. T is next.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951976" y="3017520"/>
            <a:ext cx="274320" cy="310896"/>
          </a:xfrm>
          <a:prstGeom prst="chevron">
            <a:avLst/>
          </a:prstGeom>
          <a:solidFill>
            <a:srgbClr val="DAD4C6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43416" y="1627632"/>
            <a:ext cx="2441448" cy="393192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317736" y="179222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ROUND  3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9244584" y="22860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worst dependence as root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244584" y="2596896"/>
            <a:ext cx="2057400" cy="384048"/>
          </a:xfrm>
          <a:prstGeom prst="roundRect">
            <a:avLst>
              <a:gd name="adj" fmla="val 23810"/>
            </a:avLst>
          </a:prstGeom>
          <a:solidFill>
            <a:srgbClr val="E8F0E9"/>
          </a:solidFill>
          <a:ln w="12700">
            <a:solidFill>
              <a:srgbClr val="2F7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345168" y="2660904"/>
            <a:ext cx="256032" cy="25603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345168" y="2714671"/>
            <a:ext cx="25603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7A5C"/>
                </a:solidFill>
              </a:rPr>
              <a:t>P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9701784" y="2679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F7A5C"/>
                </a:solidFill>
              </a:rPr>
              <a:t>chosen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10506456" y="26609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7A5C"/>
                </a:solidFill>
              </a:rPr>
              <a:t>—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9244584" y="429768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Only P is left, so it takes the last place. Order:  F → T → P.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21792" y="5687568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5EEDD"/>
          </a:solidFill>
          <a:ln w="12700">
            <a:solidFill>
              <a:srgbClr val="9C7A3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22960" y="58155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C7A35"/>
                </a:solidFill>
              </a:rPr>
              <a:t>OUR PAIR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1920240" y="5815584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Regressing on predecessors gives B₀ = 0.831 for T(t) → P(t), with 0.003 and 0.016 everywhere else below the diagonal.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VAR-LiNGAM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Steps 3 and 4: correct the lagged weights, then prune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B₀ is known, so the contaminated lagged weights can be corrected in one multiplication.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55778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THE IDENTITY, APPLIED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21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7A5C"/>
                </a:solidFill>
              </a:rPr>
              <a:t>B₁  =  ( I − B₀ )  M₁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2139696" cy="1042416"/>
          </a:xfrm>
          <a:prstGeom prst="roundRect">
            <a:avLst>
              <a:gd name="adj" fmla="val 4386"/>
            </a:avLst>
          </a:prstGeom>
          <a:solidFill>
            <a:srgbClr val="F1EEE6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6151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627632" y="26151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26151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626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−0.003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627632" y="29626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340864" y="29626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3101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−0.016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73352" y="3291840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F5EEDD"/>
          </a:solidFill>
          <a:ln w="12700">
            <a:solidFill>
              <a:srgbClr val="9C7A3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27632" y="33101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C7A35"/>
                </a:solidFill>
              </a:rPr>
              <a:t>−0.831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40864" y="33101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163824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676B70"/>
                </a:solidFill>
              </a:rPr>
              <a:t>·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511296" y="2560320"/>
            <a:ext cx="2139696" cy="1042416"/>
          </a:xfrm>
          <a:prstGeom prst="roundRect">
            <a:avLst>
              <a:gd name="adj" fmla="val 4386"/>
            </a:avLst>
          </a:prstGeom>
          <a:solidFill>
            <a:srgbClr val="F1EEE6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11296" y="26151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0.572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224528" y="26151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-0.018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26151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0.001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511296" y="29626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0.513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224528" y="29626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0.646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29626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-0.037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57016" y="3291840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F5EEDD"/>
          </a:solidFill>
          <a:ln w="12700">
            <a:solidFill>
              <a:srgbClr val="9C7A3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11296" y="33101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C7A35"/>
                </a:solidFill>
              </a:rPr>
              <a:t>0.436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70248" y="3291840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F5EEDD"/>
          </a:solidFill>
          <a:ln w="12700">
            <a:solidFill>
              <a:srgbClr val="9C7A3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24528" y="33101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C7A35"/>
                </a:solidFill>
              </a:rPr>
              <a:t>0.553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33101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-0.062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76072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76B70"/>
                </a:solidFill>
              </a:rPr>
              <a:t>=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792" y="3840480"/>
            <a:ext cx="55778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6112" y="4005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THE ROW THAT MATTERS  —  PRESSURE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14400" y="4315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92D32"/>
                </a:solidFill>
              </a:rPr>
              <a:t>−0.016 × 0.572  −  0.831 × 0.513  +  0.436   =   0.001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14400" y="46268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92D32"/>
                </a:solidFill>
              </a:rPr>
              <a:t>−0.016 × −0.018  −  0.831 × 0.646  +  0.553   =   0.016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5029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C7A35"/>
                </a:solidFill>
              </a:rPr>
              <a:t>Both lagged links into pressure collapse to nothing. They were never separate effects — they were T(t) → P(t) counted twice.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0" y="1627632"/>
            <a:ext cx="5148072" cy="4041648"/>
          </a:xfrm>
          <a:prstGeom prst="roundRect">
            <a:avLst>
              <a:gd name="adj" fmla="val 1357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75120" y="1792224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AFTER PRUNING AT  |b| &lt; 0.05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693408" y="20116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B₀   same minute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223760" y="2523744"/>
            <a:ext cx="2139696" cy="1042416"/>
          </a:xfrm>
          <a:prstGeom prst="roundRect">
            <a:avLst>
              <a:gd name="adj" fmla="val 4386"/>
            </a:avLst>
          </a:prstGeom>
          <a:solidFill>
            <a:srgbClr val="F1EEE6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23760" y="22860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F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936992" y="22860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650224" y="22860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P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839712" y="258775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F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839712" y="293522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T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839712" y="328269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P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7223760" y="257860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0.000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936992" y="257860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0.000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650224" y="257860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0.000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269480" y="2907792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F6E7E3"/>
          </a:solidFill>
          <a:ln w="12700">
            <a:solidFill>
              <a:srgbClr val="A84A3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223760" y="29260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84A3E"/>
                </a:solidFill>
              </a:rPr>
              <a:t>0.003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936992" y="29260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0.000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8650224" y="29260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0.000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269480" y="3255264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F6E7E3"/>
          </a:solidFill>
          <a:ln w="12700">
            <a:solidFill>
              <a:srgbClr val="A84A3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223760" y="32735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84A3E"/>
                </a:solidFill>
              </a:rPr>
              <a:t>0.016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982712" y="3255264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E8F0E9"/>
          </a:solidFill>
          <a:ln w="12700">
            <a:solidFill>
              <a:srgbClr val="2F7A5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936992" y="32735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7A5C"/>
                </a:solidFill>
              </a:rPr>
              <a:t>0.831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8650224" y="32735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92D32"/>
                </a:solidFill>
              </a:rPr>
              <a:t>0.000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9692640" y="2651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F7A5C"/>
                </a:solidFill>
              </a:rPr>
              <a:t>one survivor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F7A5C"/>
                </a:solidFill>
              </a:rPr>
              <a:t>0.831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693408" y="369417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B₁   one minute back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223760" y="4206240"/>
            <a:ext cx="2139696" cy="1042416"/>
          </a:xfrm>
          <a:prstGeom prst="roundRect">
            <a:avLst>
              <a:gd name="adj" fmla="val 4386"/>
            </a:avLst>
          </a:prstGeom>
          <a:solidFill>
            <a:srgbClr val="F1EEE6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223760" y="396849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F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7936992" y="396849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T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8650224" y="396849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P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6839712" y="427024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F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6839712" y="461772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T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6839712" y="49651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P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7269480" y="4242816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E8F0E9"/>
          </a:solidFill>
          <a:ln w="12700">
            <a:solidFill>
              <a:srgbClr val="2F7A5C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223760" y="426110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7A5C"/>
                </a:solidFill>
              </a:rPr>
              <a:t>0.572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7982712" y="4242816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F6E7E3"/>
          </a:solidFill>
          <a:ln w="12700">
            <a:solidFill>
              <a:srgbClr val="A84A3E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936992" y="426110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84A3E"/>
                </a:solidFill>
              </a:rPr>
              <a:t>-0.018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8695944" y="4242816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F6E7E3"/>
          </a:solidFill>
          <a:ln w="12700">
            <a:solidFill>
              <a:srgbClr val="A84A3E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650224" y="426110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84A3E"/>
                </a:solidFill>
              </a:rPr>
              <a:t>0.001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7269480" y="4590288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E8F0E9"/>
          </a:solidFill>
          <a:ln w="12700">
            <a:solidFill>
              <a:srgbClr val="2F7A5C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223760" y="460857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7A5C"/>
                </a:solidFill>
              </a:rPr>
              <a:t>0.511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7982712" y="4590288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E8F0E9"/>
          </a:solidFill>
          <a:ln w="12700">
            <a:solidFill>
              <a:srgbClr val="2F7A5C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936992" y="460857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7A5C"/>
                </a:solidFill>
              </a:rPr>
              <a:t>0.646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8695944" y="4590288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F6E7E3"/>
          </a:solidFill>
          <a:ln w="12700">
            <a:solidFill>
              <a:srgbClr val="A84A3E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650224" y="460857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84A3E"/>
                </a:solidFill>
              </a:rPr>
              <a:t>-0.037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7269480" y="4937760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F6E7E3"/>
          </a:solidFill>
          <a:ln w="12700">
            <a:solidFill>
              <a:srgbClr val="A84A3E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223760" y="495604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84A3E"/>
                </a:solidFill>
              </a:rPr>
              <a:t>0.001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7982712" y="4937760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F6E7E3"/>
          </a:solidFill>
          <a:ln w="12700">
            <a:solidFill>
              <a:srgbClr val="A84A3E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936992" y="495604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84A3E"/>
                </a:solidFill>
              </a:rPr>
              <a:t>0.016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8695944" y="4937760"/>
            <a:ext cx="621792" cy="274320"/>
          </a:xfrm>
          <a:prstGeom prst="roundRect">
            <a:avLst>
              <a:gd name="adj" fmla="val 33333"/>
            </a:avLst>
          </a:prstGeom>
          <a:solidFill>
            <a:srgbClr val="F6E7E3"/>
          </a:solidFill>
          <a:ln w="12700">
            <a:solidFill>
              <a:srgbClr val="A84A3E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650224" y="495604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A84A3E"/>
                </a:solidFill>
              </a:rPr>
              <a:t>-0.031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433425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F7A5C"/>
                </a:solidFill>
              </a:rPr>
              <a:t>three survivors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F7A5C"/>
                </a:solidFill>
              </a:rPr>
              <a:t>0.572   0.511   0.646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693408" y="53400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green kept · red dropped as estimation noise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621792" y="585216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5EEDD"/>
          </a:solidFill>
          <a:ln w="12700">
            <a:solidFill>
              <a:srgbClr val="9C7A35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822960" y="5980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C7A35"/>
                </a:solidFill>
              </a:rPr>
              <a:t>OUR PAIR</a:t>
            </a:r>
            <a:endParaRPr lang="en-US" sz="1150" dirty="0"/>
          </a:p>
        </p:txBody>
      </p:sp>
      <p:sp>
        <p:nvSpPr>
          <p:cNvPr id="90" name="Text 88"/>
          <p:cNvSpPr txBox="1"/>
          <p:nvPr/>
        </p:nvSpPr>
        <p:spPr>
          <a:xfrm>
            <a:off x="1920240" y="5980176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T(t−1) → P(t) falls from 0.553 to 0.016 and is pruned. PCMCI+ cut it with a conditioning set. Here an identity does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VAR-LiNGAM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recovered graph matches the true graph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Four weighted links, the same four the equations on the setup slide put in, with the numbers attached.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649224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RECOVERED GRAPH  —  WEIGHTS ESTIMATED, TRUTH IN BRACKETS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767328" y="2227113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minute  t − 1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23360" y="2377440"/>
            <a:ext cx="402336" cy="40233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0" y="2461931"/>
            <a:ext cx="4023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7B5577"/>
                </a:solidFill>
              </a:rPr>
              <a:t>F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23360" y="2944368"/>
            <a:ext cx="402336" cy="40233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3028859"/>
            <a:ext cx="4023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7B5577"/>
                </a:solidFill>
              </a:rPr>
              <a:t>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23360" y="3511296"/>
            <a:ext cx="402336" cy="40233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3595787"/>
            <a:ext cx="4023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7B5577"/>
                </a:solidFill>
              </a:rPr>
              <a:t>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053328" y="2227113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76B70"/>
                </a:solidFill>
              </a:rPr>
              <a:t>minute  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377440"/>
            <a:ext cx="402336" cy="40233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2461931"/>
            <a:ext cx="4023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7B5577"/>
                </a:solidFill>
              </a:rPr>
              <a:t>F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2944368"/>
            <a:ext cx="402336" cy="40233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3028859"/>
            <a:ext cx="4023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7B5577"/>
                </a:solidFill>
              </a:rPr>
              <a:t>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3511296"/>
            <a:ext cx="402336" cy="40233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3595787"/>
            <a:ext cx="40233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7B5577"/>
                </a:solidFill>
              </a:rPr>
              <a:t>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25696" y="2578608"/>
            <a:ext cx="1883664" cy="0"/>
          </a:xfrm>
          <a:prstGeom prst="line">
            <a:avLst/>
          </a:prstGeom>
          <a:noFill/>
          <a:ln w="25400">
            <a:solidFill>
              <a:srgbClr val="7B557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25696" y="3145536"/>
            <a:ext cx="1883664" cy="0"/>
          </a:xfrm>
          <a:prstGeom prst="line">
            <a:avLst/>
          </a:prstGeom>
          <a:noFill/>
          <a:ln w="25400">
            <a:solidFill>
              <a:srgbClr val="7B557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19781" y="2627031"/>
            <a:ext cx="1895494" cy="470082"/>
          </a:xfrm>
          <a:prstGeom prst="line">
            <a:avLst/>
          </a:prstGeom>
          <a:noFill/>
          <a:ln w="25400">
            <a:solidFill>
              <a:srgbClr val="7B557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510528" y="3346704"/>
            <a:ext cx="0" cy="164592"/>
          </a:xfrm>
          <a:prstGeom prst="line">
            <a:avLst/>
          </a:prstGeom>
          <a:noFill/>
          <a:ln w="31750">
            <a:solidFill>
              <a:srgbClr val="2F7A5C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693408" y="32735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7A5C"/>
                </a:solidFill>
              </a:rPr>
              <a:t>0.831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22311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76B70"/>
                </a:solidFill>
              </a:rPr>
              <a:t>estimated   (true)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25237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B5577"/>
                </a:solidFill>
              </a:rPr>
              <a:t>F(t−1)  →  F(t)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2432304" y="25237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B5577"/>
                </a:solidFill>
              </a:rPr>
              <a:t>0.572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2962656" y="25237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(0.60)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2834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B5577"/>
                </a:solidFill>
              </a:rPr>
              <a:t>F(t−1)  →  T(t)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432304" y="28346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B5577"/>
                </a:solidFill>
              </a:rPr>
              <a:t>0.511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2962656" y="2834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(0.50)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314553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B5577"/>
                </a:solidFill>
              </a:rPr>
              <a:t>T(t−1)  →  T(t)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2432304" y="31455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B5577"/>
                </a:solidFill>
              </a:rPr>
              <a:t>0.646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962656" y="3145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(0.65)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14400" y="34564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F7A5C"/>
                </a:solidFill>
              </a:rPr>
              <a:t>T(t)  →  P(t)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432304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7A5C"/>
                </a:solidFill>
              </a:rPr>
              <a:t>0.831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2962656" y="34564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(0.80)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914400" y="4023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76B70"/>
                </a:solidFill>
              </a:rPr>
              <a:t>Nothing extra, nothing missing. The same four links the PCMCI+ half recovered, now carrying effect sizes.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269480" y="1627632"/>
            <a:ext cx="4279392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43800" y="179222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HOW TO READ A WEIGHT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562088" y="215798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92D32"/>
                </a:solidFill>
              </a:rPr>
              <a:t>A one-unit change in the parent moves the child by b units, with every other parent held fixed. These are structural coefficients, not correlations.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7562088" y="3017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7A5C"/>
                </a:solidFill>
              </a:rPr>
              <a:t>T(t) → P(t)   b = 0.831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562088" y="32918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76B70"/>
                </a:solidFill>
              </a:rPr>
              <a:t>One degree hotter raises pressure by 0.83 bar inside the same minute. A lag-0 arrow is relative to the sampling interval — read at one second instead, this link would move to lag 1.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1792" y="4617720"/>
            <a:ext cx="64922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96112" y="47823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WHAT EACH STEP BOUGHT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914400" y="5074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B5577"/>
                </a:solidFill>
              </a:rPr>
              <a:t>VAR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920240" y="5074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76B70"/>
                </a:solidFill>
              </a:rPr>
              <a:t>everything the past can explain, and clean residuals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914400" y="5349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7A5C"/>
                </a:solidFill>
              </a:rPr>
              <a:t>LiNGAM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920240" y="5349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76B70"/>
                </a:solidFill>
              </a:rPr>
              <a:t>the order inside the minute, and B₀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14400" y="5623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C7A35"/>
                </a:solidFill>
              </a:rPr>
              <a:t>Convert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920240" y="5623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76B70"/>
                </a:solidFill>
              </a:rPr>
              <a:t>lagged weights with the same-minute leak removed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914400" y="5897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A8E70"/>
                </a:solidFill>
              </a:rPr>
              <a:t>Prune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920240" y="5897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76B70"/>
                </a:solidFill>
              </a:rPr>
              <a:t>a graph instead of a dense matrix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269480" y="4617720"/>
            <a:ext cx="427939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543800" y="478231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76B70"/>
                </a:solidFill>
              </a:rPr>
              <a:t>WHEN IT BREAKS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562088" y="5138928"/>
            <a:ext cx="91440" cy="91440"/>
          </a:xfrm>
          <a:prstGeom prst="ellipse">
            <a:avLst/>
          </a:prstGeom>
          <a:solidFill>
            <a:srgbClr val="A84A3E"/>
          </a:solidFill>
          <a:ln w="12700">
            <a:solidFill>
              <a:srgbClr val="A84A3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790688" y="506577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residuals close to Gaussian — the lag-0 order stops being identifiable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7562088" y="5486400"/>
            <a:ext cx="91440" cy="91440"/>
          </a:xfrm>
          <a:prstGeom prst="ellipse">
            <a:avLst/>
          </a:prstGeom>
          <a:solidFill>
            <a:srgbClr val="A84A3E"/>
          </a:solidFill>
          <a:ln w="12700">
            <a:solidFill>
              <a:srgbClr val="A84A3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790688" y="54132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a hidden common cause — the shocks are no longer independent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7562088" y="5833872"/>
            <a:ext cx="91440" cy="91440"/>
          </a:xfrm>
          <a:prstGeom prst="ellipse">
            <a:avLst/>
          </a:prstGeom>
          <a:solidFill>
            <a:srgbClr val="A84A3E"/>
          </a:solidFill>
          <a:ln w="12700">
            <a:solidFill>
              <a:srgbClr val="A84A3E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790688" y="57607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6B70"/>
                </a:solidFill>
              </a:rPr>
              <a:t>τmax too small, or sampling slower than the true delay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A39D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VAR-LiNGAM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2011680"/>
            <a:ext cx="822960" cy="54864"/>
          </a:xfrm>
          <a:prstGeom prst="rect">
            <a:avLst/>
          </a:prstGeom>
          <a:solidFill>
            <a:srgbClr val="B7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21792" y="22860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7F5EF"/>
                </a:solidFill>
                <a:latin typeface="Georgia"/>
              </a:rPr>
              <a:t>Root cause detection for flaring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333756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CE6DE"/>
                </a:solidFill>
              </a:rPr>
              <a:t>How two causal discovery methods work, and our first results on plant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120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AA91"/>
                </a:solidFill>
              </a:rPr>
              <a:t>Progress review  ·  27 October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000" b="1">
                <a:solidFill>
                  <a:srgbClr val="292D32"/>
                </a:solidFill>
              </a:rPr>
              <a:t>What this deck covers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500" b="0">
                <a:solidFill>
                  <a:srgbClr val="676B70"/>
                </a:solidFill>
              </a:rPr>
              <a:t>Two separate parts. Part A explains methods on a toy example. Part B shows what we ran on plant data.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Root cause detection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21792" y="1600200"/>
            <a:ext cx="5312664" cy="43434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1792" y="1600200"/>
            <a:ext cx="5312664" cy="109728"/>
          </a:xfrm>
          <a:prstGeom prst="rect">
            <a:avLst/>
          </a:prstGeom>
          <a:solidFill>
            <a:srgbClr val="7B5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41832" y="192024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150">
                <a:solidFill>
                  <a:srgbClr val="7B5577"/>
                </a:solidFill>
              </a:rPr>
              <a:t>PART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2240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292D32"/>
                </a:solidFill>
                <a:latin typeface="Georgia"/>
              </a:rPr>
              <a:t>Algorithm explainers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278892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76B70"/>
                </a:solidFill>
              </a:rPr>
              <a:t>Studied on a toy example with a known answer. Not used on plant data yet.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" y="3867911"/>
            <a:ext cx="4663440" cy="9144"/>
          </a:xfrm>
          <a:prstGeom prst="rect">
            <a:avLst/>
          </a:prstGeom>
          <a:solidFill>
            <a:srgbClr val="DA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41832" y="3529584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92D32"/>
                </a:solidFill>
              </a:rPr>
              <a:t>PCMCI+, step by step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2" y="352958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76B70"/>
                </a:solidFill>
              </a:rPr>
              <a:t>slide 5 –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" y="4325112"/>
            <a:ext cx="4663440" cy="9144"/>
          </a:xfrm>
          <a:prstGeom prst="rect">
            <a:avLst/>
          </a:prstGeom>
          <a:solidFill>
            <a:srgbClr val="DA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41832" y="3986783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92D32"/>
                </a:solidFill>
              </a:rPr>
              <a:t>VAR-LiNGAM, step by step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3986783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76B70"/>
                </a:solidFill>
              </a:rPr>
              <a:t>slide 16 – 24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2" y="4782312"/>
            <a:ext cx="4663440" cy="9144"/>
          </a:xfrm>
          <a:prstGeom prst="rect">
            <a:avLst/>
          </a:prstGeom>
          <a:solidFill>
            <a:srgbClr val="DA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41832" y="4443983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92D32"/>
                </a:solidFill>
              </a:rPr>
              <a:t>The methods side by side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6552" y="4443983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76B70"/>
                </a:solidFill>
              </a:rPr>
              <a:t>slide 25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54496" y="1600200"/>
            <a:ext cx="5312664" cy="43434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254496" y="1600200"/>
            <a:ext cx="5312664" cy="109728"/>
          </a:xfrm>
          <a:prstGeom prst="rect">
            <a:avLst/>
          </a:prstGeom>
          <a:solidFill>
            <a:srgbClr val="17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74536" y="192024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150">
                <a:solidFill>
                  <a:srgbClr val="174A3A"/>
                </a:solidFill>
              </a:rPr>
              <a:t>PART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4536" y="2240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292D32"/>
                </a:solidFill>
                <a:latin typeface="Georgia"/>
              </a:rPr>
              <a:t>Traditional PC on plant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74536" y="278892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76B70"/>
                </a:solidFill>
              </a:rPr>
              <a:t>What we run today: PCA, then traditional PC, then T², on May 2025 data.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74536" y="3867911"/>
            <a:ext cx="4663440" cy="9144"/>
          </a:xfrm>
          <a:prstGeom prst="rect">
            <a:avLst/>
          </a:prstGeom>
          <a:solidFill>
            <a:srgbClr val="DA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74536" y="3529584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92D32"/>
                </a:solidFill>
              </a:rPr>
              <a:t>Our pipeline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49256" y="352958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76B70"/>
                </a:solidFill>
              </a:rPr>
              <a:t>slide 27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74536" y="4325112"/>
            <a:ext cx="4663440" cy="9144"/>
          </a:xfrm>
          <a:prstGeom prst="rect">
            <a:avLst/>
          </a:prstGeom>
          <a:solidFill>
            <a:srgbClr val="DA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574536" y="3986783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92D32"/>
                </a:solidFill>
              </a:rPr>
              <a:t>Data and PCA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49256" y="3986783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76B70"/>
                </a:solidFill>
              </a:rPr>
              <a:t>slide 28 – 29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74536" y="4782312"/>
            <a:ext cx="4663440" cy="9144"/>
          </a:xfrm>
          <a:prstGeom prst="rect">
            <a:avLst/>
          </a:prstGeom>
          <a:solidFill>
            <a:srgbClr val="DA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574536" y="4443983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92D32"/>
                </a:solidFill>
              </a:rPr>
              <a:t>The causal graph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49256" y="4443983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76B70"/>
                </a:solidFill>
              </a:rPr>
              <a:t>slide 30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74536" y="5239512"/>
            <a:ext cx="4663440" cy="9144"/>
          </a:xfrm>
          <a:prstGeom prst="rect">
            <a:avLst/>
          </a:prstGeom>
          <a:solidFill>
            <a:srgbClr val="DA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574536" y="4901183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92D32"/>
                </a:solidFill>
              </a:rPr>
              <a:t>Problems found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49256" y="4901183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76B70"/>
                </a:solidFill>
              </a:rPr>
              <a:t>slide 31 – 33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74536" y="5696712"/>
            <a:ext cx="4663440" cy="9144"/>
          </a:xfrm>
          <a:prstGeom prst="rect">
            <a:avLst/>
          </a:prstGeom>
          <a:solidFill>
            <a:srgbClr val="DA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574536" y="5358383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92D32"/>
                </a:solidFill>
              </a:rPr>
              <a:t>Next steps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49256" y="5358383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76B70"/>
                </a:solidFill>
              </a:rPr>
              <a:t>slide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000" b="1">
                <a:solidFill>
                  <a:srgbClr val="292D32"/>
                </a:solidFill>
              </a:rPr>
              <a:t>We want to find which process variables drive flaring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500" b="0">
                <a:solidFill>
                  <a:srgbClr val="676B70"/>
                </a:solidFill>
              </a:rPr>
              <a:t>The plant records hundreds of tags every minute. We look for the ones that push the flare up.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Root cause detection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21792" y="1645920"/>
            <a:ext cx="3291840" cy="1417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96112" y="1828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2F7A5C"/>
                </a:solidFill>
              </a:rPr>
              <a:t>PLANT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21945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92D32"/>
                </a:solidFill>
              </a:rPr>
              <a:t>Hundreds of tags from 10 units, one reading per minute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968496" y="2350008"/>
            <a:ext cx="365759" cy="0"/>
          </a:xfrm>
          <a:prstGeom prst="line">
            <a:avLst/>
          </a:prstGeom>
          <a:ln w="25400">
            <a:solidFill>
              <a:srgbClr val="676B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389120" y="1645920"/>
            <a:ext cx="3291840" cy="1417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663440" y="1828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2F7A5C"/>
                </a:solidFill>
              </a:rPr>
              <a:t>CAUSAL DISCOVERY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21945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92D32"/>
                </a:solidFill>
              </a:rPr>
              <a:t>Learn which variable affects which, as a graph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35824" y="2350008"/>
            <a:ext cx="365759" cy="0"/>
          </a:xfrm>
          <a:prstGeom prst="line">
            <a:avLst/>
          </a:prstGeom>
          <a:ln w="25400">
            <a:solidFill>
              <a:srgbClr val="676B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156448" y="1645920"/>
            <a:ext cx="3291840" cy="1417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430768" y="1828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2F7A5C"/>
                </a:solidFill>
              </a:rPr>
              <a:t>ROOT CAUSE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21945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92D32"/>
                </a:solidFill>
              </a:rPr>
              <a:t>When a flare starts, find the variables that explain 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3383280"/>
            <a:ext cx="5312664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96112" y="35661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7B5577"/>
                </a:solidFill>
              </a:rPr>
              <a:t>PART A  ·  WHAT WE STUDIED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393192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292D32"/>
                </a:solidFill>
              </a:rPr>
              <a:t>Two advanced methods, PCMCI+ and VAR-LiNGAM.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292D32"/>
                </a:solidFill>
              </a:rPr>
              <a:t>They handle time lags and same-minute effects.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292D32"/>
                </a:solidFill>
              </a:rPr>
              <a:t>Shown on a toy reactor with three sensors.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54496" y="3383280"/>
            <a:ext cx="5312664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28816" y="35661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2F7A5C"/>
                </a:solidFill>
              </a:rPr>
              <a:t>PART B  ·  WHAT WE RAN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8816" y="393192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292D32"/>
                </a:solidFill>
              </a:rPr>
              <a:t>Traditional PC on one month of plant data.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292D32"/>
                </a:solidFill>
              </a:rPr>
              <a:t>PCA first, then PC, then T² to find the cause.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292D32"/>
                </a:solidFill>
              </a:rPr>
              <a:t>The pipeline runs, but the results need fixes.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" y="5303520"/>
            <a:ext cx="10945368" cy="384048"/>
          </a:xfrm>
          <a:prstGeom prst="roundRect">
            <a:avLst>
              <a:gd name="adj" fmla="val 12000"/>
            </a:avLst>
          </a:prstGeom>
          <a:solidFill>
            <a:srgbClr val="F5EEDD"/>
          </a:solidFill>
          <a:ln w="12700">
            <a:solidFill>
              <a:srgbClr val="9C7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22960" y="5303520"/>
            <a:ext cx="105796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9C7A35"/>
                </a:solidFill>
              </a:rPr>
              <a:t>NOTE   </a:t>
            </a:r>
            <a:r>
              <a:rPr sz="1250" b="0">
                <a:solidFill>
                  <a:srgbClr val="292D32"/>
                </a:solidFill>
              </a:rPr>
              <a:t>Part B uses traditional PC. PCMCI+ and VAR-LiNGAM are not applied to plant data yet.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1874519"/>
            <a:ext cx="822960" cy="54864"/>
          </a:xfrm>
          <a:prstGeom prst="rect">
            <a:avLst/>
          </a:prstGeom>
          <a:solidFill>
            <a:srgbClr val="B7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21792" y="2103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00">
                <a:solidFill>
                  <a:srgbClr val="8DAA91"/>
                </a:solidFill>
              </a:rPr>
              <a:t>PART A  ·  ALGORITHM EXPLAINERS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514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7F5EF"/>
                </a:solidFill>
                <a:latin typeface="Georgia"/>
              </a:rPr>
              <a:t>How two advanced methods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35204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CE6DE"/>
                </a:solidFill>
              </a:rPr>
              <a:t>PCMCI+ and VAR-LiNGAM, on a toy reactor with three sensors. We made the data, so we know the true answer and can check every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8463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B79A5B"/>
                </a:solidFill>
              </a:rPr>
              <a:t>These methods are studied only. We do not use them on plant data yet.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000" b="1">
                <a:solidFill>
                  <a:srgbClr val="292D32"/>
                </a:solidFill>
              </a:rPr>
              <a:t>PCMCI+ and VAR-LiNGAM side by side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500" b="0">
                <a:solidFill>
                  <a:srgbClr val="676B70"/>
                </a:solidFill>
              </a:rPr>
              <a:t>Both recover the four true links of the toy reactor. Traditional PC, used in Part B, has neither of their extras.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A  ·  Comparison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2834640" y="1645920"/>
            <a:ext cx="2880360" cy="4315968"/>
          </a:xfrm>
          <a:prstGeom prst="roundRect">
            <a:avLst>
              <a:gd name="adj" fmla="val 4762"/>
            </a:avLst>
          </a:prstGeom>
          <a:solidFill>
            <a:srgbClr val="E8F0E9"/>
          </a:solidFill>
          <a:ln w="20320">
            <a:solidFill>
              <a:srgbClr val="174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063240" y="177393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74A3A"/>
                </a:solidFill>
                <a:latin typeface="Georgia"/>
              </a:rPr>
              <a:t>Traditional PC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210312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20">
                <a:solidFill>
                  <a:srgbClr val="676B70"/>
                </a:solidFill>
              </a:rPr>
              <a:t>USED IN PART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2359152"/>
            <a:ext cx="246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No. Each row is treated as independent.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3090672"/>
            <a:ext cx="246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Conditional independence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3822191"/>
            <a:ext cx="246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Collider rules. Some edges can stay undirected.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553712"/>
            <a:ext cx="246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A graph, no weights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5285232"/>
            <a:ext cx="246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Enough data per test, no hidden common cause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24728" y="1645920"/>
            <a:ext cx="2880360" cy="43159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053328" y="177393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7B5577"/>
                </a:solidFill>
                <a:latin typeface="Georgia"/>
              </a:rPr>
              <a:t>PCMCI+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53328" y="210312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20">
                <a:solidFill>
                  <a:srgbClr val="676B70"/>
                </a:solidFill>
              </a:rPr>
              <a:t>PART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3328" y="2359152"/>
            <a:ext cx="246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Yes, up to τmax (2 in the toy).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53328" y="3090672"/>
            <a:ext cx="246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Conditional independence tests, in two parts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8" y="3822191"/>
            <a:ext cx="246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Time order, then collider rules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53328" y="4553712"/>
            <a:ext cx="246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A graph, no weights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53328" y="5285232"/>
            <a:ext cx="246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Same graph every minute (stationary)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14816" y="1645920"/>
            <a:ext cx="2880360" cy="43159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043416" y="177393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7B5577"/>
                </a:solidFill>
                <a:latin typeface="Georgia"/>
              </a:rPr>
              <a:t>VAR-LiNGAM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43416" y="210312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20">
                <a:solidFill>
                  <a:srgbClr val="676B70"/>
                </a:solidFill>
              </a:rPr>
              <a:t>PART 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43416" y="2359152"/>
            <a:ext cx="246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Yes, through the VAR (τmax 1 in the toy).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3416" y="3090672"/>
            <a:ext cx="246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Regression, then an independence check on residuals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43416" y="3822191"/>
            <a:ext cx="246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Time order, then the shape of the noise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43416" y="4553712"/>
            <a:ext cx="246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A graph with link weights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43416" y="5285232"/>
            <a:ext cx="246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Non-Gaussian noise, no hidden common cause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23774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676B70"/>
                </a:solidFill>
              </a:rPr>
              <a:t>TIME LAGS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" y="31089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676B70"/>
                </a:solidFill>
              </a:rPr>
              <a:t>MAIN TOOL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" y="38404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676B70"/>
                </a:solidFill>
              </a:rPr>
              <a:t>SAME-MINUTE DIRECTION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4572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676B70"/>
                </a:solidFill>
              </a:rPr>
              <a:t>OUTPUT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5303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676B70"/>
                </a:solidFill>
              </a:rPr>
              <a:t>NEEDS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1874519"/>
            <a:ext cx="822960" cy="54864"/>
          </a:xfrm>
          <a:prstGeom prst="rect">
            <a:avLst/>
          </a:prstGeom>
          <a:solidFill>
            <a:srgbClr val="B7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21792" y="2103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00">
                <a:solidFill>
                  <a:srgbClr val="8DAA91"/>
                </a:solidFill>
              </a:rPr>
              <a:t>PART B  ·  RUNNING THE ALGORITHM ON PLANT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514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7F5EF"/>
                </a:solidFill>
                <a:latin typeface="Georgia"/>
              </a:rPr>
              <a:t>Traditional PC on plant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35204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CE6DE"/>
                </a:solidFill>
              </a:rPr>
              <a:t>One month of plant data: May 2025, one reading per minute. PCA reduces the tags, traditional PC builds the graph, and T² looks for the cause of alarms.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8463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B79A5B"/>
                </a:solidFill>
              </a:rPr>
              <a:t>We use traditional PC here, not PCMCI+ or VAR-LiNGAM.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000" b="1">
                <a:solidFill>
                  <a:srgbClr val="292D32"/>
                </a:solidFill>
              </a:rPr>
              <a:t>Our pipeline: PCA, then PC, then T²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500" b="0">
                <a:solidFill>
                  <a:srgbClr val="676B70"/>
                </a:solidFill>
              </a:rPr>
              <a:t>Five stages. All seven scripts passed their checks, and the full run took under 30 seconds.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/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21792" y="1691640"/>
            <a:ext cx="1920240" cy="19659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50392" y="1874519"/>
            <a:ext cx="384048" cy="38404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F7A5C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239572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92D32"/>
                </a:solidFill>
              </a:rPr>
              <a:t>Load and clean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27889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76B70"/>
                </a:solidFill>
              </a:rPr>
              <a:t>298 tags in, 273 kept</a:t>
            </a:r>
          </a:p>
          <a:p>
            <a:pPr algn="l"/>
            <a:r>
              <a:rPr sz="1200" b="0">
                <a:solidFill>
                  <a:srgbClr val="676B70"/>
                </a:solidFill>
              </a:rPr>
              <a:t>1-minute grid, 44,640 rows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69464" y="2670048"/>
            <a:ext cx="237744" cy="0"/>
          </a:xfrm>
          <a:prstGeom prst="line">
            <a:avLst/>
          </a:prstGeom>
          <a:ln w="25400">
            <a:solidFill>
              <a:srgbClr val="676B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834640" y="1691640"/>
            <a:ext cx="1920240" cy="19659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3063240" y="1874519"/>
            <a:ext cx="384048" cy="38404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F7A5C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239572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92D32"/>
                </a:solidFill>
              </a:rPr>
              <a:t>PCA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27889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76B70"/>
                </a:solidFill>
              </a:rPr>
              <a:t>270 process tags</a:t>
            </a:r>
          </a:p>
          <a:p>
            <a:pPr algn="l"/>
            <a:r>
              <a:rPr sz="1200" b="0">
                <a:solidFill>
                  <a:srgbClr val="676B70"/>
                </a:solidFill>
              </a:rPr>
              <a:t>→ 26 components (PCs)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82312" y="2670048"/>
            <a:ext cx="237744" cy="0"/>
          </a:xfrm>
          <a:prstGeom prst="line">
            <a:avLst/>
          </a:prstGeom>
          <a:ln w="25400">
            <a:solidFill>
              <a:srgbClr val="676B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047488" y="1691640"/>
            <a:ext cx="1920240" cy="1965960"/>
          </a:xfrm>
          <a:prstGeom prst="roundRect">
            <a:avLst>
              <a:gd name="adj" fmla="val 4762"/>
            </a:avLst>
          </a:prstGeom>
          <a:solidFill>
            <a:srgbClr val="E8F0E9"/>
          </a:solidFill>
          <a:ln w="20320">
            <a:solidFill>
              <a:srgbClr val="174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5276088" y="1874519"/>
            <a:ext cx="384048" cy="38404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74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74A3A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76088" y="239572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92D32"/>
                </a:solidFill>
              </a:rPr>
              <a:t>Traditional PC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76088" y="27889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76B70"/>
                </a:solidFill>
              </a:rPr>
              <a:t>26 PCs + 3 flare tags</a:t>
            </a:r>
          </a:p>
          <a:p>
            <a:pPr algn="l"/>
            <a:r>
              <a:rPr sz="1200" b="0">
                <a:solidFill>
                  <a:srgbClr val="676B70"/>
                </a:solidFill>
              </a:rPr>
              <a:t>Rule: a flare tag causes nothing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995159" y="2670048"/>
            <a:ext cx="237745" cy="0"/>
          </a:xfrm>
          <a:prstGeom prst="line">
            <a:avLst/>
          </a:prstGeom>
          <a:ln w="25400">
            <a:solidFill>
              <a:srgbClr val="676B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260336" y="1691640"/>
            <a:ext cx="1920240" cy="19659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7488936" y="1874519"/>
            <a:ext cx="384048" cy="38404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F7A5C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88936" y="239572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92D32"/>
                </a:solidFill>
              </a:rPr>
              <a:t>Make a DAG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88936" y="27889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76B70"/>
                </a:solidFill>
              </a:rPr>
              <a:t>Pick one direction</a:t>
            </a:r>
          </a:p>
          <a:p>
            <a:pPr algn="l"/>
            <a:r>
              <a:rPr sz="1200" b="0">
                <a:solidFill>
                  <a:srgbClr val="676B70"/>
                </a:solidFill>
              </a:rPr>
              <a:t>for every edge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208008" y="2670048"/>
            <a:ext cx="237744" cy="0"/>
          </a:xfrm>
          <a:prstGeom prst="line">
            <a:avLst/>
          </a:prstGeom>
          <a:ln w="25400">
            <a:solidFill>
              <a:srgbClr val="676B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473184" y="1691640"/>
            <a:ext cx="1920240" cy="19659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9701784" y="1874519"/>
            <a:ext cx="384048" cy="38404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2F7A5C"/>
                </a:solidFill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01784" y="239572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92D32"/>
                </a:solidFill>
              </a:rPr>
              <a:t>T² decomposition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01784" y="27889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76B70"/>
                </a:solidFill>
              </a:rPr>
              <a:t>Alarm when T² is high</a:t>
            </a:r>
          </a:p>
          <a:p>
            <a:pPr algn="l"/>
            <a:r>
              <a:rPr sz="1200" b="0">
                <a:solidFill>
                  <a:srgbClr val="676B70"/>
                </a:solidFill>
              </a:rPr>
              <a:t>then ask which node is to blame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3931920"/>
            <a:ext cx="5312664" cy="16916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96112" y="40965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2F7A5C"/>
                </a:solidFill>
              </a:rPr>
              <a:t>HOW WE RUN TRADITIONAL PC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" y="443484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292D32"/>
                </a:solidFill>
              </a:rPr>
              <a:t>causal-learn PC, Fisher-Z test, alpha 0.01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92D32"/>
                </a:solidFill>
              </a:rPr>
              <a:t>Depth up to 3, every 10th row (4,464 rows)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92D32"/>
                </a:solidFill>
              </a:rPr>
              <a:t>36,308 tests, 2 seconds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92D32"/>
                </a:solidFill>
              </a:rPr>
              <a:t>No time lags: each minute is treated as independent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54496" y="3931920"/>
            <a:ext cx="5312664" cy="16916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528816" y="40965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2F7A5C"/>
                </a:solidFill>
              </a:rPr>
              <a:t>T² DECOMPOSITION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28816" y="443484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292D32"/>
                </a:solidFill>
              </a:rPr>
              <a:t>Method from Li, Jin and Shi (2008)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92D32"/>
                </a:solidFill>
              </a:rPr>
              <a:t>Alarm when T² &gt; 42.6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92D32"/>
                </a:solidFill>
              </a:rPr>
              <a:t>A node is to blame when its term &gt; 3.13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92D32"/>
                </a:solidFill>
              </a:rPr>
              <a:t>Normal behaviour is learned from a reference period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B  ·  Plant data</a:t>
            </a:r>
            <a:endParaRPr lang="en-US" sz="1000" dirty="0"/>
          </a:p>
        </p:txBody>
      </p:sp>
      <p:sp>
        <p:nvSpPr>
          <p:cNvPr id="56" name="TextBox 55"/>
          <p:cNvSpPr txBox="1"/>
          <p:nvPr/>
        </p:nvSpPr>
        <p:spPr>
          <a:xfrm>
            <a:off x="2926080" y="636422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76B70"/>
                </a:solidFill>
              </a:rPr>
              <a:t>Source: pca_pc_t2/outputs/SUMMARY.md, logs/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000" b="1">
                <a:solidFill>
                  <a:srgbClr val="292D32"/>
                </a:solidFill>
              </a:rPr>
              <a:t>From 298 tags to 29 model inputs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500" b="0">
                <a:solidFill>
                  <a:srgbClr val="676B70"/>
                </a:solidFill>
              </a:rPr>
              <a:t>Cleaning removed 25 tags. PCA then squeezed 270 process tags into 26 components.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/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21792" y="1691640"/>
            <a:ext cx="5669280" cy="731520"/>
          </a:xfrm>
          <a:prstGeom prst="roundRect">
            <a:avLst>
              <a:gd name="adj" fmla="val 12000"/>
            </a:avLst>
          </a:prstGeom>
          <a:solidFill>
            <a:srgbClr val="C9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792" y="169164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292D32"/>
                </a:solidFill>
                <a:latin typeface="Georgia"/>
              </a:rPr>
              <a:t>298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2441448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76B70"/>
                </a:solidFill>
              </a:rPr>
              <a:t>tags loaded  ·  294 process + 4 flare, from 10 units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97" y="2651760"/>
            <a:ext cx="5193669" cy="731520"/>
          </a:xfrm>
          <a:prstGeom prst="roundRect">
            <a:avLst>
              <a:gd name="adj" fmla="val 12000"/>
            </a:avLst>
          </a:prstGeom>
          <a:solidFill>
            <a:srgbClr val="8DA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9597" y="2651760"/>
            <a:ext cx="519366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292D32"/>
                </a:solidFill>
                <a:latin typeface="Georgia"/>
              </a:rPr>
              <a:t>273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3401568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76B70"/>
                </a:solidFill>
              </a:rPr>
              <a:t>tags after cleaning  ·  25 dropped (see right)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97" y="3611880"/>
            <a:ext cx="5193669" cy="731520"/>
          </a:xfrm>
          <a:prstGeom prst="roundRect">
            <a:avLst>
              <a:gd name="adj" fmla="val 12000"/>
            </a:avLst>
          </a:prstGeom>
          <a:solidFill>
            <a:srgbClr val="8DA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59597" y="3611880"/>
            <a:ext cx="519366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292D32"/>
                </a:solidFill>
                <a:latin typeface="Georgia"/>
              </a:rPr>
              <a:t>270 + 3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4361688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76B70"/>
                </a:solidFill>
              </a:rPr>
              <a:t>into the model  ·  270 process tags go to PCA, 3 flare tags go straight to PC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62072" y="4572000"/>
            <a:ext cx="1188720" cy="731520"/>
          </a:xfrm>
          <a:prstGeom prst="roundRect">
            <a:avLst>
              <a:gd name="adj" fmla="val 12000"/>
            </a:avLst>
          </a:prstGeom>
          <a:solidFill>
            <a:srgbClr val="17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2862072" y="4572000"/>
            <a:ext cx="1188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7F5EF"/>
                </a:solidFill>
                <a:latin typeface="Georgia"/>
              </a:rPr>
              <a:t>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5321808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76B70"/>
                </a:solidFill>
              </a:rPr>
              <a:t>graph nodes  ·  26 PCs + 3 flare tags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1691640"/>
            <a:ext cx="4892040" cy="21488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949440" y="1856231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676B70"/>
                </a:solidFill>
              </a:rPr>
              <a:t>WHY 25 TAGS WERE DROPPED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2240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Constant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72600" y="2276856"/>
            <a:ext cx="1737360" cy="219456"/>
          </a:xfrm>
          <a:prstGeom prst="rect">
            <a:avLst/>
          </a:prstGeom>
          <a:solidFill>
            <a:srgbClr val="2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1155680" y="22402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292D32"/>
                </a:solidFill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26243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Too much missing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72600" y="2660904"/>
            <a:ext cx="1389888" cy="219456"/>
          </a:xfrm>
          <a:prstGeom prst="rect">
            <a:avLst/>
          </a:prstGeom>
          <a:solidFill>
            <a:srgbClr val="8DA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808208" y="262432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292D32"/>
                </a:solidFill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30083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Almost constant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72600" y="3044952"/>
            <a:ext cx="1042415" cy="219456"/>
          </a:xfrm>
          <a:prstGeom prst="rect">
            <a:avLst/>
          </a:prstGeom>
          <a:solidFill>
            <a:srgbClr val="8DA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460736" y="300837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292D32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39242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92D32"/>
                </a:solidFill>
              </a:rPr>
              <a:t>Constant in the reference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72600" y="3429000"/>
            <a:ext cx="173736" cy="219456"/>
          </a:xfrm>
          <a:prstGeom prst="rect">
            <a:avLst/>
          </a:prstGeom>
          <a:solidFill>
            <a:srgbClr val="8DA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592056" y="339242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292D32"/>
                </a:solidFill>
              </a:rPr>
              <a:t>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75120" y="3977639"/>
            <a:ext cx="4892040" cy="16916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949440" y="414223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676B70"/>
                </a:solidFill>
              </a:rPr>
              <a:t>WHAT THE DATA LOOKS LIKE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4480560"/>
            <a:ext cx="4389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292D32"/>
                </a:solidFill>
              </a:rPr>
              <a:t>1 to 31 May 2025, one row per minute: 44,640 rows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92D32"/>
                </a:solidFill>
              </a:rPr>
              <a:t>Only 2 short gaps were filled; nothing else imputed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92D32"/>
                </a:solidFill>
              </a:rPr>
              <a:t>1 of 4 flare tags dropped: </a:t>
            </a:r>
            <a:r>
              <a:rPr sz="1300" b="1">
                <a:solidFill>
                  <a:srgbClr val="292D32"/>
                </a:solidFill>
              </a:rPr>
              <a:t>44FT2505</a:t>
            </a:r>
            <a:r>
              <a:rPr sz="1300" b="0">
                <a:solidFill>
                  <a:srgbClr val="292D32"/>
                </a:solidFill>
              </a:rPr>
              <a:t> is 64.5% missing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B  ·  Plant data</a:t>
            </a:r>
            <a:endParaRPr lang="en-US" sz="1000" dirty="0"/>
          </a:p>
        </p:txBody>
      </p:sp>
      <p:sp>
        <p:nvSpPr>
          <p:cNvPr id="55" name="TextBox 54"/>
          <p:cNvSpPr txBox="1"/>
          <p:nvPr/>
        </p:nvSpPr>
        <p:spPr>
          <a:xfrm>
            <a:off x="2926080" y="636422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76B70"/>
                </a:solidFill>
              </a:rPr>
              <a:t>Source: pca_pc_t2/outputs/data/s1_summary.json, logs/s1_load_clean.log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000" b="1">
                <a:solidFill>
                  <a:srgbClr val="292D32"/>
                </a:solidFill>
              </a:rPr>
              <a:t>26 PCs keep 80% of the variance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500" b="0">
                <a:solidFill>
                  <a:srgbClr val="676B70"/>
                </a:solidFill>
              </a:rPr>
              <a:t>The variance is spread thin: PC1 holds only 19.6%. The LOUP unit leads most of the first PCs.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/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21792" y="1600200"/>
            <a:ext cx="5394960" cy="4069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96112" y="17556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676B70"/>
                </a:solidFill>
              </a:rPr>
              <a:t>CUMULATIVE VARIANCE KEPT, 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777240" y="2697480"/>
          <a:ext cx="512064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896112" y="20574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74A3A"/>
                </a:solidFill>
                <a:latin typeface="Georgia"/>
              </a:rPr>
              <a:t>19.6%</a:t>
            </a:r>
          </a:p>
          <a:p>
            <a:pPr algn="l"/>
            <a:r>
              <a:rPr sz="1100" b="0">
                <a:solidFill>
                  <a:srgbClr val="676B70"/>
                </a:solidFill>
              </a:rPr>
              <a:t>PC1 alone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2032" y="20574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74A3A"/>
                </a:solidFill>
                <a:latin typeface="Georgia"/>
              </a:rPr>
              <a:t>64.8%</a:t>
            </a:r>
          </a:p>
          <a:p>
            <a:pPr algn="l"/>
            <a:r>
              <a:rPr sz="1100" b="0">
                <a:solidFill>
                  <a:srgbClr val="676B70"/>
                </a:solidFill>
              </a:rPr>
              <a:t>first 10 PCs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87952" y="20574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9C7A35"/>
                </a:solidFill>
                <a:latin typeface="Georgia"/>
              </a:rPr>
              <a:t>80.1%</a:t>
            </a:r>
          </a:p>
          <a:p>
            <a:pPr algn="l"/>
            <a:r>
              <a:rPr sz="1100" b="0">
                <a:solidFill>
                  <a:srgbClr val="676B70"/>
                </a:solidFill>
              </a:rPr>
              <a:t>all 26 PCs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3492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76B70"/>
                </a:solidFill>
              </a:rPr>
              <a:t>component number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54496" y="1600200"/>
            <a:ext cx="5312664" cy="4069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28816" y="17556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676B70"/>
                </a:solidFill>
              </a:rPr>
              <a:t>SHARE OF EACH PC'S LOADINGS BY UNIT,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2103120"/>
            <a:ext cx="4937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76B70"/>
                </a:solidFill>
              </a:rPr>
              <a:t>LOUP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6096" y="2103120"/>
            <a:ext cx="4937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76B70"/>
                </a:solidFill>
              </a:rPr>
              <a:t>ISOM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2103120"/>
            <a:ext cx="4937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76B70"/>
                </a:solidFill>
              </a:rPr>
              <a:t>PG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7" y="2103120"/>
            <a:ext cx="4937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76B70"/>
                </a:solidFill>
              </a:rPr>
              <a:t>DIU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33104" y="2103120"/>
            <a:ext cx="4937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76B70"/>
                </a:solidFill>
              </a:rPr>
              <a:t>PDA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2103120"/>
            <a:ext cx="4937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76B70"/>
                </a:solidFill>
              </a:rPr>
              <a:t>SEU1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7776" y="2103120"/>
            <a:ext cx="4937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76B70"/>
                </a:solidFill>
              </a:rPr>
              <a:t>SEU2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40112" y="2103120"/>
            <a:ext cx="4937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76B70"/>
                </a:solidFill>
              </a:rPr>
              <a:t>SEU3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42448" y="2103120"/>
            <a:ext cx="4937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76B70"/>
                </a:solidFill>
              </a:rPr>
              <a:t>ISOM3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44784" y="2103120"/>
            <a:ext cx="4937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676B70"/>
                </a:solidFill>
              </a:rPr>
              <a:t>DAK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8816" y="2414016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92D32"/>
                </a:solidFill>
              </a:rPr>
              <a:t>PC1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69480" y="2377440"/>
            <a:ext cx="374904" cy="256032"/>
          </a:xfrm>
          <a:prstGeom prst="rect">
            <a:avLst/>
          </a:prstGeom>
          <a:solidFill>
            <a:srgbClr val="6F8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269480" y="237744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7F5EF"/>
                </a:solidFill>
              </a:rPr>
              <a:t>27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71816" y="2377440"/>
            <a:ext cx="374904" cy="256032"/>
          </a:xfrm>
          <a:prstGeom prst="rect">
            <a:avLst/>
          </a:prstGeom>
          <a:solidFill>
            <a:srgbClr val="BB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671816" y="237744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74152" y="2377440"/>
            <a:ext cx="374904" cy="256032"/>
          </a:xfrm>
          <a:prstGeom prst="rect">
            <a:avLst/>
          </a:prstGeom>
          <a:solidFill>
            <a:srgbClr val="BCC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074152" y="237744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76488" y="2377440"/>
            <a:ext cx="374904" cy="256032"/>
          </a:xfrm>
          <a:prstGeom prst="rect">
            <a:avLst/>
          </a:prstGeom>
          <a:solidFill>
            <a:srgbClr val="B7C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476488" y="237744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78824" y="2377440"/>
            <a:ext cx="374904" cy="256032"/>
          </a:xfrm>
          <a:prstGeom prst="rect">
            <a:avLst/>
          </a:prstGeom>
          <a:solidFill>
            <a:srgbClr val="CC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878824" y="237744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81160" y="2377440"/>
            <a:ext cx="374904" cy="256032"/>
          </a:xfrm>
          <a:prstGeom prst="rect">
            <a:avLst/>
          </a:prstGeom>
          <a:solidFill>
            <a:srgbClr val="C3C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281160" y="237744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83496" y="2377440"/>
            <a:ext cx="374904" cy="256032"/>
          </a:xfrm>
          <a:prstGeom prst="rect">
            <a:avLst/>
          </a:prstGeom>
          <a:solidFill>
            <a:srgbClr val="DB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683496" y="237744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85832" y="2377440"/>
            <a:ext cx="374904" cy="256032"/>
          </a:xfrm>
          <a:prstGeom prst="rect">
            <a:avLst/>
          </a:prstGeom>
          <a:solidFill>
            <a:srgbClr val="E9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10085832" y="237744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88168" y="2377440"/>
            <a:ext cx="374904" cy="256032"/>
          </a:xfrm>
          <a:prstGeom prst="rect">
            <a:avLst/>
          </a:prstGeom>
          <a:solidFill>
            <a:srgbClr val="E8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0488168" y="237744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890504" y="2377440"/>
            <a:ext cx="374904" cy="256032"/>
          </a:xfrm>
          <a:prstGeom prst="rect">
            <a:avLst/>
          </a:prstGeom>
          <a:solidFill>
            <a:srgbClr val="DC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10890504" y="237744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28816" y="269748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92D32"/>
                </a:solidFill>
              </a:rPr>
              <a:t>PC2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269480" y="2660904"/>
            <a:ext cx="374904" cy="256032"/>
          </a:xfrm>
          <a:prstGeom prst="rect">
            <a:avLst/>
          </a:prstGeom>
          <a:solidFill>
            <a:srgbClr val="67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269480" y="266090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7F5EF"/>
                </a:solidFill>
              </a:rPr>
              <a:t>29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71816" y="2660904"/>
            <a:ext cx="374904" cy="256032"/>
          </a:xfrm>
          <a:prstGeom prst="rect">
            <a:avLst/>
          </a:prstGeom>
          <a:solidFill>
            <a:srgbClr val="C0C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671816" y="266090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74152" y="2660904"/>
            <a:ext cx="374904" cy="256032"/>
          </a:xfrm>
          <a:prstGeom prst="rect">
            <a:avLst/>
          </a:prstGeom>
          <a:solidFill>
            <a:srgbClr val="9AA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8074152" y="266090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76488" y="2660904"/>
            <a:ext cx="374904" cy="256032"/>
          </a:xfrm>
          <a:prstGeom prst="rect">
            <a:avLst/>
          </a:prstGeom>
          <a:solidFill>
            <a:srgbClr val="D8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476488" y="266090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78824" y="2660904"/>
            <a:ext cx="374904" cy="256032"/>
          </a:xfrm>
          <a:prstGeom prst="rect">
            <a:avLst/>
          </a:prstGeom>
          <a:solidFill>
            <a:srgbClr val="DD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8878824" y="266090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81160" y="2660904"/>
            <a:ext cx="374904" cy="256032"/>
          </a:xfrm>
          <a:prstGeom prst="rect">
            <a:avLst/>
          </a:prstGeom>
          <a:solidFill>
            <a:srgbClr val="9CA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9281160" y="266090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83496" y="2660904"/>
            <a:ext cx="374904" cy="256032"/>
          </a:xfrm>
          <a:prstGeom prst="rect">
            <a:avLst/>
          </a:prstGeom>
          <a:solidFill>
            <a:srgbClr val="E3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9683496" y="266090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85832" y="2660904"/>
            <a:ext cx="374904" cy="256032"/>
          </a:xfrm>
          <a:prstGeom prst="rect">
            <a:avLst/>
          </a:prstGeom>
          <a:solidFill>
            <a:srgbClr val="F1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10085832" y="266090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488168" y="2660904"/>
            <a:ext cx="374904" cy="256032"/>
          </a:xfrm>
          <a:prstGeom prst="rect">
            <a:avLst/>
          </a:prstGeom>
          <a:solidFill>
            <a:srgbClr val="DF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0488168" y="266090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890504" y="2660904"/>
            <a:ext cx="374904" cy="256032"/>
          </a:xfrm>
          <a:prstGeom prst="rect">
            <a:avLst/>
          </a:prstGeom>
          <a:solidFill>
            <a:srgbClr val="F0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10890504" y="266090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28816" y="2980944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92D32"/>
                </a:solidFill>
              </a:rPr>
              <a:t>PC3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269480" y="2944368"/>
            <a:ext cx="374904" cy="256032"/>
          </a:xfrm>
          <a:prstGeom prst="rect">
            <a:avLst/>
          </a:prstGeom>
          <a:solidFill>
            <a:srgbClr val="9F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7269480" y="294436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71816" y="2944368"/>
            <a:ext cx="374904" cy="256032"/>
          </a:xfrm>
          <a:prstGeom prst="rect">
            <a:avLst/>
          </a:prstGeom>
          <a:solidFill>
            <a:srgbClr val="809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7671816" y="294436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7F5EF"/>
                </a:solidFill>
              </a:rPr>
              <a:t>24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074152" y="2944368"/>
            <a:ext cx="374904" cy="256032"/>
          </a:xfrm>
          <a:prstGeom prst="rect">
            <a:avLst/>
          </a:prstGeom>
          <a:solidFill>
            <a:srgbClr val="527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8074152" y="294436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7F5EF"/>
                </a:solidFill>
              </a:rPr>
              <a:t>33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476488" y="2944368"/>
            <a:ext cx="374904" cy="256032"/>
          </a:xfrm>
          <a:prstGeom prst="rect">
            <a:avLst/>
          </a:prstGeom>
          <a:solidFill>
            <a:srgbClr val="EF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476488" y="294436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878824" y="2944368"/>
            <a:ext cx="374904" cy="256032"/>
          </a:xfrm>
          <a:prstGeom prst="rect">
            <a:avLst/>
          </a:prstGeom>
          <a:solidFill>
            <a:srgbClr val="C0C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8878824" y="294436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281160" y="2944368"/>
            <a:ext cx="374904" cy="256032"/>
          </a:xfrm>
          <a:prstGeom prst="rect">
            <a:avLst/>
          </a:prstGeom>
          <a:solidFill>
            <a:srgbClr val="E6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9281160" y="294436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683496" y="2944368"/>
            <a:ext cx="374904" cy="256032"/>
          </a:xfrm>
          <a:prstGeom prst="rect">
            <a:avLst/>
          </a:prstGeom>
          <a:solidFill>
            <a:srgbClr val="F4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9683496" y="294436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85832" y="2944368"/>
            <a:ext cx="374904" cy="256032"/>
          </a:xfrm>
          <a:prstGeom prst="rect">
            <a:avLst/>
          </a:prstGeom>
          <a:solidFill>
            <a:srgbClr val="EE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10085832" y="294436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488168" y="2944368"/>
            <a:ext cx="374904" cy="256032"/>
          </a:xfrm>
          <a:prstGeom prst="rect">
            <a:avLst/>
          </a:prstGeom>
          <a:solidFill>
            <a:srgbClr val="E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10488168" y="294436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890504" y="2944368"/>
            <a:ext cx="374904" cy="256032"/>
          </a:xfrm>
          <a:prstGeom prst="rect">
            <a:avLst/>
          </a:prstGeom>
          <a:solidFill>
            <a:srgbClr val="DFE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10890504" y="294436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528816" y="326440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92D32"/>
                </a:solidFill>
              </a:rPr>
              <a:t>PC4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269480" y="3227832"/>
            <a:ext cx="374904" cy="256032"/>
          </a:xfrm>
          <a:prstGeom prst="rect">
            <a:avLst/>
          </a:prstGeom>
          <a:solidFill>
            <a:srgbClr val="B0B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7269480" y="322783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71816" y="3227832"/>
            <a:ext cx="374904" cy="256032"/>
          </a:xfrm>
          <a:prstGeom prst="rect">
            <a:avLst/>
          </a:prstGeom>
          <a:solidFill>
            <a:srgbClr val="DC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7671816" y="322783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074152" y="3227832"/>
            <a:ext cx="374904" cy="256032"/>
          </a:xfrm>
          <a:prstGeom prst="rect">
            <a:avLst/>
          </a:prstGeom>
          <a:solidFill>
            <a:srgbClr val="A2B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8074152" y="322783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476488" y="3227832"/>
            <a:ext cx="374904" cy="256032"/>
          </a:xfrm>
          <a:prstGeom prst="rect">
            <a:avLst/>
          </a:prstGeom>
          <a:solidFill>
            <a:srgbClr val="88A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8476488" y="322783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92D32"/>
                </a:solidFill>
              </a:rPr>
              <a:t>22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878824" y="3227832"/>
            <a:ext cx="374904" cy="256032"/>
          </a:xfrm>
          <a:prstGeom prst="rect">
            <a:avLst/>
          </a:prstGeom>
          <a:solidFill>
            <a:srgbClr val="BD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8878824" y="322783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281160" y="3227832"/>
            <a:ext cx="374904" cy="256032"/>
          </a:xfrm>
          <a:prstGeom prst="rect">
            <a:avLst/>
          </a:prstGeom>
          <a:solidFill>
            <a:srgbClr val="D0D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9281160" y="322783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8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683496" y="3227832"/>
            <a:ext cx="374904" cy="256032"/>
          </a:xfrm>
          <a:prstGeom prst="rect">
            <a:avLst/>
          </a:prstGeom>
          <a:solidFill>
            <a:srgbClr val="A6B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683496" y="322783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085832" y="3227832"/>
            <a:ext cx="374904" cy="256032"/>
          </a:xfrm>
          <a:prstGeom prst="rect">
            <a:avLst/>
          </a:prstGeom>
          <a:solidFill>
            <a:srgbClr val="E9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10085832" y="322783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488168" y="3227832"/>
            <a:ext cx="374904" cy="256032"/>
          </a:xfrm>
          <a:prstGeom prst="rect">
            <a:avLst/>
          </a:prstGeom>
          <a:solidFill>
            <a:srgbClr val="F0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10488168" y="322783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890504" y="3227832"/>
            <a:ext cx="374904" cy="256032"/>
          </a:xfrm>
          <a:prstGeom prst="rect">
            <a:avLst/>
          </a:prstGeom>
          <a:solidFill>
            <a:srgbClr val="F4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10890504" y="322783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528816" y="3547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92D32"/>
                </a:solidFill>
              </a:rPr>
              <a:t>PC5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269480" y="3511296"/>
            <a:ext cx="374904" cy="256032"/>
          </a:xfrm>
          <a:prstGeom prst="rect">
            <a:avLst/>
          </a:prstGeom>
          <a:solidFill>
            <a:srgbClr val="688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7269480" y="351129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7F5EF"/>
                </a:solidFill>
              </a:rPr>
              <a:t>29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671816" y="3511296"/>
            <a:ext cx="374904" cy="256032"/>
          </a:xfrm>
          <a:prstGeom prst="rect">
            <a:avLst/>
          </a:prstGeom>
          <a:solidFill>
            <a:srgbClr val="D0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7671816" y="351129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8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074152" y="3511296"/>
            <a:ext cx="374904" cy="256032"/>
          </a:xfrm>
          <a:prstGeom prst="rect">
            <a:avLst/>
          </a:prstGeom>
          <a:solidFill>
            <a:srgbClr val="D5D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8074152" y="351129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7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476488" y="3511296"/>
            <a:ext cx="374904" cy="256032"/>
          </a:xfrm>
          <a:prstGeom prst="rect">
            <a:avLst/>
          </a:prstGeom>
          <a:solidFill>
            <a:srgbClr val="D7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8476488" y="351129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6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878824" y="3511296"/>
            <a:ext cx="374904" cy="256032"/>
          </a:xfrm>
          <a:prstGeom prst="rect">
            <a:avLst/>
          </a:prstGeom>
          <a:solidFill>
            <a:srgbClr val="D5D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8878824" y="351129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7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281160" y="3511296"/>
            <a:ext cx="374904" cy="256032"/>
          </a:xfrm>
          <a:prstGeom prst="rect">
            <a:avLst/>
          </a:prstGeom>
          <a:solidFill>
            <a:srgbClr val="A6B7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9281160" y="351129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16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683496" y="3511296"/>
            <a:ext cx="374904" cy="256032"/>
          </a:xfrm>
          <a:prstGeom prst="rect">
            <a:avLst/>
          </a:prstGeom>
          <a:solidFill>
            <a:srgbClr val="E0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9683496" y="351129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0085832" y="3511296"/>
            <a:ext cx="374904" cy="256032"/>
          </a:xfrm>
          <a:prstGeom prst="rect">
            <a:avLst/>
          </a:prstGeom>
          <a:solidFill>
            <a:srgbClr val="E3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10085832" y="351129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4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488168" y="3511296"/>
            <a:ext cx="374904" cy="256032"/>
          </a:xfrm>
          <a:prstGeom prst="rect">
            <a:avLst/>
          </a:prstGeom>
          <a:solidFill>
            <a:srgbClr val="9CB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10488168" y="351129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18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890504" y="3511296"/>
            <a:ext cx="374904" cy="256032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10890504" y="351129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528816" y="3831336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92D32"/>
                </a:solidFill>
              </a:rPr>
              <a:t>PC6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269480" y="3794760"/>
            <a:ext cx="374904" cy="256032"/>
          </a:xfrm>
          <a:prstGeom prst="rect">
            <a:avLst/>
          </a:prstGeom>
          <a:solidFill>
            <a:srgbClr val="9C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7269480" y="379476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671816" y="3794760"/>
            <a:ext cx="374904" cy="256032"/>
          </a:xfrm>
          <a:prstGeom prst="rect">
            <a:avLst/>
          </a:prstGeom>
          <a:solidFill>
            <a:srgbClr val="8A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7671816" y="379476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92D32"/>
                </a:solidFill>
              </a:rPr>
              <a:t>22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074152" y="3794760"/>
            <a:ext cx="374904" cy="256032"/>
          </a:xfrm>
          <a:prstGeom prst="rect">
            <a:avLst/>
          </a:prstGeom>
          <a:solidFill>
            <a:srgbClr val="BA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8074152" y="379476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12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476488" y="3794760"/>
            <a:ext cx="374904" cy="256032"/>
          </a:xfrm>
          <a:prstGeom prst="rect">
            <a:avLst/>
          </a:prstGeom>
          <a:solidFill>
            <a:srgbClr val="E2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8476488" y="379476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4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878824" y="3794760"/>
            <a:ext cx="374904" cy="256032"/>
          </a:xfrm>
          <a:prstGeom prst="rect">
            <a:avLst/>
          </a:prstGeom>
          <a:solidFill>
            <a:srgbClr val="ACB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8878824" y="379476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281160" y="3794760"/>
            <a:ext cx="374904" cy="256032"/>
          </a:xfrm>
          <a:prstGeom prst="rect">
            <a:avLst/>
          </a:prstGeom>
          <a:solidFill>
            <a:srgbClr val="D1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9281160" y="379476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683496" y="3794760"/>
            <a:ext cx="374904" cy="256032"/>
          </a:xfrm>
          <a:prstGeom prst="rect">
            <a:avLst/>
          </a:prstGeom>
          <a:solidFill>
            <a:srgbClr val="D8D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9683496" y="379476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6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085832" y="3794760"/>
            <a:ext cx="374904" cy="256032"/>
          </a:xfrm>
          <a:prstGeom prst="rect">
            <a:avLst/>
          </a:prstGeom>
          <a:solidFill>
            <a:srgbClr val="CB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10085832" y="379476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9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488168" y="3794760"/>
            <a:ext cx="374904" cy="256032"/>
          </a:xfrm>
          <a:prstGeom prst="rect">
            <a:avLst/>
          </a:prstGeom>
          <a:solidFill>
            <a:srgbClr val="E4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10488168" y="379476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4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890504" y="3794760"/>
            <a:ext cx="374904" cy="256032"/>
          </a:xfrm>
          <a:prstGeom prst="rect">
            <a:avLst/>
          </a:prstGeom>
          <a:solidFill>
            <a:srgbClr val="ED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10890504" y="3794760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2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528816" y="41148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92D32"/>
                </a:solidFill>
              </a:rPr>
              <a:t>PC7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7269480" y="4078224"/>
            <a:ext cx="374904" cy="256032"/>
          </a:xfrm>
          <a:prstGeom prst="rect">
            <a:avLst/>
          </a:prstGeom>
          <a:solidFill>
            <a:srgbClr val="17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TextBox 172"/>
          <p:cNvSpPr txBox="1"/>
          <p:nvPr/>
        </p:nvSpPr>
        <p:spPr>
          <a:xfrm>
            <a:off x="7269480" y="407822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7F5EF"/>
                </a:solidFill>
              </a:rPr>
              <a:t>57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671816" y="4078224"/>
            <a:ext cx="374904" cy="256032"/>
          </a:xfrm>
          <a:prstGeom prst="rect">
            <a:avLst/>
          </a:prstGeom>
          <a:solidFill>
            <a:srgbClr val="B0B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TextBox 174"/>
          <p:cNvSpPr txBox="1"/>
          <p:nvPr/>
        </p:nvSpPr>
        <p:spPr>
          <a:xfrm>
            <a:off x="7671816" y="407822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14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8074152" y="4078224"/>
            <a:ext cx="374904" cy="256032"/>
          </a:xfrm>
          <a:prstGeom prst="rect">
            <a:avLst/>
          </a:prstGeom>
          <a:solidFill>
            <a:srgbClr val="D9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TextBox 176"/>
          <p:cNvSpPr txBox="1"/>
          <p:nvPr/>
        </p:nvSpPr>
        <p:spPr>
          <a:xfrm>
            <a:off x="8074152" y="407822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6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476488" y="4078224"/>
            <a:ext cx="374904" cy="256032"/>
          </a:xfrm>
          <a:prstGeom prst="rect">
            <a:avLst/>
          </a:prstGeom>
          <a:solidFill>
            <a:srgbClr val="EF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TextBox 178"/>
          <p:cNvSpPr txBox="1"/>
          <p:nvPr/>
        </p:nvSpPr>
        <p:spPr>
          <a:xfrm>
            <a:off x="8476488" y="407822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2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878824" y="4078224"/>
            <a:ext cx="374904" cy="256032"/>
          </a:xfrm>
          <a:prstGeom prst="rect">
            <a:avLst/>
          </a:prstGeom>
          <a:solidFill>
            <a:srgbClr val="E3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TextBox 180"/>
          <p:cNvSpPr txBox="1"/>
          <p:nvPr/>
        </p:nvSpPr>
        <p:spPr>
          <a:xfrm>
            <a:off x="8878824" y="407822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4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281160" y="4078224"/>
            <a:ext cx="374904" cy="256032"/>
          </a:xfrm>
          <a:prstGeom prst="rect">
            <a:avLst/>
          </a:prstGeom>
          <a:solidFill>
            <a:srgbClr val="CE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TextBox 182"/>
          <p:cNvSpPr txBox="1"/>
          <p:nvPr/>
        </p:nvSpPr>
        <p:spPr>
          <a:xfrm>
            <a:off x="9281160" y="407822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8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9683496" y="4078224"/>
            <a:ext cx="374904" cy="256032"/>
          </a:xfrm>
          <a:prstGeom prst="rect">
            <a:avLst/>
          </a:prstGeom>
          <a:solidFill>
            <a:srgbClr val="E7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TextBox 184"/>
          <p:cNvSpPr txBox="1"/>
          <p:nvPr/>
        </p:nvSpPr>
        <p:spPr>
          <a:xfrm>
            <a:off x="9683496" y="407822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3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0085832" y="4078224"/>
            <a:ext cx="374904" cy="256032"/>
          </a:xfrm>
          <a:prstGeom prst="rect">
            <a:avLst/>
          </a:prstGeom>
          <a:solidFill>
            <a:srgbClr val="E1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TextBox 186"/>
          <p:cNvSpPr txBox="1"/>
          <p:nvPr/>
        </p:nvSpPr>
        <p:spPr>
          <a:xfrm>
            <a:off x="10085832" y="407822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4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0488168" y="4078224"/>
            <a:ext cx="374904" cy="256032"/>
          </a:xfrm>
          <a:prstGeom prst="rect">
            <a:avLst/>
          </a:prstGeom>
          <a:solidFill>
            <a:srgbClr val="F2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TextBox 188"/>
          <p:cNvSpPr txBox="1"/>
          <p:nvPr/>
        </p:nvSpPr>
        <p:spPr>
          <a:xfrm>
            <a:off x="10488168" y="407822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0890504" y="4078224"/>
            <a:ext cx="374904" cy="256032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TextBox 190"/>
          <p:cNvSpPr txBox="1"/>
          <p:nvPr/>
        </p:nvSpPr>
        <p:spPr>
          <a:xfrm>
            <a:off x="10890504" y="4078224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0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528816" y="4398264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92D32"/>
                </a:solidFill>
              </a:rPr>
              <a:t>PC8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269480" y="4361688"/>
            <a:ext cx="374904" cy="256032"/>
          </a:xfrm>
          <a:prstGeom prst="rect">
            <a:avLst/>
          </a:prstGeom>
          <a:solidFill>
            <a:srgbClr val="BCC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TextBox 193"/>
          <p:cNvSpPr txBox="1"/>
          <p:nvPr/>
        </p:nvSpPr>
        <p:spPr>
          <a:xfrm>
            <a:off x="7269480" y="436168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671816" y="4361688"/>
            <a:ext cx="374904" cy="256032"/>
          </a:xfrm>
          <a:prstGeom prst="rect">
            <a:avLst/>
          </a:prstGeom>
          <a:solidFill>
            <a:srgbClr val="BBC7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TextBox 195"/>
          <p:cNvSpPr txBox="1"/>
          <p:nvPr/>
        </p:nvSpPr>
        <p:spPr>
          <a:xfrm>
            <a:off x="7671816" y="436168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12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8074152" y="4361688"/>
            <a:ext cx="374904" cy="256032"/>
          </a:xfrm>
          <a:prstGeom prst="rect">
            <a:avLst/>
          </a:prstGeom>
          <a:solidFill>
            <a:srgbClr val="D4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TextBox 197"/>
          <p:cNvSpPr txBox="1"/>
          <p:nvPr/>
        </p:nvSpPr>
        <p:spPr>
          <a:xfrm>
            <a:off x="8074152" y="436168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7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476488" y="4361688"/>
            <a:ext cx="374904" cy="256032"/>
          </a:xfrm>
          <a:prstGeom prst="rect">
            <a:avLst/>
          </a:prstGeom>
          <a:solidFill>
            <a:srgbClr val="E9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TextBox 199"/>
          <p:cNvSpPr txBox="1"/>
          <p:nvPr/>
        </p:nvSpPr>
        <p:spPr>
          <a:xfrm>
            <a:off x="8476488" y="436168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3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878824" y="4361688"/>
            <a:ext cx="374904" cy="256032"/>
          </a:xfrm>
          <a:prstGeom prst="rect">
            <a:avLst/>
          </a:prstGeom>
          <a:solidFill>
            <a:srgbClr val="C5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TextBox 201"/>
          <p:cNvSpPr txBox="1"/>
          <p:nvPr/>
        </p:nvSpPr>
        <p:spPr>
          <a:xfrm>
            <a:off x="8878824" y="436168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10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281160" y="4361688"/>
            <a:ext cx="374904" cy="256032"/>
          </a:xfrm>
          <a:prstGeom prst="rect">
            <a:avLst/>
          </a:prstGeom>
          <a:solidFill>
            <a:srgbClr val="E0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TextBox 203"/>
          <p:cNvSpPr txBox="1"/>
          <p:nvPr/>
        </p:nvSpPr>
        <p:spPr>
          <a:xfrm>
            <a:off x="9281160" y="436168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5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9683496" y="4361688"/>
            <a:ext cx="374904" cy="256032"/>
          </a:xfrm>
          <a:prstGeom prst="rect">
            <a:avLst/>
          </a:prstGeom>
          <a:solidFill>
            <a:srgbClr val="E4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TextBox 205"/>
          <p:cNvSpPr txBox="1"/>
          <p:nvPr/>
        </p:nvSpPr>
        <p:spPr>
          <a:xfrm>
            <a:off x="9683496" y="436168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4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0085832" y="4361688"/>
            <a:ext cx="374904" cy="256032"/>
          </a:xfrm>
          <a:prstGeom prst="rect">
            <a:avLst/>
          </a:prstGeom>
          <a:solidFill>
            <a:srgbClr val="C8D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TextBox 207"/>
          <p:cNvSpPr txBox="1"/>
          <p:nvPr/>
        </p:nvSpPr>
        <p:spPr>
          <a:xfrm>
            <a:off x="10085832" y="436168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10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0488168" y="4361688"/>
            <a:ext cx="374904" cy="256032"/>
          </a:xfrm>
          <a:prstGeom prst="rect">
            <a:avLst/>
          </a:prstGeom>
          <a:solidFill>
            <a:srgbClr val="3D6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TextBox 209"/>
          <p:cNvSpPr txBox="1"/>
          <p:nvPr/>
        </p:nvSpPr>
        <p:spPr>
          <a:xfrm>
            <a:off x="10488168" y="436168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7F5EF"/>
                </a:solidFill>
              </a:rPr>
              <a:t>37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0890504" y="4361688"/>
            <a:ext cx="374904" cy="256032"/>
          </a:xfrm>
          <a:prstGeom prst="rect">
            <a:avLst/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TextBox 211"/>
          <p:cNvSpPr txBox="1"/>
          <p:nvPr/>
        </p:nvSpPr>
        <p:spPr>
          <a:xfrm>
            <a:off x="10890504" y="4361688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6528816" y="468172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92D32"/>
                </a:solidFill>
              </a:rPr>
              <a:t>PC9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7269480" y="4645152"/>
            <a:ext cx="374904" cy="256032"/>
          </a:xfrm>
          <a:prstGeom prst="rect">
            <a:avLst/>
          </a:prstGeom>
          <a:solidFill>
            <a:srgbClr val="7E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TextBox 214"/>
          <p:cNvSpPr txBox="1"/>
          <p:nvPr/>
        </p:nvSpPr>
        <p:spPr>
          <a:xfrm>
            <a:off x="7269480" y="464515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7F5EF"/>
                </a:solidFill>
              </a:rPr>
              <a:t>24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671816" y="4645152"/>
            <a:ext cx="374904" cy="256032"/>
          </a:xfrm>
          <a:prstGeom prst="rect">
            <a:avLst/>
          </a:prstGeom>
          <a:solidFill>
            <a:srgbClr val="285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TextBox 216"/>
          <p:cNvSpPr txBox="1"/>
          <p:nvPr/>
        </p:nvSpPr>
        <p:spPr>
          <a:xfrm>
            <a:off x="7671816" y="464515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7F5EF"/>
                </a:solidFill>
              </a:rPr>
              <a:t>42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8074152" y="4645152"/>
            <a:ext cx="374904" cy="256032"/>
          </a:xfrm>
          <a:prstGeom prst="rect">
            <a:avLst/>
          </a:prstGeom>
          <a:solidFill>
            <a:srgbClr val="E2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TextBox 218"/>
          <p:cNvSpPr txBox="1"/>
          <p:nvPr/>
        </p:nvSpPr>
        <p:spPr>
          <a:xfrm>
            <a:off x="8074152" y="464515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4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8476488" y="4645152"/>
            <a:ext cx="374904" cy="256032"/>
          </a:xfrm>
          <a:prstGeom prst="rect">
            <a:avLst/>
          </a:prstGeom>
          <a:solidFill>
            <a:srgbClr val="E5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TextBox 220"/>
          <p:cNvSpPr txBox="1"/>
          <p:nvPr/>
        </p:nvSpPr>
        <p:spPr>
          <a:xfrm>
            <a:off x="8476488" y="464515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4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8878824" y="4645152"/>
            <a:ext cx="374904" cy="256032"/>
          </a:xfrm>
          <a:prstGeom prst="rect">
            <a:avLst/>
          </a:prstGeom>
          <a:solidFill>
            <a:srgbClr val="DB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TextBox 222"/>
          <p:cNvSpPr txBox="1"/>
          <p:nvPr/>
        </p:nvSpPr>
        <p:spPr>
          <a:xfrm>
            <a:off x="8878824" y="464515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6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9281160" y="4645152"/>
            <a:ext cx="374904" cy="256032"/>
          </a:xfrm>
          <a:prstGeom prst="rect">
            <a:avLst/>
          </a:prstGeom>
          <a:solidFill>
            <a:srgbClr val="DD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TextBox 224"/>
          <p:cNvSpPr txBox="1"/>
          <p:nvPr/>
        </p:nvSpPr>
        <p:spPr>
          <a:xfrm>
            <a:off x="9281160" y="464515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5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9683496" y="4645152"/>
            <a:ext cx="374904" cy="256032"/>
          </a:xfrm>
          <a:prstGeom prst="rect">
            <a:avLst/>
          </a:prstGeom>
          <a:solidFill>
            <a:srgbClr val="D9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TextBox 226"/>
          <p:cNvSpPr txBox="1"/>
          <p:nvPr/>
        </p:nvSpPr>
        <p:spPr>
          <a:xfrm>
            <a:off x="9683496" y="464515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6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0085832" y="4645152"/>
            <a:ext cx="374904" cy="256032"/>
          </a:xfrm>
          <a:prstGeom prst="rect">
            <a:avLst/>
          </a:prstGeom>
          <a:solidFill>
            <a:srgbClr val="DB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9" name="TextBox 228"/>
          <p:cNvSpPr txBox="1"/>
          <p:nvPr/>
        </p:nvSpPr>
        <p:spPr>
          <a:xfrm>
            <a:off x="10085832" y="464515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6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10488168" y="4645152"/>
            <a:ext cx="374904" cy="256032"/>
          </a:xfrm>
          <a:prstGeom prst="rect">
            <a:avLst/>
          </a:prstGeom>
          <a:solidFill>
            <a:srgbClr val="E6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TextBox 230"/>
          <p:cNvSpPr txBox="1"/>
          <p:nvPr/>
        </p:nvSpPr>
        <p:spPr>
          <a:xfrm>
            <a:off x="10488168" y="464515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3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10890504" y="4645152"/>
            <a:ext cx="374904" cy="256032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3" name="TextBox 232"/>
          <p:cNvSpPr txBox="1"/>
          <p:nvPr/>
        </p:nvSpPr>
        <p:spPr>
          <a:xfrm>
            <a:off x="10890504" y="4645152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528816" y="496519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92D32"/>
                </a:solidFill>
              </a:rPr>
              <a:t>PC10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7269480" y="4928616"/>
            <a:ext cx="374904" cy="256032"/>
          </a:xfrm>
          <a:prstGeom prst="rect">
            <a:avLst/>
          </a:prstGeom>
          <a:solidFill>
            <a:srgbClr val="B9C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6" name="TextBox 235"/>
          <p:cNvSpPr txBox="1"/>
          <p:nvPr/>
        </p:nvSpPr>
        <p:spPr>
          <a:xfrm>
            <a:off x="7269480" y="492861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12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7671816" y="4928616"/>
            <a:ext cx="374904" cy="256032"/>
          </a:xfrm>
          <a:prstGeom prst="rect">
            <a:avLst/>
          </a:prstGeom>
          <a:solidFill>
            <a:srgbClr val="426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8" name="TextBox 237"/>
          <p:cNvSpPr txBox="1"/>
          <p:nvPr/>
        </p:nvSpPr>
        <p:spPr>
          <a:xfrm>
            <a:off x="7671816" y="492861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7F5EF"/>
                </a:solidFill>
              </a:rPr>
              <a:t>36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8074152" y="4928616"/>
            <a:ext cx="374904" cy="256032"/>
          </a:xfrm>
          <a:prstGeom prst="rect">
            <a:avLst/>
          </a:prstGeom>
          <a:solidFill>
            <a:srgbClr val="D5D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TextBox 239"/>
          <p:cNvSpPr txBox="1"/>
          <p:nvPr/>
        </p:nvSpPr>
        <p:spPr>
          <a:xfrm>
            <a:off x="8074152" y="492861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7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476488" y="4928616"/>
            <a:ext cx="374904" cy="256032"/>
          </a:xfrm>
          <a:prstGeom prst="rect">
            <a:avLst/>
          </a:prstGeom>
          <a:solidFill>
            <a:srgbClr val="EA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2" name="TextBox 241"/>
          <p:cNvSpPr txBox="1"/>
          <p:nvPr/>
        </p:nvSpPr>
        <p:spPr>
          <a:xfrm>
            <a:off x="8476488" y="492861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3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878824" y="4928616"/>
            <a:ext cx="374904" cy="256032"/>
          </a:xfrm>
          <a:prstGeom prst="rect">
            <a:avLst/>
          </a:prstGeom>
          <a:solidFill>
            <a:srgbClr val="C3C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TextBox 243"/>
          <p:cNvSpPr txBox="1"/>
          <p:nvPr/>
        </p:nvSpPr>
        <p:spPr>
          <a:xfrm>
            <a:off x="8878824" y="492861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10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281160" y="4928616"/>
            <a:ext cx="374904" cy="256032"/>
          </a:xfrm>
          <a:prstGeom prst="rect">
            <a:avLst/>
          </a:prstGeom>
          <a:solidFill>
            <a:srgbClr val="D7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TextBox 245"/>
          <p:cNvSpPr txBox="1"/>
          <p:nvPr/>
        </p:nvSpPr>
        <p:spPr>
          <a:xfrm>
            <a:off x="9281160" y="492861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6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9683496" y="4928616"/>
            <a:ext cx="374904" cy="256032"/>
          </a:xfrm>
          <a:prstGeom prst="rect">
            <a:avLst/>
          </a:prstGeom>
          <a:solidFill>
            <a:srgbClr val="CD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TextBox 247"/>
          <p:cNvSpPr txBox="1"/>
          <p:nvPr/>
        </p:nvSpPr>
        <p:spPr>
          <a:xfrm>
            <a:off x="9683496" y="492861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8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0085832" y="4928616"/>
            <a:ext cx="374904" cy="256032"/>
          </a:xfrm>
          <a:prstGeom prst="rect">
            <a:avLst/>
          </a:prstGeom>
          <a:solidFill>
            <a:srgbClr val="CD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TextBox 249"/>
          <p:cNvSpPr txBox="1"/>
          <p:nvPr/>
        </p:nvSpPr>
        <p:spPr>
          <a:xfrm>
            <a:off x="10085832" y="492861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8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10488168" y="4928616"/>
            <a:ext cx="374904" cy="256032"/>
          </a:xfrm>
          <a:prstGeom prst="rect">
            <a:avLst/>
          </a:prstGeom>
          <a:solidFill>
            <a:srgbClr val="D0D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2" name="TextBox 251"/>
          <p:cNvSpPr txBox="1"/>
          <p:nvPr/>
        </p:nvSpPr>
        <p:spPr>
          <a:xfrm>
            <a:off x="10488168" y="492861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8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10890504" y="4928616"/>
            <a:ext cx="374904" cy="256032"/>
          </a:xfrm>
          <a:prstGeom prst="rect">
            <a:avLst/>
          </a:prstGeom>
          <a:solidFill>
            <a:srgbClr val="F5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TextBox 253"/>
          <p:cNvSpPr txBox="1"/>
          <p:nvPr/>
        </p:nvSpPr>
        <p:spPr>
          <a:xfrm>
            <a:off x="10890504" y="4928616"/>
            <a:ext cx="3749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92D32"/>
                </a:solidFill>
              </a:rPr>
              <a:t>0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6528816" y="53035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76B70"/>
                </a:solidFill>
              </a:rPr>
              <a:t>Darker = larger share. Bold = the leading unit of that PC.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B  ·  Plant data</a:t>
            </a:r>
            <a:endParaRPr lang="en-US" sz="1000" dirty="0"/>
          </a:p>
        </p:txBody>
      </p:sp>
      <p:sp>
        <p:nvSpPr>
          <p:cNvPr id="256" name="TextBox 255"/>
          <p:cNvSpPr txBox="1"/>
          <p:nvPr/>
        </p:nvSpPr>
        <p:spPr>
          <a:xfrm>
            <a:off x="2926080" y="636422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76B70"/>
                </a:solidFill>
              </a:rPr>
              <a:t>Source: pca_pc_t2/outputs/data/pca_variance.csv, tables/pca_unit_share.csv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000" b="1">
                <a:solidFill>
                  <a:srgbClr val="292D32"/>
                </a:solidFill>
              </a:rPr>
              <a:t>All 50 graph edges go from a PC to a flare tag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500" b="0">
                <a:solidFill>
                  <a:srgbClr val="676B70"/>
                </a:solidFill>
              </a:rPr>
              <a:t>There is no edge between two PCs. So the graph is really three regressions, one per flare tag.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/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21792" y="1554480"/>
            <a:ext cx="10945368" cy="29718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1460296" y="2203703"/>
            <a:ext cx="9055304" cy="1499617"/>
          </a:xfrm>
          <a:prstGeom prst="line">
            <a:avLst/>
          </a:prstGeom>
          <a:ln w="6515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655003" y="2203703"/>
            <a:ext cx="3860597" cy="1499617"/>
          </a:xfrm>
          <a:prstGeom prst="line">
            <a:avLst/>
          </a:prstGeom>
          <a:ln w="6562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058668" y="2203703"/>
            <a:ext cx="7456932" cy="1499617"/>
          </a:xfrm>
          <a:prstGeom prst="line">
            <a:avLst/>
          </a:prstGeom>
          <a:ln w="6850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200400" y="2203703"/>
            <a:ext cx="1057046" cy="1499617"/>
          </a:xfrm>
          <a:prstGeom prst="line">
            <a:avLst/>
          </a:prstGeom>
          <a:ln w="7095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3200400" y="2203703"/>
            <a:ext cx="3055010" cy="1499617"/>
          </a:xfrm>
          <a:prstGeom prst="line">
            <a:avLst/>
          </a:prstGeom>
          <a:ln w="7161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56631" y="2203703"/>
            <a:ext cx="5458969" cy="1499617"/>
          </a:xfrm>
          <a:prstGeom prst="line">
            <a:avLst/>
          </a:prstGeom>
          <a:ln w="7190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53781" y="2203703"/>
            <a:ext cx="2661819" cy="1499617"/>
          </a:xfrm>
          <a:prstGeom prst="line">
            <a:avLst/>
          </a:prstGeom>
          <a:ln w="7496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6858000" y="2203703"/>
            <a:ext cx="3792931" cy="1499617"/>
          </a:xfrm>
          <a:prstGeom prst="line">
            <a:avLst/>
          </a:prstGeom>
          <a:ln w="8015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3200400" y="2203703"/>
            <a:ext cx="6651345" cy="1499617"/>
          </a:xfrm>
          <a:prstGeom prst="line">
            <a:avLst/>
          </a:prstGeom>
          <a:ln w="8228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456224" y="2203703"/>
            <a:ext cx="5059376" cy="1499617"/>
          </a:xfrm>
          <a:prstGeom prst="line">
            <a:avLst/>
          </a:prstGeom>
          <a:ln w="8398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54188" y="2203703"/>
            <a:ext cx="3061412" cy="1499617"/>
          </a:xfrm>
          <a:prstGeom prst="line">
            <a:avLst/>
          </a:prstGeom>
          <a:ln w="8766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858000" y="2203703"/>
            <a:ext cx="2194560" cy="1499617"/>
          </a:xfrm>
          <a:prstGeom prst="line">
            <a:avLst/>
          </a:prstGeom>
          <a:ln w="8783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6858000" y="2203703"/>
            <a:ext cx="995781" cy="1499617"/>
          </a:xfrm>
          <a:prstGeom prst="line">
            <a:avLst/>
          </a:prstGeom>
          <a:ln w="9096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3200400" y="2203703"/>
            <a:ext cx="5852160" cy="1499617"/>
          </a:xfrm>
          <a:prstGeom prst="line">
            <a:avLst/>
          </a:prstGeom>
          <a:ln w="9663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3200400" y="2203703"/>
            <a:ext cx="7850124" cy="1499617"/>
          </a:xfrm>
          <a:prstGeom prst="line">
            <a:avLst/>
          </a:prstGeom>
          <a:ln w="9864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855817" y="2203703"/>
            <a:ext cx="1002183" cy="1499617"/>
          </a:xfrm>
          <a:prstGeom prst="line">
            <a:avLst/>
          </a:prstGeom>
          <a:ln w="10091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3200400" y="2203703"/>
            <a:ext cx="1456639" cy="1499617"/>
          </a:xfrm>
          <a:prstGeom prst="line">
            <a:avLst/>
          </a:prstGeom>
          <a:ln w="10432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859889" y="2203703"/>
            <a:ext cx="4998111" cy="1499617"/>
          </a:xfrm>
          <a:prstGeom prst="line">
            <a:avLst/>
          </a:prstGeom>
          <a:ln w="10605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3200400" y="2203703"/>
            <a:ext cx="1856231" cy="1499617"/>
          </a:xfrm>
          <a:prstGeom prst="line">
            <a:avLst/>
          </a:prstGeom>
          <a:ln w="11207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3200400" y="2203703"/>
            <a:ext cx="5452567" cy="1499617"/>
          </a:xfrm>
          <a:prstGeom prst="line">
            <a:avLst/>
          </a:prstGeom>
          <a:ln w="11557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257446" y="2203703"/>
            <a:ext cx="2600554" cy="1499617"/>
          </a:xfrm>
          <a:prstGeom prst="line">
            <a:avLst/>
          </a:prstGeom>
          <a:ln w="11956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857853" y="2203703"/>
            <a:ext cx="6657747" cy="1499617"/>
          </a:xfrm>
          <a:prstGeom prst="line">
            <a:avLst/>
          </a:prstGeom>
          <a:ln w="12069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259482" y="2203703"/>
            <a:ext cx="4598518" cy="1499617"/>
          </a:xfrm>
          <a:prstGeom prst="line">
            <a:avLst/>
          </a:prstGeom>
          <a:ln w="12203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00400" y="2203703"/>
            <a:ext cx="3454603" cy="1499617"/>
          </a:xfrm>
          <a:prstGeom prst="line">
            <a:avLst/>
          </a:prstGeom>
          <a:ln w="12307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257446" y="2203703"/>
            <a:ext cx="6258154" cy="1499617"/>
          </a:xfrm>
          <a:prstGeom prst="line">
            <a:avLst/>
          </a:prstGeom>
          <a:ln w="13243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659075" y="2203703"/>
            <a:ext cx="541325" cy="1499617"/>
          </a:xfrm>
          <a:prstGeom prst="line">
            <a:avLst/>
          </a:prstGeom>
          <a:ln w="13422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058668" y="2203703"/>
            <a:ext cx="3799332" cy="1499617"/>
          </a:xfrm>
          <a:prstGeom prst="line">
            <a:avLst/>
          </a:prstGeom>
          <a:ln w="13806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652967" y="2203703"/>
            <a:ext cx="1862633" cy="1499617"/>
          </a:xfrm>
          <a:prstGeom prst="line">
            <a:avLst/>
          </a:prstGeom>
          <a:ln w="13911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10515600" y="2203703"/>
            <a:ext cx="534924" cy="1499617"/>
          </a:xfrm>
          <a:prstGeom prst="line">
            <a:avLst/>
          </a:prstGeom>
          <a:ln w="13921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851745" y="2203703"/>
            <a:ext cx="663855" cy="1499617"/>
          </a:xfrm>
          <a:prstGeom prst="line">
            <a:avLst/>
          </a:prstGeom>
          <a:ln w="14107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058668" y="2203703"/>
            <a:ext cx="141732" cy="1499617"/>
          </a:xfrm>
          <a:prstGeom prst="line">
            <a:avLst/>
          </a:prstGeom>
          <a:ln w="14217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3200400" y="2203703"/>
            <a:ext cx="7050938" cy="1499617"/>
          </a:xfrm>
          <a:prstGeom prst="line">
            <a:avLst/>
          </a:prstGeom>
          <a:ln w="14247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859889" y="2203703"/>
            <a:ext cx="1340511" cy="1499617"/>
          </a:xfrm>
          <a:prstGeom prst="line">
            <a:avLst/>
          </a:prstGeom>
          <a:ln w="15845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657039" y="2203703"/>
            <a:ext cx="2200961" cy="1499617"/>
          </a:xfrm>
          <a:prstGeom prst="line">
            <a:avLst/>
          </a:prstGeom>
          <a:ln w="16138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51338" y="2203703"/>
            <a:ext cx="264262" cy="1499617"/>
          </a:xfrm>
          <a:prstGeom prst="line">
            <a:avLst/>
          </a:prstGeom>
          <a:ln w="16535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60704" y="2203703"/>
            <a:ext cx="2139696" cy="1499617"/>
          </a:xfrm>
          <a:prstGeom prst="line">
            <a:avLst/>
          </a:prstGeom>
          <a:ln w="18308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6858000" y="2203703"/>
            <a:ext cx="1395374" cy="1499617"/>
          </a:xfrm>
          <a:prstGeom prst="line">
            <a:avLst/>
          </a:prstGeom>
          <a:ln w="18329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859889" y="2203703"/>
            <a:ext cx="8655711" cy="1499617"/>
          </a:xfrm>
          <a:prstGeom prst="line">
            <a:avLst/>
          </a:prstGeom>
          <a:ln w="18912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253374" y="2203703"/>
            <a:ext cx="2262226" cy="1499617"/>
          </a:xfrm>
          <a:prstGeom prst="line">
            <a:avLst/>
          </a:prstGeom>
          <a:ln w="19342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054596" y="2203703"/>
            <a:ext cx="3461004" cy="1499617"/>
          </a:xfrm>
          <a:prstGeom prst="line">
            <a:avLst/>
          </a:prstGeom>
          <a:ln w="19406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259482" y="2203703"/>
            <a:ext cx="8256118" cy="1499617"/>
          </a:xfrm>
          <a:prstGeom prst="line">
            <a:avLst/>
          </a:prstGeom>
          <a:ln w="19584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857853" y="2203703"/>
            <a:ext cx="3000147" cy="1499617"/>
          </a:xfrm>
          <a:prstGeom prst="line">
            <a:avLst/>
          </a:prstGeom>
          <a:ln w="19891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6858000" y="2203703"/>
            <a:ext cx="2993745" cy="1499617"/>
          </a:xfrm>
          <a:prstGeom prst="line">
            <a:avLst/>
          </a:prstGeom>
          <a:ln w="22459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452152" y="2203703"/>
            <a:ext cx="1063448" cy="1499617"/>
          </a:xfrm>
          <a:prstGeom prst="line">
            <a:avLst/>
          </a:prstGeom>
          <a:ln w="22841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6858000" y="2203703"/>
            <a:ext cx="2594152" cy="1499617"/>
          </a:xfrm>
          <a:prstGeom prst="line">
            <a:avLst/>
          </a:prstGeom>
          <a:ln w="27972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60704" y="2203703"/>
            <a:ext cx="5797296" cy="1499617"/>
          </a:xfrm>
          <a:prstGeom prst="line">
            <a:avLst/>
          </a:prstGeom>
          <a:ln w="29173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60704" y="2203703"/>
            <a:ext cx="9454896" cy="1499617"/>
          </a:xfrm>
          <a:prstGeom prst="line">
            <a:avLst/>
          </a:prstGeom>
          <a:ln w="30146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460296" y="2203703"/>
            <a:ext cx="5397704" cy="1499617"/>
          </a:xfrm>
          <a:prstGeom prst="line">
            <a:avLst/>
          </a:prstGeom>
          <a:ln w="31913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259482" y="2203703"/>
            <a:ext cx="940918" cy="1499617"/>
          </a:xfrm>
          <a:prstGeom prst="line">
            <a:avLst/>
          </a:prstGeom>
          <a:ln w="36147">
            <a:solidFill>
              <a:srgbClr val="8DA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460296" y="2203703"/>
            <a:ext cx="1740104" cy="1499617"/>
          </a:xfrm>
          <a:prstGeom prst="line">
            <a:avLst/>
          </a:prstGeom>
          <a:ln w="45815">
            <a:solidFill>
              <a:srgbClr val="B79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896112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1</a:t>
            </a:r>
          </a:p>
        </p:txBody>
      </p:sp>
      <p:sp>
        <p:nvSpPr>
          <p:cNvPr id="78" name="Oval 77"/>
          <p:cNvSpPr/>
          <p:nvPr/>
        </p:nvSpPr>
        <p:spPr>
          <a:xfrm>
            <a:off x="1295704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2</a:t>
            </a:r>
          </a:p>
        </p:txBody>
      </p:sp>
      <p:sp>
        <p:nvSpPr>
          <p:cNvPr id="79" name="Oval 78"/>
          <p:cNvSpPr/>
          <p:nvPr/>
        </p:nvSpPr>
        <p:spPr>
          <a:xfrm>
            <a:off x="1695297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3</a:t>
            </a:r>
          </a:p>
        </p:txBody>
      </p:sp>
      <p:sp>
        <p:nvSpPr>
          <p:cNvPr id="80" name="Oval 79"/>
          <p:cNvSpPr/>
          <p:nvPr/>
        </p:nvSpPr>
        <p:spPr>
          <a:xfrm>
            <a:off x="2094890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4</a:t>
            </a:r>
          </a:p>
        </p:txBody>
      </p:sp>
      <p:sp>
        <p:nvSpPr>
          <p:cNvPr id="81" name="Oval 80"/>
          <p:cNvSpPr/>
          <p:nvPr/>
        </p:nvSpPr>
        <p:spPr>
          <a:xfrm>
            <a:off x="2494483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5</a:t>
            </a:r>
          </a:p>
        </p:txBody>
      </p:sp>
      <p:sp>
        <p:nvSpPr>
          <p:cNvPr id="82" name="Oval 81"/>
          <p:cNvSpPr/>
          <p:nvPr/>
        </p:nvSpPr>
        <p:spPr>
          <a:xfrm>
            <a:off x="2894076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6</a:t>
            </a:r>
          </a:p>
        </p:txBody>
      </p:sp>
      <p:sp>
        <p:nvSpPr>
          <p:cNvPr id="83" name="Oval 82"/>
          <p:cNvSpPr/>
          <p:nvPr/>
        </p:nvSpPr>
        <p:spPr>
          <a:xfrm>
            <a:off x="3293668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7</a:t>
            </a:r>
          </a:p>
        </p:txBody>
      </p:sp>
      <p:sp>
        <p:nvSpPr>
          <p:cNvPr id="84" name="Oval 83"/>
          <p:cNvSpPr/>
          <p:nvPr/>
        </p:nvSpPr>
        <p:spPr>
          <a:xfrm>
            <a:off x="3693261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8</a:t>
            </a:r>
          </a:p>
        </p:txBody>
      </p:sp>
      <p:sp>
        <p:nvSpPr>
          <p:cNvPr id="85" name="Oval 84"/>
          <p:cNvSpPr/>
          <p:nvPr/>
        </p:nvSpPr>
        <p:spPr>
          <a:xfrm>
            <a:off x="4092854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9</a:t>
            </a:r>
          </a:p>
        </p:txBody>
      </p:sp>
      <p:sp>
        <p:nvSpPr>
          <p:cNvPr id="86" name="Oval 85"/>
          <p:cNvSpPr/>
          <p:nvPr/>
        </p:nvSpPr>
        <p:spPr>
          <a:xfrm>
            <a:off x="4492447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10</a:t>
            </a:r>
          </a:p>
        </p:txBody>
      </p:sp>
      <p:sp>
        <p:nvSpPr>
          <p:cNvPr id="87" name="Oval 86"/>
          <p:cNvSpPr/>
          <p:nvPr/>
        </p:nvSpPr>
        <p:spPr>
          <a:xfrm>
            <a:off x="4892040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11</a:t>
            </a:r>
          </a:p>
        </p:txBody>
      </p:sp>
      <p:sp>
        <p:nvSpPr>
          <p:cNvPr id="88" name="Oval 87"/>
          <p:cNvSpPr/>
          <p:nvPr/>
        </p:nvSpPr>
        <p:spPr>
          <a:xfrm>
            <a:off x="5291632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12</a:t>
            </a:r>
          </a:p>
        </p:txBody>
      </p:sp>
      <p:sp>
        <p:nvSpPr>
          <p:cNvPr id="89" name="Oval 88"/>
          <p:cNvSpPr/>
          <p:nvPr/>
        </p:nvSpPr>
        <p:spPr>
          <a:xfrm>
            <a:off x="5691225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13</a:t>
            </a:r>
          </a:p>
        </p:txBody>
      </p:sp>
      <p:sp>
        <p:nvSpPr>
          <p:cNvPr id="90" name="Oval 89"/>
          <p:cNvSpPr/>
          <p:nvPr/>
        </p:nvSpPr>
        <p:spPr>
          <a:xfrm>
            <a:off x="6090818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14</a:t>
            </a:r>
          </a:p>
        </p:txBody>
      </p:sp>
      <p:sp>
        <p:nvSpPr>
          <p:cNvPr id="91" name="Oval 90"/>
          <p:cNvSpPr/>
          <p:nvPr/>
        </p:nvSpPr>
        <p:spPr>
          <a:xfrm>
            <a:off x="6490411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15</a:t>
            </a:r>
          </a:p>
        </p:txBody>
      </p:sp>
      <p:sp>
        <p:nvSpPr>
          <p:cNvPr id="92" name="Oval 91"/>
          <p:cNvSpPr/>
          <p:nvPr/>
        </p:nvSpPr>
        <p:spPr>
          <a:xfrm>
            <a:off x="6890004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16</a:t>
            </a:r>
          </a:p>
        </p:txBody>
      </p:sp>
      <p:sp>
        <p:nvSpPr>
          <p:cNvPr id="93" name="Oval 92"/>
          <p:cNvSpPr/>
          <p:nvPr/>
        </p:nvSpPr>
        <p:spPr>
          <a:xfrm>
            <a:off x="7289596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17</a:t>
            </a:r>
          </a:p>
        </p:txBody>
      </p:sp>
      <p:sp>
        <p:nvSpPr>
          <p:cNvPr id="94" name="Oval 93"/>
          <p:cNvSpPr/>
          <p:nvPr/>
        </p:nvSpPr>
        <p:spPr>
          <a:xfrm>
            <a:off x="7689189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18</a:t>
            </a:r>
          </a:p>
        </p:txBody>
      </p:sp>
      <p:sp>
        <p:nvSpPr>
          <p:cNvPr id="95" name="Oval 94"/>
          <p:cNvSpPr/>
          <p:nvPr/>
        </p:nvSpPr>
        <p:spPr>
          <a:xfrm>
            <a:off x="8088782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19</a:t>
            </a:r>
          </a:p>
        </p:txBody>
      </p:sp>
      <p:sp>
        <p:nvSpPr>
          <p:cNvPr id="96" name="Oval 95"/>
          <p:cNvSpPr/>
          <p:nvPr/>
        </p:nvSpPr>
        <p:spPr>
          <a:xfrm>
            <a:off x="8488375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20</a:t>
            </a:r>
          </a:p>
        </p:txBody>
      </p:sp>
      <p:sp>
        <p:nvSpPr>
          <p:cNvPr id="97" name="Oval 96"/>
          <p:cNvSpPr/>
          <p:nvPr/>
        </p:nvSpPr>
        <p:spPr>
          <a:xfrm>
            <a:off x="8887968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21</a:t>
            </a:r>
          </a:p>
        </p:txBody>
      </p:sp>
      <p:sp>
        <p:nvSpPr>
          <p:cNvPr id="98" name="Oval 97"/>
          <p:cNvSpPr/>
          <p:nvPr/>
        </p:nvSpPr>
        <p:spPr>
          <a:xfrm>
            <a:off x="9287560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22</a:t>
            </a:r>
          </a:p>
        </p:txBody>
      </p:sp>
      <p:sp>
        <p:nvSpPr>
          <p:cNvPr id="99" name="Oval 98"/>
          <p:cNvSpPr/>
          <p:nvPr/>
        </p:nvSpPr>
        <p:spPr>
          <a:xfrm>
            <a:off x="9687153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23</a:t>
            </a:r>
          </a:p>
        </p:txBody>
      </p:sp>
      <p:sp>
        <p:nvSpPr>
          <p:cNvPr id="100" name="Oval 99"/>
          <p:cNvSpPr/>
          <p:nvPr/>
        </p:nvSpPr>
        <p:spPr>
          <a:xfrm>
            <a:off x="10086746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24</a:t>
            </a:r>
          </a:p>
        </p:txBody>
      </p:sp>
      <p:sp>
        <p:nvSpPr>
          <p:cNvPr id="101" name="Oval 100"/>
          <p:cNvSpPr/>
          <p:nvPr/>
        </p:nvSpPr>
        <p:spPr>
          <a:xfrm>
            <a:off x="10486339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25</a:t>
            </a:r>
          </a:p>
        </p:txBody>
      </p:sp>
      <p:sp>
        <p:nvSpPr>
          <p:cNvPr id="102" name="Oval 101"/>
          <p:cNvSpPr/>
          <p:nvPr/>
        </p:nvSpPr>
        <p:spPr>
          <a:xfrm>
            <a:off x="10885932" y="1874519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F7A5C"/>
                </a:solidFill>
              </a:rPr>
              <a:t>26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6112" y="16459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76B70"/>
                </a:solidFill>
              </a:rPr>
              <a:t>26 PCs  (all are roots: nothing points into them)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377440" y="370332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7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2377440" y="37033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7F5EF"/>
                </a:solidFill>
              </a:rPr>
              <a:t>LR flare sum</a:t>
            </a:r>
            <a:r>
              <a:rPr sz="1050" b="0">
                <a:solidFill>
                  <a:srgbClr val="F7F5EF"/>
                </a:solidFill>
              </a:rPr>
              <a:t>   16 parents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035040" y="370332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7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6035040" y="37033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7F5EF"/>
                </a:solidFill>
              </a:rPr>
              <a:t>509FI5201</a:t>
            </a:r>
            <a:r>
              <a:rPr sz="1050" b="0">
                <a:solidFill>
                  <a:srgbClr val="F7F5EF"/>
                </a:solidFill>
              </a:rPr>
              <a:t>   15 parents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692640" y="370332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7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9692640" y="37033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7F5EF"/>
                </a:solidFill>
              </a:rPr>
              <a:t>509MW5101</a:t>
            </a:r>
            <a:r>
              <a:rPr sz="1050" b="0">
                <a:solidFill>
                  <a:srgbClr val="F7F5EF"/>
                </a:solidFill>
              </a:rPr>
              <a:t>   19 parents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6112" y="4224528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76B70"/>
                </a:solidFill>
              </a:rPr>
              <a:t>Line width = size of the effect. Strongest edge, in gold: PC2 → LR flare sum (weight -0.62).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21792" y="4663440"/>
            <a:ext cx="3557016" cy="10515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850392" y="47731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2F7A5C"/>
                </a:solidFill>
              </a:rPr>
              <a:t>WHY NO PC-PC EDGES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0392" y="5047488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92D32"/>
                </a:solidFill>
              </a:rPr>
              <a:t>PCA makes components uncorrelated by design. So the PC test finds no link between them. This is expected, not a bug.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315968" y="4663440"/>
            <a:ext cx="3557016" cy="10515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4544568" y="47731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2F7A5C"/>
                </a:solidFill>
              </a:rPr>
              <a:t>WHAT THIS MEANS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44568" y="5047488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92D32"/>
                </a:solidFill>
              </a:rPr>
              <a:t>The graph cannot show a chain like A → B → flare. It only says which PCs move with each flare tag.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010144" y="4663440"/>
            <a:ext cx="3557016" cy="10515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8238744" y="47731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2F7A5C"/>
                </a:solidFill>
              </a:rPr>
              <a:t>STABLE WITH ALPHA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38744" y="5047488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92D32"/>
                </a:solidFill>
              </a:rPr>
              <a:t>With alpha 0.05 we get 55 edges, again all PC → flare. No flare tag points to anything.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B  ·  Plant data</a:t>
            </a:r>
            <a:endParaRPr lang="en-US" sz="1000" dirty="0"/>
          </a:p>
        </p:txBody>
      </p:sp>
      <p:sp>
        <p:nvSpPr>
          <p:cNvPr id="120" name="TextBox 119"/>
          <p:cNvSpPr txBox="1"/>
          <p:nvPr/>
        </p:nvSpPr>
        <p:spPr>
          <a:xfrm>
            <a:off x="2926080" y="636422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76B70"/>
                </a:solidFill>
              </a:rPr>
              <a:t>Source: pca_pc_t2/outputs/graph/dag_edges.csv, t2/coefficients.csv, tables/pc_alpha_sweep.csv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000" b="1">
                <a:solidFill>
                  <a:srgbClr val="292D32"/>
                </a:solidFill>
              </a:rPr>
              <a:t>The flare rule turns the whole month into one event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500" b="0">
                <a:solidFill>
                  <a:srgbClr val="676B70"/>
                </a:solidFill>
              </a:rPr>
              <a:t>A minute is flagged when a flare tag is above median + 3 × MAD. Flags less than 5 minutes apart are joined.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/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21792" y="1600200"/>
            <a:ext cx="10945368" cy="25146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96112" y="1755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676B70"/>
                </a:solidFill>
              </a:rPr>
              <a:t>MAY 2025, ONE BAR PER STEP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20299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76B70"/>
                </a:solidFill>
              </a:rPr>
              <a:t>1 May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4600" y="2240280"/>
            <a:ext cx="9144" cy="1691640"/>
          </a:xfrm>
          <a:prstGeom prst="rect">
            <a:avLst/>
          </a:prstGeom>
          <a:solidFill>
            <a:srgbClr val="E3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212139" y="20299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76B70"/>
                </a:solidFill>
              </a:rPr>
              <a:t>8 May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6459" y="2240280"/>
            <a:ext cx="9144" cy="1691640"/>
          </a:xfrm>
          <a:prstGeom prst="rect">
            <a:avLst/>
          </a:prstGeom>
          <a:solidFill>
            <a:srgbClr val="E3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183998" y="20299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76B70"/>
                </a:solidFill>
              </a:rPr>
              <a:t>15 May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58318" y="2240280"/>
            <a:ext cx="9144" cy="1691640"/>
          </a:xfrm>
          <a:prstGeom prst="rect">
            <a:avLst/>
          </a:prstGeom>
          <a:solidFill>
            <a:srgbClr val="E3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55858" y="20299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76B70"/>
                </a:solidFill>
              </a:rPr>
              <a:t>22 May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30178" y="2240280"/>
            <a:ext cx="9144" cy="1691640"/>
          </a:xfrm>
          <a:prstGeom prst="rect">
            <a:avLst/>
          </a:prstGeom>
          <a:solidFill>
            <a:srgbClr val="E3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127717" y="20299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676B70"/>
                </a:solidFill>
              </a:rPr>
              <a:t>29 May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02037" y="2240280"/>
            <a:ext cx="9144" cy="1691640"/>
          </a:xfrm>
          <a:prstGeom prst="rect">
            <a:avLst/>
          </a:prstGeom>
          <a:solidFill>
            <a:srgbClr val="E3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96112" y="23774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92D32"/>
                </a:solidFill>
              </a:rPr>
              <a:t>Flagged minutes</a:t>
            </a:r>
          </a:p>
          <a:p>
            <a:pPr algn="l"/>
            <a:r>
              <a:rPr sz="1200" b="0">
                <a:solidFill>
                  <a:srgbClr val="292D32"/>
                </a:solidFill>
              </a:rPr>
              <a:t>before joining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14600" y="2395728"/>
            <a:ext cx="8732520" cy="384048"/>
          </a:xfrm>
          <a:prstGeom prst="rect">
            <a:avLst/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514600" y="2395728"/>
            <a:ext cx="1388470" cy="384048"/>
          </a:xfrm>
          <a:prstGeom prst="rect">
            <a:avLst/>
          </a:prstGeom>
          <a:solidFill>
            <a:srgbClr val="8DA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012798" y="2395728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92D32"/>
                </a:solidFill>
              </a:rPr>
              <a:t>15.9% of all minutes (total length, not their real positions)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3108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92D32"/>
                </a:solidFill>
              </a:rPr>
              <a:t>Flare events</a:t>
            </a:r>
          </a:p>
          <a:p>
            <a:pPr algn="l"/>
            <a:r>
              <a:rPr sz="1200" b="0">
                <a:solidFill>
                  <a:srgbClr val="292D32"/>
                </a:solidFill>
              </a:rPr>
              <a:t>after joining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14600" y="3127248"/>
            <a:ext cx="8732520" cy="384048"/>
          </a:xfrm>
          <a:prstGeom prst="rect">
            <a:avLst/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2532010" y="3127248"/>
            <a:ext cx="8674029" cy="384048"/>
          </a:xfrm>
          <a:prstGeom prst="rect">
            <a:avLst/>
          </a:prstGeom>
          <a:solidFill>
            <a:srgbClr val="A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2880360" y="3127248"/>
            <a:ext cx="7772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7F5EF"/>
                </a:solidFill>
              </a:rPr>
              <a:t>1 event: 1 May 01:29 to 31 May 20:30  ·  99.3% of all rows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37033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76B70"/>
                </a:solidFill>
              </a:rPr>
              <a:t>Only about 298 minutes in the whole month count as 'no flare'.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" y="4251960"/>
            <a:ext cx="5312664" cy="1463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96112" y="43891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676B70"/>
                </a:solidFill>
              </a:rPr>
              <a:t>SHARE OF MINUTES ABOVE THE THRESHOLD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470916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292D32"/>
                </a:solidFill>
              </a:rPr>
              <a:t>44FT2505  (dropped later)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0" y="47091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>
                <a:solidFill>
                  <a:srgbClr val="292D32"/>
                </a:solidFill>
              </a:rPr>
              <a:t>0.52%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" y="49469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292D32"/>
                </a:solidFill>
              </a:rPr>
              <a:t>LR flare sum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3360" y="494690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>
                <a:solidFill>
                  <a:srgbClr val="292D32"/>
                </a:solidFill>
              </a:rPr>
              <a:t>7.32%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" y="518464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292D32"/>
                </a:solidFill>
              </a:rPr>
              <a:t>509FI5201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23360" y="518464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>
                <a:solidFill>
                  <a:srgbClr val="292D32"/>
                </a:solidFill>
              </a:rPr>
              <a:t>8.67%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" y="542239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292D32"/>
                </a:solidFill>
              </a:rPr>
              <a:t>509MW5101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54223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>
                <a:solidFill>
                  <a:srgbClr val="292D32"/>
                </a:solidFill>
              </a:rPr>
              <a:t>0.07%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4496" y="4251960"/>
            <a:ext cx="5312664" cy="1463040"/>
          </a:xfrm>
          <a:prstGeom prst="roundRect">
            <a:avLst>
              <a:gd name="adj" fmla="val 4762"/>
            </a:avLst>
          </a:prstGeom>
          <a:solidFill>
            <a:srgbClr val="F6E7E3"/>
          </a:solidFill>
          <a:ln w="12700">
            <a:solidFill>
              <a:srgbClr val="A8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528816" y="43891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A84A3E"/>
                </a:solidFill>
              </a:rPr>
              <a:t>WHY THIS MATTERS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8816" y="4681728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292D32"/>
                </a:solidFill>
              </a:rPr>
              <a:t>There is no flare-free period to learn normal behaviour from.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92D32"/>
                </a:solidFill>
              </a:rPr>
              <a:t>So the reference became the first 60% of May (to 19 May 14:23), with flares inside it.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B  ·  Plant data</a:t>
            </a:r>
            <a:endParaRPr lang="en-US" sz="1000" dirty="0"/>
          </a:p>
        </p:txBody>
      </p:sp>
      <p:sp>
        <p:nvSpPr>
          <p:cNvPr id="60" name="TextBox 59"/>
          <p:cNvSpPr txBox="1"/>
          <p:nvPr/>
        </p:nvSpPr>
        <p:spPr>
          <a:xfrm>
            <a:off x="2926080" y="636422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76B70"/>
                </a:solidFill>
              </a:rPr>
              <a:t>Source: pca_pc_t2/outputs/data/flare_events.csv, tables/flare_thresholds.csv, data/deviations.json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000" b="1">
                <a:solidFill>
                  <a:srgbClr val="292D32"/>
                </a:solidFill>
              </a:rPr>
              <a:t>The T² alarms do not behave as expected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500" b="0">
                <a:solidFill>
                  <a:srgbClr val="676B70"/>
                </a:solidFill>
              </a:rPr>
              <a:t>Alarms are far too common in the reference period, and the decomposition does not add up when it matters.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/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21792" y="1600200"/>
            <a:ext cx="6035040" cy="41148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96112" y="1755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676B70"/>
                </a:solidFill>
              </a:rPr>
              <a:t>SHARE OF ROWS WITH A T² ALARM,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4709160"/>
            <a:ext cx="5486400" cy="13716"/>
          </a:xfrm>
          <a:prstGeom prst="rect">
            <a:avLst/>
          </a:prstGeom>
          <a:solidFill>
            <a:srgbClr val="DA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00584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18872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37160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55448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73736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92024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210312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228600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246888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265176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283464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301752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320040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38328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6616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3749039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393192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411480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429768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448056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466344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484632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02920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21208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39496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557784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76072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594360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6126480" y="4592574"/>
            <a:ext cx="91440" cy="13716"/>
          </a:xfrm>
          <a:prstGeom prst="rect">
            <a:avLst/>
          </a:prstGeom>
          <a:solidFill>
            <a:srgbClr val="9C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1143000" y="4406377"/>
            <a:ext cx="960120" cy="302782"/>
          </a:xfrm>
          <a:prstGeom prst="rect">
            <a:avLst/>
          </a:prstGeom>
          <a:solidFill>
            <a:srgbClr val="B7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60120" y="4077193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92D32"/>
                </a:solidFill>
                <a:latin typeface="Georgia"/>
              </a:rPr>
              <a:t>13.0%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" y="4764024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76B70"/>
                </a:solidFill>
              </a:rPr>
              <a:t>Reference rows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68880" y="3626717"/>
            <a:ext cx="960120" cy="1082442"/>
          </a:xfrm>
          <a:prstGeom prst="rect">
            <a:avLst/>
          </a:prstGeom>
          <a:solidFill>
            <a:srgbClr val="8DA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2286000" y="3297533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92D32"/>
                </a:solidFill>
                <a:latin typeface="Georgia"/>
              </a:rPr>
              <a:t>46.4%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86000" y="4764024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76B70"/>
                </a:solidFill>
              </a:rPr>
              <a:t>All rows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794760" y="3634902"/>
            <a:ext cx="960120" cy="1074257"/>
          </a:xfrm>
          <a:prstGeom prst="rect">
            <a:avLst/>
          </a:prstGeom>
          <a:solidFill>
            <a:srgbClr val="8DA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611880" y="3305718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92D32"/>
                </a:solidFill>
                <a:latin typeface="Georgia"/>
              </a:rPr>
              <a:t>46.1%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11880" y="4764024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76B70"/>
                </a:solidFill>
              </a:rPr>
              <a:t>Flare rows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20640" y="2408738"/>
            <a:ext cx="960120" cy="2300421"/>
          </a:xfrm>
          <a:prstGeom prst="rect">
            <a:avLst/>
          </a:prstGeom>
          <a:solidFill>
            <a:srgbClr val="A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4937759" y="2079554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92D32"/>
                </a:solidFill>
                <a:latin typeface="Georgia"/>
              </a:rPr>
              <a:t>98.7%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37759" y="4764024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76B70"/>
                </a:solidFill>
              </a:rPr>
              <a:t>No-flare rows (~298)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6112" y="521208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92D32"/>
                </a:solidFill>
              </a:rPr>
              <a:t>Dashed line: reference rows should alarm about 5% of the time. </a:t>
            </a:r>
            <a:r>
              <a:rPr sz="1200" b="0">
                <a:solidFill>
                  <a:srgbClr val="292D32"/>
                </a:solidFill>
              </a:rPr>
              <a:t>No-flare rows alarm more than flare rows.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858000" y="1600200"/>
            <a:ext cx="470916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132320" y="17556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676B70"/>
                </a:solidFill>
              </a:rPr>
              <a:t>DOES THE DECOMPOSITION ADD UP?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32320" y="2057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76B70"/>
                </a:solidFill>
              </a:rPr>
              <a:t>The node terms should sum to the total T². We measure the gap (0 = perfect).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32320" y="260604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2F7A5C"/>
                </a:solidFill>
                <a:latin typeface="Georgia"/>
              </a:rPr>
              <a:t>0.13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32320" y="33101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76B70"/>
                </a:solidFill>
              </a:rPr>
              <a:t>median gap,</a:t>
            </a:r>
          </a:p>
          <a:p>
            <a:pPr algn="l"/>
            <a:r>
              <a:rPr sz="1200" b="0">
                <a:solidFill>
                  <a:srgbClr val="676B70"/>
                </a:solidFill>
              </a:rPr>
              <a:t>reference rows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81160" y="260604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A84A3E"/>
                </a:solidFill>
                <a:latin typeface="Georgia"/>
              </a:rPr>
              <a:t>0.92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81160" y="33101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76B70"/>
                </a:solidFill>
              </a:rPr>
              <a:t>median gap,</a:t>
            </a:r>
          </a:p>
          <a:p>
            <a:pPr algn="l"/>
            <a:r>
              <a:rPr sz="1200" b="0">
                <a:solidFill>
                  <a:srgbClr val="676B70"/>
                </a:solidFill>
              </a:rPr>
              <a:t>alarm rows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858000" y="4114800"/>
            <a:ext cx="470916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7132320" y="42702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676B70"/>
                </a:solidFill>
              </a:rPr>
              <a:t>THE NORMAL-PERIOD TERMS ARE NOT NORMAL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32320" y="457200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292D32"/>
                </a:solidFill>
              </a:rPr>
              <a:t>0.61% of reference values pass the limit; 0.17% expected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92D32"/>
                </a:solidFill>
              </a:rPr>
              <a:t>Flare tags have very heavy tails (excess kurtosis 50 and 15)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92D32"/>
                </a:solidFill>
              </a:rPr>
              <a:t>Likely cause: the reference period has flares in it (not yet checked)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B  ·  Plant data</a:t>
            </a:r>
            <a:endParaRPr lang="en-US" sz="1000" dirty="0"/>
          </a:p>
        </p:txBody>
      </p:sp>
      <p:sp>
        <p:nvSpPr>
          <p:cNvPr id="81" name="TextBox 80"/>
          <p:cNvSpPr txBox="1"/>
          <p:nvPr/>
        </p:nvSpPr>
        <p:spPr>
          <a:xfrm>
            <a:off x="2926080" y="636422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76B70"/>
                </a:solidFill>
              </a:rPr>
              <a:t>Source: pca_pc_t2/outputs/data/s5_summary.json, tables/reference_check.csv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000" b="1">
                <a:solidFill>
                  <a:srgbClr val="292D32"/>
                </a:solidFill>
              </a:rPr>
              <a:t>What the T² points to, and why we cannot trust it yet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500" b="0">
                <a:solidFill>
                  <a:srgbClr val="676B70"/>
                </a:solidFill>
              </a:rPr>
              <a:t>We count how often each node is to blame during a T² alarm. These are leads, not answers.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/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21792" y="1600200"/>
            <a:ext cx="6035040" cy="41148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96112" y="1755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676B70"/>
                </a:solidFill>
              </a:rPr>
              <a:t>NODE IS TO BLAME, % OF ALARM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218541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92D32"/>
                </a:solidFill>
              </a:rPr>
              <a:t>PC1  (LOUP)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2194560"/>
            <a:ext cx="2554764" cy="256032"/>
          </a:xfrm>
          <a:prstGeom prst="rect">
            <a:avLst/>
          </a:prstGeom>
          <a:solidFill>
            <a:srgbClr val="2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553996" y="21854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92D32"/>
                </a:solidFill>
              </a:rPr>
              <a:t>16.9%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26060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92D32"/>
                </a:solidFill>
              </a:rPr>
              <a:t>LR flare sum  (flare)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2615184"/>
            <a:ext cx="2017455" cy="256032"/>
          </a:xfrm>
          <a:prstGeom prst="rect">
            <a:avLst/>
          </a:prstGeom>
          <a:solidFill>
            <a:srgbClr val="8DA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016687" y="26060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92D32"/>
                </a:solidFill>
              </a:rPr>
              <a:t>13.4%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302666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92D32"/>
                </a:solidFill>
              </a:rPr>
              <a:t>509MW5101  (flare)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0" y="3035808"/>
            <a:ext cx="1594452" cy="256032"/>
          </a:xfrm>
          <a:prstGeom prst="rect">
            <a:avLst/>
          </a:prstGeom>
          <a:solidFill>
            <a:srgbClr val="8DA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93684" y="3026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92D32"/>
                </a:solidFill>
              </a:rPr>
              <a:t>10.6%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34472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92D32"/>
                </a:solidFill>
              </a:rPr>
              <a:t>509FI5201  (flare)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3456432"/>
            <a:ext cx="1357833" cy="256032"/>
          </a:xfrm>
          <a:prstGeom prst="rect">
            <a:avLst/>
          </a:prstGeom>
          <a:solidFill>
            <a:srgbClr val="8DA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357065" y="34472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92D32"/>
                </a:solidFill>
              </a:rPr>
              <a:t>9.0%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38679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92D32"/>
                </a:solidFill>
              </a:rPr>
              <a:t>PC14  (SEU3)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3877056"/>
            <a:ext cx="1073161" cy="256032"/>
          </a:xfrm>
          <a:prstGeom prst="rect">
            <a:avLst/>
          </a:prstGeom>
          <a:solidFill>
            <a:srgbClr val="2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072393" y="38679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92D32"/>
                </a:solidFill>
              </a:rPr>
              <a:t>7.1%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428853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92D32"/>
                </a:solidFill>
              </a:rPr>
              <a:t>PC12  (PDA)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26080" y="4297680"/>
            <a:ext cx="829989" cy="256032"/>
          </a:xfrm>
          <a:prstGeom prst="rect">
            <a:avLst/>
          </a:prstGeom>
          <a:solidFill>
            <a:srgbClr val="2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829221" y="42885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92D32"/>
                </a:solidFill>
              </a:rPr>
              <a:t>5.5%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4709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92D32"/>
                </a:solidFill>
              </a:rPr>
              <a:t>PC9  (ISOM)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80" y="4718304"/>
            <a:ext cx="444116" cy="256032"/>
          </a:xfrm>
          <a:prstGeom prst="rect">
            <a:avLst/>
          </a:prstGeom>
          <a:solidFill>
            <a:srgbClr val="2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443348" y="4709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92D32"/>
                </a:solidFill>
              </a:rPr>
              <a:t>2.9%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51297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92D32"/>
                </a:solidFill>
              </a:rPr>
              <a:t>PC8  (ISOM_3)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0" y="5138928"/>
            <a:ext cx="430283" cy="256032"/>
          </a:xfrm>
          <a:prstGeom prst="rect">
            <a:avLst/>
          </a:prstGeom>
          <a:solidFill>
            <a:srgbClr val="2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429515" y="512978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92D32"/>
                </a:solidFill>
              </a:rPr>
              <a:t>2.9%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" y="54864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2F7A5C"/>
                </a:solidFill>
              </a:rPr>
              <a:t>■ </a:t>
            </a:r>
            <a:r>
              <a:rPr sz="1050" b="0">
                <a:solidFill>
                  <a:srgbClr val="676B70"/>
                </a:solidFill>
              </a:rPr>
              <a:t>PC (main unit)    </a:t>
            </a:r>
            <a:r>
              <a:rPr sz="1050" b="0">
                <a:solidFill>
                  <a:srgbClr val="8DAA91"/>
                </a:solidFill>
              </a:rPr>
              <a:t>■ </a:t>
            </a:r>
            <a:r>
              <a:rPr sz="1050" b="0">
                <a:solidFill>
                  <a:srgbClr val="676B70"/>
                </a:solidFill>
              </a:rPr>
              <a:t>flare tag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0" y="1600200"/>
            <a:ext cx="4709160" cy="1280160"/>
          </a:xfrm>
          <a:prstGeom prst="roundRect">
            <a:avLst>
              <a:gd name="adj" fmla="val 4762"/>
            </a:avLst>
          </a:prstGeom>
          <a:solidFill>
            <a:srgbClr val="F6E7E3"/>
          </a:solidFill>
          <a:ln w="12700">
            <a:solidFill>
              <a:srgbClr val="A8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086600" y="171907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A84A3E"/>
                </a:solidFill>
              </a:rPr>
              <a:t>PC7 FIRES IN NORMAL TIMES TOO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86600" y="2011680"/>
            <a:ext cx="4297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92D32"/>
                </a:solidFill>
              </a:rPr>
              <a:t>PC7 is to blame in 4.7% of reference rows, but only 2.2% of alarm rows. It is noise, not a flare signal.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58000" y="2990088"/>
            <a:ext cx="4709160" cy="1280160"/>
          </a:xfrm>
          <a:prstGeom prst="roundRect">
            <a:avLst>
              <a:gd name="adj" fmla="val 4762"/>
            </a:avLst>
          </a:prstGeom>
          <a:solidFill>
            <a:srgbClr val="F6E7E3"/>
          </a:solidFill>
          <a:ln w="12700">
            <a:solidFill>
              <a:srgbClr val="A8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7086600" y="3108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A84A3E"/>
                </a:solidFill>
              </a:rPr>
              <a:t>THE 'FIRST ALARM' IS THE FIRST MINUTE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600" y="3401568"/>
            <a:ext cx="4297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92D32"/>
                </a:solidFill>
              </a:rPr>
              <a:t>The single event's first alarm is at 1 May 00:00, the start of the data. So PC13 and PC7, flagged there, do not mark a flare start.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858000" y="4379976"/>
            <a:ext cx="4709160" cy="1280160"/>
          </a:xfrm>
          <a:prstGeom prst="roundRect">
            <a:avLst>
              <a:gd name="adj" fmla="val 4762"/>
            </a:avLst>
          </a:prstGeom>
          <a:solidFill>
            <a:srgbClr val="F5EEDD"/>
          </a:solidFill>
          <a:ln w="12700">
            <a:solidFill>
              <a:srgbClr val="9C7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086600" y="449884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150">
                <a:solidFill>
                  <a:srgbClr val="9C7A35"/>
                </a:solidFill>
              </a:rPr>
              <a:t>ONE LEAD WORTH CHECKING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86600" y="4791456"/>
            <a:ext cx="4297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92D32"/>
                </a:solidFill>
              </a:rPr>
              <a:t>PC14 loads on SEU3 pressure tags 42PC4215 and 42PC4501 (0.31 each). PC1 is spread over many units (about 0.11 per tag), so it names no single tag.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B  ·  Plant data</a:t>
            </a:r>
            <a:endParaRPr lang="en-US" sz="1000" dirty="0"/>
          </a:p>
        </p:txBody>
      </p:sp>
      <p:sp>
        <p:nvSpPr>
          <p:cNvPr id="62" name="TextBox 61"/>
          <p:cNvSpPr txBox="1"/>
          <p:nvPr/>
        </p:nvSpPr>
        <p:spPr>
          <a:xfrm>
            <a:off x="2926080" y="636422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76B70"/>
                </a:solidFill>
              </a:rPr>
              <a:t>Source: pca_pc_t2/outputs/tables/root_cause_nodes.csv, tables/root_cause_by_event.csv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000" b="1">
                <a:solidFill>
                  <a:srgbClr val="292D32"/>
                </a:solidFill>
              </a:rPr>
              <a:t>Next steps: fix the data setup, then rerun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500" b="0">
                <a:solidFill>
                  <a:srgbClr val="676B70"/>
                </a:solidFill>
              </a:rPr>
              <a:t>The pipeline works. The inputs to it need fixing before the root causes can be read.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/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21792" y="1600200"/>
            <a:ext cx="5312664" cy="41148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1792" y="1600200"/>
            <a:ext cx="5312664" cy="109728"/>
          </a:xfrm>
          <a:prstGeom prst="rect">
            <a:avLst/>
          </a:prstGeom>
          <a:solidFill>
            <a:srgbClr val="17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96112" y="1874519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74A3A"/>
                </a:solidFill>
              </a:rPr>
              <a:t>pca_pc_t2  ·  PCA + traditional PC + T²</a:t>
            </a:r>
          </a:p>
        </p:txBody>
      </p:sp>
      <p:sp>
        <p:nvSpPr>
          <p:cNvPr id="29" name="Oval 28"/>
          <p:cNvSpPr/>
          <p:nvPr/>
        </p:nvSpPr>
        <p:spPr>
          <a:xfrm>
            <a:off x="896112" y="2377440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74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74A3A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2395728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92D32"/>
                </a:solidFill>
              </a:rPr>
              <a:t>Fix the flare rule so that flares become separate events</a:t>
            </a:r>
          </a:p>
        </p:txBody>
      </p:sp>
      <p:sp>
        <p:nvSpPr>
          <p:cNvPr id="31" name="Oval 30"/>
          <p:cNvSpPr/>
          <p:nvPr/>
        </p:nvSpPr>
        <p:spPr>
          <a:xfrm>
            <a:off x="896112" y="2999232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74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74A3A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99032" y="3017520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92D32"/>
                </a:solidFill>
              </a:rPr>
              <a:t>Find a flare-free reference period to learn normal behaviour</a:t>
            </a:r>
          </a:p>
        </p:txBody>
      </p:sp>
      <p:sp>
        <p:nvSpPr>
          <p:cNvPr id="33" name="Oval 32"/>
          <p:cNvSpPr/>
          <p:nvPr/>
        </p:nvSpPr>
        <p:spPr>
          <a:xfrm>
            <a:off x="896112" y="3621024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74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74A3A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99032" y="3639312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92D32"/>
                </a:solidFill>
              </a:rPr>
              <a:t>Check the unit folder names in .env (3 units were not found)</a:t>
            </a:r>
          </a:p>
        </p:txBody>
      </p:sp>
      <p:sp>
        <p:nvSpPr>
          <p:cNvPr id="35" name="Oval 34"/>
          <p:cNvSpPr/>
          <p:nvPr/>
        </p:nvSpPr>
        <p:spPr>
          <a:xfrm>
            <a:off x="896112" y="4242816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74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74A3A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99032" y="4261104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92D32"/>
                </a:solidFill>
              </a:rPr>
              <a:t>Rerun. Check: reference alarms near 5%, decomposition gap small</a:t>
            </a:r>
          </a:p>
        </p:txBody>
      </p:sp>
      <p:sp>
        <p:nvSpPr>
          <p:cNvPr id="37" name="Oval 36"/>
          <p:cNvSpPr/>
          <p:nvPr/>
        </p:nvSpPr>
        <p:spPr>
          <a:xfrm>
            <a:off x="896112" y="4864608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74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74A3A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99032" y="4882896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92D32"/>
                </a:solidFill>
              </a:rPr>
              <a:t>Then read the root causes, starting with PC14 and the SEU3 tags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54496" y="1600200"/>
            <a:ext cx="5312664" cy="41148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A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254496" y="1600200"/>
            <a:ext cx="5312664" cy="109728"/>
          </a:xfrm>
          <a:prstGeom prst="rect">
            <a:avLst/>
          </a:prstGeom>
          <a:solidFill>
            <a:srgbClr val="7B5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28816" y="1874519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B5577"/>
                </a:solidFill>
              </a:rPr>
              <a:t>causal_t2  ·  traditional PC on all 267 tags</a:t>
            </a:r>
          </a:p>
        </p:txBody>
      </p:sp>
      <p:sp>
        <p:nvSpPr>
          <p:cNvPr id="42" name="Oval 41"/>
          <p:cNvSpPr/>
          <p:nvPr/>
        </p:nvSpPr>
        <p:spPr>
          <a:xfrm>
            <a:off x="6528816" y="2377440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7B5577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31736" y="2395728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92D32"/>
                </a:solidFill>
              </a:rPr>
              <a:t>The PC stage crashed: an IndexError after 827 s, then a segfault</a:t>
            </a:r>
          </a:p>
        </p:txBody>
      </p:sp>
      <p:sp>
        <p:nvSpPr>
          <p:cNvPr id="44" name="Oval 43"/>
          <p:cNvSpPr/>
          <p:nvPr/>
        </p:nvSpPr>
        <p:spPr>
          <a:xfrm>
            <a:off x="6528816" y="2999232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7B5577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31736" y="3017520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92D32"/>
                </a:solidFill>
              </a:rPr>
              <a:t>It has about 13 million tests even at depth 1</a:t>
            </a:r>
          </a:p>
        </p:txBody>
      </p:sp>
      <p:sp>
        <p:nvSpPr>
          <p:cNvPr id="46" name="Oval 45"/>
          <p:cNvSpPr/>
          <p:nvPr/>
        </p:nvSpPr>
        <p:spPr>
          <a:xfrm>
            <a:off x="6528816" y="3621024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7B5577"/>
                </a:solidFill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1736" y="3639312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92D32"/>
                </a:solidFill>
              </a:rPr>
              <a:t>Run the three checks in command.md: traceback, one-thread run, versions</a:t>
            </a:r>
          </a:p>
        </p:txBody>
      </p:sp>
      <p:sp>
        <p:nvSpPr>
          <p:cNvPr id="48" name="Oval 47"/>
          <p:cNvSpPr/>
          <p:nvPr/>
        </p:nvSpPr>
        <p:spPr>
          <a:xfrm>
            <a:off x="6528816" y="4242816"/>
            <a:ext cx="329184" cy="3291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B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7B5577"/>
                </a:solidFill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31736" y="4261104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92D32"/>
                </a:solidFill>
              </a:rPr>
              <a:t>Pick the fix from the result: threading, memory, or library version</a:t>
            </a:r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39D8F"/>
                </a:solidFill>
              </a:rPr>
              <a:t>Part B  ·  Plant data</a:t>
            </a:r>
            <a:endParaRPr lang="en-US" sz="1000" dirty="0"/>
          </a:p>
        </p:txBody>
      </p:sp>
      <p:sp>
        <p:nvSpPr>
          <p:cNvPr id="50" name="TextBox 49"/>
          <p:cNvSpPr txBox="1"/>
          <p:nvPr/>
        </p:nvSpPr>
        <p:spPr>
          <a:xfrm>
            <a:off x="2926080" y="636422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76B70"/>
                </a:solidFill>
              </a:rPr>
              <a:t>Source: pca_pc_t2/outputs/SUMMARY.md, causal_t2/outputs/LOG.md, command.md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usal Graphite">
  <a:themeElements>
    <a:clrScheme name="Causal Graphite">
      <a:dk1>
        <a:srgbClr val="292D32"/>
      </a:dk1>
      <a:lt1>
        <a:srgbClr val="F7F5EF"/>
      </a:lt1>
      <a:dk2>
        <a:srgbClr val="676B70"/>
      </a:dk2>
      <a:lt2>
        <a:srgbClr val="FFFFFF"/>
      </a:lt2>
      <a:accent1>
        <a:srgbClr val="2F7A5C"/>
      </a:accent1>
      <a:accent2>
        <a:srgbClr val="9C7A35"/>
      </a:accent2>
      <a:accent3>
        <a:srgbClr val="7B5577"/>
      </a:accent3>
      <a:accent4>
        <a:srgbClr val="A84A3E"/>
      </a:accent4>
      <a:accent5>
        <a:srgbClr val="6A8E70"/>
      </a:accent5>
      <a:accent6>
        <a:srgbClr val="DAD4C6"/>
      </a:accent6>
      <a:hlink>
        <a:srgbClr val="6A8E70"/>
      </a:hlink>
      <a:folHlink>
        <a:srgbClr val="7B5577"/>
      </a:folHlink>
    </a:clrScheme>
    <a:fontScheme name="Causal Graphit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PCMCI+ — causal discovery for time series</dc:title>
  <dc:subject>PptxGenJS Presentation</dc:subject>
  <dc:creator>Satyam</dc:creator>
  <cp:lastModifiedBy>Satyam</cp:lastModifiedBy>
  <cp:revision>1</cp:revision>
  <dcterms:created xsi:type="dcterms:W3CDTF">2026-10-08T20:41:39Z</dcterms:created>
  <dcterms:modified xsi:type="dcterms:W3CDTF">2026-10-08T20:41:39Z</dcterms:modified>
</cp:coreProperties>
</file>