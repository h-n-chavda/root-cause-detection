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27"/>
    <p:sldId id="277" r:id="rId28"/>
    <p:sldId id="278" r:id="rId29"/>
    <p:sldId id="279" r:id="rId30"/>
    <p:sldId id="256" r:id="rId2"/>
    <p:sldId id="258" r:id="rId4"/>
    <p:sldId id="257" r:id="rId3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tup" id="{95fc16fd-ce29-9234-b6f5-8a3c8693038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</c:v>
                </c:pt>
              </c:strCache>
            </c:strRef>
          </c:tx>
          <c:spPr>
            <a:ln w="28575">
              <a:solidFill>
                <a:srgbClr val="174A3A"/>
              </a:solidFill>
            </a:ln>
          </c:spPr>
          <c:marker>
            <c:size val="5"/>
            <c:spPr>
              <a:solidFill>
                <a:srgbClr val="174A3A"/>
              </a:solidFill>
              <a:ln>
                <a:solidFill>
                  <a:srgbClr val="174A3A"/>
                </a:solidFill>
              </a:ln>
            </c:spPr>
          </c:marker>
          <c:cat>
            <c:strRef>
              <c:f>Sheet1!$A$2:$A$27</c:f>
              <c:strCache>
                <c:ptCount val="2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19.6</c:v>
                </c:pt>
                <c:pt idx="1">
                  <c:v>32.0</c:v>
                </c:pt>
                <c:pt idx="2">
                  <c:v>41.1</c:v>
                </c:pt>
                <c:pt idx="3">
                  <c:v>47.1</c:v>
                </c:pt>
                <c:pt idx="4">
                  <c:v>51.9</c:v>
                </c:pt>
                <c:pt idx="5">
                  <c:v>55.2</c:v>
                </c:pt>
                <c:pt idx="6">
                  <c:v>58.5</c:v>
                </c:pt>
                <c:pt idx="7">
                  <c:v>60.7</c:v>
                </c:pt>
                <c:pt idx="8">
                  <c:v>62.9</c:v>
                </c:pt>
                <c:pt idx="9">
                  <c:v>64.8</c:v>
                </c:pt>
                <c:pt idx="10">
                  <c:v>66.6</c:v>
                </c:pt>
                <c:pt idx="11">
                  <c:v>68.0</c:v>
                </c:pt>
                <c:pt idx="12">
                  <c:v>69.4</c:v>
                </c:pt>
                <c:pt idx="13">
                  <c:v>70.6</c:v>
                </c:pt>
                <c:pt idx="14">
                  <c:v>71.8</c:v>
                </c:pt>
                <c:pt idx="15">
                  <c:v>72.8</c:v>
                </c:pt>
                <c:pt idx="16">
                  <c:v>73.8</c:v>
                </c:pt>
                <c:pt idx="17">
                  <c:v>74.6</c:v>
                </c:pt>
                <c:pt idx="18">
                  <c:v>75.5</c:v>
                </c:pt>
                <c:pt idx="19">
                  <c:v>76.3</c:v>
                </c:pt>
                <c:pt idx="20">
                  <c:v>77.0</c:v>
                </c:pt>
                <c:pt idx="21">
                  <c:v>77.7</c:v>
                </c:pt>
                <c:pt idx="22">
                  <c:v>78.3</c:v>
                </c:pt>
                <c:pt idx="23">
                  <c:v>78.9</c:v>
                </c:pt>
                <c:pt idx="24">
                  <c:v>79.5</c:v>
                </c:pt>
                <c:pt idx="25">
                  <c:v>80.1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4C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3DE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20.0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76B7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three sensors and the same generating equations as the PCMCI+ half. The only difference is that the shocks are uniform, not Gaussian.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 slide. The whole algorithm exists because lag-0 links carry no time ordering.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identity B_tau = (I - B0) M_tau is the whole reason the algorithm works. Everything else is estimation.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slide. Panels 1 and 4 are the before and after of the same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M1 is a prediction object. Row P carries contamination from the instantaneous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Dependence is a normalised HSIC. Zero means 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 and T tie because there is no lag-0 edge between them. Any order with P last yields the same B0.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Adaptive lasso or bootstrap thresholds replace the fixed cut-off in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failure mode is the live one on the Tennessee Eastman data, where VAR residuals are close to Gaussian.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4028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 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520440"/>
            <a:ext cx="8778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 </a:t>
            </a: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71600" y="2788920"/>
            <a:ext cx="9509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 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17320" y="3794760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 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C586B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toy example: three reactor sensors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Three sensors on a reactor cooling loop, read once a minute for 300 minutes. We generated the data, so the true graph is known from the start.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534924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THE THREE SENSORS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60120" y="2286000"/>
            <a:ext cx="310896" cy="31089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40864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31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coolant flow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2688336"/>
            <a:ext cx="310896" cy="310896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43200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7340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reactor temperature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3090672"/>
            <a:ext cx="310896" cy="31089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145536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136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vessel pressure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691640"/>
            <a:ext cx="5349240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HOW THE DATA WAS MADE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286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55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F(t)  =  0.60 F(t−1)                + ε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651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C7A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T(t)  =  0.65 T(t−1) + 0.50 F(t−1) + 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F7A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P(t)  =  0.80 T(t)                  + ε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467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ε is fresh noise, independent across sensors and across time.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" y="3767328"/>
            <a:ext cx="6949440" cy="2240280"/>
          </a:xfrm>
          <a:prstGeom prst="roundRect">
            <a:avLst>
              <a:gd name="adj" fmla="val 4082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9502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2F7A5C"/>
                </a:solidFill>
              </a:rPr>
              <a:t>THE TRUE GRAPH — FOUR LINKS, WHICH THE ALGORITHM MUST REDISCOVER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395728" y="4480560"/>
            <a:ext cx="1234440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041648" y="4480560"/>
            <a:ext cx="1234440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389069" y="4531889"/>
            <a:ext cx="1248060" cy="329349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034989" y="4531889"/>
            <a:ext cx="1248060" cy="329349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395728" y="4914900"/>
            <a:ext cx="1234440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041648" y="4914900"/>
            <a:ext cx="1234440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840480" y="5116068"/>
            <a:ext cx="0" cy="2286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486400" y="5116068"/>
            <a:ext cx="0" cy="2286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029968" y="431596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029968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029968" y="475030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029968" y="47503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029968" y="518464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029968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75888" y="431596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675888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75888" y="475030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675888" y="47503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75888" y="518464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675888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321808" y="431596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21808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321808" y="475030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321808" y="47503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321808" y="5184648"/>
            <a:ext cx="329184" cy="329184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21808" y="5184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914400" y="56235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 → F and T → T one minute later, F → T one minute later, and T → P inside the same minute.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63840" y="3767328"/>
            <a:ext cx="368503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56448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SETTINGS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8156448" y="42976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8E70"/>
                </a:solidFill>
              </a:rPr>
              <a:t>τmax = 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156448" y="4498848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look back at most two minutes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47091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8E70"/>
                </a:solidFill>
              </a:rPr>
              <a:t>N = 300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156448" y="4910328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rows of data, 298 usable after cutting the lag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156448" y="51206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8E70"/>
                </a:solidFill>
              </a:rPr>
              <a:t>α = 0.01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8156448" y="5321808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link is cut when the test cannot reject independence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156448" y="55321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A8E70"/>
                </a:solidFill>
              </a:rPr>
              <a:t>partial correlation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8156448" y="5733288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dependence measure used in every test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pair we will follow: T and P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Every slide from here shows where this one pair stands. At the start the algorithm knows none of this.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5852160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WHAT THE ALGORITHM STARTS WITH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67328" y="2834640"/>
            <a:ext cx="128016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 flipV="1">
            <a:off x="3740125" y="2951472"/>
            <a:ext cx="1335573" cy="6849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3692793" y="3017959"/>
            <a:ext cx="1431991" cy="14687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984248" y="2834640"/>
            <a:ext cx="306324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 flipV="1">
            <a:off x="1976511" y="2898232"/>
            <a:ext cx="3079000" cy="789487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1957045" y="2951472"/>
            <a:ext cx="3118653" cy="15993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740125" y="2947299"/>
            <a:ext cx="1335573" cy="6849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767328" y="3749040"/>
            <a:ext cx="128016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3740125" y="3865872"/>
            <a:ext cx="1335573" cy="6849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976511" y="2895961"/>
            <a:ext cx="3079000" cy="789487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984248" y="3749040"/>
            <a:ext cx="306324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1976511" y="3812632"/>
            <a:ext cx="3079000" cy="789487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692793" y="3011412"/>
            <a:ext cx="1431991" cy="14687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740125" y="3861699"/>
            <a:ext cx="1335573" cy="684909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767328" y="4663440"/>
            <a:ext cx="128016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957045" y="2947299"/>
            <a:ext cx="3118653" cy="1599309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976511" y="3810361"/>
            <a:ext cx="3079000" cy="789487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984248" y="4663440"/>
            <a:ext cx="3063240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303520" y="3081528"/>
            <a:ext cx="0" cy="41148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303520" y="3995928"/>
            <a:ext cx="0" cy="411480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303520" y="3081528"/>
            <a:ext cx="0" cy="132588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1527048" y="2624328"/>
            <a:ext cx="420624" cy="42062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527048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527048" y="3538728"/>
            <a:ext cx="420624" cy="420624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27048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27048" y="4453128"/>
            <a:ext cx="420624" cy="420624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52704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310128" y="2624328"/>
            <a:ext cx="420624" cy="42062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10128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10128" y="3538728"/>
            <a:ext cx="420624" cy="420624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10128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310128" y="4453128"/>
            <a:ext cx="420624" cy="420624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1012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093208" y="2624328"/>
            <a:ext cx="420624" cy="420624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93208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093208" y="3538728"/>
            <a:ext cx="420624" cy="420624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93208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093208" y="4453128"/>
            <a:ext cx="420624" cy="420624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93208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14400" y="50292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Every node at every past lag is a candidate cause of every present node. The three gold arrows are the ones that involve T and P.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6812280" y="1691640"/>
            <a:ext cx="4736592" cy="402336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  <p:sp>
        <p:nvSpPr>
          <p:cNvPr id="50" name="TextBox 49"/>
          <p:cNvSpPr txBox="1"/>
          <p:nvPr/>
        </p:nvSpPr>
        <p:spPr>
          <a:xfrm>
            <a:off x="7104888" y="19202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9C7A35"/>
                </a:solidFill>
              </a:rPr>
              <a:t>HOW IT IS WORKED OUT, STEP BY STEP</a:t>
            </a:r>
          </a:p>
        </p:txBody>
      </p:sp>
      <p:sp>
        <p:nvSpPr>
          <p:cNvPr id="51" name="Oval 50"/>
          <p:cNvSpPr/>
          <p:nvPr/>
        </p:nvSpPr>
        <p:spPr>
          <a:xfrm>
            <a:off x="7104888" y="2395728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07808" y="2414016"/>
            <a:ext cx="37947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Start fully connected.</a:t>
            </a:r>
            <a:r>
              <a:rPr sz="1200" b="0">
                <a:solidFill>
                  <a:srgbClr val="292D32"/>
                </a:solidFill>
              </a:rPr>
              <a:t>  Every node at every past minute is linked to P(t). Nothing is ruled out yet.</a:t>
            </a:r>
          </a:p>
        </p:txBody>
      </p:sp>
      <p:sp>
        <p:nvSpPr>
          <p:cNvPr id="53" name="Oval 52"/>
          <p:cNvSpPr/>
          <p:nvPr/>
        </p:nvSpPr>
        <p:spPr>
          <a:xfrm>
            <a:off x="7104888" y="3054096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07808" y="3072384"/>
            <a:ext cx="37947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Correlate and rank.</a:t>
            </a:r>
            <a:r>
              <a:rPr sz="1200" b="0">
                <a:solidFill>
                  <a:srgbClr val="292D32"/>
                </a:solidFill>
              </a:rPr>
              <a:t>  Correlate each past node with P(t). T(t−1) comes out strongest, at 0.617.</a:t>
            </a:r>
          </a:p>
        </p:txBody>
      </p:sp>
      <p:sp>
        <p:nvSpPr>
          <p:cNvPr id="55" name="Oval 54"/>
          <p:cNvSpPr/>
          <p:nvPr/>
        </p:nvSpPr>
        <p:spPr>
          <a:xfrm>
            <a:off x="7104888" y="3712464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07808" y="3730752"/>
            <a:ext cx="37947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Hold the strongest fixed.</a:t>
            </a:r>
            <a:r>
              <a:rPr sz="1200" b="0">
                <a:solidFill>
                  <a:srgbClr val="292D32"/>
                </a:solidFill>
              </a:rPr>
              <a:t>  Put T(t−1) in the held-fixed list Z. Re-test the rest and cut whatever falls to near zero.</a:t>
            </a:r>
          </a:p>
        </p:txBody>
      </p:sp>
      <p:sp>
        <p:nvSpPr>
          <p:cNvPr id="57" name="Oval 56"/>
          <p:cNvSpPr/>
          <p:nvPr/>
        </p:nvSpPr>
        <p:spPr>
          <a:xfrm>
            <a:off x="7104888" y="4370832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4389120"/>
            <a:ext cx="37947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84A3E"/>
                </a:solidFill>
              </a:rPr>
              <a:t>Add the same minute.</a:t>
            </a:r>
            <a:r>
              <a:rPr sz="1200" b="0">
                <a:solidFill>
                  <a:srgbClr val="292D32"/>
                </a:solidFill>
              </a:rPr>
              <a:t>  Part 2 also holds T(t) fixed. T(t−1) → P(t) now falls to near zero, so it is cut.</a:t>
            </a:r>
          </a:p>
        </p:txBody>
      </p:sp>
      <p:sp>
        <p:nvSpPr>
          <p:cNvPr id="59" name="Oval 58"/>
          <p:cNvSpPr/>
          <p:nvPr/>
        </p:nvSpPr>
        <p:spPr>
          <a:xfrm>
            <a:off x="7104888" y="502920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5047488"/>
            <a:ext cx="3794760" cy="6126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F7A5C"/>
                </a:solidFill>
              </a:rPr>
              <a:t>Keep, then point.</a:t>
            </a:r>
            <a:r>
              <a:rPr sz="1200" b="0">
                <a:solidFill>
                  <a:srgbClr val="292D32"/>
                </a:solidFill>
              </a:rPr>
              <a:t>  T(t) — P(t) survives every test. A rule on one triple gives it the arrow T(t) → P(t).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PCMCI+ in four pictures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Two estimation parts, then orientation. Each stage removes something from the picture before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2606040" cy="38404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EVERY CANDIDATE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4018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80260" y="2651760"/>
            <a:ext cx="4251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 flipV="1">
            <a:off x="2050214" y="2757215"/>
            <a:ext cx="486791" cy="31989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 flipV="1">
            <a:off x="2008118" y="2804578"/>
            <a:ext cx="573087" cy="75320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280160" y="2651760"/>
            <a:ext cx="12252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 flipV="1">
            <a:off x="1271022" y="2711701"/>
            <a:ext cx="1244029" cy="40875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1250114" y="2757215"/>
            <a:ext cx="1286891" cy="84567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50214" y="2752194"/>
            <a:ext cx="486791" cy="31989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080260" y="3177540"/>
            <a:ext cx="4251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050214" y="3282995"/>
            <a:ext cx="486791" cy="31989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271022" y="2708847"/>
            <a:ext cx="1244029" cy="40875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280160" y="3177540"/>
            <a:ext cx="12252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1271022" y="3237481"/>
            <a:ext cx="1244029" cy="40875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008118" y="2797301"/>
            <a:ext cx="573087" cy="75320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050214" y="3277974"/>
            <a:ext cx="486791" cy="31989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2080260" y="3703320"/>
            <a:ext cx="4251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250114" y="2752194"/>
            <a:ext cx="1286891" cy="84567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271022" y="3234627"/>
            <a:ext cx="1244029" cy="40875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280160" y="3703320"/>
            <a:ext cx="12252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2697480" y="2834640"/>
            <a:ext cx="0" cy="15087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2697480" y="3360420"/>
            <a:ext cx="0" cy="15087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697480" y="2834640"/>
            <a:ext cx="0" cy="67665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50976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50976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50976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0976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50976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0976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751076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51076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751076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751076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751076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751076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551176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51176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551176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51176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551176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51176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86384" y="4069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Nothing has been ruled out. 21 possible links.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300984" y="301752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38144" y="1627632"/>
            <a:ext cx="2606040" cy="38404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639312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7B5577"/>
                </a:solidFill>
              </a:rPr>
              <a:t>AFTER PART 1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896612" y="2651760"/>
            <a:ext cx="4251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66566" y="2752194"/>
            <a:ext cx="486791" cy="31989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4896612" y="3177540"/>
            <a:ext cx="425196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4824470" y="2797301"/>
            <a:ext cx="573087" cy="753201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4866566" y="3277974"/>
            <a:ext cx="486791" cy="319891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513832" y="2834640"/>
            <a:ext cx="0" cy="15087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5513832" y="3360420"/>
            <a:ext cx="0" cy="15087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5513832" y="2834640"/>
            <a:ext cx="0" cy="67665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3767328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767328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767328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767328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7328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4567428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567428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4567428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567428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4567428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67428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367528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367528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367528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367528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5367528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367528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3602736" y="4069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short lagged parent list per target. Same-instant links are untouched — part 1 never looks at them.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6117336" y="301752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254496" y="1627632"/>
            <a:ext cx="2606040" cy="38404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455664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2F7A5C"/>
                </a:solidFill>
              </a:rPr>
              <a:t>AFTER PART 2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7712964" y="2651760"/>
            <a:ext cx="425196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682918" y="2752194"/>
            <a:ext cx="486791" cy="319891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712964" y="3177540"/>
            <a:ext cx="425196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330184" y="3360420"/>
            <a:ext cx="0" cy="15087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583680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5836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6583680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6583680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6583680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583680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7383780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3837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7383780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383780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7383780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383780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183880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1838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8183880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8183880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183880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183880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419088" y="4069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Survivors of the MCI test. Adjacencies only, still no arrowheads.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933688" y="301752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070848" y="1627632"/>
            <a:ext cx="2606040" cy="38404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9272016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9C7A35"/>
                </a:solidFill>
              </a:rPr>
              <a:t>AFTER ORIENTATION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10529316" y="2651760"/>
            <a:ext cx="425196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10499270" y="2752194"/>
            <a:ext cx="486791" cy="319891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10529316" y="3177540"/>
            <a:ext cx="425196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1146536" y="3360420"/>
            <a:ext cx="0" cy="15087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9400032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9400032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400032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9400032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400032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400032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10200132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10200132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10200132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200132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10200132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0200132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11000232" y="250545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1000232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11000232" y="303123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11000232" y="30312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11000232" y="3557016"/>
            <a:ext cx="292608" cy="292608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1000232" y="3557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235440" y="4069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Time orients the lagged links, one triple settles the last edge.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621792" y="562356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822960" y="5751576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gold marks T and P. The lagged arrow T(t−1) → P(t) survives part 1, dies in part 2, and the same-instant edge is the one that finally gets an arrowhead.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Part 1: build the parent list of P(t)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target at a time. Only lagged nodes are candidates, so the same-instant node T(t) is not even in the running.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337560" cy="4114800"/>
          </a:xfrm>
          <a:prstGeom prst="roundRect">
            <a:avLst>
              <a:gd name="adj" fmla="val 2740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7B5577"/>
                </a:solidFill>
              </a:rPr>
              <a:t>THE PROCEDURE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86968" y="221284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25399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B5577"/>
                </a:solidFill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2203704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Correlate every candidate with the target, with nothing held fixed. Rank them, strongest first.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86968" y="308152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31226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B5577"/>
                </a:solidFill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3072384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Take the strongest, T(t−1), and hold it fixed. Re-test every other candidate against the target.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95020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9913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B5577"/>
                </a:solidFill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941064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Whatever collapses to near zero leaves the list for good. The rest stay.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" y="481888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7B557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86003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B5577"/>
                </a:solidFill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4809744"/>
            <a:ext cx="2523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Now hold pairs fixed, then triples, always strongest first, until no candidate has enough others left to pair with.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114800" y="1627632"/>
            <a:ext cx="2377440" cy="41148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97680" y="1810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ROUND p = 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078224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09744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41264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66158" y="2840101"/>
            <a:ext cx="527869" cy="75881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408020" y="3324659"/>
            <a:ext cx="441942" cy="31764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40680" y="3749040"/>
            <a:ext cx="374904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676500" y="2798879"/>
            <a:ext cx="1173462" cy="84342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698923" y="3282017"/>
            <a:ext cx="1127438" cy="405173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4709160" y="3749040"/>
            <a:ext cx="1106424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39826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39826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39826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9826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9826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9826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12978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2978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12978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978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12978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978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86130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6130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86130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86130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861304" y="3611880"/>
            <a:ext cx="274320" cy="274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86130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261104" y="411480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Nothing held fixed. All six candidates survive — plain correlation cuts nothing.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547104" y="3017520"/>
            <a:ext cx="25603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29400" y="1627632"/>
            <a:ext cx="2377440" cy="41148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12280" y="1810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ROUND p = 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880758" y="2840101"/>
            <a:ext cx="527869" cy="75881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7922620" y="3324659"/>
            <a:ext cx="441942" cy="31764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191100" y="2798879"/>
            <a:ext cx="1173462" cy="84342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955280" y="3749040"/>
            <a:ext cx="374904" cy="0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801471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7213523" y="3282017"/>
            <a:ext cx="1127438" cy="405173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57" name="Text 55"/>
          <p:cNvSpPr txBox="1"/>
          <p:nvPr/>
        </p:nvSpPr>
        <p:spPr>
          <a:xfrm>
            <a:off x="7649225" y="33565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7223760" y="3749040"/>
            <a:ext cx="1106424" cy="0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764895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91286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91286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91286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91286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91286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91286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764438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64438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7644384" y="308610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64438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764438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64438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37590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37590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37590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37590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8375904" y="3611880"/>
            <a:ext cx="274320" cy="274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37590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775704" y="411480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T(t−1) held fixed. P(t−1), T(t−2) and P(t−2) collapse and leave.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9061704" y="3017520"/>
            <a:ext cx="25603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144000" y="1627632"/>
            <a:ext cx="2377440" cy="411480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326880" y="1810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ROUND p = 2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10395358" y="2840101"/>
            <a:ext cx="527869" cy="758812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>
            <a:off x="10437220" y="3324659"/>
            <a:ext cx="441942" cy="317646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9705700" y="2798879"/>
            <a:ext cx="1173462" cy="843426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85" name="Text 83"/>
          <p:cNvSpPr txBox="1"/>
          <p:nvPr/>
        </p:nvSpPr>
        <p:spPr>
          <a:xfrm>
            <a:off x="10164415" y="309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942746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42746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42746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42746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42746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42746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10158984" y="256032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15898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10158984" y="308610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015898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10158984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15898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10890504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890504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10890504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890504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10890504" y="3611880"/>
            <a:ext cx="274320" cy="27432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890504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9290304" y="4114800"/>
            <a:ext cx="2084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T(t−1) and F(t−1) held fixed. F(t−2) collapses. Two candidates remain.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621792" y="587044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22960" y="5998464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T(t−1) was the strongest candidate, so it is the first thing put into Z — and it survives every round. Part 1 hands on B(P) = { F(t−1), T(t−1) }.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the Part 1 list is not final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Part 1 conditions on lagged nodes only, so it cannot block a path that passes through the present minute.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5029200" cy="36576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7B5577"/>
                </a:solidFill>
              </a:rPr>
              <a:t>WHAT PART 1 KEPT FOR P(t)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34573" y="3006006"/>
            <a:ext cx="817382" cy="1021727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883578" y="3636751"/>
            <a:ext cx="717329" cy="448331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41732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173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417320" y="33375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7320" y="40233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1732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51460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514600" y="333756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146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14600" y="40233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146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1188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1188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11880" y="33375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118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11880" y="402336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1188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7091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Both arrows passed every lagged test, so both are on the list.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870448" y="3246120"/>
            <a:ext cx="457200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87568" y="36576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F7A5C"/>
                </a:solidFill>
              </a:rPr>
              <a:t>truth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37960" y="1691640"/>
            <a:ext cx="5010912" cy="365760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30568" y="1874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2F7A5C"/>
                </a:solidFill>
              </a:rPr>
              <a:t>WHAT IS ACTUALLY THERE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445752" y="3136392"/>
            <a:ext cx="768096" cy="768096"/>
          </a:xfrm>
          <a:prstGeom prst="ellipse">
            <a:avLst/>
          </a:prstGeom>
          <a:solidFill>
            <a:srgbClr val="9C7A35">
              <a:alpha val="15000"/>
            </a:srgbClr>
          </a:solidFill>
          <a:ln w="19050">
            <a:solidFill>
              <a:srgbClr val="9C7A35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71780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2753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93726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918618" y="2950951"/>
            <a:ext cx="717329" cy="448331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951976" y="3520440"/>
            <a:ext cx="64922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829800" y="3739896"/>
            <a:ext cx="0" cy="237744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45236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5236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452360" y="33375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236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452360" y="40233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45236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54964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54964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549640" y="33375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549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549640" y="40233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54964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646920" y="26517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469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646920" y="3337560"/>
            <a:ext cx="365760" cy="36576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4692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9646920" y="4023360"/>
            <a:ext cx="365760" cy="36576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64692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10305288" y="34107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C7A35"/>
                </a:solidFill>
              </a:rPr>
              <a:t>the mediator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830568" y="47091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Neither lagged node touches P directly. Both reach it through T(t), which sits at lag 0 — invisible to part 1.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621792" y="553212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22960" y="5660136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This is why T(t−1) → P(t) is still standing. To cut it, something has to put T(t) into Z. That is exactly what part 2 adds.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Part 2: build the test set Z for our link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Link under test: T(t−1) → P(t), in gold. Z is no longer a few candidates — it is assembled from three fixed sources.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11880" y="233172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2F7A5C">
              <a:alpha val="14000"/>
            </a:srgbClr>
          </a:solidFill>
          <a:ln w="19050">
            <a:solidFill>
              <a:srgbClr val="2F7A5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371600" y="2331720"/>
            <a:ext cx="822960" cy="1874520"/>
          </a:xfrm>
          <a:prstGeom prst="roundRect">
            <a:avLst>
              <a:gd name="adj" fmla="val 15556"/>
            </a:avLst>
          </a:prstGeom>
          <a:solidFill>
            <a:srgbClr val="7B5577">
              <a:alpha val="14000"/>
            </a:srgbClr>
          </a:solidFill>
          <a:ln w="19050">
            <a:solidFill>
              <a:srgbClr val="7B5577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852160" y="338328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9C7A35">
              <a:alpha val="14000"/>
            </a:srgbClr>
          </a:solidFill>
          <a:ln w="19050">
            <a:solidFill>
              <a:srgbClr val="9C7A3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263407" y="3907435"/>
            <a:ext cx="1751908" cy="822324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88536" y="2743200"/>
            <a:ext cx="1700784" cy="0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63407" y="2855875"/>
            <a:ext cx="1751908" cy="822324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88536" y="3794760"/>
            <a:ext cx="1700784" cy="0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63640" y="4059936"/>
            <a:ext cx="0" cy="512064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554480" y="2514600"/>
            <a:ext cx="457200" cy="45720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544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F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566160"/>
            <a:ext cx="457200" cy="45720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54480" y="4617720"/>
            <a:ext cx="457200" cy="45720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5448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94760" y="2514600"/>
            <a:ext cx="457200" cy="45720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94760" y="3566160"/>
            <a:ext cx="457200" cy="4572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9476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94760" y="4617720"/>
            <a:ext cx="457200" cy="45720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9476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35040" y="2514600"/>
            <a:ext cx="457200" cy="45720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350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35040" y="3566160"/>
            <a:ext cx="457200" cy="45720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035040" y="4617720"/>
            <a:ext cx="457200" cy="4572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2084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t−2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611880" y="2084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t−1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20848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949440" y="1664208"/>
            <a:ext cx="4599432" cy="1261872"/>
          </a:xfrm>
          <a:prstGeom prst="roundRect">
            <a:avLst>
              <a:gd name="adj" fmla="val 72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87184" y="18288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2F7A5C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61504" y="17922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parents of the TARGET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187184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P(t) is the target, so B(P) goes in — minus the source itself. B(P) = {F(t−1), T(t−1)}, and T(t−1) is the link under test, so only F(t−1) is left.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3035808"/>
            <a:ext cx="4599432" cy="1261872"/>
          </a:xfrm>
          <a:prstGeom prst="roundRect">
            <a:avLst>
              <a:gd name="adj" fmla="val 72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187184" y="32004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7B5577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61504" y="31638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parents of the SOURCE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187184" y="34747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T(t−1) is the source, so B(T) goes in as well, slid back to its own time slice.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949440" y="4407408"/>
            <a:ext cx="4599432" cy="1261872"/>
          </a:xfrm>
          <a:prstGeom prst="roundRect">
            <a:avLst>
              <a:gd name="adj" fmla="val 72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187184" y="4572000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9C7A35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61504" y="4535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S — same-instant neighbors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87184" y="48463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Nodes still adjacent to P at lag 0. S is empty in the first round and takes one more neighbor in each round after that.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1792" y="5806440"/>
            <a:ext cx="603504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22960" y="593445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Once T(t) enters the gold box, our link can finally be cut.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parent list moves back in time with its node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Part 1 reports every list as if its owner sat at time t. When that owner is the source of a lagged link, the list slides back with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4480560" cy="356616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AS PART 1 REPORTS IT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51760" y="2514600"/>
            <a:ext cx="731520" cy="1417320"/>
          </a:xfrm>
          <a:prstGeom prst="roundRect">
            <a:avLst>
              <a:gd name="adj" fmla="val 17500"/>
            </a:avLst>
          </a:prstGeom>
          <a:solidFill>
            <a:srgbClr val="7B5577">
              <a:alpha val="14000"/>
            </a:srgbClr>
          </a:solidFill>
          <a:ln w="19050">
            <a:solidFill>
              <a:srgbClr val="7B5577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37160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23450" y="2999166"/>
            <a:ext cx="768939" cy="443619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255264" y="3566160"/>
            <a:ext cx="704088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62763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2763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27632" y="33649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2763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2763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2763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1635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1635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16352" y="33649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1635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1635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1635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00507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0507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005072" y="3364992"/>
            <a:ext cx="402336" cy="402336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0507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00507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0507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46177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B(T) = { F(t−1), T(t−1) }, written for T sitting at time 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577840" y="3200400"/>
            <a:ext cx="548640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F7A5C"/>
                </a:solidFill>
              </a:rPr>
              <a:t>slide back by τ = 1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858000" y="1783080"/>
            <a:ext cx="4480560" cy="3566160"/>
          </a:xfrm>
          <a:prstGeom prst="roundRect">
            <a:avLst>
              <a:gd name="adj" fmla="val 2564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2F7A5C"/>
                </a:solidFill>
              </a:rPr>
              <a:t>AS PART 2 USES IT FOR OUR LINK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498080" y="2514600"/>
            <a:ext cx="731520" cy="1417320"/>
          </a:xfrm>
          <a:prstGeom prst="roundRect">
            <a:avLst>
              <a:gd name="adj" fmla="val 17500"/>
            </a:avLst>
          </a:prstGeom>
          <a:solidFill>
            <a:srgbClr val="7B5577">
              <a:alpha val="14000"/>
            </a:srgbClr>
          </a:solidFill>
          <a:ln w="19050">
            <a:solidFill>
              <a:srgbClr val="7B5577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740664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9536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78408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069770" y="2999166"/>
            <a:ext cx="768939" cy="443619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101584" y="3566160"/>
            <a:ext cx="704088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66267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66267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662672" y="33649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6267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66267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6267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85139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5139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8851392" y="3364992"/>
            <a:ext cx="402336" cy="402336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85139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885139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85139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10040112" y="26791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04011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10040112" y="33649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040112" y="3364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10040112" y="4050792"/>
            <a:ext cx="402336" cy="402336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04011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7132320" y="46177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Here T is the source at t − 1, so the same list enters as { F(t−2), T(t−2) }.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621792" y="553212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2960" y="5660136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Stationarity is what makes the slide legal: one graph describes every minute, so a parent list can be moved along the time axis.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Part 2 rounds: where our link is removed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Grey ring = held fixed in Z for that round. Red dashes = cut in that round.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108960" cy="393192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810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2F7A5C"/>
                </a:solidFill>
              </a:rPr>
              <a:t>THE PROCEDURE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86968" y="221284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2F7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25399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7A5C"/>
                </a:solidFill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220370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Start from the lagged links part 1 kept, plus every same-instant pair.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86968" y="308152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2F7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31226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7A5C"/>
                </a:solidFill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307238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Round p: for each surviving link, build Z from both parent lists plus every S of size p drawn from the target’s same-instant neighbors.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95020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2F7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9913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7A5C"/>
                </a:solidFill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94106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link dies at the first Z that zeroes its leftover. That Z is stored as the pair’s separating set.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" y="4818888"/>
            <a:ext cx="274320" cy="274320"/>
          </a:xfrm>
          <a:prstGeom prst="ellipse">
            <a:avLst/>
          </a:prstGeom>
          <a:solidFill>
            <a:schemeClr val="bg1"/>
          </a:solidFill>
          <a:ln w="17780">
            <a:solidFill>
              <a:srgbClr val="2F7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86003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7A5C"/>
                </a:solidFill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480974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Raise p and repeat until no target has enough neighbors left to fill 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2441448" cy="3931920"/>
          </a:xfrm>
          <a:prstGeom prst="roundRect">
            <a:avLst>
              <a:gd name="adj" fmla="val 3745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69080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WHAT ENTERS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867912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2292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53228" y="2697480"/>
            <a:ext cx="397764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222025" y="2796821"/>
            <a:ext cx="461813" cy="32187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253228" y="3223260"/>
            <a:ext cx="397764" cy="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180764" y="2838647"/>
            <a:ext cx="546506" cy="761796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222025" y="3322601"/>
            <a:ext cx="461813" cy="321870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833872" y="2871216"/>
            <a:ext cx="0" cy="169164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833872" y="3396996"/>
            <a:ext cx="0" cy="169164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187952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87952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187952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87952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187952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187952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942332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42332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942332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942332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942332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42332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696712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96712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696712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96712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696712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96712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032504" y="41148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Six lagged links from part 1, plus the three same-instant pairs.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382512" y="3017520"/>
            <a:ext cx="25603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1627632"/>
            <a:ext cx="2441448" cy="3931920"/>
          </a:xfrm>
          <a:prstGeom prst="roundRect">
            <a:avLst>
              <a:gd name="adj" fmla="val 3745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647688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ROUND p = 0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831836" y="2697480"/>
            <a:ext cx="39776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800633" y="2796821"/>
            <a:ext cx="461813" cy="32187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7831836" y="3223260"/>
            <a:ext cx="39776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7759372" y="2838647"/>
            <a:ext cx="546506" cy="761796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800633" y="3322601"/>
            <a:ext cx="461813" cy="321870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8412480" y="3396996"/>
            <a:ext cx="0" cy="169164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412480" y="2871216"/>
            <a:ext cx="0" cy="169164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8284464" y="282778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766560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76656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766560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766560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766560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76656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7520940" y="256032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52094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F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7520940" y="308610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520940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7520940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94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8275320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27532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275320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275320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8275320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75320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611112" y="41148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 is empty, but both parent lists are already in Z. The two false same-instant links collapse. Our link survives.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8961120" y="3017520"/>
            <a:ext cx="25603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043416" y="1627632"/>
            <a:ext cx="2441448" cy="3931920"/>
          </a:xfrm>
          <a:prstGeom prst="roundRect">
            <a:avLst>
              <a:gd name="adj" fmla="val 3745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226296" y="1810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9C7A35"/>
                </a:solidFill>
              </a:rPr>
              <a:t>ROUND p = 1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10410444" y="2697480"/>
            <a:ext cx="39776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10379241" y="2796821"/>
            <a:ext cx="461813" cy="32187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10410444" y="3223260"/>
            <a:ext cx="39776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10337980" y="2838647"/>
            <a:ext cx="546506" cy="761796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86" name="Text 84"/>
          <p:cNvSpPr txBox="1"/>
          <p:nvPr/>
        </p:nvSpPr>
        <p:spPr>
          <a:xfrm>
            <a:off x="10483217" y="3091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0379241" y="3322601"/>
            <a:ext cx="461813" cy="321870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88" name="Text 86"/>
          <p:cNvSpPr txBox="1"/>
          <p:nvPr/>
        </p:nvSpPr>
        <p:spPr>
          <a:xfrm>
            <a:off x="10482131" y="3355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10991088" y="3396996"/>
            <a:ext cx="0" cy="169164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345168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345168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345168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9345168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9345168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9345168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10099548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099548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10099548" y="308610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099548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10099548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099548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10853928" y="256032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853928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10853928" y="308610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853928" y="30861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10853928" y="361188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853928" y="3611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9189720" y="41148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 takes T(t). Both remaining arrows into P were only passing through it, so both are cut — ours included.</a:t>
            </a:r>
            <a:endParaRPr lang="en-US" sz="1150" dirty="0"/>
          </a:p>
        </p:txBody>
      </p:sp>
      <p:sp>
        <p:nvSpPr>
          <p:cNvPr id="109" name="Shape 107"/>
          <p:cNvSpPr/>
          <p:nvPr/>
        </p:nvSpPr>
        <p:spPr>
          <a:xfrm>
            <a:off x="621792" y="568756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22960" y="5815584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T(t−1) → P(t) is gone, and the Z that killed it contained T(t). That note is written down — orientation is about to need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Orientation: give each link a direction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skeleton has four edges and no arrowheads. Direction comes from the clock, then from one triple.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456432" cy="3703320"/>
          </a:xfrm>
          <a:prstGeom prst="roundRect">
            <a:avLst>
              <a:gd name="adj" fmla="val 26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9536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2F7A5C"/>
                </a:solidFill>
              </a:rPr>
              <a:t>TIME SETTLES THREE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897380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4892" y="2697480"/>
            <a:ext cx="55321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36396" y="2803187"/>
            <a:ext cx="611442" cy="35549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64892" y="3268980"/>
            <a:ext cx="55321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337560" y="3479292"/>
            <a:ext cx="0" cy="141732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97864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97864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97864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97864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197864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9786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80844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80844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80844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180844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180844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8084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63824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63824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163824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63824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163824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163824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" y="44622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Anything crossing a time slice can only point forward. Three edges are directed without a single test.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142232" y="310896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43400" y="1627632"/>
            <a:ext cx="3456432" cy="3703320"/>
          </a:xfrm>
          <a:prstGeom prst="roundRect">
            <a:avLst>
              <a:gd name="adj" fmla="val 26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81144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9C7A35"/>
                </a:solidFill>
              </a:rPr>
              <a:t>THE TRIPLE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86500" y="3268980"/>
            <a:ext cx="553212" cy="0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059168" y="3479292"/>
            <a:ext cx="0" cy="141732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8004" y="3374687"/>
            <a:ext cx="611442" cy="355490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6435709" y="3424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286500" y="2697480"/>
            <a:ext cx="553212" cy="0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258004" y="2803187"/>
            <a:ext cx="611442" cy="355490"/>
          </a:xfrm>
          <a:prstGeom prst="line">
            <a:avLst/>
          </a:prstGeom>
          <a:noFill/>
          <a:ln w="17780">
            <a:solidFill>
              <a:srgbClr val="C9C2B2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919472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919472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919472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919472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919472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919472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02452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02452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02452" y="3095244"/>
            <a:ext cx="347472" cy="347472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902452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902452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2452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885432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85432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885432" y="3095244"/>
            <a:ext cx="347472" cy="347472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885432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885432" y="3666744"/>
            <a:ext cx="347472" cy="347472"/>
          </a:xfrm>
          <a:prstGeom prst="ellipse">
            <a:avLst/>
          </a:prstGeom>
          <a:solidFill>
            <a:schemeClr val="bg1"/>
          </a:solidFill>
          <a:ln w="38100">
            <a:solidFill>
              <a:srgbClr val="9C7A3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85432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P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056632" y="4041648"/>
            <a:ext cx="2057400" cy="292608"/>
          </a:xfrm>
          <a:prstGeom prst="roundRect">
            <a:avLst>
              <a:gd name="adj" fmla="val 43750"/>
            </a:avLst>
          </a:prstGeom>
          <a:solidFill>
            <a:schemeClr val="bg1"/>
          </a:solidFill>
          <a:ln w="16510">
            <a:solidFill>
              <a:srgbClr val="9C7A35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56632" y="409194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7A35"/>
                </a:solidFill>
              </a:rPr>
              <a:t>T(t)  ∈  the cutting set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4526280" y="44622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T(t−1) → T(t) — P(t). The outer two are not adjacent, because we cut them in round 1, and T(t) was in the Z that cut them.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863840" y="310896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65008" y="1627632"/>
            <a:ext cx="3456432" cy="3703320"/>
          </a:xfrm>
          <a:prstGeom prst="roundRect">
            <a:avLst>
              <a:gd name="adj" fmla="val 2646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302752" y="1810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7B5577"/>
                </a:solidFill>
              </a:rPr>
              <a:t>THE ONLY WAY LEFT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0008108" y="2697480"/>
            <a:ext cx="55321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9979612" y="2803187"/>
            <a:ext cx="611442" cy="35549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10008108" y="3268980"/>
            <a:ext cx="55321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780776" y="3479292"/>
            <a:ext cx="0" cy="141732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641080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64108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8641080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8641080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641080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641080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624060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2406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9624060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9624060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9624060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9624060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10607040" y="2523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0607040" y="2523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10607040" y="30952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607040" y="30952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0607040" y="3666744"/>
            <a:ext cx="347472" cy="34747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607040" y="36667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8247888" y="44622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If the edge read P(t) → T(t), then T(t) would be a collider. A node inside the cutting set is never a collider, so the arrow points the other way.</a:t>
            </a:r>
            <a:endParaRPr lang="en-US" sz="1150" dirty="0"/>
          </a:p>
        </p:txBody>
      </p:sp>
      <p:sp>
        <p:nvSpPr>
          <p:cNvPr id="88" name="Shape 86"/>
          <p:cNvSpPr/>
          <p:nvPr/>
        </p:nvSpPr>
        <p:spPr>
          <a:xfrm>
            <a:off x="621792" y="548640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5240">
            <a:solidFill>
              <a:srgbClr val="9C7A35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960" y="5614416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7A35"/>
                </a:solidFill>
              </a:rPr>
              <a:t>OUR PAIR   </a:t>
            </a:r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T(t) → P(t). The pair we picked at the start is finished, and the direction is the one the data was generated with.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pair, from start to finish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Four moments in the life of one relationship — and the same four moments happened to every other link in parallel.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CANDIDATE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4018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t−1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48225" y="3103717"/>
            <a:ext cx="490471" cy="280269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97480" y="3191256"/>
            <a:ext cx="0" cy="100584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64331" y="3065249"/>
            <a:ext cx="1257305" cy="359230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960120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760220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76022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760220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76022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760220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76022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560320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6032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60320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60320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560320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56032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T(t−1) → P(t) and T(t) — P(t) both start as guesses, among 21.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300984" y="283464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38144" y="1627632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639312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7B5577"/>
                </a:solidFill>
              </a:rPr>
              <a:t>SURVIVES PART 1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864577" y="3103717"/>
            <a:ext cx="490471" cy="280269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13832" y="3191256"/>
            <a:ext cx="0" cy="100584"/>
          </a:xfrm>
          <a:prstGeom prst="line">
            <a:avLst/>
          </a:prstGeom>
          <a:noFill/>
          <a:ln w="12700">
            <a:solidFill>
              <a:srgbClr val="C9C2B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776472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76472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776472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77647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76472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7647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6572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6572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6572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657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6572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657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376672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376672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376672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37667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376672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376672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3602736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The lagged arrow is on B(P), because part 1 cannot see the mediator T(t).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117336" y="283464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54496" y="1627632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55664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84A3E"/>
                </a:solidFill>
              </a:rPr>
              <a:t>CUT IN PART 2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680929" y="3103717"/>
            <a:ext cx="490471" cy="280269"/>
          </a:xfrm>
          <a:prstGeom prst="line">
            <a:avLst/>
          </a:prstGeom>
          <a:noFill/>
          <a:ln w="17780">
            <a:solidFill>
              <a:srgbClr val="A84A3E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7798148" y="31158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4A3E"/>
                </a:solidFill>
              </a:rPr>
              <a:t>✕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330184" y="3191256"/>
            <a:ext cx="0" cy="100584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92824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592824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6592824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92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592824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59282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7392924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92924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7392924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73929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7392924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739292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193024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193024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8193024" y="2880360"/>
            <a:ext cx="274320" cy="274320"/>
          </a:xfrm>
          <a:prstGeom prst="ellipse">
            <a:avLst/>
          </a:prstGeom>
          <a:solidFill>
            <a:srgbClr val="E3DED2"/>
          </a:solidFill>
          <a:ln w="20320">
            <a:solidFill>
              <a:srgbClr val="A39D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1930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92D32"/>
                </a:solidFill>
              </a:rPr>
              <a:t>T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8193024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93024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419088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With T(t) in S, the lagged arrow drops to nothing and is cut. T(t) is recorded.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8933688" y="2834640"/>
            <a:ext cx="301752" cy="310896"/>
          </a:xfrm>
          <a:prstGeom prst="rightArrow">
            <a:avLst/>
          </a:prstGeom>
          <a:solidFill>
            <a:srgbClr val="E3DED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070848" y="1627632"/>
            <a:ext cx="2606040" cy="292608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272016" y="1810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2F7A5C"/>
                </a:solidFill>
              </a:rPr>
              <a:t>ORIENTED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10520172" y="3017520"/>
            <a:ext cx="443484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11146536" y="3191256"/>
            <a:ext cx="0" cy="100584"/>
          </a:xfrm>
          <a:prstGeom prst="line">
            <a:avLst/>
          </a:prstGeom>
          <a:noFill/>
          <a:ln w="3810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9409176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9409176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409176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409176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9409176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40917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10209276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0209276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10209276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10209276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10209276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927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11009376" y="24231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11009376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11009376" y="28803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11009376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11009376" y="3337560"/>
            <a:ext cx="274320" cy="274320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1009376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9235440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That record makes the triple a non-collider, which forces T(t) → P(t).</a:t>
            </a:r>
            <a:endParaRPr lang="en-US" sz="1150" dirty="0"/>
          </a:p>
        </p:txBody>
      </p:sp>
      <p:sp>
        <p:nvSpPr>
          <p:cNvPr id="104" name="Shape 102"/>
          <p:cNvSpPr/>
          <p:nvPr/>
        </p:nvSpPr>
        <p:spPr>
          <a:xfrm>
            <a:off x="621792" y="4709160"/>
            <a:ext cx="6675120" cy="1554480"/>
          </a:xfrm>
          <a:prstGeom prst="roundRect">
            <a:avLst>
              <a:gd name="adj" fmla="val 5882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914400" y="4873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2F7A5C"/>
                </a:solidFill>
              </a:rPr>
              <a:t>RECOVERED GRAPH — the same four links as the equations on the setup slide, nothing extra, nothing missing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816352" y="5349240"/>
            <a:ext cx="117043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4325112" y="5349240"/>
            <a:ext cx="117043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2811938" y="5387100"/>
            <a:ext cx="1179504" cy="278792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4320698" y="5387100"/>
            <a:ext cx="1179504" cy="278792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2816352" y="5705856"/>
            <a:ext cx="117043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4325112" y="5705856"/>
            <a:ext cx="1170432" cy="0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4160520" y="5870448"/>
            <a:ext cx="0" cy="18288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5669280" y="5870448"/>
            <a:ext cx="0" cy="18288"/>
          </a:xfrm>
          <a:prstGeom prst="line">
            <a:avLst/>
          </a:prstGeom>
          <a:noFill/>
          <a:ln w="28575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2523744" y="5221224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2523744" y="5221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2523744" y="5577840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2523744" y="5577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2523744" y="5934456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2523744" y="5934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4032504" y="5221224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4032504" y="5221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4032504" y="5577840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4032504" y="5577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4032504" y="5934456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4032504" y="5934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5541264" y="5221224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5541264" y="5221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577"/>
                </a:solidFill>
              </a:rPr>
              <a:t>F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5541264" y="5577840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5541264" y="5577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7A35"/>
                </a:solidFill>
              </a:rPr>
              <a:t>T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5541264" y="5934456"/>
            <a:ext cx="256032" cy="256032"/>
          </a:xfrm>
          <a:prstGeom prst="ellipse">
            <a:avLst/>
          </a:prstGeom>
          <a:solidFill>
            <a:schemeClr val="bg1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5541264" y="5934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7A5C"/>
                </a:solidFill>
              </a:rPr>
              <a:t>P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7589520" y="4709160"/>
            <a:ext cx="3959352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7882128" y="4873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676B70"/>
                </a:solidFill>
              </a:rPr>
              <a:t>WHAT EACH PART BOUGHT</a:t>
            </a:r>
            <a:endParaRPr lang="en-US" sz="1150" dirty="0"/>
          </a:p>
        </p:txBody>
      </p:sp>
      <p:sp>
        <p:nvSpPr>
          <p:cNvPr id="134" name="Text 132"/>
          <p:cNvSpPr txBox="1"/>
          <p:nvPr/>
        </p:nvSpPr>
        <p:spPr>
          <a:xfrm>
            <a:off x="7882128" y="523036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7B5577"/>
                </a:solidFill>
              </a:rPr>
              <a:t>Part 1  a small, relevant Z for every later test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F7A5C"/>
                </a:solidFill>
              </a:rPr>
              <a:t>Part 2  a cut for every link that was only indirect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7A35"/>
                </a:solidFill>
              </a:rPr>
              <a:t>Orientation  an arrowhead on what is left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PCMCI+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Same reactor, one change: non-Gaussian noise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Three sensors on a reactor cooling loop, read once a minute for 300 minutes. Only the noise distribution has changed.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8562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THREE SENSORS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60120" y="2286000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351288"/>
            <a:ext cx="310896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134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92D32"/>
                </a:solidFill>
              </a:rPr>
              <a:t>coolant flow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l/min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60120" y="2688336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753624"/>
            <a:ext cx="310896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715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92D32"/>
                </a:solidFill>
              </a:rPr>
              <a:t>reactor temperature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73405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°C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0120" y="3090672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155960"/>
            <a:ext cx="310896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1181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92D32"/>
                </a:solidFill>
              </a:rPr>
              <a:t>vessel pressure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31363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bar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99632" y="16916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73952" y="18562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HOW THE DATA WAS MADE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92D32"/>
                </a:solidFill>
              </a:rPr>
              <a:t>F(t)  =  0.60 F(t−1)   +  ε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651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92D32"/>
                </a:solidFill>
              </a:rPr>
              <a:t>T(t)  =  0.65 T(t−1)  +  0.50 F(t−1)   +  ε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017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C7A35"/>
                </a:solidFill>
              </a:rPr>
              <a:t>P(t)  =  0.80 T(t)   +  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378440" y="3035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C7A35"/>
                </a:solidFill>
              </a:rPr>
              <a:t>same minute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1638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ε is uniform noise, independent across sensors and across time — not Gaussian. That one change is what VAR-LiNGAM feeds on.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3767328"/>
            <a:ext cx="694944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6112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FIRST SIX MINUTES OF THE RECORDING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2245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minute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514600" y="42245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F   l/min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114800" y="42245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  °C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42245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P   bar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14400" y="4480560"/>
            <a:ext cx="6309360" cy="0"/>
          </a:xfrm>
          <a:prstGeom prst="line">
            <a:avLst/>
          </a:prstGeom>
          <a:noFill/>
          <a:ln w="12700">
            <a:solidFill>
              <a:srgbClr val="DAD4C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5354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514600" y="45354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40.69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0" y="45354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309.52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715000" y="45354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11.83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47548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2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514600" y="47548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39.88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114800" y="47548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308.72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715000" y="47548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10.89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49743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514600" y="49743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38.37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0" y="49743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308.85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715000" y="49743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11.91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51937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5193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40.17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114800" y="5193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309.60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715000" y="5193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11.69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14400" y="54132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5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514600" y="54132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39.67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114800" y="54132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308.63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715000" y="54132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11.11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6327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6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2514600" y="5632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39.19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0" y="5632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308.00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715000" y="5632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9.03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14400" y="5760720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300 rows in total · 299 usable once one lag is cut off the front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863840" y="3767328"/>
            <a:ext cx="3685032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38160" y="39319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SETTINGS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8156448" y="420624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92D32"/>
                </a:solidFill>
              </a:rPr>
              <a:t>τmax = 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156448" y="4425696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one minute of memory covers the true delays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156448" y="4654296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92D32"/>
                </a:solidFill>
              </a:rPr>
              <a:t>N = 300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8156448" y="4873752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rows, estimated by ordinary least squares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8156448" y="5102352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excess kurtosis  −1.14, −1.09, −0.60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156448" y="532180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the residuals are flat-topped, far from Gaussian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8156448" y="555040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92D32"/>
                </a:solidFill>
              </a:rPr>
              <a:t>prune at |b| &lt; 0.05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8156448" y="5769864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anything smaller is read as estimation noise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Two kinds of link need different tools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lagged link is ordered by the clock. A same-minute link is not, so the algorithm has to read the shape of the noise instead.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703320" cy="39319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LAGGED  —  THE CLOCK DECIDES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220529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− 1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408176" y="241401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08176" y="249466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08176" y="3035808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08176" y="3116458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408176" y="365760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08176" y="3738250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2220529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91256" y="241401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91256" y="249466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F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91256" y="3035808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91256" y="3116458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91256" y="365760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1256" y="3738250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B5577"/>
                </a:solidFill>
              </a:rPr>
              <a:t>P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792224" y="2606040"/>
            <a:ext cx="1399032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792224" y="3227832"/>
            <a:ext cx="1399032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781516" y="2669268"/>
            <a:ext cx="1420448" cy="495336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14400" y="42793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A cause in an earlier minute cannot be the effect of a later one. Nothing has to be tested — the direction is given.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26280" y="1627632"/>
            <a:ext cx="3703320" cy="393192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922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SAME MINUTE  —  THE CLOCK IS SILENT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294376" y="241401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294376" y="249466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C7A35"/>
                </a:solidFill>
              </a:rPr>
              <a:t>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031736" y="241401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31736" y="249466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C7A35"/>
                </a:solidFill>
              </a:rPr>
              <a:t>P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678424" y="2606040"/>
            <a:ext cx="1353312" cy="0"/>
          </a:xfrm>
          <a:prstGeom prst="line">
            <a:avLst/>
          </a:prstGeom>
          <a:noFill/>
          <a:ln w="25400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294376" y="323697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94376" y="331762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C7A35"/>
                </a:solidFill>
              </a:rPr>
              <a:t>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031736" y="3236976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031736" y="3317626"/>
            <a:ext cx="38404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C7A35"/>
                </a:solidFill>
              </a:rPr>
              <a:t>P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 flipH="1">
            <a:off x="5678424" y="3429000"/>
            <a:ext cx="1353312" cy="0"/>
          </a:xfrm>
          <a:prstGeom prst="line">
            <a:avLst/>
          </a:prstGeom>
          <a:noFill/>
          <a:ln w="25400">
            <a:solidFill>
              <a:srgbClr val="A84A3E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80060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9C7A35"/>
                </a:solidFill>
              </a:rPr>
              <a:t>corr( n</a:t>
            </a:r>
            <a:pPr algn="ctr" indent="0" marL="0">
              <a:lnSpc>
                <a:spcPct val="100000"/>
              </a:lnSpc>
              <a:buNone/>
            </a:pPr>
            <a:r>
              <a:rPr lang="en-US" sz="1350" b="1" baseline="-40000" dirty="0">
                <a:solidFill>
                  <a:srgbClr val="9C7A35"/>
                </a:solidFill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9C7A35"/>
                </a:solidFill>
              </a:rPr>
              <a:t> , n</a:t>
            </a:r>
            <a:pPr algn="ctr" indent="0" marL="0">
              <a:lnSpc>
                <a:spcPct val="100000"/>
              </a:lnSpc>
              <a:buNone/>
            </a:pPr>
            <a:r>
              <a:rPr lang="en-US" sz="1350" b="1" baseline="-40000" dirty="0">
                <a:solidFill>
                  <a:srgbClr val="9C7A35"/>
                </a:solidFill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9C7A35"/>
                </a:solidFill>
              </a:rPr>
              <a:t> )  =  0.771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434340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One number, two stories. A correlation is symmetric, so least squares alone can never choose between these two arrows.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458200" y="1627632"/>
            <a:ext cx="3090672" cy="3931920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32520" y="179222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NEW INGREDIENT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750808" y="22402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one shock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759952" y="2914101"/>
            <a:ext cx="174439" cy="213147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952679" y="2661910"/>
            <a:ext cx="174439" cy="465338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5407" y="2758562"/>
            <a:ext cx="174439" cy="368686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38134" y="2720157"/>
            <a:ext cx="174439" cy="407091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0862" y="2603663"/>
            <a:ext cx="174439" cy="523585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23589" y="2739360"/>
            <a:ext cx="174439" cy="387888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16316" y="2681112"/>
            <a:ext cx="174439" cy="446136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109044" y="2487168"/>
            <a:ext cx="174439" cy="640080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301771" y="2661910"/>
            <a:ext cx="174439" cy="465338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494498" y="2526213"/>
            <a:ext cx="174439" cy="601035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687226" y="2603663"/>
            <a:ext cx="174439" cy="523585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879953" y="2836012"/>
            <a:ext cx="174439" cy="291236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072681" y="2661910"/>
            <a:ext cx="174439" cy="465338"/>
          </a:xfrm>
          <a:prstGeom prst="rect">
            <a:avLst/>
          </a:prstGeom>
          <a:solidFill>
            <a:srgbClr val="6A8E70"/>
          </a:solidFill>
          <a:ln w="3810">
            <a:solidFill>
              <a:srgbClr val="6A8E7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750808" y="316382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two shocks added together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759952" y="3936218"/>
            <a:ext cx="174439" cy="114574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952679" y="3788359"/>
            <a:ext cx="174439" cy="262433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145407" y="3788359"/>
            <a:ext cx="174439" cy="262433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338134" y="3706429"/>
            <a:ext cx="174439" cy="344363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30862" y="3574572"/>
            <a:ext cx="174439" cy="476220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23589" y="3427354"/>
            <a:ext cx="174439" cy="623438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916316" y="3476640"/>
            <a:ext cx="174439" cy="574152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09044" y="3410712"/>
            <a:ext cx="174439" cy="640080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301771" y="3509284"/>
            <a:ext cx="174439" cy="541508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494498" y="3640501"/>
            <a:ext cx="174439" cy="410291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687226" y="3739073"/>
            <a:ext cx="174439" cy="311719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879953" y="3821003"/>
            <a:ext cx="174439" cy="229789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072681" y="3936218"/>
            <a:ext cx="174439" cy="114574"/>
          </a:xfrm>
          <a:prstGeom prst="rect">
            <a:avLst/>
          </a:prstGeom>
          <a:solidFill>
            <a:srgbClr val="9C7A35"/>
          </a:solidFill>
          <a:ln w="3810">
            <a:solidFill>
              <a:srgbClr val="9C7A35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50808" y="420624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Adding independent shocks pulls the shape toward a bell. So the direction whose leftover stays un-bell-like, and independent of its predictor, is the one that un-mixed the data.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21792" y="576072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22960" y="5888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1920240" y="5888736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We follow T and P again — the same pair the PCMCI+ half followed, settled here by a completely different argument.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 in two forms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Two ways to write the same process. A VAR fits the second one, and the algorithm is the trip back to the first.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557784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WHAT THE PROCESS ACTUALLY OBEYS  —  STRUCTURAL FORM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92D32"/>
                </a:solidFill>
              </a:rPr>
              <a:t>x(t)  =  B₀ x(t)  +  Στ Bτ x(t−τ)  +  e(t)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151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B₀  same-minute weights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1518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B5577"/>
                </a:solidFill>
              </a:rPr>
              <a:t>Bτ  lagged weights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e(t)  independent, non-Gaussian shocks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627632"/>
            <a:ext cx="5148072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1792224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WHAT A VAR CAN FIT  —  REDUCED FORM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92D32"/>
                </a:solidFill>
              </a:rPr>
              <a:t>x(t)  =  Στ Mτ x(t−τ)  +  n(t)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93408" y="2615184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No term on the right is dated t, so this is pure prediction from the past. Everything that happens inside the minute is pushed into the residual n(t).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" y="3611880"/>
            <a:ext cx="55778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BRIDGE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4400" y="4206240"/>
            <a:ext cx="868680" cy="502920"/>
          </a:xfrm>
          <a:prstGeom prst="roundRect">
            <a:avLst>
              <a:gd name="adj" fmla="val 18182"/>
            </a:avLst>
          </a:prstGeom>
          <a:solidFill>
            <a:srgbClr val="DAD4C6"/>
          </a:solidFill>
          <a:ln w="12700">
            <a:solidFill>
              <a:srgbClr val="6A8E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A8E70"/>
                </a:solidFill>
              </a:rPr>
              <a:t>e(t)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783080" y="4453128"/>
            <a:ext cx="640080" cy="0"/>
          </a:xfrm>
          <a:prstGeom prst="line">
            <a:avLst/>
          </a:prstGeom>
          <a:noFill/>
          <a:ln w="19050">
            <a:solidFill>
              <a:srgbClr val="676B7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423160" y="4206240"/>
            <a:ext cx="1691640" cy="502920"/>
          </a:xfrm>
          <a:prstGeom prst="roundRect">
            <a:avLst>
              <a:gd name="adj" fmla="val 18182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23160" y="43251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C7A35"/>
                </a:solidFill>
              </a:rPr>
              <a:t>( I − B₀ )⁻¹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0" y="4453128"/>
            <a:ext cx="640080" cy="0"/>
          </a:xfrm>
          <a:prstGeom prst="line">
            <a:avLst/>
          </a:prstGeom>
          <a:noFill/>
          <a:ln w="19050">
            <a:solidFill>
              <a:srgbClr val="676B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754880" y="4206240"/>
            <a:ext cx="868680" cy="502920"/>
          </a:xfrm>
          <a:prstGeom prst="roundRect">
            <a:avLst>
              <a:gd name="adj" fmla="val 18182"/>
            </a:avLst>
          </a:prstGeom>
          <a:solidFill>
            <a:srgbClr val="DAD4C6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43251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F7A5C"/>
                </a:solidFill>
              </a:rPr>
              <a:t>n(t)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8463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the VAR residual is a mixture of the true shocks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1937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76B70"/>
                </a:solidFill>
              </a:rPr>
              <a:t>Mτ  =  ( I − B₀ )⁻¹ Bτ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513832"/>
            <a:ext cx="4023360" cy="411480"/>
          </a:xfrm>
          <a:prstGeom prst="roundRect">
            <a:avLst>
              <a:gd name="adj" fmla="val 26667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80160" y="56052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F7A5C"/>
                </a:solidFill>
              </a:rPr>
              <a:t>Bτ  =  ( I − B₀ )  Mτ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0" y="3611880"/>
            <a:ext cx="5148072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0" y="3776472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WHAT MUST BE TRUE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720840" y="4169664"/>
            <a:ext cx="100584" cy="100584"/>
          </a:xfrm>
          <a:prstGeom prst="ellipse">
            <a:avLst/>
          </a:prstGeom>
          <a:solidFill>
            <a:srgbClr val="7B5577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67728" y="409651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76B70"/>
                </a:solidFill>
              </a:rPr>
              <a:t>B₀ is acyclic — the same-minute links admit an ordering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720840" y="4535424"/>
            <a:ext cx="100584" cy="100584"/>
          </a:xfrm>
          <a:prstGeom prst="ellipse">
            <a:avLst/>
          </a:prstGeom>
          <a:solidFill>
            <a:srgbClr val="7B5577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67728" y="446227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76B70"/>
                </a:solidFill>
              </a:rPr>
              <a:t>the shocks are mutually independent — no hidden common cause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720840" y="4901184"/>
            <a:ext cx="100584" cy="100584"/>
          </a:xfrm>
          <a:prstGeom prst="ellipse">
            <a:avLst/>
          </a:prstGeom>
          <a:solidFill>
            <a:srgbClr val="2F7A5C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67728" y="482803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the shocks are non-Gaussian — otherwise the lag-0 order is unidentifiable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720840" y="5266944"/>
            <a:ext cx="100584" cy="100584"/>
          </a:xfrm>
          <a:prstGeom prst="ellipse">
            <a:avLst/>
          </a:prstGeom>
          <a:solidFill>
            <a:srgbClr val="7B5577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67728" y="51937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76B70"/>
                </a:solidFill>
              </a:rPr>
              <a:t>the process is stationary over the window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720840" y="5632704"/>
            <a:ext cx="100584" cy="100584"/>
          </a:xfrm>
          <a:prstGeom prst="ellipse">
            <a:avLst/>
          </a:prstGeom>
          <a:solidFill>
            <a:srgbClr val="7B5577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67728" y="555955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76B70"/>
                </a:solidFill>
              </a:rPr>
              <a:t>the lag order τmax is large enough to hold the real delays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VAR-LiNGAM in four pictures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Fit the past, read the leftovers, order the minute, then undo the mixing. Each stage adds something the one before it could not see.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260604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1 · VAR FIT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− 1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88720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88720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88720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88720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084832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95728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95728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95728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395728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395728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95728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481328" y="2542032"/>
            <a:ext cx="914400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481328" y="3072384"/>
            <a:ext cx="914400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68968" y="2600886"/>
            <a:ext cx="939120" cy="412643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44922" y="2638609"/>
            <a:ext cx="987211" cy="867549"/>
          </a:xfrm>
          <a:prstGeom prst="line">
            <a:avLst/>
          </a:prstGeom>
          <a:noFill/>
          <a:ln w="1905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468968" y="3131238"/>
            <a:ext cx="939120" cy="412643"/>
          </a:xfrm>
          <a:prstGeom prst="line">
            <a:avLst/>
          </a:prstGeom>
          <a:noFill/>
          <a:ln w="19050">
            <a:solidFill>
              <a:srgbClr val="9C7A3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22960" y="41605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Everything the past can explain, with no same-minute term allowed. P picks up two lagged links it does not really have.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300984" y="3017520"/>
            <a:ext cx="274320" cy="310896"/>
          </a:xfrm>
          <a:prstGeom prst="chevron">
            <a:avLst/>
          </a:prstGeom>
          <a:solidFill>
            <a:srgbClr val="DAD4C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38144" y="1627632"/>
            <a:ext cx="260604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712464" y="17922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2 · THE RESIDUALS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694176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− 1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005072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05072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05072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005072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005072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05072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901184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212080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212080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212080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212080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12080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605272" y="24231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n</a:t>
            </a:r>
            <a:pPr algn="l" indent="0" marL="0">
              <a:lnSpc>
                <a:spcPct val="100000"/>
              </a:lnSpc>
              <a:buNone/>
            </a:pPr>
            <a:r>
              <a:rPr lang="en-US" sz="1100" baseline="-40000" dirty="0">
                <a:solidFill>
                  <a:srgbClr val="676B70"/>
                </a:solidFill>
              </a:rPr>
              <a:t>F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605272" y="29535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F7A5C"/>
                </a:solidFill>
              </a:rPr>
              <a:t>n</a:t>
            </a:r>
            <a:pPr algn="l" indent="0" marL="0">
              <a:lnSpc>
                <a:spcPct val="100000"/>
              </a:lnSpc>
              <a:buNone/>
            </a:pPr>
            <a:r>
              <a:rPr lang="en-US" sz="1100" baseline="-40000" dirty="0">
                <a:solidFill>
                  <a:srgbClr val="2F7A5C"/>
                </a:solidFill>
              </a:rPr>
              <a:t>T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05272" y="34838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F7A5C"/>
                </a:solidFill>
              </a:rPr>
              <a:t>n</a:t>
            </a:r>
            <a:pPr algn="l" indent="0" marL="0">
              <a:lnSpc>
                <a:spcPct val="100000"/>
              </a:lnSpc>
              <a:buNone/>
            </a:pPr>
            <a:r>
              <a:rPr lang="en-US" sz="1100" baseline="-40000" dirty="0">
                <a:solidFill>
                  <a:srgbClr val="2F7A5C"/>
                </a:solidFill>
              </a:rPr>
              <a:t>P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58384" y="3227832"/>
            <a:ext cx="0" cy="219456"/>
          </a:xfrm>
          <a:prstGeom prst="line">
            <a:avLst/>
          </a:prstGeom>
          <a:noFill/>
          <a:ln w="19050">
            <a:solidFill>
              <a:srgbClr val="2F7A5C"/>
            </a:solidFill>
            <a:prstDash val="dash"/>
            <a:tailEnd type="none"/>
          </a:ln>
        </p:spPr>
      </p:sp>
      <p:sp>
        <p:nvSpPr>
          <p:cNvPr id="47" name="Text 45"/>
          <p:cNvSpPr txBox="1"/>
          <p:nvPr/>
        </p:nvSpPr>
        <p:spPr>
          <a:xfrm>
            <a:off x="3639312" y="41605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What is left is a mixture of the true shocks. The T and P residuals still move together.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117336" y="3017520"/>
            <a:ext cx="274320" cy="310896"/>
          </a:xfrm>
          <a:prstGeom prst="chevron">
            <a:avLst/>
          </a:prstGeom>
          <a:solidFill>
            <a:srgbClr val="DAD4C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54496" y="1627632"/>
            <a:ext cx="260604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528816" y="17922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3 · LiNGAM ON n(t)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6510528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− 1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821424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21424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21424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21424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821424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821424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P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717536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028432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028432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028432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8028432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8028432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9C7A35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028432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P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8174736" y="3218688"/>
            <a:ext cx="0" cy="237744"/>
          </a:xfrm>
          <a:prstGeom prst="line">
            <a:avLst/>
          </a:prstGeom>
          <a:noFill/>
          <a:ln w="25400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6528816" y="3840480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9C7A35"/>
                </a:solidFill>
              </a:rPr>
              <a:t>order   F  →  T  →  P</a:t>
            </a:r>
            <a:endParaRPr lang="en-US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6455664" y="41605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Independence picks the same-minute order, and B₀ becomes triangular in it.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8933688" y="3017520"/>
            <a:ext cx="274320" cy="310896"/>
          </a:xfrm>
          <a:prstGeom prst="chevron">
            <a:avLst/>
          </a:prstGeom>
          <a:solidFill>
            <a:srgbClr val="DAD4C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70848" y="1627632"/>
            <a:ext cx="2606040" cy="38404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345168" y="17922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4 · CONVERT AND PRUNE</a:t>
            </a:r>
            <a:endParaRPr lang="en-US" sz="1150" dirty="0"/>
          </a:p>
        </p:txBody>
      </p:sp>
      <p:sp>
        <p:nvSpPr>
          <p:cNvPr id="71" name="Text 69"/>
          <p:cNvSpPr txBox="1"/>
          <p:nvPr/>
        </p:nvSpPr>
        <p:spPr>
          <a:xfrm>
            <a:off x="9326880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 − 1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9637776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637776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9637776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37776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637776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637776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533888" y="221321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t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0844784" y="2395728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844784" y="2457176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10844784" y="2926080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0844784" y="2987528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T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0844784" y="3456432"/>
            <a:ext cx="292608" cy="29260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844784" y="3517880"/>
            <a:ext cx="29260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P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930384" y="2542032"/>
            <a:ext cx="914400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9930384" y="3072384"/>
            <a:ext cx="914400" cy="0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9918024" y="2600886"/>
            <a:ext cx="939120" cy="412643"/>
          </a:xfrm>
          <a:prstGeom prst="line">
            <a:avLst/>
          </a:prstGeom>
          <a:noFill/>
          <a:ln w="1905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10991088" y="3218688"/>
            <a:ext cx="0" cy="237744"/>
          </a:xfrm>
          <a:prstGeom prst="line">
            <a:avLst/>
          </a:prstGeom>
          <a:noFill/>
          <a:ln w="25400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89" name="Text 87"/>
          <p:cNvSpPr txBox="1"/>
          <p:nvPr/>
        </p:nvSpPr>
        <p:spPr>
          <a:xfrm>
            <a:off x="9272016" y="416052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( I − B₀ ) Mτ removes the contamination, and small weights are dropped.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621792" y="562356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822960" y="5751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92" name="Text 90"/>
          <p:cNvSpPr txBox="1"/>
          <p:nvPr/>
        </p:nvSpPr>
        <p:spPr>
          <a:xfrm>
            <a:off x="1920240" y="5751576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T(t−1) → P(t) appears in picture 1 and is gone by picture 4 — not cut by a test, but cancelled by an identity.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1: fit the VAR and keep the residuals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Ordinary least squares, one equation per sensor. The output is a prediction matrix and a residual column for each sensor.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108960" cy="3931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PROCEDURE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86968" y="22128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25399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220370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Center every column, then regress x(t) on x(t−1) by ordinary least squares.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86968" y="30815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31226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307238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Collect the coefficients into M₁. This is prediction, not yet structure.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9502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9913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94106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Keep the residuals n(t) = x(t) − M₁ x(t−1), one column per sensor.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" y="48188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86003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7A5C"/>
                </a:solidFill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480974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Check that the residuals are non-Gaussian. If they are not, stop — the next step cannot work.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3886200" cy="393192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60520" y="179222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M₁  —  WHAT THE PAST PREDICTS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377440"/>
            <a:ext cx="3017520" cy="1426464"/>
          </a:xfrm>
          <a:prstGeom prst="roundRect">
            <a:avLst>
              <a:gd name="adj" fmla="val 3205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21396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1396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21396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142232" y="25054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142232" y="298094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142232" y="345643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2496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0.572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532120" y="2496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-0.018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2496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2971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0.513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2971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0.646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29718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-0.037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0" y="3364992"/>
            <a:ext cx="914400" cy="402336"/>
          </a:xfrm>
          <a:prstGeom prst="roundRect">
            <a:avLst>
              <a:gd name="adj" fmla="val 22727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26280" y="34472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0.436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577840" y="3364992"/>
            <a:ext cx="914400" cy="402336"/>
          </a:xfrm>
          <a:prstGeom prst="roundRect">
            <a:avLst>
              <a:gd name="adj" fmla="val 22727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32120" y="34472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0.553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344728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-0.062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178808" y="391363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rows = target at t  ·  columns = source at t − 1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178808" y="42062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Row P says that both F(t−1) and T(t−1) predict pressure. Neither link exists in the equations that made the data. They are the same-minute arrow T(t) → P(t), seen through one lag.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927848" y="1627632"/>
            <a:ext cx="3621024" cy="39319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02168" y="179222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CORRELATION OF THE RESIDUALS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549640" y="2377440"/>
            <a:ext cx="2606040" cy="1426464"/>
          </a:xfrm>
          <a:prstGeom prst="roundRect">
            <a:avLst>
              <a:gd name="adj" fmla="val 3205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549640" y="21396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9418320" y="21396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10287000" y="213969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165592" y="25054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165592" y="298094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8165592" y="345643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24963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1.000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418320" y="24963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287000" y="24963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0.015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549640" y="29718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0.003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418320" y="29718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1.000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10332720" y="2889504"/>
            <a:ext cx="777240" cy="402336"/>
          </a:xfrm>
          <a:prstGeom prst="roundRect">
            <a:avLst>
              <a:gd name="adj" fmla="val 22727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287000" y="297180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0.771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8549640" y="3447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0.015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464040" y="3364992"/>
            <a:ext cx="777240" cy="402336"/>
          </a:xfrm>
          <a:prstGeom prst="roundRect">
            <a:avLst>
              <a:gd name="adj" fmla="val 22727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418320" y="3447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0.771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287000" y="3447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1.000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8220456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F7A5C"/>
                </a:solidFill>
              </a:rPr>
              <a:t>excess kurtosis   −1.14   −1.09   −0.60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8220456" y="427939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If the VAR were the whole story these columns would be independent. F is clean, but T and P share 0.771. That leftover dependence is the same-minute link, and it is what step 2 works on.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21792" y="568756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22960" y="5815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920240" y="5815584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The VAR scores T(t−1) → P(t) at 0.553 and cannot tell that the number is borrowed.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2a: how one direction is decided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one test is the whole of LiNGAM. Regress one residual on another, then ask whether the leftover is independent of what you regressed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108960" cy="3931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TEST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86968" y="22128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25399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220370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Take the two residual columns and assume a direction, say T causes 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86968" y="30815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31226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307238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Regress the second residual on the first by least squares and keep the leftover.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9502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9913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94106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Measure the dependence between the leftover and the predictor. Zero means independent.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" y="48188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86003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480974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Do the same the other way. The direction with the smaller dependence is the cause.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3749040" cy="3931920"/>
          </a:xfrm>
          <a:prstGeom prst="roundRect">
            <a:avLst>
              <a:gd name="adj" fmla="val 1463"/>
            </a:avLst>
          </a:prstGeom>
          <a:solidFill>
            <a:srgbClr val="E8F0E9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60520" y="1792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DIRECTION  A   —   T(t)  →  P(t)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160520" y="2304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92D32"/>
                </a:solidFill>
              </a:rPr>
              <a:t>slope  =  0.831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160520" y="2697480"/>
            <a:ext cx="3200400" cy="1371600"/>
          </a:xfrm>
          <a:prstGeom prst="roundRect">
            <a:avLst>
              <a:gd name="adj" fmla="val 3333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5263" y="336521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274" y="298309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67602" y="363592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82604" y="320230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4075" y="361915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57015" y="384315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66611" y="316397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9535" y="364670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51950" y="338317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52674" y="305017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43495" y="384795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14289" y="356884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58919" y="276268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0205" y="345864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17143" y="309808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53283" y="368264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95133" y="277466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45666" y="283216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13069" y="3474217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1797" y="305975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87669" y="283695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89954" y="2930387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07053" y="280341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53283" y="287648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139763" y="295554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19924" y="294595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23046" y="371019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21713" y="293517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68667" y="314720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19428" y="358681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82376" y="349458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48218" y="278664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325712" y="305736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59147" y="375811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44600" y="316636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81538" y="301663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86336" y="360238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776969" y="296991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66611" y="329573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619314" y="291002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50008" y="366228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003816" y="298429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32681" y="360119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063984" y="369222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86946" y="317475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875026" y="292918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83100" y="321787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250503" y="287887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977311" y="314720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70115" y="292918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357585" y="386472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700540" y="283695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8242" y="309928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742658" y="290044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450275" y="370780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10289" y="309209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64593" y="360119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326932" y="310767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75903" y="346463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305873" y="285851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65887" y="364551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178302" y="380482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339535" y="378925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85652" y="286929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121713" y="371858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67220" y="3401147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028453" y="332568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7776" y="366228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670457" y="302621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811850" y="294236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236031" y="337599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121143" y="362035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943649" y="387909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59870" y="341073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64440" y="346223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025445" y="345265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244486" y="326818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319696" y="303220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12688" y="330891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37136" y="3317297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050731" y="346942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280587" y="346104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967716" y="355088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521257" y="319271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154235" y="369222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530282" y="351015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983328" y="340354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967716" y="353530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763716" y="347182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642811" y="383717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023656" y="334604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59300" y="361796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011622" y="335203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51455" y="388149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596466" y="362155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01873" y="282737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458081" y="382159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074798" y="351015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223428" y="363832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04996" y="3078922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75066" y="3455051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85652" y="3859929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330510" y="3435885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534510" y="320709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954463" y="373295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88660" y="3123243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847951" y="3391564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902102" y="3573640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7327" y="3255008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752902" y="3486196"/>
            <a:ext cx="45720" cy="45720"/>
          </a:xfrm>
          <a:prstGeom prst="ellipse">
            <a:avLst/>
          </a:prstGeom>
          <a:solidFill>
            <a:srgbClr val="2F7A5C"/>
          </a:solidFill>
          <a:ln w="5080">
            <a:solidFill>
              <a:srgbClr val="2F7A5C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4160520" y="409651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76B70"/>
                </a:solidFill>
              </a:rPr>
              <a:t>leftover  (vertical)   against   predictor  (horizontal)</a:t>
            </a:r>
            <a:endParaRPr lang="en-US" sz="1000" dirty="0"/>
          </a:p>
        </p:txBody>
      </p:sp>
      <p:sp>
        <p:nvSpPr>
          <p:cNvPr id="133" name="Text 131"/>
          <p:cNvSpPr txBox="1"/>
          <p:nvPr/>
        </p:nvSpPr>
        <p:spPr>
          <a:xfrm>
            <a:off x="4160520" y="4407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dependence</a:t>
            </a:r>
            <a:endParaRPr lang="en-US" sz="1150" dirty="0"/>
          </a:p>
        </p:txBody>
      </p:sp>
      <p:sp>
        <p:nvSpPr>
          <p:cNvPr id="134" name="Text 132"/>
          <p:cNvSpPr txBox="1"/>
          <p:nvPr/>
        </p:nvSpPr>
        <p:spPr>
          <a:xfrm>
            <a:off x="5897880" y="4389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F7A5C"/>
                </a:solidFill>
              </a:rPr>
              <a:t>0.0051</a:t>
            </a:r>
            <a:endParaRPr lang="en-US" sz="1400" dirty="0"/>
          </a:p>
        </p:txBody>
      </p:sp>
      <p:sp>
        <p:nvSpPr>
          <p:cNvPr id="135" name="Text 133"/>
          <p:cNvSpPr txBox="1"/>
          <p:nvPr/>
        </p:nvSpPr>
        <p:spPr>
          <a:xfrm>
            <a:off x="4160520" y="47183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leftover kurtosis</a:t>
            </a:r>
            <a:endParaRPr lang="en-US" sz="1150" dirty="0"/>
          </a:p>
        </p:txBody>
      </p:sp>
      <p:sp>
        <p:nvSpPr>
          <p:cNvPr id="136" name="Text 134"/>
          <p:cNvSpPr txBox="1"/>
          <p:nvPr/>
        </p:nvSpPr>
        <p:spPr>
          <a:xfrm>
            <a:off x="5897880" y="47000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F7A5C"/>
                </a:solidFill>
              </a:rPr>
              <a:t>-1.20</a:t>
            </a:r>
            <a:endParaRPr lang="en-US" sz="1400" dirty="0"/>
          </a:p>
        </p:txBody>
      </p:sp>
      <p:sp>
        <p:nvSpPr>
          <p:cNvPr id="137" name="Text 135"/>
          <p:cNvSpPr txBox="1"/>
          <p:nvPr/>
        </p:nvSpPr>
        <p:spPr>
          <a:xfrm>
            <a:off x="4160520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92D32"/>
                </a:solidFill>
              </a:rPr>
              <a:t>An even band. The spread does not change across the plot, and the leftover is still as flat-topped as the original shock.</a:t>
            </a:r>
            <a:endParaRPr lang="en-US" sz="1150" dirty="0"/>
          </a:p>
        </p:txBody>
      </p:sp>
      <p:sp>
        <p:nvSpPr>
          <p:cNvPr id="138" name="Shape 136"/>
          <p:cNvSpPr/>
          <p:nvPr/>
        </p:nvSpPr>
        <p:spPr>
          <a:xfrm>
            <a:off x="6217920" y="2286000"/>
            <a:ext cx="1143000" cy="274320"/>
          </a:xfrm>
          <a:prstGeom prst="roundRect">
            <a:avLst>
              <a:gd name="adj" fmla="val 40000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6217920" y="232257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2F7A5C"/>
                </a:solidFill>
              </a:rPr>
              <a:t>KEEP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7799832" y="1627632"/>
            <a:ext cx="3749040" cy="3931920"/>
          </a:xfrm>
          <a:prstGeom prst="roundRect">
            <a:avLst>
              <a:gd name="adj" fmla="val 1463"/>
            </a:avLst>
          </a:prstGeom>
          <a:solidFill>
            <a:srgbClr val="F6E7E3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074152" y="17922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DIRECTION  B   —   P(t)  →  T(t)</a:t>
            </a:r>
            <a:endParaRPr lang="en-US" sz="1150" dirty="0"/>
          </a:p>
        </p:txBody>
      </p:sp>
      <p:sp>
        <p:nvSpPr>
          <p:cNvPr id="142" name="Text 140"/>
          <p:cNvSpPr txBox="1"/>
          <p:nvPr/>
        </p:nvSpPr>
        <p:spPr>
          <a:xfrm>
            <a:off x="8074152" y="23042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292D32"/>
                </a:solidFill>
              </a:rPr>
              <a:t>slope  =  0.715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074152" y="2697480"/>
            <a:ext cx="3200400" cy="1371600"/>
          </a:xfrm>
          <a:prstGeom prst="roundRect">
            <a:avLst>
              <a:gd name="adj" fmla="val 3333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019733" y="354968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9994447" y="363233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508309" y="343588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0725482" y="317954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585308" y="311485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147304" y="335443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07318" y="334963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654500" y="306454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9155110" y="348859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528149" y="371019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853053" y="279862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758004" y="342510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436678" y="371618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0060631" y="312803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755566" y="327537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369924" y="343109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704424" y="361915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990219" y="347182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37174" y="327657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0960136" y="325141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10749549" y="354249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10695398" y="346463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0412611" y="368264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428872" y="391622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11089496" y="331609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430661" y="353171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690601" y="298788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11101529" y="333167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871103" y="350296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180966" y="296033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816953" y="316756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0000464" y="382758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9765810" y="362874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654500" y="295194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828986" y="349697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247150" y="351734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0138849" y="295793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0174949" y="358801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0132832" y="327058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10806708" y="345026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510098" y="309449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648484" y="373894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9513107" y="315558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8758004" y="330052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10373502" y="331849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10951110" y="338677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10114782" y="335562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9949321" y="375092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10731499" y="323464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10027539" y="367545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9380738" y="292918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10954119" y="347900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9125026" y="378566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0899968" y="343109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333823" y="341672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0560022" y="334245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8550426" y="345744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9043800" y="380363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803130" y="351734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353663" y="395815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741743" y="303939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8685803" y="320829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9467981" y="297830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9525140" y="389466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10072665" y="285971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9666534" y="331011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529938" y="311605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9221294" y="318553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10689382" y="337000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0890943" y="339156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599130" y="304298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8890373" y="333047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8436108" y="3211885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10045589" y="318193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10108765" y="310886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10361469" y="304059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9434889" y="351853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9792886" y="364431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10605147" y="310886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9759794" y="336640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9699626" y="322985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203244" y="339396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8881348" y="340474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14668" y="350655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8818172" y="328136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302520" y="331370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10397569" y="307772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902406" y="341432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10162916" y="308251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291706" y="329932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9844028" y="331130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460175" y="346942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825978" y="3308912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091934" y="300345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200236" y="323224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0575063" y="360718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8848256" y="314121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9660517" y="320110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8935499" y="329932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0508879" y="337359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8619619" y="3584421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225522" y="329693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9925254" y="3193917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9046808" y="370061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9290487" y="3092098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9194219" y="3740143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10325368" y="3113660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0120799" y="2992676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9413830" y="3537704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9483023" y="3282559"/>
            <a:ext cx="45720" cy="45720"/>
          </a:xfrm>
          <a:prstGeom prst="ellipse">
            <a:avLst/>
          </a:prstGeom>
          <a:solidFill>
            <a:srgbClr val="A84A3E"/>
          </a:solidFill>
          <a:ln w="5080">
            <a:solidFill>
              <a:srgbClr val="A84A3E"/>
            </a:solidFill>
            <a:prstDash val="solid"/>
          </a:ln>
        </p:spPr>
      </p:sp>
      <p:sp>
        <p:nvSpPr>
          <p:cNvPr id="254" name="Text 252"/>
          <p:cNvSpPr txBox="1"/>
          <p:nvPr/>
        </p:nvSpPr>
        <p:spPr>
          <a:xfrm>
            <a:off x="8074152" y="409651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76B70"/>
                </a:solidFill>
              </a:rPr>
              <a:t>leftover  (vertical)   against   predictor  (horizontal)</a:t>
            </a:r>
            <a:endParaRPr lang="en-US" sz="1000" dirty="0"/>
          </a:p>
        </p:txBody>
      </p:sp>
      <p:sp>
        <p:nvSpPr>
          <p:cNvPr id="255" name="Text 253"/>
          <p:cNvSpPr txBox="1"/>
          <p:nvPr/>
        </p:nvSpPr>
        <p:spPr>
          <a:xfrm>
            <a:off x="8074152" y="4407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dependence</a:t>
            </a:r>
            <a:endParaRPr lang="en-US" sz="1150" dirty="0"/>
          </a:p>
        </p:txBody>
      </p:sp>
      <p:sp>
        <p:nvSpPr>
          <p:cNvPr id="256" name="Text 254"/>
          <p:cNvSpPr txBox="1"/>
          <p:nvPr/>
        </p:nvSpPr>
        <p:spPr>
          <a:xfrm>
            <a:off x="9811512" y="4389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A84A3E"/>
                </a:solidFill>
              </a:rPr>
              <a:t>0.0464</a:t>
            </a:r>
            <a:endParaRPr lang="en-US" sz="1400" dirty="0"/>
          </a:p>
        </p:txBody>
      </p:sp>
      <p:sp>
        <p:nvSpPr>
          <p:cNvPr id="257" name="Text 255"/>
          <p:cNvSpPr txBox="1"/>
          <p:nvPr/>
        </p:nvSpPr>
        <p:spPr>
          <a:xfrm>
            <a:off x="8074152" y="47183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leftover kurtosis</a:t>
            </a:r>
            <a:endParaRPr lang="en-US" sz="1150" dirty="0"/>
          </a:p>
        </p:txBody>
      </p:sp>
      <p:sp>
        <p:nvSpPr>
          <p:cNvPr id="258" name="Text 256"/>
          <p:cNvSpPr txBox="1"/>
          <p:nvPr/>
        </p:nvSpPr>
        <p:spPr>
          <a:xfrm>
            <a:off x="9811512" y="47000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A84A3E"/>
                </a:solidFill>
              </a:rPr>
              <a:t>-0.71</a:t>
            </a:r>
            <a:endParaRPr lang="en-US" sz="1400" dirty="0"/>
          </a:p>
        </p:txBody>
      </p:sp>
      <p:sp>
        <p:nvSpPr>
          <p:cNvPr id="259" name="Text 257"/>
          <p:cNvSpPr txBox="1"/>
          <p:nvPr/>
        </p:nvSpPr>
        <p:spPr>
          <a:xfrm>
            <a:off x="8074152" y="5029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92D32"/>
                </a:solidFill>
              </a:rPr>
              <a:t>Pinched at both ends. The spread depends on the predictor, and the leftover has drifted toward a bell.</a:t>
            </a:r>
            <a:endParaRPr lang="en-US" sz="1150" dirty="0"/>
          </a:p>
        </p:txBody>
      </p:sp>
      <p:sp>
        <p:nvSpPr>
          <p:cNvPr id="260" name="Shape 258"/>
          <p:cNvSpPr/>
          <p:nvPr/>
        </p:nvSpPr>
        <p:spPr>
          <a:xfrm>
            <a:off x="10131552" y="2286000"/>
            <a:ext cx="1143000" cy="274320"/>
          </a:xfrm>
          <a:prstGeom prst="roundRect">
            <a:avLst>
              <a:gd name="adj" fmla="val 40000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261" name="Text 259"/>
          <p:cNvSpPr txBox="1"/>
          <p:nvPr/>
        </p:nvSpPr>
        <p:spPr>
          <a:xfrm>
            <a:off x="10131552" y="2322576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84A3E"/>
                </a:solidFill>
              </a:rPr>
              <a:t>REJECT</a:t>
            </a:r>
            <a:endParaRPr lang="en-US" sz="1100" dirty="0"/>
          </a:p>
        </p:txBody>
      </p:sp>
      <p:sp>
        <p:nvSpPr>
          <p:cNvPr id="262" name="Shape 260"/>
          <p:cNvSpPr/>
          <p:nvPr/>
        </p:nvSpPr>
        <p:spPr>
          <a:xfrm>
            <a:off x="621792" y="568756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263" name="Text 261"/>
          <p:cNvSpPr txBox="1"/>
          <p:nvPr/>
        </p:nvSpPr>
        <p:spPr>
          <a:xfrm>
            <a:off x="822960" y="5815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264" name="Text 262"/>
          <p:cNvSpPr txBox="1"/>
          <p:nvPr/>
        </p:nvSpPr>
        <p:spPr>
          <a:xfrm>
            <a:off x="1920240" y="5815584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Nine times more dependence the wrong way round. T(t) → P(t) — the same arrow the PCMCI+ half reached through a collider rule.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 2b: find the order, one sensor at a time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sensor with no same-minute parent leaves no trace in anything it explains. Find it, remove it, repeat.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3108960" cy="393192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PROCEDURE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86968" y="22128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25399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1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89304" y="220370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For each remaining sensor, regress every other one on it and score the worst dependence left behind.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86968" y="308152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31226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289304" y="307238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The lowest score has no same-minute parent. It goes next in the order.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9502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39913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3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289304" y="394106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Replace every other column by its leftover after removing that sensor.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86968" y="48188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DAD4C6"/>
          </a:solidFill>
          <a:ln w="12700">
            <a:solidFill>
              <a:srgbClr val="7B557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968" y="486003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4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4809744"/>
            <a:ext cx="2340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Repeat on what remains. Then regress each sensor on its predecessors to fill B₀.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886200" y="1627632"/>
            <a:ext cx="2441448" cy="393192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60520" y="1792224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ROUND  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087368" y="22860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worst dependence as root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087368" y="2596896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87952" y="2660904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87952" y="2714671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7A5C"/>
                </a:solidFill>
              </a:rPr>
              <a:t>F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44568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7A5C"/>
                </a:solidFill>
              </a:rPr>
              <a:t>chosen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2660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0.0030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087368" y="3072384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87952" y="3136392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A84A3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87952" y="3190159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A84A3E"/>
                </a:solidFill>
              </a:rPr>
              <a:t>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44568" y="3154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not yet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349240" y="3136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0.0051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087368" y="3547872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87952" y="3611880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A84A3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87952" y="3665647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A84A3E"/>
                </a:solidFill>
              </a:rPr>
              <a:t>P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44568" y="3630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not yet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349240" y="36118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0.0464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087368" y="42976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P leaves 0.0464 behind in T, so it cannot be first. F and T both sit near zero because no same-minute link joins them, so either may go first.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373368" y="3017520"/>
            <a:ext cx="274320" cy="310896"/>
          </a:xfrm>
          <a:prstGeom prst="chevron">
            <a:avLst/>
          </a:prstGeom>
          <a:solidFill>
            <a:srgbClr val="DAD4C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1627632"/>
            <a:ext cx="2441448" cy="393192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39128" y="1792224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ROUND  2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2860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worst dependence as root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665976" y="2596896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0" y="2660904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766560" y="2714671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7A5C"/>
                </a:solidFill>
              </a:rPr>
              <a:t>T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123176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7A5C"/>
                </a:solidFill>
              </a:rPr>
              <a:t>chosen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927848" y="2660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0.0050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665976" y="3072384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66560" y="3136392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A84A3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6560" y="3190159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A84A3E"/>
                </a:solidFill>
              </a:rPr>
              <a:t>P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123176" y="31546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not yet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7927848" y="3136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0.0457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665976" y="42976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After F is removed, P still leaves 0.0457 in T. T is next.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951976" y="3017520"/>
            <a:ext cx="274320" cy="310896"/>
          </a:xfrm>
          <a:prstGeom prst="chevron">
            <a:avLst/>
          </a:prstGeom>
          <a:solidFill>
            <a:srgbClr val="DAD4C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43416" y="1627632"/>
            <a:ext cx="2441448" cy="3931920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317736" y="1792224"/>
            <a:ext cx="1984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ROUND  3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9244584" y="22860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worst dependence as root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9244584" y="2596896"/>
            <a:ext cx="2057400" cy="384048"/>
          </a:xfrm>
          <a:prstGeom prst="roundRect">
            <a:avLst>
              <a:gd name="adj" fmla="val 23810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345168" y="2660904"/>
            <a:ext cx="256032" cy="25603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345168" y="2714671"/>
            <a:ext cx="2560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2F7A5C"/>
                </a:solidFill>
              </a:rPr>
              <a:t>P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9701784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F7A5C"/>
                </a:solidFill>
              </a:rPr>
              <a:t>chosen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10506456" y="2660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—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44584" y="429768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Only P is left, so it takes the last place. Order:  F → T → P.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21792" y="568756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22960" y="5815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920240" y="5815584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Regressing on predecessors gives B₀ = 0.831 for T(t) → P(t), with 0.003 and 0.016 everywhere else below the diagonal.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Steps 3 and 4: correct the lagged weights, then prune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B₀ is known, so the contaminated lagged weights can be corrected in one multiplication.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IDENTITY, APPLIED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214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F7A5C"/>
                </a:solidFill>
              </a:rPr>
              <a:t>B₁  =  ( I − B₀ )  M₁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2139696" cy="1042416"/>
          </a:xfrm>
          <a:prstGeom prst="roundRect">
            <a:avLst>
              <a:gd name="adj" fmla="val 4386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627632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40864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−0.003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27632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340864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−0.016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73352" y="329184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7632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−0.831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340864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63824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676B70"/>
                </a:solidFill>
              </a:rPr>
              <a:t>·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511296" y="2560320"/>
            <a:ext cx="2139696" cy="1042416"/>
          </a:xfrm>
          <a:prstGeom prst="roundRect">
            <a:avLst>
              <a:gd name="adj" fmla="val 4386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11296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0.572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-0.018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261518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11296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0.513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224528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0.646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296265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-0.037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557016" y="329184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11296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0.436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70248" y="329184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24528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0.553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937760" y="331012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-0.062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76B70"/>
                </a:solidFill>
              </a:rPr>
              <a:t>=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" y="3840480"/>
            <a:ext cx="5577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6112" y="40050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THE ROW THAT MATTERS  —  PRESSURE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92D32"/>
                </a:solidFill>
              </a:rPr>
              <a:t>−0.016 × 0.572  −  0.831 × 0.513  +  0.436   =   0.001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462686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92D32"/>
                </a:solidFill>
              </a:rPr>
              <a:t>−0.016 × −0.018  −  0.831 × 0.646  +  0.553   =   0.016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0292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C7A35"/>
                </a:solidFill>
              </a:rPr>
              <a:t>Both lagged links into pressure collapse to nothing. They were never separate effects — they were T(t) → P(t) counted twice.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0" y="1627632"/>
            <a:ext cx="5148072" cy="40416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75120" y="1792224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AFTER PRUNING AT  |b| &lt; 0.05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693408" y="20116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B₀   same minute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223760" y="2523744"/>
            <a:ext cx="2139696" cy="1042416"/>
          </a:xfrm>
          <a:prstGeom prst="roundRect">
            <a:avLst>
              <a:gd name="adj" fmla="val 4386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23760" y="22860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36992" y="22860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650224" y="22860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6839712" y="258775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839712" y="293522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839712" y="328269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223760" y="257860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936992" y="257860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8650224" y="257860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269480" y="2907792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23760" y="29260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0.003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936992" y="29260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650224" y="29260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269480" y="3255264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223760" y="327355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0.016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7982712" y="3255264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936992" y="327355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0.831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8650224" y="327355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92D32"/>
                </a:solidFill>
              </a:rPr>
              <a:t>0.000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692640" y="26517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F7A5C"/>
                </a:solidFill>
              </a:rPr>
              <a:t>one survivor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F7A5C"/>
                </a:solidFill>
              </a:rPr>
              <a:t>0.831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693408" y="369417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B₁   one minute back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7223760" y="4206240"/>
            <a:ext cx="2139696" cy="1042416"/>
          </a:xfrm>
          <a:prstGeom prst="roundRect">
            <a:avLst>
              <a:gd name="adj" fmla="val 4386"/>
            </a:avLst>
          </a:prstGeom>
          <a:solidFill>
            <a:srgbClr val="F1EEE6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223760" y="396849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7936992" y="396849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8650224" y="396849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6839712" y="4270248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F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6839712" y="461772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T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839712" y="496519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P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269480" y="4242816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223760" y="426110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0.572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7982712" y="4242816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936992" y="426110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-0.018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8695944" y="4242816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650224" y="426110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0.001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269480" y="4590288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223760" y="460857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0.511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7982712" y="4590288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E8F0E9"/>
          </a:solidFill>
          <a:ln w="12700">
            <a:solidFill>
              <a:srgbClr val="2F7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936992" y="460857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0.646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8695944" y="4590288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650224" y="460857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-0.037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7269480" y="493776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7223760" y="495604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0.001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7982712" y="493776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936992" y="495604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0.016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8695944" y="4937760"/>
            <a:ext cx="621792" cy="274320"/>
          </a:xfrm>
          <a:prstGeom prst="roundRect">
            <a:avLst>
              <a:gd name="adj" fmla="val 33333"/>
            </a:avLst>
          </a:prstGeom>
          <a:solidFill>
            <a:srgbClr val="F6E7E3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650224" y="495604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84A3E"/>
                </a:solidFill>
              </a:rPr>
              <a:t>-0.031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692640" y="4334256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F7A5C"/>
                </a:solidFill>
              </a:rPr>
              <a:t>three survivors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F7A5C"/>
                </a:solidFill>
              </a:rPr>
              <a:t>0.572   0.511   0.646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693408" y="53400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green kept · red dropped as estimation noise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621792" y="585216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5EEDD"/>
          </a:solidFill>
          <a:ln w="12700">
            <a:solidFill>
              <a:srgbClr val="9C7A35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822960" y="59801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C7A35"/>
                </a:solidFill>
              </a:rPr>
              <a:t>OUR PAIR</a:t>
            </a:r>
            <a:endParaRPr lang="en-US" sz="1150" dirty="0"/>
          </a:p>
        </p:txBody>
      </p:sp>
      <p:sp>
        <p:nvSpPr>
          <p:cNvPr id="90" name="Text 88"/>
          <p:cNvSpPr txBox="1"/>
          <p:nvPr/>
        </p:nvSpPr>
        <p:spPr>
          <a:xfrm>
            <a:off x="1920240" y="5980176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T(t−1) → P(t) falls from 0.553 to 0.016 and is pruned. PCMCI+ cut it with a conditioning set. Here an identity does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21792" y="347472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recovered graph matches the true graph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21792" y="1024128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Four weighted links, the same four the equations on the setup slide put in, with the numbers attached.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21792" y="1627632"/>
            <a:ext cx="649224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9222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RECOVERED GRAPH  —  WEIGHTS ESTIMATED, TRUTH IN BRACKETS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767328" y="22271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minute  t − 1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23360" y="2377440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23360" y="2461931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F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023360" y="2944368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0" y="3028859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023360" y="3511296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3595787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P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053328" y="2227113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76B70"/>
                </a:solidFill>
              </a:rPr>
              <a:t>minute  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2377440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2461931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F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2944368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3028859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3511296"/>
            <a:ext cx="402336" cy="40233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3595787"/>
            <a:ext cx="40233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B5577"/>
                </a:solidFill>
              </a:rPr>
              <a:t>P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425696" y="2578608"/>
            <a:ext cx="1883664" cy="0"/>
          </a:xfrm>
          <a:prstGeom prst="line">
            <a:avLst/>
          </a:prstGeom>
          <a:noFill/>
          <a:ln w="2540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425696" y="3145536"/>
            <a:ext cx="1883664" cy="0"/>
          </a:xfrm>
          <a:prstGeom prst="line">
            <a:avLst/>
          </a:prstGeom>
          <a:noFill/>
          <a:ln w="2540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419781" y="2627031"/>
            <a:ext cx="1895494" cy="470082"/>
          </a:xfrm>
          <a:prstGeom prst="line">
            <a:avLst/>
          </a:prstGeom>
          <a:noFill/>
          <a:ln w="25400">
            <a:solidFill>
              <a:srgbClr val="7B557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10528" y="3346704"/>
            <a:ext cx="0" cy="164592"/>
          </a:xfrm>
          <a:prstGeom prst="line">
            <a:avLst/>
          </a:prstGeom>
          <a:noFill/>
          <a:ln w="31750">
            <a:solidFill>
              <a:srgbClr val="2F7A5C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693408" y="32735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0.831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22311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76B70"/>
                </a:solidFill>
              </a:rPr>
              <a:t>estimated   (true)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25237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B5577"/>
                </a:solidFill>
              </a:rPr>
              <a:t>F(t−1)  →  F(t)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432304" y="25237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0.572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2962656" y="252374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(0.60)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28346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B5577"/>
                </a:solidFill>
              </a:rPr>
              <a:t>F(t−1)  →  T(t)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2432304" y="28346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0.511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962656" y="28346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(0.50)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314553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B5577"/>
                </a:solidFill>
              </a:rPr>
              <a:t>T(t−1)  →  T(t)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2432304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B5577"/>
                </a:solidFill>
              </a:rPr>
              <a:t>0.646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962656" y="3145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(0.65)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34564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F7A5C"/>
                </a:solidFill>
              </a:rPr>
              <a:t>T(t)  →  P(t)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243230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F7A5C"/>
                </a:solidFill>
              </a:rPr>
              <a:t>0.831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962656" y="34564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(0.80)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40233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Nothing extra, nothing missing. The same four links the PCMCI+ half recovered, now carrying effect sizes.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269480" y="1627632"/>
            <a:ext cx="4279392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43800" y="1792224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HOW TO READ A WEIGHT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7562088" y="2157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292D32"/>
                </a:solidFill>
              </a:rPr>
              <a:t>A one-unit change in the parent moves the child by b units, with every other parent held fixed. These are structural coefficients, not correlations.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7562088" y="30175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F7A5C"/>
                </a:solidFill>
              </a:rPr>
              <a:t>T(t) → P(t)   b = 0.831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562088" y="329184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One degree hotter raises pressure by 0.83 bar inside the same minute. A lag-0 arrow is relative to the sampling interval — read at one second instead, this link would move to lag 1.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21792" y="4617720"/>
            <a:ext cx="649224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96112" y="47823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WHAT EACH STEP BOUGHT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749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B5577"/>
                </a:solidFill>
              </a:rPr>
              <a:t>VAR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920240" y="5074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everything the past can explain, and clean residuals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14400" y="5349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F7A5C"/>
                </a:solidFill>
              </a:rPr>
              <a:t>LiNGAM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920240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the order inside the minute, and B₀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5623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C7A35"/>
                </a:solidFill>
              </a:rPr>
              <a:t>Convert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920240" y="56235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lagged weights with the same-minute leak removed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8978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6A8E70"/>
                </a:solidFill>
              </a:rPr>
              <a:t>Prune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920240" y="58978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76B70"/>
                </a:solidFill>
              </a:rPr>
              <a:t>a graph instead of a dense matrix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269480" y="4617720"/>
            <a:ext cx="4279392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AD4C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543800" y="4782312"/>
            <a:ext cx="3822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76B70"/>
                </a:solidFill>
              </a:rPr>
              <a:t>WHEN IT BREAKS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562088" y="5138928"/>
            <a:ext cx="91440" cy="91440"/>
          </a:xfrm>
          <a:prstGeom prst="ellipse">
            <a:avLst/>
          </a:prstGeom>
          <a:solidFill>
            <a:srgbClr val="A84A3E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790688" y="506577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residuals close to Gaussian — the lag-0 order stops being identifiable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562088" y="5486400"/>
            <a:ext cx="91440" cy="91440"/>
          </a:xfrm>
          <a:prstGeom prst="ellipse">
            <a:avLst/>
          </a:prstGeom>
          <a:solidFill>
            <a:srgbClr val="A84A3E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790688" y="54132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a hidden common cause — the shocks are no longer independent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7562088" y="5833872"/>
            <a:ext cx="91440" cy="91440"/>
          </a:xfrm>
          <a:prstGeom prst="ellipse">
            <a:avLst/>
          </a:prstGeom>
          <a:solidFill>
            <a:srgbClr val="A84A3E"/>
          </a:solidFill>
          <a:ln w="12700">
            <a:solidFill>
              <a:srgbClr val="A84A3E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790688" y="576072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76B70"/>
                </a:solidFill>
              </a:rPr>
              <a:t>τmax too small, or sampling slower than the true delay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795528" cy="30175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39D8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A  ·  VAR-LiNGAM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21792" y="2011680"/>
            <a:ext cx="822960" cy="54864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1792" y="2286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7F5EF"/>
                </a:solidFill>
                <a:latin typeface="Georgia"/>
              </a:rPr>
              <a:t>Root cause detection for flaring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333756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CE6DE"/>
                </a:solidFill>
              </a:rPr>
              <a:t>How two causal discovery methods work, and our first results on plant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5120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DAA91"/>
                </a:solidFill>
              </a:rPr>
              <a:t>Progress review  ·  27 October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What this deck covers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Two separate parts. Part A explains methods on a toy example. Part B shows what we ran on plant data.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Root cause detection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5312664" cy="4343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" y="1600200"/>
            <a:ext cx="5312664" cy="109728"/>
          </a:xfrm>
          <a:prstGeom prst="rect">
            <a:avLst/>
          </a:prstGeom>
          <a:solidFill>
            <a:srgbClr val="7B5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1832" y="19202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7B5577"/>
                </a:solidFill>
              </a:rPr>
              <a:t>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292D32"/>
                </a:solidFill>
                <a:latin typeface="Georgia"/>
              </a:rPr>
              <a:t>Algorithm explainers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2788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76B70"/>
                </a:solidFill>
              </a:rPr>
              <a:t>Studied on a toy example with a known answer. Not used on plant data yet.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" y="370332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41832" y="339242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PCMCI+, step by step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33924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5 –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832" y="411480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1832" y="3803903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VAR-LiNGAM, step by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16552" y="3803903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15 – 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4496" y="1600200"/>
            <a:ext cx="5312664" cy="4343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254496" y="1600200"/>
            <a:ext cx="5312664" cy="109728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74536" y="19202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174A3A"/>
                </a:solidFill>
              </a:rPr>
              <a:t>PART 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74536" y="22402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292D32"/>
                </a:solidFill>
                <a:latin typeface="Georgia"/>
              </a:rPr>
              <a:t>Traditional PC on plant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74536" y="2788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76B70"/>
                </a:solidFill>
              </a:rPr>
              <a:t>What we run today: PCA, then traditional PC, then T², on May 2025 data.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74536" y="370332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574536" y="339242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Aim, data and cleaning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49256" y="33924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25 – 27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74536" y="411480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574536" y="3803903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Two pipelines, step by step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49256" y="3803903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28 – 29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4536" y="452628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574536" y="4215383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PCA and its components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49256" y="4215383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30 – 31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74536" y="493776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574536" y="462686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The causal graph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49256" y="462686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32 – 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4536" y="534924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574536" y="503834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T² and four problems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49256" y="503834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35 – 39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74536" y="5760720"/>
            <a:ext cx="466344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574536" y="5449824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92D32"/>
                </a:solidFill>
              </a:rPr>
              <a:t>Leads, crash and next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49256" y="5449824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76B70"/>
                </a:solidFill>
              </a:rPr>
              <a:t>slide 40 –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We want to find which process variables drive flaring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The plant records hundreds of tags every minute. We look for the ones that push the flare up.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Root cause detection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45920"/>
            <a:ext cx="3291840" cy="1417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2F7A5C"/>
                </a:solidFill>
              </a:rPr>
              <a:t>PLANT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2194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92D32"/>
                </a:solidFill>
              </a:rPr>
              <a:t>Hundreds of tags from 10 units, one reading per minute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68496" y="2350008"/>
            <a:ext cx="365759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389120" y="1645920"/>
            <a:ext cx="3291840" cy="1417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6344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2F7A5C"/>
                </a:solidFill>
              </a:rPr>
              <a:t>CAUSAL DISCOVERY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2194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92D32"/>
                </a:solidFill>
              </a:rPr>
              <a:t>Learn which variable affects which, as a graph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735824" y="2350008"/>
            <a:ext cx="365759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156448" y="1645920"/>
            <a:ext cx="3291840" cy="1417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30768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2F7A5C"/>
                </a:solidFill>
              </a:rPr>
              <a:t>ROOT CAUSE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30768" y="2194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92D32"/>
                </a:solidFill>
              </a:rPr>
              <a:t>When a flare starts, find the variables that explain 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3383280"/>
            <a:ext cx="5312664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96112" y="35661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7B5577"/>
                </a:solidFill>
              </a:rPr>
              <a:t>PART A  ·  WHAT WE STUDIED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393192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292D32"/>
                </a:solidFill>
              </a:rPr>
              <a:t>Two advanced methods, PCMCI+ and VAR-LiNGAM.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92D32"/>
                </a:solidFill>
              </a:rPr>
              <a:t>They handle time lags and same-minute effects.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92D32"/>
                </a:solidFill>
              </a:rPr>
              <a:t>Shown on a toy reactor with three sensors.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4496" y="3383280"/>
            <a:ext cx="5312664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28816" y="35661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2F7A5C"/>
                </a:solidFill>
              </a:rPr>
              <a:t>PART B  ·  WHAT WE 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28816" y="393192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292D32"/>
                </a:solidFill>
              </a:rPr>
              <a:t>Traditional PC on one month of plant data.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92D32"/>
                </a:solidFill>
              </a:rPr>
              <a:t>PCA first, then PC, then T² to find the cause.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292D32"/>
                </a:solidFill>
              </a:rPr>
              <a:t>The pipeline runs, but the results need fixes.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" y="5303520"/>
            <a:ext cx="10945368" cy="384048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22960" y="5303520"/>
            <a:ext cx="105796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NOTE   </a:t>
            </a:r>
            <a:r>
              <a:rPr sz="1250" b="0">
                <a:solidFill>
                  <a:srgbClr val="292D32"/>
                </a:solidFill>
              </a:rPr>
              <a:t>Part B uses traditional PC. PCMCI+ and VAR-LiNGAM are not applied to plant data yet.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21792" y="1874519"/>
            <a:ext cx="822960" cy="54864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1792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8DAA91"/>
                </a:solidFill>
              </a:rPr>
              <a:t>PART A  ·  ALGORITHM EXPLAINERS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5146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7F5EF"/>
                </a:solidFill>
                <a:latin typeface="Georgia"/>
              </a:rPr>
              <a:t>How two advanced methods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3520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CE6DE"/>
                </a:solidFill>
              </a:rPr>
              <a:t>PCMCI+ and VAR-LiNGAM, on a toy reactor with three sensors. We made the data, so we know the true answer and can check every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84632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79A5B"/>
                </a:solidFill>
              </a:rPr>
              <a:t>These methods are studied only. We do not use them on plant data yet.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21792" y="1874519"/>
            <a:ext cx="822960" cy="54864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21792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spc="200">
                <a:solidFill>
                  <a:srgbClr val="8DAA91"/>
                </a:solidFill>
              </a:rPr>
              <a:t>PART B  ·  RUNNING THE ALGORITHM ON PLANT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5146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7F5EF"/>
                </a:solidFill>
                <a:latin typeface="Georgia"/>
              </a:rPr>
              <a:t>Traditional PC on plant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3520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CE6DE"/>
                </a:solidFill>
              </a:rPr>
              <a:t>One month of plant data: May 2025, one reading per minute. PCA reduces the tags, traditional PC builds the graph, and T² looks for the cause of alarms.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84632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B79A5B"/>
                </a:solidFill>
              </a:rPr>
              <a:t>We use traditional PC here, not PCMCI+ or VAR-LiNGAM.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What we set out to do on plant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Three questions, one pipeline stage for each. All of the work in this part was done on 26 October.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3410712" cy="2240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37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B79A5B"/>
                </a:solidFill>
                <a:latin typeface="Georgia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9032" y="181051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92D32"/>
                </a:solidFill>
                <a:latin typeface="Georgia"/>
              </a:rPr>
              <a:t>Which tags carry the information?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" y="2697480"/>
            <a:ext cx="2011680" cy="329184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96112" y="26974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74A3A"/>
                </a:solidFill>
              </a:rPr>
              <a:t>stage: PCA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31546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What came out: </a:t>
            </a:r>
            <a:r>
              <a:rPr sz="1200" b="0">
                <a:solidFill>
                  <a:srgbClr val="292D32"/>
                </a:solidFill>
              </a:rPr>
              <a:t>26 components keep 80% of the variation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59935" y="2715768"/>
            <a:ext cx="301753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389120" y="1600200"/>
            <a:ext cx="3410712" cy="2240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63440" y="1737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B79A5B"/>
                </a:solidFill>
                <a:latin typeface="Georgia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181051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92D32"/>
                </a:solidFill>
                <a:latin typeface="Georgia"/>
              </a:rPr>
              <a:t>Which of them move with the flare?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697480"/>
            <a:ext cx="2011680" cy="329184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663440" y="26974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7F5EF"/>
                </a:solidFill>
              </a:rPr>
              <a:t>stage: Traditional 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31546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What came out: </a:t>
            </a:r>
            <a:r>
              <a:rPr sz="1200" b="0">
                <a:solidFill>
                  <a:srgbClr val="292D32"/>
                </a:solidFill>
              </a:rPr>
              <a:t>50 links, every one from a component to a flare tag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827263" y="2715768"/>
            <a:ext cx="301753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56448" y="1600200"/>
            <a:ext cx="3410712" cy="2240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430768" y="17373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B79A5B"/>
                </a:solidFill>
                <a:latin typeface="Georgia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33688" y="181051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92D32"/>
                </a:solidFill>
                <a:latin typeface="Georgia"/>
              </a:rPr>
              <a:t>When an alarm fires, which one is to blame?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30768" y="2697480"/>
            <a:ext cx="2011680" cy="329184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430768" y="269748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174A3A"/>
                </a:solidFill>
              </a:rPr>
              <a:t>stage: T² decomposition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0768" y="315468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What came out: </a:t>
            </a:r>
            <a:r>
              <a:rPr sz="1200" b="0">
                <a:solidFill>
                  <a:srgbClr val="292D32"/>
                </a:solidFill>
              </a:rPr>
              <a:t>Leads only: the alarm setup needs fixing first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" y="4023360"/>
            <a:ext cx="10945368" cy="17830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96112" y="4160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26 OCTOBER: HOW THE WORK WENT  (TIMES FROM RUN LOGS AND COMMITS)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00200" y="4818888"/>
            <a:ext cx="9006840" cy="27432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1508760" y="4741164"/>
            <a:ext cx="182880" cy="182880"/>
          </a:xfrm>
          <a:prstGeom prst="ellipse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1440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7A5C"/>
                </a:solidFill>
              </a:rPr>
              <a:t>20:55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One-month window added to both pipelines</a:t>
            </a:r>
          </a:p>
        </p:txBody>
      </p:sp>
      <p:sp>
        <p:nvSpPr>
          <p:cNvPr id="52" name="Oval 51"/>
          <p:cNvSpPr/>
          <p:nvPr/>
        </p:nvSpPr>
        <p:spPr>
          <a:xfrm>
            <a:off x="3009900" y="4741164"/>
            <a:ext cx="182880" cy="182880"/>
          </a:xfrm>
          <a:prstGeom prst="ellipse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241554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7A5C"/>
                </a:solidFill>
              </a:rPr>
              <a:t>21:09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69820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causal_t2: data loaded and cleaned</a:t>
            </a:r>
          </a:p>
        </p:txBody>
      </p:sp>
      <p:sp>
        <p:nvSpPr>
          <p:cNvPr id="55" name="Oval 54"/>
          <p:cNvSpPr/>
          <p:nvPr/>
        </p:nvSpPr>
        <p:spPr>
          <a:xfrm>
            <a:off x="4511040" y="4741164"/>
            <a:ext cx="182880" cy="182880"/>
          </a:xfrm>
          <a:prstGeom prst="ellipse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91668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A84A3E"/>
                </a:solidFill>
              </a:rPr>
              <a:t>21:23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70960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causal_t2: PC stage failed after 827 s</a:t>
            </a:r>
          </a:p>
        </p:txBody>
      </p:sp>
      <p:sp>
        <p:nvSpPr>
          <p:cNvPr id="58" name="Oval 57"/>
          <p:cNvSpPr/>
          <p:nvPr/>
        </p:nvSpPr>
        <p:spPr>
          <a:xfrm>
            <a:off x="6012180" y="4741164"/>
            <a:ext cx="182880" cy="182880"/>
          </a:xfrm>
          <a:prstGeom prst="ellipse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41782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F7A5C"/>
                </a:solidFill>
              </a:rPr>
              <a:t>21:34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72100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pca_pc_t2 rebuilt: PCA, PC, DAG, T²</a:t>
            </a:r>
          </a:p>
        </p:txBody>
      </p:sp>
      <p:sp>
        <p:nvSpPr>
          <p:cNvPr id="61" name="Oval 60"/>
          <p:cNvSpPr/>
          <p:nvPr/>
        </p:nvSpPr>
        <p:spPr>
          <a:xfrm>
            <a:off x="7513320" y="4741164"/>
            <a:ext cx="182880" cy="182880"/>
          </a:xfrm>
          <a:prstGeom prst="ellipse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91896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9C7A35"/>
                </a:solidFill>
              </a:rPr>
              <a:t>22:12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73240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Bug fixed in the DAG stage</a:t>
            </a:r>
          </a:p>
        </p:txBody>
      </p:sp>
      <p:sp>
        <p:nvSpPr>
          <p:cNvPr id="64" name="Oval 63"/>
          <p:cNvSpPr/>
          <p:nvPr/>
        </p:nvSpPr>
        <p:spPr>
          <a:xfrm>
            <a:off x="9014460" y="4741164"/>
            <a:ext cx="182880" cy="182880"/>
          </a:xfrm>
          <a:prstGeom prst="ellipse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420099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74A3A"/>
                </a:solidFill>
              </a:rPr>
              <a:t>22:25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74379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pca_pc_t2: all 7 stages passed</a:t>
            </a:r>
          </a:p>
        </p:txBody>
      </p:sp>
      <p:sp>
        <p:nvSpPr>
          <p:cNvPr id="67" name="Oval 66"/>
          <p:cNvSpPr/>
          <p:nvPr/>
        </p:nvSpPr>
        <p:spPr>
          <a:xfrm>
            <a:off x="10515600" y="4741164"/>
            <a:ext cx="182880" cy="182880"/>
          </a:xfrm>
          <a:prstGeom prst="ellipse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921240" y="446227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9C7A35"/>
                </a:solidFill>
              </a:rPr>
              <a:t>22:52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19" y="498348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Crash checks written for the lab PC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70" name="TextBox 69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pca_pc_t2/outputs/LOG.md, causal_t2/outputs/LOG.md, git log (26 Oct)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Our data: one month from 10 plant units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Each tag is one sensor, read once a minute. LOUP and ISOM together give 43% of the process tags.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6675120" cy="4206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TAGS PER UNIT:  KEPT  AND  DROPPED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21214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LOUP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2157984"/>
            <a:ext cx="4206240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828800" y="2157984"/>
            <a:ext cx="3727048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126479" y="21214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70</a:t>
            </a:r>
            <a:r>
              <a:rPr sz="1150" b="0">
                <a:solidFill>
                  <a:srgbClr val="676B70"/>
                </a:solidFill>
              </a:rPr>
              <a:t>  of 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24460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ISOM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2482596"/>
            <a:ext cx="2608933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828800" y="2482596"/>
            <a:ext cx="2449203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29173" y="24460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46</a:t>
            </a:r>
            <a:r>
              <a:rPr sz="1150" b="0">
                <a:solidFill>
                  <a:srgbClr val="676B70"/>
                </a:solidFill>
              </a:rPr>
              <a:t>  of 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2770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PG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2807208"/>
            <a:ext cx="2076498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828800" y="2807208"/>
            <a:ext cx="1916767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996738" y="27706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36</a:t>
            </a:r>
            <a:r>
              <a:rPr sz="1150" b="0">
                <a:solidFill>
                  <a:srgbClr val="676B70"/>
                </a:solidFill>
              </a:rPr>
              <a:t>  of 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30952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PDA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0" y="3131820"/>
            <a:ext cx="1597306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828800" y="3131820"/>
            <a:ext cx="1490819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517546" y="30952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28</a:t>
            </a:r>
            <a:r>
              <a:rPr sz="1150" b="0">
                <a:solidFill>
                  <a:srgbClr val="676B70"/>
                </a:solidFill>
              </a:rPr>
              <a:t>  of 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" y="34198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SEU1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0" y="3456432"/>
            <a:ext cx="1224601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828800" y="3456432"/>
            <a:ext cx="1224601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144841" y="34198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23</a:t>
            </a:r>
            <a:r>
              <a:rPr sz="1150" b="0">
                <a:solidFill>
                  <a:srgbClr val="676B70"/>
                </a:solidFill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37444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DIU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3781044"/>
            <a:ext cx="1118114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1828800" y="3781044"/>
            <a:ext cx="1064870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038354" y="37444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20</a:t>
            </a:r>
            <a:r>
              <a:rPr sz="1150" b="0">
                <a:solidFill>
                  <a:srgbClr val="676B70"/>
                </a:solidFill>
              </a:rPr>
              <a:t>  of 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406907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ISOM_3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0" y="4105655"/>
            <a:ext cx="905140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828800" y="4105655"/>
            <a:ext cx="745409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2825380" y="40690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14</a:t>
            </a:r>
            <a:r>
              <a:rPr sz="1150" b="0">
                <a:solidFill>
                  <a:srgbClr val="676B70"/>
                </a:solidFill>
              </a:rPr>
              <a:t>  of 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" y="43936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SEU2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28800" y="4430268"/>
            <a:ext cx="905140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1828800" y="4430268"/>
            <a:ext cx="745409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825380" y="43936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14</a:t>
            </a:r>
            <a:r>
              <a:rPr sz="1150" b="0">
                <a:solidFill>
                  <a:srgbClr val="676B70"/>
                </a:solidFill>
              </a:rPr>
              <a:t>  of 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" y="47183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SEU3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28800" y="4754880"/>
            <a:ext cx="745409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1828800" y="4754880"/>
            <a:ext cx="745409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665649" y="4718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14</a:t>
            </a:r>
            <a:r>
              <a:rPr sz="1150" b="0">
                <a:solidFill>
                  <a:srgbClr val="676B70"/>
                </a:solidFill>
              </a:rPr>
              <a:t/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" y="504291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DAK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0" y="5079492"/>
            <a:ext cx="266217" cy="219456"/>
          </a:xfrm>
          <a:prstGeom prst="rect">
            <a:avLst/>
          </a:prstGeom>
          <a:solidFill>
            <a:srgbClr val="DCE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1828800" y="5079492"/>
            <a:ext cx="266217" cy="21945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2186457" y="504291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5</a:t>
            </a:r>
            <a:r>
              <a:rPr sz="1150" b="0">
                <a:solidFill>
                  <a:srgbClr val="676B70"/>
                </a:solidFill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" y="5486400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F7A5C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kept    </a:t>
            </a:r>
            <a:r>
              <a:rPr sz="1050" b="0">
                <a:solidFill>
                  <a:srgbClr val="C9D6CB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dropped in cleaning    ·    plus 3 of 4 flare tags kept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98079" y="1600200"/>
            <a:ext cx="4069080" cy="4206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772400" y="1755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WHAT ONE ROW 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400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8247888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723376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9198864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9674352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0149840" y="2148840"/>
            <a:ext cx="438912" cy="237744"/>
          </a:xfrm>
          <a:prstGeom prst="rect">
            <a:avLst/>
          </a:prstGeom>
          <a:solidFill>
            <a:srgbClr val="E8F0E9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625328" y="2148840"/>
            <a:ext cx="438912" cy="237744"/>
          </a:xfrm>
          <a:prstGeom prst="rect">
            <a:avLst/>
          </a:prstGeom>
          <a:solidFill>
            <a:srgbClr val="F5EEDD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7772400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8247888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8723376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9198864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9674352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10149840" y="242316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10625328" y="2423160"/>
            <a:ext cx="438912" cy="237744"/>
          </a:xfrm>
          <a:prstGeom prst="rect">
            <a:avLst/>
          </a:prstGeom>
          <a:solidFill>
            <a:srgbClr val="F5EEDD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7772400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8247888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8723376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9198864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9674352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10149840" y="269748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10625328" y="2697480"/>
            <a:ext cx="438912" cy="237744"/>
          </a:xfrm>
          <a:prstGeom prst="rect">
            <a:avLst/>
          </a:prstGeom>
          <a:solidFill>
            <a:srgbClr val="F5EEDD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772400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8247888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8723376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9198864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674352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10149840" y="2971800"/>
            <a:ext cx="438912" cy="237744"/>
          </a:xfrm>
          <a:prstGeom prst="rect">
            <a:avLst/>
          </a:prstGeom>
          <a:solidFill>
            <a:srgbClr val="F1EEE6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0625328" y="2971800"/>
            <a:ext cx="438912" cy="237744"/>
          </a:xfrm>
          <a:prstGeom prst="rect">
            <a:avLst/>
          </a:prstGeom>
          <a:solidFill>
            <a:srgbClr val="F5EEDD"/>
          </a:solidFill>
          <a:ln w="635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7772400" y="32918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8DAA91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one row = one minute    </a:t>
            </a:r>
            <a:r>
              <a:rPr sz="1050" b="0">
                <a:solidFill>
                  <a:srgbClr val="B79A5B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flare tags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772400" y="36576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174A3A"/>
                </a:solidFill>
                <a:latin typeface="Georgia"/>
              </a:rPr>
              <a:t>31 days × 1,440 min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069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9C7A35"/>
                </a:solidFill>
                <a:latin typeface="Georgia"/>
              </a:rPr>
              <a:t>= 44,640 rows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72400" y="457200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273 columns: 270 process tags and 3 flare tags.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Readings averaged onto one-minute steps. Only 2 short gaps had to be filled.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103" name="TextBox 102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pca_pc_t2/outputs/tag_registry.csv, data/s1_summary.json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Cleaning: 298 tags in, 273 kept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A tag is dropped only when it cannot carry information. 25 tags went, for four reasons.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916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C9D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1792" y="169164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292D32"/>
                </a:solidFill>
                <a:latin typeface="Georgia"/>
              </a:rPr>
              <a:t>298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76B70"/>
                </a:solidFill>
              </a:rPr>
              <a:t>tags loaded (294 process + 4 flare)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8228" y="2880360"/>
            <a:ext cx="3853367" cy="777240"/>
          </a:xfrm>
          <a:prstGeom prst="roundRect">
            <a:avLst>
              <a:gd name="adj" fmla="val 12000"/>
            </a:avLst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98228" y="2880360"/>
            <a:ext cx="3853367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292D32"/>
                </a:solidFill>
                <a:latin typeface="Georgia"/>
              </a:rPr>
              <a:t>273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6850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76B70"/>
                </a:solidFill>
              </a:rPr>
              <a:t>tags kept after cleaning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28" y="4069080"/>
            <a:ext cx="3853367" cy="777240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98228" y="4069080"/>
            <a:ext cx="3853367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7F5EF"/>
                </a:solidFill>
                <a:latin typeface="Georgia"/>
              </a:rPr>
              <a:t>270 + 3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48737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676B70"/>
                </a:solidFill>
              </a:rPr>
              <a:t>process tags to PCA  +  flare tags to PC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66360" y="1600200"/>
            <a:ext cx="3108960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394960" y="170992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F7A5C"/>
                </a:solidFill>
                <a:latin typeface="Georgia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18470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92D32"/>
                </a:solidFill>
              </a:rPr>
              <a:t>Constant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2313432"/>
            <a:ext cx="2697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The value never changes in May. A flat line tells us nothing.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e.g. 99PI3213.PV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0" y="1600200"/>
            <a:ext cx="3108960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641080" y="170992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F7A5C"/>
                </a:solidFill>
                <a:latin typeface="Georgia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184708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92D32"/>
                </a:solidFill>
              </a:rPr>
              <a:t>Too much missing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2313432"/>
            <a:ext cx="2697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Over 30% empty after filling short gaps. Three tags are fully empty.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e.g. 14pc417x.op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166360" y="3429000"/>
            <a:ext cx="3108960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394960" y="353872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F7A5C"/>
                </a:solidFill>
                <a:latin typeface="Georgia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3675887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92D32"/>
                </a:solidFill>
              </a:rPr>
              <a:t>Almost constant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4142232"/>
            <a:ext cx="2697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One value for more than 99% of the minutes.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94960" y="47548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e.g. 99PI1260B.PV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3429000"/>
            <a:ext cx="3108960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641080" y="353872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F7A5C"/>
                </a:solidFill>
                <a:latin typeface="Georgia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600" y="3675887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92D32"/>
                </a:solidFill>
              </a:rPr>
              <a:t>Flat in normal period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4142232"/>
            <a:ext cx="2697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Constant in the reference period, so it cannot be scaled.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41080" y="47548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e.g. 99PI3265.PV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66360" y="5349240"/>
            <a:ext cx="6355080" cy="457200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367528" y="5349240"/>
            <a:ext cx="5989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NOTE   </a:t>
            </a:r>
            <a:r>
              <a:rPr sz="1250" b="0">
                <a:solidFill>
                  <a:srgbClr val="292D32"/>
                </a:solidFill>
              </a:rPr>
              <a:t>One flare tag lost: 44FT2505 is 64.5% missing. 3 flare tags remain.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pca_pc_t2/outputs/data/s1_summary.json, logs/s1_load_clean.log, tag_registry.csv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We built two pipelines for the same goal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Running PC on every tag is a very large job. Squeezing the tags first makes it small enough to finish in seconds.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3566160" cy="4206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" y="1600200"/>
            <a:ext cx="3566160" cy="109728"/>
          </a:xfrm>
          <a:prstGeom prst="rect">
            <a:avLst/>
          </a:prstGeom>
          <a:solidFill>
            <a:srgbClr val="7B5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96112" y="187451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7B5577"/>
                </a:solidFill>
                <a:latin typeface="Georgia"/>
              </a:rPr>
              <a:t>causal_t2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20">
                <a:solidFill>
                  <a:srgbClr val="676B70"/>
                </a:solidFill>
              </a:rPr>
              <a:t>PC ON ALL TAGS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2697480"/>
            <a:ext cx="3063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92D32"/>
                </a:solidFill>
              </a:rPr>
              <a:t>267 tags go straight into PC, after 6 near-copies are removed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292D32"/>
                </a:solidFill>
              </a:rPr>
              <a:t>Each tag starts linked to up to 250 others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292D32"/>
                </a:solidFill>
              </a:rPr>
              <a:t>Up to 13.0 million tests at depth 1 alone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" y="5120640"/>
            <a:ext cx="3017520" cy="329184"/>
          </a:xfrm>
          <a:prstGeom prst="roundRect">
            <a:avLst>
              <a:gd name="adj" fmla="val 12000"/>
            </a:avLst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96112" y="512064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7F5EF"/>
                </a:solidFill>
              </a:rPr>
              <a:t>Crashed after 827 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1600200"/>
            <a:ext cx="3566160" cy="4206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001000" y="1600200"/>
            <a:ext cx="3566160" cy="109728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75320" y="187451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174A3A"/>
                </a:solidFill>
                <a:latin typeface="Georgia"/>
              </a:rPr>
              <a:t>pca_pc_t2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20">
                <a:solidFill>
                  <a:srgbClr val="676B70"/>
                </a:solidFill>
              </a:rPr>
              <a:t>PCA FIRST, THEN PC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2697480"/>
            <a:ext cx="30632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92D32"/>
                </a:solidFill>
              </a:rPr>
              <a:t>270 tags become 26 components, plus 3 flare tags: 29 nodes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292D32"/>
                </a:solidFill>
              </a:rPr>
              <a:t>Each node starts linked to up to 22 others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292D32"/>
                </a:solidFill>
              </a:rPr>
              <a:t>36,308 tests, going up to depth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75320" y="5120640"/>
            <a:ext cx="3017520" cy="329184"/>
          </a:xfrm>
          <a:prstGeom prst="roundRect">
            <a:avLst>
              <a:gd name="adj" fmla="val 12000"/>
            </a:avLst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275320" y="512064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7F5EF"/>
                </a:solidFill>
              </a:rPr>
              <a:t>Finished in 2 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1600200"/>
            <a:ext cx="3520440" cy="4206240"/>
          </a:xfrm>
          <a:prstGeom prst="roundRect">
            <a:avLst>
              <a:gd name="adj" fmla="val 4762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0" y="17556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NUMBER OF PC TESTS, LOG SCALE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4892040"/>
            <a:ext cx="224028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80560" y="478231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76B70"/>
                </a:solidFill>
              </a:rPr>
              <a:t>1 thousand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40680" y="4398264"/>
            <a:ext cx="224028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80560" y="4288536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76B70"/>
                </a:solidFill>
              </a:rPr>
              <a:t>10 thousand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904487"/>
            <a:ext cx="224028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480560" y="3794759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76B70"/>
                </a:solidFill>
              </a:rPr>
              <a:t>100 thousand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40680" y="3410711"/>
            <a:ext cx="224028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480560" y="3300983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76B70"/>
                </a:solidFill>
              </a:rPr>
              <a:t>1 million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2916935"/>
            <a:ext cx="2240280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480560" y="2807207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76B70"/>
                </a:solidFill>
              </a:rPr>
              <a:t>10 million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2860912"/>
            <a:ext cx="777240" cy="2031127"/>
          </a:xfrm>
          <a:prstGeom prst="rect">
            <a:avLst/>
          </a:prstGeom>
          <a:solidFill>
            <a:srgbClr val="7B5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349240" y="25683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292D32"/>
                </a:solidFill>
                <a:latin typeface="Georgia"/>
              </a:rPr>
              <a:t>13.0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493775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76B70"/>
                </a:solidFill>
              </a:rPr>
              <a:t>causal_t2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5120" y="4121748"/>
            <a:ext cx="777240" cy="770291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00800" y="382914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292D32"/>
                </a:solidFill>
                <a:latin typeface="Georgia"/>
              </a:rPr>
              <a:t>36,308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937759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676B70"/>
                </a:solidFill>
              </a:rPr>
              <a:t>pca_pc_t2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521208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13.0 M is the upper bound at depth 1. 36,308 is the real count up to depth 3.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9" name="TextBox 58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pca_pc_t2/outputs/logs/s3_pc.log, causal_t2/outputs/logs/s2_pc.log, causal_t2/outputs/LOG.md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The pipeline, step by step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Each stage hands one clear output to the next. Stage 3 is where traditional PC runs.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1965960" cy="3246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2960" y="178308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3042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Load and clean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697480"/>
            <a:ext cx="1627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Read every tag, put all of them on one 1-minute grid, drop tags with no information.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886200"/>
            <a:ext cx="1563624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" y="3977639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74A3A"/>
                </a:solidFill>
                <a:latin typeface="Georgia"/>
              </a:rPr>
              <a:t>273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434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76B70"/>
                </a:solidFill>
              </a:rPr>
              <a:t>tags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606040" y="3200400"/>
            <a:ext cx="210312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834640" y="1600200"/>
            <a:ext cx="1965960" cy="3246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3035808" y="178308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35808" y="23042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PCA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5808" y="2697480"/>
            <a:ext cx="1627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Replace the 270 process tags with 26 components. Flare tags pass through as they are.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3886200"/>
            <a:ext cx="1563624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035808" y="3977639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74A3A"/>
                </a:solidFill>
                <a:latin typeface="Georgia"/>
              </a:rPr>
              <a:t>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5808" y="4434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76B70"/>
                </a:solidFill>
              </a:rPr>
              <a:t>nodes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818888" y="3200400"/>
            <a:ext cx="210312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047488" y="1600200"/>
            <a:ext cx="1965960" cy="3246120"/>
          </a:xfrm>
          <a:prstGeom prst="roundRect">
            <a:avLst>
              <a:gd name="adj" fmla="val 4762"/>
            </a:avLst>
          </a:prstGeom>
          <a:solidFill>
            <a:srgbClr val="E8F0E9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5248655" y="178308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174A3A"/>
                </a:solidFill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48655" y="23042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Traditional PC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48655" y="2697480"/>
            <a:ext cx="1627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Test which nodes are linked. Rule: a flare tag cannot cause anything.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48655" y="3886200"/>
            <a:ext cx="1563624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248655" y="3977639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74A3A"/>
                </a:solidFill>
                <a:latin typeface="Georgia"/>
              </a:rPr>
              <a:t>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48655" y="4434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76B70"/>
                </a:solidFill>
              </a:rPr>
              <a:t>links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031736" y="3200400"/>
            <a:ext cx="210312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7260336" y="1600200"/>
            <a:ext cx="1965960" cy="3246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7461504" y="178308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61504" y="23042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Make a DAG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61504" y="2697480"/>
            <a:ext cx="1627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Give every link one direction, so the graph has no loops.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4" y="3886200"/>
            <a:ext cx="1563624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461504" y="3977639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74A3A"/>
                </a:solidFill>
                <a:latin typeface="Georgia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61504" y="4434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76B70"/>
                </a:solidFill>
              </a:rPr>
              <a:t>loops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244584" y="3200400"/>
            <a:ext cx="210312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473184" y="1600200"/>
            <a:ext cx="1965960" cy="3246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674352" y="1783080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74352" y="230428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T² decomposition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74352" y="2697480"/>
            <a:ext cx="1627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Raise an alarm when a minute looks unusual, then split the alarm by node.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74352" y="3886200"/>
            <a:ext cx="1563624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674352" y="3977639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9C7A35"/>
                </a:solidFill>
                <a:latin typeface="Georgia"/>
              </a:rPr>
              <a:t>46%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74352" y="4434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76B70"/>
                </a:solidFill>
              </a:rPr>
              <a:t>minutes alarm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" y="5166360"/>
            <a:ext cx="3520440" cy="329184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1792" y="516636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92D32"/>
                </a:solidFill>
              </a:rPr>
              <a:t>Fisher-Z test, alpha 0.01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06824" y="5166360"/>
            <a:ext cx="3520440" cy="329184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306824" y="516636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92D32"/>
                </a:solidFill>
              </a:rPr>
              <a:t>Every 10th row: 4,464 rows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991856" y="5166360"/>
            <a:ext cx="3520440" cy="329184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991856" y="5166360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92D32"/>
                </a:solidFill>
              </a:rPr>
              <a:t>All 7 stages pass, under 30 s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71" name="TextBox 70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pca_pc_t2/outputs/SUMMARY.md, logs/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Step 1, PCA: squeeze 270 tags into 26 components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A component is a weighted mix of tags that tend to move together. 26 of them keep 80% of the variation.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5029200" cy="36118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THE IDEA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96696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078992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161288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243584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325880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408176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490472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572768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1655064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737360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819656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901952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984248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2066543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2148839" y="2240280"/>
            <a:ext cx="45720" cy="11887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2231136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2313432" y="2240280"/>
            <a:ext cx="45720" cy="11887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6868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92D32"/>
                </a:solidFill>
              </a:rPr>
              <a:t>270 tags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606040" y="2834640"/>
            <a:ext cx="640080" cy="0"/>
          </a:xfrm>
          <a:prstGeom prst="line">
            <a:avLst/>
          </a:prstGeom>
          <a:ln w="3175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514600" y="24688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676B70"/>
                </a:solidFill>
              </a:rPr>
              <a:t>PCA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29000" y="2240280"/>
            <a:ext cx="219456" cy="1188720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3721608" y="2676952"/>
            <a:ext cx="219456" cy="752047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4014215" y="2871029"/>
            <a:ext cx="219456" cy="557970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306824" y="3065106"/>
            <a:ext cx="219456" cy="363893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4599432" y="3137884"/>
            <a:ext cx="219456" cy="291115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4892040" y="3228858"/>
            <a:ext cx="219456" cy="200141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193792" y="31089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74A3A"/>
                </a:solidFill>
              </a:rPr>
              <a:t>…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35204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92D32"/>
                </a:solidFill>
              </a:rPr>
              <a:t>26 components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3977639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292D32"/>
                </a:solidFill>
              </a:rPr>
              <a:t>Component</a:t>
            </a:r>
            <a:r>
              <a:rPr sz="1200" b="0">
                <a:solidFill>
                  <a:srgbClr val="292D32"/>
                </a:solidFill>
              </a:rPr>
              <a:t> = tag₁ × weight₁ + tag₂ × weight₂ + …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A weight near zero means the tag barely counts.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Components are uncorrelated with each other by design.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852160" y="1600200"/>
            <a:ext cx="5715000" cy="36118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26480" y="175564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CUMULATIVE VARIATION KEPT,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2011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19.6%</a:t>
            </a:r>
          </a:p>
          <a:p>
            <a:pPr algn="l"/>
            <a:r>
              <a:rPr sz="1100" b="0">
                <a:solidFill>
                  <a:srgbClr val="676B70"/>
                </a:solidFill>
              </a:rPr>
              <a:t>PC1 alone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011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64.8%</a:t>
            </a:r>
          </a:p>
          <a:p>
            <a:pPr algn="l"/>
            <a:r>
              <a:rPr sz="1100" b="0">
                <a:solidFill>
                  <a:srgbClr val="676B70"/>
                </a:solidFill>
              </a:rPr>
              <a:t>first 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201168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9C7A35"/>
                </a:solidFill>
                <a:latin typeface="Georgia"/>
              </a:rPr>
              <a:t>80.1%</a:t>
            </a:r>
          </a:p>
          <a:p>
            <a:pPr algn="l"/>
            <a:r>
              <a:rPr sz="1100" b="0">
                <a:solidFill>
                  <a:srgbClr val="676B70"/>
                </a:solidFill>
              </a:rPr>
              <a:t>all 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5989320" y="2651760"/>
          <a:ext cx="54864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621792" y="5394960"/>
            <a:ext cx="10945368" cy="438912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22960" y="5394960"/>
            <a:ext cx="1057960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TRADE-OFF   </a:t>
            </a:r>
            <a:r>
              <a:rPr sz="1250" b="0">
                <a:solidFill>
                  <a:srgbClr val="292D32"/>
                </a:solidFill>
              </a:rPr>
              <a:t>20% of the variation is left out. PCA keeps what varies most, not what matters most for flaring.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66" name="TextBox 65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pca_pc_t2/outputs/data/pca_variance.csv, data/s2_summary.json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The components that come back in the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Some components are made of one unit's tags. Others spread over many units and are hard to name.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2075688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04672" y="171907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PC1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1810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76B70"/>
                </a:solidFill>
              </a:rPr>
              <a:t>19.6% var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" y="2212848"/>
            <a:ext cx="1709928" cy="329184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04672" y="2212848"/>
            <a:ext cx="1709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9C7A35"/>
                </a:solidFill>
              </a:rPr>
              <a:t>spread: LOUP leads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265176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80">
                <a:solidFill>
                  <a:srgbClr val="676B70"/>
                </a:solidFill>
              </a:rPr>
              <a:t>TOP TAGS  ·  WEIGHT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290779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42PI4304.PV  (SEU3)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" y="3118104"/>
            <a:ext cx="424373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93053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" y="33375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71TI8403.PV  (DIU)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2" y="3547872"/>
            <a:ext cx="406686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75366" y="35021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" y="37673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71TI0405.PV  (DIU)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" y="3977640"/>
            <a:ext cx="402318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270998" y="39319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" y="419709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99TI3269.DACA.PV  (LOUP)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" y="4407408"/>
            <a:ext cx="396450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265130" y="43616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" y="4663440"/>
            <a:ext cx="1709928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04672" y="472744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92D32"/>
                </a:solidFill>
              </a:rPr>
              <a:t>Blamed most often at alarms (16.9%)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34640" y="1600200"/>
            <a:ext cx="2075688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7520" y="171907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PC7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1810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76B70"/>
                </a:solidFill>
              </a:rPr>
              <a:t>3.2% var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17520" y="2212848"/>
            <a:ext cx="1709928" cy="329184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017520" y="2212848"/>
            <a:ext cx="1709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74A3A"/>
                </a:solidFill>
              </a:rPr>
              <a:t>focused: LOUP leads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265176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80">
                <a:solidFill>
                  <a:srgbClr val="676B70"/>
                </a:solidFill>
              </a:rPr>
              <a:t>TOP TAGS  ·  WEIGHT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290779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99PI3705.DACA.PV  (LOUP)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118104"/>
            <a:ext cx="882897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964425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17520" y="33375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99PC3704.DACA.PV  (LOUP)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3547872"/>
            <a:ext cx="864295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945823" y="35021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7673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99PI3805.DACA.PV  (LOUP)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3977640"/>
            <a:ext cx="832747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914275" y="39319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17520" y="419709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99TI4140.DACA.PV  (LOUP)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017520" y="4407408"/>
            <a:ext cx="827234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908762" y="43616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4663440"/>
            <a:ext cx="1709928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3017520" y="472744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92D32"/>
                </a:solidFill>
              </a:rPr>
              <a:t>Flagged at the first alarm, but fires often in normal times too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7488" y="1600200"/>
            <a:ext cx="2075688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230368" y="171907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PC12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44768" y="1810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76B70"/>
                </a:solidFill>
              </a:rPr>
              <a:t>1.4% var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30368" y="2212848"/>
            <a:ext cx="1709928" cy="329184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30368" y="2212848"/>
            <a:ext cx="1709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74A3A"/>
                </a:solidFill>
              </a:rPr>
              <a:t>focused: PDA leads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0368" y="265176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80">
                <a:solidFill>
                  <a:srgbClr val="676B70"/>
                </a:solidFill>
              </a:rPr>
              <a:t>TOP TAGS  ·  WEIGHT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30368" y="290779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41TI41130.pv  (PDA)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30368" y="3118104"/>
            <a:ext cx="813877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108253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30368" y="33375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41PI4114.pv  (PDA)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30368" y="3547872"/>
            <a:ext cx="756170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050546" y="35021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30368" y="37673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41PI41129.pv  (PDA)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230368" y="3977640"/>
            <a:ext cx="750249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044625" y="39319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30368" y="419709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41PI41136.pv  (PDA)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230368" y="4407408"/>
            <a:ext cx="738946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6033322" y="43616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230368" y="4663440"/>
            <a:ext cx="1709928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230368" y="472744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92D32"/>
                </a:solidFill>
              </a:rPr>
              <a:t>Blamed in 5.5% of alarm minutes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60336" y="1600200"/>
            <a:ext cx="2075688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443215" y="171907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PC13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57615" y="1810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76B70"/>
                </a:solidFill>
              </a:rPr>
              <a:t>1.3% var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443215" y="2212848"/>
            <a:ext cx="1709928" cy="329184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7443215" y="2212848"/>
            <a:ext cx="1709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9C7A35"/>
                </a:solidFill>
              </a:rPr>
              <a:t>spread: LOUP leads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5" y="265176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80">
                <a:solidFill>
                  <a:srgbClr val="676B70"/>
                </a:solidFill>
              </a:rPr>
              <a:t>TOP TAGS  ·  WEIGHT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43215" y="290779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105PIC3010N.PV  (PG)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43215" y="3118104"/>
            <a:ext cx="675037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8182261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43215" y="33375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41PI4114.pv  (PDA)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443215" y="3547872"/>
            <a:ext cx="619402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8126626" y="35021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43215" y="37673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99PI3413.DACA.PV  (LOUP)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43215" y="3977640"/>
            <a:ext cx="617067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124291" y="39319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43215" y="419709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41PI41129.pv  (PDA)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443215" y="4407408"/>
            <a:ext cx="604177" cy="128016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8111401" y="43616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0.16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43215" y="4663440"/>
            <a:ext cx="1709928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7443215" y="472744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92D32"/>
                </a:solidFill>
              </a:rPr>
              <a:t>Flagged at the first alarm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473184" y="1600200"/>
            <a:ext cx="2075688" cy="37033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9656063" y="171907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74A3A"/>
                </a:solidFill>
                <a:latin typeface="Georgia"/>
              </a:rPr>
              <a:t>PC14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570463" y="18105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76B70"/>
                </a:solidFill>
              </a:rPr>
              <a:t>1.3% var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656063" y="2212848"/>
            <a:ext cx="1709928" cy="329184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656063" y="2212848"/>
            <a:ext cx="170992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74A3A"/>
                </a:solidFill>
              </a:rPr>
              <a:t>focused: SEU3 leads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656063" y="265176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80">
                <a:solidFill>
                  <a:srgbClr val="676B70"/>
                </a:solidFill>
              </a:rPr>
              <a:t>TOP TAGS  ·  WEIGHT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56063" y="290779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42PC4215.PV  (SEU3)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656063" y="3118104"/>
            <a:ext cx="1173329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893401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656063" y="33375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42PC4501.PV  (SEU3)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656063" y="3547872"/>
            <a:ext cx="1164211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884283" y="35021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56063" y="376732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99PC1527.DACA.PV  (LOUP)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656063" y="3977640"/>
            <a:ext cx="865526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0585598" y="393192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656063" y="419709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92D32"/>
                </a:solidFill>
              </a:rPr>
              <a:t>42PI4205.PV  (SEU3)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656063" y="4407408"/>
            <a:ext cx="838902" cy="128016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0558974" y="43616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92D32"/>
                </a:solidFill>
              </a:rPr>
              <a:t>0.22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656063" y="4663440"/>
            <a:ext cx="1709928" cy="9144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9656063" y="472744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92D32"/>
                </a:solidFill>
              </a:rPr>
              <a:t>Clearest lead: SEU3 pressure tags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21792" y="5440680"/>
            <a:ext cx="10945368" cy="411480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822960" y="5440680"/>
            <a:ext cx="105796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WHY IT MATTERS   </a:t>
            </a:r>
            <a:r>
              <a:rPr sz="1250" b="0">
                <a:solidFill>
                  <a:srgbClr val="292D32"/>
                </a:solidFill>
              </a:rPr>
              <a:t>A focused component points to a few tags in one unit. A spread one, like PC1, cannot be turned into a named cause.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128" name="TextBox 127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pca_pc_t2/outputs/tables/pca_top_tags.csv, tables/root_cause_nodes.csv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Step 2, traditional PC: the graph we got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29 nodes went in. 50 links came out, and every one runs from a component to a flare tag.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554480"/>
            <a:ext cx="10945368" cy="3063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1460296" y="2249424"/>
            <a:ext cx="9055304" cy="1545336"/>
          </a:xfrm>
          <a:prstGeom prst="line">
            <a:avLst/>
          </a:prstGeom>
          <a:ln w="651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655003" y="2249424"/>
            <a:ext cx="3860597" cy="1545336"/>
          </a:xfrm>
          <a:prstGeom prst="line">
            <a:avLst/>
          </a:prstGeom>
          <a:ln w="656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058668" y="2249424"/>
            <a:ext cx="7456932" cy="1545336"/>
          </a:xfrm>
          <a:prstGeom prst="line">
            <a:avLst/>
          </a:prstGeom>
          <a:ln w="6850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3200400" y="2249424"/>
            <a:ext cx="1057046" cy="1545336"/>
          </a:xfrm>
          <a:prstGeom prst="line">
            <a:avLst/>
          </a:prstGeom>
          <a:ln w="709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200400" y="2249424"/>
            <a:ext cx="3055010" cy="1545336"/>
          </a:xfrm>
          <a:prstGeom prst="line">
            <a:avLst/>
          </a:prstGeom>
          <a:ln w="716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056631" y="2249424"/>
            <a:ext cx="5458969" cy="1545336"/>
          </a:xfrm>
          <a:prstGeom prst="line">
            <a:avLst/>
          </a:prstGeom>
          <a:ln w="7190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53781" y="2249424"/>
            <a:ext cx="2661819" cy="1545336"/>
          </a:xfrm>
          <a:prstGeom prst="line">
            <a:avLst/>
          </a:prstGeom>
          <a:ln w="749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858000" y="2249424"/>
            <a:ext cx="3792931" cy="1545336"/>
          </a:xfrm>
          <a:prstGeom prst="line">
            <a:avLst/>
          </a:prstGeom>
          <a:ln w="801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200400" y="2249424"/>
            <a:ext cx="6651345" cy="1545336"/>
          </a:xfrm>
          <a:prstGeom prst="line">
            <a:avLst/>
          </a:prstGeom>
          <a:ln w="8228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456224" y="2249424"/>
            <a:ext cx="5059376" cy="1545336"/>
          </a:xfrm>
          <a:prstGeom prst="line">
            <a:avLst/>
          </a:prstGeom>
          <a:ln w="8398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454188" y="2249424"/>
            <a:ext cx="3061412" cy="1545336"/>
          </a:xfrm>
          <a:prstGeom prst="line">
            <a:avLst/>
          </a:prstGeom>
          <a:ln w="876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858000" y="2249424"/>
            <a:ext cx="2194560" cy="1545336"/>
          </a:xfrm>
          <a:prstGeom prst="line">
            <a:avLst/>
          </a:prstGeom>
          <a:ln w="878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6858000" y="2249424"/>
            <a:ext cx="995781" cy="1545336"/>
          </a:xfrm>
          <a:prstGeom prst="line">
            <a:avLst/>
          </a:prstGeom>
          <a:ln w="909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3200400" y="2249424"/>
            <a:ext cx="5852160" cy="1545336"/>
          </a:xfrm>
          <a:prstGeom prst="line">
            <a:avLst/>
          </a:prstGeom>
          <a:ln w="966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3200400" y="2249424"/>
            <a:ext cx="7850124" cy="1545336"/>
          </a:xfrm>
          <a:prstGeom prst="line">
            <a:avLst/>
          </a:prstGeom>
          <a:ln w="9864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855817" y="2249424"/>
            <a:ext cx="1002183" cy="1545336"/>
          </a:xfrm>
          <a:prstGeom prst="line">
            <a:avLst/>
          </a:prstGeom>
          <a:ln w="1009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200400" y="2249424"/>
            <a:ext cx="1456639" cy="1545336"/>
          </a:xfrm>
          <a:prstGeom prst="line">
            <a:avLst/>
          </a:prstGeom>
          <a:ln w="1043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859889" y="2249424"/>
            <a:ext cx="4998111" cy="1545336"/>
          </a:xfrm>
          <a:prstGeom prst="line">
            <a:avLst/>
          </a:prstGeom>
          <a:ln w="1060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3200400" y="2249424"/>
            <a:ext cx="1856231" cy="1545336"/>
          </a:xfrm>
          <a:prstGeom prst="line">
            <a:avLst/>
          </a:prstGeom>
          <a:ln w="1120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3200400" y="2249424"/>
            <a:ext cx="5452567" cy="1545336"/>
          </a:xfrm>
          <a:prstGeom prst="line">
            <a:avLst/>
          </a:prstGeom>
          <a:ln w="1155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257446" y="2249424"/>
            <a:ext cx="2600554" cy="1545336"/>
          </a:xfrm>
          <a:prstGeom prst="line">
            <a:avLst/>
          </a:prstGeom>
          <a:ln w="1195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57853" y="2249424"/>
            <a:ext cx="6657747" cy="1545336"/>
          </a:xfrm>
          <a:prstGeom prst="line">
            <a:avLst/>
          </a:prstGeom>
          <a:ln w="12069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59482" y="2249424"/>
            <a:ext cx="4598518" cy="1545336"/>
          </a:xfrm>
          <a:prstGeom prst="line">
            <a:avLst/>
          </a:prstGeom>
          <a:ln w="1220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200400" y="2249424"/>
            <a:ext cx="3454603" cy="1545336"/>
          </a:xfrm>
          <a:prstGeom prst="line">
            <a:avLst/>
          </a:prstGeom>
          <a:ln w="1230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257446" y="2249424"/>
            <a:ext cx="6258154" cy="1545336"/>
          </a:xfrm>
          <a:prstGeom prst="line">
            <a:avLst/>
          </a:prstGeom>
          <a:ln w="1324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59075" y="2249424"/>
            <a:ext cx="541325" cy="1545336"/>
          </a:xfrm>
          <a:prstGeom prst="line">
            <a:avLst/>
          </a:prstGeom>
          <a:ln w="1342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58668" y="2249424"/>
            <a:ext cx="3799332" cy="1545336"/>
          </a:xfrm>
          <a:prstGeom prst="line">
            <a:avLst/>
          </a:prstGeom>
          <a:ln w="1380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52967" y="2249424"/>
            <a:ext cx="1862633" cy="1545336"/>
          </a:xfrm>
          <a:prstGeom prst="line">
            <a:avLst/>
          </a:prstGeom>
          <a:ln w="1391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10515600" y="2249424"/>
            <a:ext cx="534924" cy="1545336"/>
          </a:xfrm>
          <a:prstGeom prst="line">
            <a:avLst/>
          </a:prstGeom>
          <a:ln w="1392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851745" y="2249424"/>
            <a:ext cx="663855" cy="1545336"/>
          </a:xfrm>
          <a:prstGeom prst="line">
            <a:avLst/>
          </a:prstGeom>
          <a:ln w="1410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58668" y="2249424"/>
            <a:ext cx="141732" cy="1545336"/>
          </a:xfrm>
          <a:prstGeom prst="line">
            <a:avLst/>
          </a:prstGeom>
          <a:ln w="1421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3200400" y="2249424"/>
            <a:ext cx="7050938" cy="1545336"/>
          </a:xfrm>
          <a:prstGeom prst="line">
            <a:avLst/>
          </a:prstGeom>
          <a:ln w="1424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859889" y="2249424"/>
            <a:ext cx="1340511" cy="1545336"/>
          </a:xfrm>
          <a:prstGeom prst="line">
            <a:avLst/>
          </a:prstGeom>
          <a:ln w="1584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57039" y="2249424"/>
            <a:ext cx="2200961" cy="1545336"/>
          </a:xfrm>
          <a:prstGeom prst="line">
            <a:avLst/>
          </a:prstGeom>
          <a:ln w="16138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251338" y="2249424"/>
            <a:ext cx="264262" cy="1545336"/>
          </a:xfrm>
          <a:prstGeom prst="line">
            <a:avLst/>
          </a:prstGeom>
          <a:ln w="16535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60704" y="2249424"/>
            <a:ext cx="2139696" cy="1545336"/>
          </a:xfrm>
          <a:prstGeom prst="line">
            <a:avLst/>
          </a:prstGeom>
          <a:ln w="18308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6858000" y="2249424"/>
            <a:ext cx="1395374" cy="1545336"/>
          </a:xfrm>
          <a:prstGeom prst="line">
            <a:avLst/>
          </a:prstGeom>
          <a:ln w="18329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859889" y="2249424"/>
            <a:ext cx="8655711" cy="1545336"/>
          </a:xfrm>
          <a:prstGeom prst="line">
            <a:avLst/>
          </a:prstGeom>
          <a:ln w="1891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253374" y="2249424"/>
            <a:ext cx="2262226" cy="1545336"/>
          </a:xfrm>
          <a:prstGeom prst="line">
            <a:avLst/>
          </a:prstGeom>
          <a:ln w="1934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054596" y="2249424"/>
            <a:ext cx="3461004" cy="1545336"/>
          </a:xfrm>
          <a:prstGeom prst="line">
            <a:avLst/>
          </a:prstGeom>
          <a:ln w="1940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259482" y="2249424"/>
            <a:ext cx="8256118" cy="1545336"/>
          </a:xfrm>
          <a:prstGeom prst="line">
            <a:avLst/>
          </a:prstGeom>
          <a:ln w="19584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57853" y="2249424"/>
            <a:ext cx="3000147" cy="1545336"/>
          </a:xfrm>
          <a:prstGeom prst="line">
            <a:avLst/>
          </a:prstGeom>
          <a:ln w="1989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6858000" y="2249424"/>
            <a:ext cx="2993745" cy="1545336"/>
          </a:xfrm>
          <a:prstGeom prst="line">
            <a:avLst/>
          </a:prstGeom>
          <a:ln w="22459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9452152" y="2249424"/>
            <a:ext cx="1063448" cy="1545336"/>
          </a:xfrm>
          <a:prstGeom prst="line">
            <a:avLst/>
          </a:prstGeom>
          <a:ln w="22841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6858000" y="2249424"/>
            <a:ext cx="2594152" cy="1545336"/>
          </a:xfrm>
          <a:prstGeom prst="line">
            <a:avLst/>
          </a:prstGeom>
          <a:ln w="27972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60704" y="2249424"/>
            <a:ext cx="5797296" cy="1545336"/>
          </a:xfrm>
          <a:prstGeom prst="line">
            <a:avLst/>
          </a:prstGeom>
          <a:ln w="2917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060704" y="2249424"/>
            <a:ext cx="9454896" cy="1545336"/>
          </a:xfrm>
          <a:prstGeom prst="line">
            <a:avLst/>
          </a:prstGeom>
          <a:ln w="30146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460296" y="2249424"/>
            <a:ext cx="5397704" cy="1545336"/>
          </a:xfrm>
          <a:prstGeom prst="line">
            <a:avLst/>
          </a:prstGeom>
          <a:ln w="31913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259482" y="2249424"/>
            <a:ext cx="940918" cy="1545336"/>
          </a:xfrm>
          <a:prstGeom prst="line">
            <a:avLst/>
          </a:prstGeom>
          <a:ln w="36147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460296" y="2249424"/>
            <a:ext cx="1740104" cy="1545336"/>
          </a:xfrm>
          <a:prstGeom prst="line">
            <a:avLst/>
          </a:prstGeom>
          <a:ln w="45815">
            <a:solidFill>
              <a:srgbClr val="B79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896112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</a:t>
            </a:r>
          </a:p>
        </p:txBody>
      </p:sp>
      <p:sp>
        <p:nvSpPr>
          <p:cNvPr id="78" name="Oval 77"/>
          <p:cNvSpPr/>
          <p:nvPr/>
        </p:nvSpPr>
        <p:spPr>
          <a:xfrm>
            <a:off x="1295704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</a:t>
            </a:r>
          </a:p>
        </p:txBody>
      </p:sp>
      <p:sp>
        <p:nvSpPr>
          <p:cNvPr id="79" name="Oval 78"/>
          <p:cNvSpPr/>
          <p:nvPr/>
        </p:nvSpPr>
        <p:spPr>
          <a:xfrm>
            <a:off x="1695297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3</a:t>
            </a:r>
          </a:p>
        </p:txBody>
      </p:sp>
      <p:sp>
        <p:nvSpPr>
          <p:cNvPr id="80" name="Oval 79"/>
          <p:cNvSpPr/>
          <p:nvPr/>
        </p:nvSpPr>
        <p:spPr>
          <a:xfrm>
            <a:off x="2094890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4</a:t>
            </a:r>
          </a:p>
        </p:txBody>
      </p:sp>
      <p:sp>
        <p:nvSpPr>
          <p:cNvPr id="81" name="Oval 80"/>
          <p:cNvSpPr/>
          <p:nvPr/>
        </p:nvSpPr>
        <p:spPr>
          <a:xfrm>
            <a:off x="2494483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5</a:t>
            </a:r>
          </a:p>
        </p:txBody>
      </p:sp>
      <p:sp>
        <p:nvSpPr>
          <p:cNvPr id="82" name="Oval 81"/>
          <p:cNvSpPr/>
          <p:nvPr/>
        </p:nvSpPr>
        <p:spPr>
          <a:xfrm>
            <a:off x="2894076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6</a:t>
            </a:r>
          </a:p>
        </p:txBody>
      </p:sp>
      <p:sp>
        <p:nvSpPr>
          <p:cNvPr id="83" name="Oval 82"/>
          <p:cNvSpPr/>
          <p:nvPr/>
        </p:nvSpPr>
        <p:spPr>
          <a:xfrm>
            <a:off x="3293668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7</a:t>
            </a:r>
          </a:p>
        </p:txBody>
      </p:sp>
      <p:sp>
        <p:nvSpPr>
          <p:cNvPr id="84" name="Oval 83"/>
          <p:cNvSpPr/>
          <p:nvPr/>
        </p:nvSpPr>
        <p:spPr>
          <a:xfrm>
            <a:off x="3693261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8</a:t>
            </a:r>
          </a:p>
        </p:txBody>
      </p:sp>
      <p:sp>
        <p:nvSpPr>
          <p:cNvPr id="85" name="Oval 84"/>
          <p:cNvSpPr/>
          <p:nvPr/>
        </p:nvSpPr>
        <p:spPr>
          <a:xfrm>
            <a:off x="4092854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9</a:t>
            </a:r>
          </a:p>
        </p:txBody>
      </p:sp>
      <p:sp>
        <p:nvSpPr>
          <p:cNvPr id="86" name="Oval 85"/>
          <p:cNvSpPr/>
          <p:nvPr/>
        </p:nvSpPr>
        <p:spPr>
          <a:xfrm>
            <a:off x="4492447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10</a:t>
            </a:r>
          </a:p>
        </p:txBody>
      </p:sp>
      <p:sp>
        <p:nvSpPr>
          <p:cNvPr id="87" name="Oval 86"/>
          <p:cNvSpPr/>
          <p:nvPr/>
        </p:nvSpPr>
        <p:spPr>
          <a:xfrm>
            <a:off x="4892040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5291632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12</a:t>
            </a:r>
          </a:p>
        </p:txBody>
      </p:sp>
      <p:sp>
        <p:nvSpPr>
          <p:cNvPr id="89" name="Oval 88"/>
          <p:cNvSpPr/>
          <p:nvPr/>
        </p:nvSpPr>
        <p:spPr>
          <a:xfrm>
            <a:off x="5691225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13</a:t>
            </a:r>
          </a:p>
        </p:txBody>
      </p:sp>
      <p:sp>
        <p:nvSpPr>
          <p:cNvPr id="90" name="Oval 89"/>
          <p:cNvSpPr/>
          <p:nvPr/>
        </p:nvSpPr>
        <p:spPr>
          <a:xfrm>
            <a:off x="6090818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14</a:t>
            </a:r>
          </a:p>
        </p:txBody>
      </p:sp>
      <p:sp>
        <p:nvSpPr>
          <p:cNvPr id="91" name="Oval 90"/>
          <p:cNvSpPr/>
          <p:nvPr/>
        </p:nvSpPr>
        <p:spPr>
          <a:xfrm>
            <a:off x="6490411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15</a:t>
            </a:r>
          </a:p>
        </p:txBody>
      </p:sp>
      <p:sp>
        <p:nvSpPr>
          <p:cNvPr id="92" name="Oval 91"/>
          <p:cNvSpPr/>
          <p:nvPr/>
        </p:nvSpPr>
        <p:spPr>
          <a:xfrm>
            <a:off x="6890004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16</a:t>
            </a:r>
          </a:p>
        </p:txBody>
      </p:sp>
      <p:sp>
        <p:nvSpPr>
          <p:cNvPr id="93" name="Oval 92"/>
          <p:cNvSpPr/>
          <p:nvPr/>
        </p:nvSpPr>
        <p:spPr>
          <a:xfrm>
            <a:off x="7289596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17</a:t>
            </a:r>
          </a:p>
        </p:txBody>
      </p:sp>
      <p:sp>
        <p:nvSpPr>
          <p:cNvPr id="94" name="Oval 93"/>
          <p:cNvSpPr/>
          <p:nvPr/>
        </p:nvSpPr>
        <p:spPr>
          <a:xfrm>
            <a:off x="7689189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18</a:t>
            </a:r>
          </a:p>
        </p:txBody>
      </p:sp>
      <p:sp>
        <p:nvSpPr>
          <p:cNvPr id="95" name="Oval 94"/>
          <p:cNvSpPr/>
          <p:nvPr/>
        </p:nvSpPr>
        <p:spPr>
          <a:xfrm>
            <a:off x="8088782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19</a:t>
            </a:r>
          </a:p>
        </p:txBody>
      </p:sp>
      <p:sp>
        <p:nvSpPr>
          <p:cNvPr id="96" name="Oval 95"/>
          <p:cNvSpPr/>
          <p:nvPr/>
        </p:nvSpPr>
        <p:spPr>
          <a:xfrm>
            <a:off x="8488375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20</a:t>
            </a:r>
          </a:p>
        </p:txBody>
      </p:sp>
      <p:sp>
        <p:nvSpPr>
          <p:cNvPr id="97" name="Oval 96"/>
          <p:cNvSpPr/>
          <p:nvPr/>
        </p:nvSpPr>
        <p:spPr>
          <a:xfrm>
            <a:off x="8887968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21</a:t>
            </a:r>
          </a:p>
        </p:txBody>
      </p:sp>
      <p:sp>
        <p:nvSpPr>
          <p:cNvPr id="98" name="Oval 97"/>
          <p:cNvSpPr/>
          <p:nvPr/>
        </p:nvSpPr>
        <p:spPr>
          <a:xfrm>
            <a:off x="9287560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22</a:t>
            </a:r>
          </a:p>
        </p:txBody>
      </p:sp>
      <p:sp>
        <p:nvSpPr>
          <p:cNvPr id="99" name="Oval 98"/>
          <p:cNvSpPr/>
          <p:nvPr/>
        </p:nvSpPr>
        <p:spPr>
          <a:xfrm>
            <a:off x="9687153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23</a:t>
            </a:r>
          </a:p>
        </p:txBody>
      </p:sp>
      <p:sp>
        <p:nvSpPr>
          <p:cNvPr id="100" name="Oval 99"/>
          <p:cNvSpPr/>
          <p:nvPr/>
        </p:nvSpPr>
        <p:spPr>
          <a:xfrm>
            <a:off x="10086746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24</a:t>
            </a:r>
          </a:p>
        </p:txBody>
      </p:sp>
      <p:sp>
        <p:nvSpPr>
          <p:cNvPr id="101" name="Oval 100"/>
          <p:cNvSpPr/>
          <p:nvPr/>
        </p:nvSpPr>
        <p:spPr>
          <a:xfrm>
            <a:off x="10486339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25</a:t>
            </a:r>
          </a:p>
        </p:txBody>
      </p:sp>
      <p:sp>
        <p:nvSpPr>
          <p:cNvPr id="102" name="Oval 101"/>
          <p:cNvSpPr/>
          <p:nvPr/>
        </p:nvSpPr>
        <p:spPr>
          <a:xfrm>
            <a:off x="10885932" y="19202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2F7A5C"/>
                </a:solidFill>
              </a:rPr>
              <a:t>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6112" y="166420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76B70"/>
                </a:solidFill>
              </a:rPr>
              <a:t>26 components  (numbered by PC)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77440" y="379476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2377440" y="37947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7F5EF"/>
                </a:solidFill>
              </a:rPr>
              <a:t>LR flare sum</a:t>
            </a:r>
            <a:r>
              <a:rPr sz="1050" b="0">
                <a:solidFill>
                  <a:srgbClr val="F7F5EF"/>
                </a:solidFill>
              </a:rPr>
              <a:t>   16 links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35040" y="379476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6035040" y="37947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7F5EF"/>
                </a:solidFill>
              </a:rPr>
              <a:t>509FI5201</a:t>
            </a:r>
            <a:r>
              <a:rPr sz="1050" b="0">
                <a:solidFill>
                  <a:srgbClr val="F7F5EF"/>
                </a:solidFill>
              </a:rPr>
              <a:t>   15 links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692640" y="379476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9692640" y="37947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7F5EF"/>
                </a:solidFill>
              </a:rPr>
              <a:t>509MW5101</a:t>
            </a:r>
            <a:r>
              <a:rPr sz="1050" b="0">
                <a:solidFill>
                  <a:srgbClr val="F7F5EF"/>
                </a:solidFill>
              </a:rPr>
              <a:t>   19 links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96112" y="4315968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76B70"/>
                </a:solidFill>
              </a:rPr>
              <a:t>Line width = strength of the link. Strongest, in gold: PC2 → LR flare sum.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21792" y="475488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50392" y="48188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92D32"/>
                </a:solidFill>
                <a:latin typeface="Georgia"/>
              </a:rPr>
              <a:t>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73352" y="4956048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nodes in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392424" y="475488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621024" y="48188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74A3A"/>
                </a:solidFill>
                <a:latin typeface="Georgia"/>
              </a:rP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43983" y="4956048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links out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163055" y="475488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391655" y="48188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A84A3E"/>
                </a:solidFill>
                <a:latin typeface="Georgia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14615" y="4956048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between two components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933688" y="4754880"/>
            <a:ext cx="26060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9162288" y="481888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74A3A"/>
                </a:solidFill>
                <a:latin typeface="Georgia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985248" y="4956048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leaving a flare tag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123" name="TextBox 122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pca_pc_t2/outputs/graph/dag_edges.csv, t2/coefficients.csv, data/s4_summary.json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Which components move most with each flare tag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For each flare tag, the three links with the largest weight. A minus sign means they move in opposite directions.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3557016" cy="35204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21792" y="1600200"/>
            <a:ext cx="3557016" cy="566928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50392" y="160020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7F5EF"/>
                </a:solidFill>
              </a:rPr>
              <a:t>LR flare sum</a:t>
            </a:r>
            <a:r>
              <a:rPr sz="1050" b="0">
                <a:solidFill>
                  <a:srgbClr val="F7F5EF"/>
                </a:solidFill>
              </a:rPr>
              <a:t>   16 links in total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04872" y="2377440"/>
            <a:ext cx="13716" cy="2514600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2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PC2</a:t>
            </a:r>
            <a:r>
              <a:rPr sz="1050" b="0">
                <a:solidFill>
                  <a:srgbClr val="676B70"/>
                </a:solidFill>
              </a:rPr>
              <a:t>   main unit LOUP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3401" y="2752344"/>
            <a:ext cx="1311470" cy="27432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71609" y="27523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292D32"/>
                </a:solidFill>
              </a:rPr>
              <a:t>-0.62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" y="3264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PC4</a:t>
            </a:r>
            <a:r>
              <a:rPr sz="1050" b="0">
                <a:solidFill>
                  <a:srgbClr val="676B70"/>
                </a:solidFill>
              </a:rPr>
              <a:t>   main unit DIU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4667" y="3593591"/>
            <a:ext cx="990204" cy="27432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2875" y="359359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292D32"/>
                </a:solidFill>
              </a:rPr>
              <a:t>-0.47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410565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PC1</a:t>
            </a:r>
            <a:r>
              <a:rPr sz="1050" b="0">
                <a:solidFill>
                  <a:srgbClr val="676B70"/>
                </a:solidFill>
              </a:rPr>
              <a:t>   main unit LOUP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07466" y="4434840"/>
            <a:ext cx="397405" cy="27432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385674" y="4434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292D32"/>
                </a:solidFill>
              </a:rPr>
              <a:t>-0.19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5968" y="1600200"/>
            <a:ext cx="3557016" cy="35204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5968" y="1600200"/>
            <a:ext cx="3557016" cy="566928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4568" y="160020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7F5EF"/>
                </a:solidFill>
              </a:rPr>
              <a:t>509FI5201</a:t>
            </a:r>
            <a:r>
              <a:rPr sz="1050" b="0">
                <a:solidFill>
                  <a:srgbClr val="F7F5EF"/>
                </a:solidFill>
              </a:rPr>
              <a:t>   15 links in total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8" y="2377440"/>
            <a:ext cx="13716" cy="2514600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44568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PC2</a:t>
            </a:r>
            <a:r>
              <a:rPr sz="1050" b="0">
                <a:solidFill>
                  <a:srgbClr val="676B70"/>
                </a:solidFill>
              </a:rPr>
              <a:t>   main unit LOUP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9048" y="2752344"/>
            <a:ext cx="849489" cy="2743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021689" y="27523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+0.40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44568" y="3264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PC1</a:t>
            </a:r>
            <a:r>
              <a:rPr sz="1050" b="0">
                <a:solidFill>
                  <a:srgbClr val="676B70"/>
                </a:solidFill>
              </a:rPr>
              <a:t>   main unit LOUP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9048" y="3593591"/>
            <a:ext cx="758446" cy="2743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930646" y="359359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+0.36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44568" y="410565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PC22</a:t>
            </a:r>
            <a:r>
              <a:rPr sz="1050" b="0">
                <a:solidFill>
                  <a:srgbClr val="676B70"/>
                </a:solidFill>
              </a:rPr>
              <a:t>   main unit ISOM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80503" y="4434840"/>
            <a:ext cx="718544" cy="27432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58711" y="4434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292D32"/>
                </a:solidFill>
              </a:rPr>
              <a:t>-0.34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10144" y="1600200"/>
            <a:ext cx="3557016" cy="35204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8010144" y="1600200"/>
            <a:ext cx="3557016" cy="566928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38744" y="160020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7F5EF"/>
                </a:solidFill>
              </a:rPr>
              <a:t>509MW5101</a:t>
            </a:r>
            <a:r>
              <a:rPr sz="1050" b="0">
                <a:solidFill>
                  <a:srgbClr val="F7F5EF"/>
                </a:solidFill>
              </a:rPr>
              <a:t>   19 links in total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93224" y="2377440"/>
            <a:ext cx="13716" cy="2514600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38744" y="2423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PC1</a:t>
            </a:r>
            <a:r>
              <a:rPr sz="1050" b="0">
                <a:solidFill>
                  <a:srgbClr val="676B70"/>
                </a:solidFill>
              </a:rPr>
              <a:t>   main unit LOUP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93224" y="2752344"/>
            <a:ext cx="790761" cy="2743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657137" y="27523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+0.37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38744" y="32644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PC22</a:t>
            </a:r>
            <a:r>
              <a:rPr sz="1050" b="0">
                <a:solidFill>
                  <a:srgbClr val="676B70"/>
                </a:solidFill>
              </a:rPr>
              <a:t>   main unit ISOM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45202" y="3593591"/>
            <a:ext cx="548021" cy="27432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23410" y="3593591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292D32"/>
                </a:solidFill>
              </a:rPr>
              <a:t>-0.26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8744" y="410565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PC4</a:t>
            </a:r>
            <a:r>
              <a:rPr sz="1050" b="0">
                <a:solidFill>
                  <a:srgbClr val="676B70"/>
                </a:solidFill>
              </a:rPr>
              <a:t>   main unit DIU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793224" y="4434840"/>
            <a:ext cx="439778" cy="274320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306154" y="4434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+0.21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" y="519379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F7A5C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moves the same way    </a:t>
            </a:r>
            <a:r>
              <a:rPr sz="1050" b="0">
                <a:solidFill>
                  <a:srgbClr val="B79A5B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moves the opposite way    </a:t>
            </a:r>
            <a:r>
              <a:rPr sz="1050" b="0">
                <a:solidFill>
                  <a:srgbClr val="676B70"/>
                </a:solidFill>
              </a:rPr>
              <a:t>·   weights are on a standardised scale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" y="5486400"/>
            <a:ext cx="10945368" cy="384048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" y="5486400"/>
            <a:ext cx="105796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USE TODAY   </a:t>
            </a:r>
            <a:r>
              <a:rPr sz="1250" b="0">
                <a:solidFill>
                  <a:srgbClr val="292D32"/>
                </a:solidFill>
              </a:rPr>
              <a:t>This is where the graph already helps: it cuts 26 components down to a short list per flare tag.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68" name="TextBox 67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pca_pc_t2/outputs/t2/coefficients.csv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Why the graph has no links between components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This is expected. It follows from how PCA builds the components.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3410712" cy="25146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50392" y="31546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292D32"/>
                </a:solidFill>
              </a:rPr>
              <a:t>PCA makes components uncorrelated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547872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76B70"/>
                </a:solidFill>
              </a:rPr>
              <a:t>By design, the correlation between any two components is zero.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59935" y="2834640"/>
            <a:ext cx="301753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389120" y="1600200"/>
            <a:ext cx="3410712" cy="25146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17720" y="31546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292D32"/>
                </a:solidFill>
              </a:rPr>
              <a:t>PC cuts a link when there is no correlation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47872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76B70"/>
                </a:solidFill>
              </a:rPr>
              <a:t>No correlation means the test finds no link to keep.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27263" y="2834640"/>
            <a:ext cx="301753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156448" y="1600200"/>
            <a:ext cx="3410712" cy="25146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385048" y="315468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292D32"/>
                </a:solidFill>
              </a:rPr>
              <a:t>Only component → flare links are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3547872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76B70"/>
                </a:solidFill>
              </a:rPr>
              <a:t>Each flare tag is linked to the components it moves with.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554480" y="2834640"/>
            <a:ext cx="1371600" cy="0"/>
          </a:xfrm>
          <a:prstGeom prst="line">
            <a:avLst/>
          </a:prstGeom>
          <a:ln w="31750">
            <a:solidFill>
              <a:srgbClr val="174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54480" y="1783080"/>
            <a:ext cx="0" cy="1051560"/>
          </a:xfrm>
          <a:prstGeom prst="line">
            <a:avLst/>
          </a:prstGeom>
          <a:ln w="31750">
            <a:solidFill>
              <a:srgbClr val="174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926080" y="26974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92D32"/>
                </a:solidFill>
              </a:rPr>
              <a:t>PC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64208" y="17373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92D32"/>
                </a:solidFill>
              </a:rPr>
              <a:t>PC 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0" y="21488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at right angles</a:t>
            </a:r>
          </a:p>
        </p:txBody>
      </p:sp>
      <p:sp>
        <p:nvSpPr>
          <p:cNvPr id="42" name="Oval 41"/>
          <p:cNvSpPr/>
          <p:nvPr/>
        </p:nvSpPr>
        <p:spPr>
          <a:xfrm>
            <a:off x="4800600" y="2103120"/>
            <a:ext cx="457200" cy="45720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303520" y="2331720"/>
            <a:ext cx="1005840" cy="0"/>
          </a:xfrm>
          <a:prstGeom prst="line">
            <a:avLst/>
          </a:prstGeom>
          <a:ln w="19050">
            <a:solidFill>
              <a:srgbClr val="A84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5715000" y="2212848"/>
            <a:ext cx="9144" cy="9144"/>
          </a:xfrm>
          <a:prstGeom prst="roundRect">
            <a:avLst>
              <a:gd name="adj" fmla="val 12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623560" y="212140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47" name="Oval 46"/>
          <p:cNvSpPr/>
          <p:nvPr/>
        </p:nvSpPr>
        <p:spPr>
          <a:xfrm>
            <a:off x="8549640" y="1874519"/>
            <a:ext cx="365760" cy="36576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F7A5C"/>
                </a:solidFill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732520" y="2258568"/>
            <a:ext cx="548640" cy="438912"/>
          </a:xfrm>
          <a:prstGeom prst="line">
            <a:avLst/>
          </a:prstGeom>
          <a:ln w="19050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9098280" y="1874519"/>
            <a:ext cx="365760" cy="36576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F7A5C"/>
                </a:solidFill>
              </a:rPr>
              <a:t>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281160" y="2258568"/>
            <a:ext cx="0" cy="438912"/>
          </a:xfrm>
          <a:prstGeom prst="line">
            <a:avLst/>
          </a:prstGeom>
          <a:ln w="19050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646919" y="1874519"/>
            <a:ext cx="365760" cy="36576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2F7A5C"/>
                </a:solidFill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 flipH="1">
            <a:off x="9281160" y="2258568"/>
            <a:ext cx="548640" cy="438912"/>
          </a:xfrm>
          <a:prstGeom prst="line">
            <a:avLst/>
          </a:prstGeom>
          <a:ln w="19050">
            <a:solidFill>
              <a:srgbClr val="8DAA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778240" y="2697480"/>
            <a:ext cx="1005840" cy="329184"/>
          </a:xfrm>
          <a:prstGeom prst="roundRect">
            <a:avLst>
              <a:gd name="adj" fmla="val 12000"/>
            </a:avLst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778240" y="269748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7F5EF"/>
                </a:solidFill>
              </a:rPr>
              <a:t>flare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" y="4297680"/>
            <a:ext cx="5413248" cy="1463040"/>
          </a:xfrm>
          <a:prstGeom prst="roundRect">
            <a:avLst>
              <a:gd name="adj" fmla="val 4762"/>
            </a:avLst>
          </a:prstGeom>
          <a:solidFill>
            <a:srgbClr val="E8F0E9"/>
          </a:solidFill>
          <a:ln w="1270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6112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2F7A5C"/>
                </a:solidFill>
              </a:rPr>
              <a:t>WHAT THE GRAPH CAN TELL 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" y="47548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Which components move with each flare tag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92D32"/>
                </a:solidFill>
              </a:rPr>
              <a:t>The flare rule held: no link leaves a flare tag, none joins two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92D32"/>
                </a:solidFill>
              </a:rPr>
              <a:t>Same pattern at alpha 0.05: 55 links, all component → flare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53912" y="4297680"/>
            <a:ext cx="5413248" cy="1463040"/>
          </a:xfrm>
          <a:prstGeom prst="roundRect">
            <a:avLst>
              <a:gd name="adj" fmla="val 4762"/>
            </a:avLst>
          </a:prstGeom>
          <a:solidFill>
            <a:srgbClr val="F6E7E3"/>
          </a:solidFill>
          <a:ln w="1270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428232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A84A3E"/>
                </a:solidFill>
              </a:rPr>
              <a:t>WHAT IT CANNOT TELL 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8232" y="47548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Whether one component drives another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92D32"/>
                </a:solidFill>
              </a:rPr>
              <a:t>A chain like A → B → flare, which is what a root cause needs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92D32"/>
                </a:solidFill>
              </a:rPr>
              <a:t>Anything at the level of single tags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61" name="TextBox 60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pca_pc_t2/outputs/tables/pc_alpha_sweep.csv, logs/s3_pc.log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Step 3, T²: how it is supposed to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T² measures how unusual a minute is compared with normal operation. Splitting it says which node made it unusual.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2560320" cy="3383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2960" y="1764792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18105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Learn 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03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Take a period of normal operation. Learn the usual spread of all 29 nodes.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09544" y="3017520"/>
            <a:ext cx="182880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410712" y="1600200"/>
            <a:ext cx="2560320" cy="3383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611880" y="1764792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18105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Score each minute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703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T² adds up how far each node is from normal. Alarm when T² &gt; 42.6.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98464" y="3017520"/>
            <a:ext cx="182880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199631" y="1600200"/>
            <a:ext cx="2560320" cy="3383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6400799" y="1764792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1" y="18105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Split the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799" y="3703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Break T² into one term per node, each judged given its parents in the graph.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87384" y="3017520"/>
            <a:ext cx="182879" cy="0"/>
          </a:xfrm>
          <a:prstGeom prst="line">
            <a:avLst/>
          </a:prstGeom>
          <a:ln w="25400">
            <a:solidFill>
              <a:srgbClr val="676B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988551" y="1600200"/>
            <a:ext cx="2560320" cy="33832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189719" y="1764792"/>
            <a:ext cx="384048" cy="384048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20072" y="18105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92D32"/>
                </a:solidFill>
              </a:rPr>
              <a:t>Name the cause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19" y="370332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A node is to blame when its term is above 3.13.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2651760"/>
            <a:ext cx="2157984" cy="36576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822960" y="2651760"/>
            <a:ext cx="1294790" cy="36576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" y="3063240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reference period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3154680"/>
            <a:ext cx="219456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3913632" y="2971800"/>
            <a:ext cx="219456" cy="45720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215384" y="3108960"/>
            <a:ext cx="219456" cy="32004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4517136" y="2606040"/>
            <a:ext cx="219456" cy="822960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818888" y="2423160"/>
            <a:ext cx="219456" cy="1005840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120640" y="3063240"/>
            <a:ext cx="219456" cy="36576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422392" y="3200400"/>
            <a:ext cx="219456" cy="22860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361188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379476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397764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416052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34340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52628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470916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489204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507492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525780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44068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5623560" y="283464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611880" y="23317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C7A35"/>
                </a:solidFill>
              </a:rPr>
              <a:t>limit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2697480"/>
            <a:ext cx="822960" cy="411480"/>
          </a:xfrm>
          <a:prstGeom prst="rect">
            <a:avLst/>
          </a:prstGeom>
          <a:solidFill>
            <a:srgbClr val="2F7A5C"/>
          </a:solidFill>
          <a:ln w="12700">
            <a:solidFill>
              <a:srgbClr val="F7F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7223760" y="2697480"/>
            <a:ext cx="457200" cy="411480"/>
          </a:xfrm>
          <a:prstGeom prst="rect">
            <a:avLst/>
          </a:prstGeom>
          <a:solidFill>
            <a:srgbClr val="8DAA91"/>
          </a:solidFill>
          <a:ln w="12700">
            <a:solidFill>
              <a:srgbClr val="F7F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7680960" y="2697480"/>
            <a:ext cx="548640" cy="411480"/>
          </a:xfrm>
          <a:prstGeom prst="rect">
            <a:avLst/>
          </a:prstGeom>
          <a:solidFill>
            <a:srgbClr val="B79A5B"/>
          </a:solidFill>
          <a:ln w="12700">
            <a:solidFill>
              <a:srgbClr val="F7F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229600" y="2697480"/>
            <a:ext cx="329184" cy="411480"/>
          </a:xfrm>
          <a:prstGeom prst="rect">
            <a:avLst/>
          </a:prstGeom>
          <a:solidFill>
            <a:srgbClr val="C9D6CB"/>
          </a:solidFill>
          <a:ln w="12700">
            <a:solidFill>
              <a:srgbClr val="F7F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400800" y="3154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one term per node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89720" y="2514600"/>
            <a:ext cx="1920240" cy="201168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9189720" y="2807208"/>
            <a:ext cx="1097280" cy="201168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9189720" y="3099816"/>
            <a:ext cx="548640" cy="201168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10652760" y="2423160"/>
            <a:ext cx="13716" cy="914400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9189720" y="33832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above the line = to blame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1792" y="5212080"/>
            <a:ext cx="10945368" cy="457200"/>
          </a:xfrm>
          <a:prstGeom prst="roundRect">
            <a:avLst>
              <a:gd name="adj" fmla="val 12000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22960" y="5212080"/>
            <a:ext cx="105796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9C7A35"/>
                </a:solidFill>
              </a:rPr>
              <a:t>KEY   </a:t>
            </a:r>
            <a:r>
              <a:rPr sz="1250" b="0">
                <a:solidFill>
                  <a:srgbClr val="292D32"/>
                </a:solidFill>
              </a:rPr>
              <a:t>On truly normal data about 5% of minutes cross the alarm limit. The next four slides check whether that holds.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80" name="TextBox 79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pca_pc_t2/outputs/data/s5_summary.json; method from Li, Jin and Shi (2008)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Problem 1: one flare event covers the whole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A minute is flagged when a flare tag is above median + 3 × MAD. Flags less than 5 minutes apart are joined.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10945368" cy="23317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MAY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1 May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2221992"/>
            <a:ext cx="9144" cy="128016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12139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8 May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459" y="2221992"/>
            <a:ext cx="9144" cy="128016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83998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15 May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8318" y="2221992"/>
            <a:ext cx="9144" cy="128016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55858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22 May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0178" y="2221992"/>
            <a:ext cx="9144" cy="128016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127717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29 May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02037" y="2221992"/>
            <a:ext cx="9144" cy="128016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96112" y="23317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Flagged minutes</a:t>
            </a:r>
          </a:p>
          <a:p>
            <a:pPr algn="l"/>
            <a:r>
              <a:rPr sz="1200" b="0">
                <a:solidFill>
                  <a:srgbClr val="292D32"/>
                </a:solidFill>
              </a:rPr>
              <a:t>before joining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2350008"/>
            <a:ext cx="8732520" cy="384048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2514600" y="2350008"/>
            <a:ext cx="1388470" cy="384048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012798" y="235000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15.9% of all minutes (total length, not their real positions)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3017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Flare events</a:t>
            </a:r>
          </a:p>
          <a:p>
            <a:pPr algn="l"/>
            <a:r>
              <a:rPr sz="1200" b="0">
                <a:solidFill>
                  <a:srgbClr val="292D32"/>
                </a:solidFill>
              </a:rPr>
              <a:t>after joining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4600" y="3035808"/>
            <a:ext cx="8732520" cy="384048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2532010" y="3035808"/>
            <a:ext cx="8674029" cy="384048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80360" y="3035808"/>
            <a:ext cx="7772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F7F5EF"/>
                </a:solidFill>
              </a:rPr>
              <a:t>1 event: 1 May 01:29 to 31 May 20:30  ·  99.3% of all rows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" y="358444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76B70"/>
                </a:solidFill>
              </a:rPr>
              <a:t>Only about 298 minutes in the whole month count as 'no flare'.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" y="4069080"/>
            <a:ext cx="3557016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96112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ABOVE THRESHOLD, PER TAG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452628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44FT2505  (dropped)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45262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292D32"/>
                </a:solidFill>
              </a:rPr>
              <a:t>0.52%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480060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LR flare 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480060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292D32"/>
                </a:solidFill>
              </a:rPr>
              <a:t>7.32%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507492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509FI5201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26080" y="507492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292D32"/>
                </a:solidFill>
              </a:rPr>
              <a:t>8.67%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" y="5349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509MW5101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26080" y="534924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50" b="1">
                <a:solidFill>
                  <a:srgbClr val="292D32"/>
                </a:solidFill>
              </a:rPr>
              <a:t>0.07%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15968" y="4069080"/>
            <a:ext cx="3557016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590288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HOW JOINING WORKS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90288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4805172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020055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234940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5449823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5664707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879592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094475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309359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6524244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6739127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6954012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7168896" y="4553712"/>
            <a:ext cx="182880" cy="274320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7383779" y="4553712"/>
            <a:ext cx="182880" cy="274320"/>
          </a:xfrm>
          <a:prstGeom prst="rect">
            <a:avLst/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4590288" y="4901184"/>
            <a:ext cx="2976372" cy="109728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590288" y="50749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92D32"/>
                </a:solidFill>
              </a:rPr>
              <a:t>Each gap here is under 5 minutes, so all of it becomes one event.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10144" y="4069080"/>
            <a:ext cx="3557016" cy="1691640"/>
          </a:xfrm>
          <a:prstGeom prst="roundRect">
            <a:avLst>
              <a:gd name="adj" fmla="val 4762"/>
            </a:avLst>
          </a:prstGeom>
          <a:solidFill>
            <a:srgbClr val="F6E7E3"/>
          </a:solidFill>
          <a:ln w="1270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84464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A84A3E"/>
                </a:solidFill>
              </a:rPr>
              <a:t>WHY THIS MATTERS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84464" y="45262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>
                <a:solidFill>
                  <a:srgbClr val="292D32"/>
                </a:solidFill>
              </a:rPr>
              <a:t>We cannot compare flaring and not flaring.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92D32"/>
                </a:solidFill>
              </a:rPr>
              <a:t>There is no clean normal period to learn from (next slide).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78" name="TextBox 77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pca_pc_t2/outputs/data/flare_events.csv, tables/flare_thresholds.csv, logs/s1_load_clean.log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Problem 2: there is no clean normal period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T² must learn from normal minutes. With a month-long flare event, there were none to learn from.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10945368" cy="2103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MAY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1 May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14600" y="2221992"/>
            <a:ext cx="9144" cy="118872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12139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8 May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6459" y="2221992"/>
            <a:ext cx="9144" cy="118872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183998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15 May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58318" y="2221992"/>
            <a:ext cx="9144" cy="118872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55858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22 May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30178" y="2221992"/>
            <a:ext cx="9144" cy="118872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127717" y="201168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676B70"/>
                </a:solidFill>
              </a:rPr>
              <a:t>29 May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02037" y="2221992"/>
            <a:ext cx="9144" cy="118872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96112" y="23317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Flare event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32010" y="2331720"/>
            <a:ext cx="8674029" cy="347472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96112" y="289864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Reference used</a:t>
            </a:r>
          </a:p>
          <a:p>
            <a:pPr algn="l"/>
            <a:r>
              <a:rPr sz="1200" b="0">
                <a:solidFill>
                  <a:srgbClr val="292D32"/>
                </a:solidFill>
              </a:rPr>
              <a:t>for 'normal'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14600" y="2926080"/>
            <a:ext cx="5239512" cy="34747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697480" y="2926080"/>
            <a:ext cx="5029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first 60% of May: 1 May to 19 May 14:23, flares included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" y="3886200"/>
            <a:ext cx="3557016" cy="187451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96112" y="40233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292D32"/>
                </a:solidFill>
                <a:latin typeface="Georgia"/>
              </a:rPr>
              <a:t>1,370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" y="48463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flare-free minutes needed (5 × tags). Fewer were found.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15968" y="3886200"/>
            <a:ext cx="3557016" cy="187451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90288" y="40233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A84A3E"/>
                </a:solidFill>
                <a:latin typeface="Georgia"/>
              </a:rPr>
              <a:t>13.0%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0288" y="48463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of reference minutes raise an alarm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3886200"/>
            <a:ext cx="3557016" cy="187451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284464" y="40233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2F7A5C"/>
                </a:solidFill>
                <a:latin typeface="Georgia"/>
              </a:rPr>
              <a:t>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84464" y="48463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is what truly normal data should give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2" name="TextBox 51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pca_pc_t2/outputs/data/deviations.json, data/s1_summary.json, data/s5_summary.json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Problem 3: alarms fire almost everywhere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Almost half of all minutes alarm. Minutes without a flare alarm even more often than minutes with one.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6400800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SHARE OF MINUTES WITH A T² ALARM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" y="4937760"/>
            <a:ext cx="5852160" cy="13716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0058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1887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3716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5544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7373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9202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1031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2860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24688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6517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28346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0175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2004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33832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35661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749039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39319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1148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42976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44805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46634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8463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0292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2120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3949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5778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76072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94360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2648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630936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492240" y="4812030"/>
            <a:ext cx="91440" cy="13716"/>
          </a:xfrm>
          <a:prstGeom prst="rect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1188720" y="4611230"/>
            <a:ext cx="1005840" cy="326529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05840" y="428204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92D32"/>
                </a:solidFill>
                <a:latin typeface="Georgia"/>
              </a:rPr>
              <a:t>13.0%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" y="4992624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76B70"/>
                </a:solidFill>
              </a:rPr>
              <a:t>Reference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3770420"/>
            <a:ext cx="1005840" cy="1167339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423160" y="344123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92D32"/>
                </a:solidFill>
                <a:latin typeface="Georgia"/>
              </a:rPr>
              <a:t>46.4%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23160" y="4992624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76B70"/>
                </a:solidFill>
              </a:rPr>
              <a:t>All minutes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23360" y="3779247"/>
            <a:ext cx="1005840" cy="115851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3840480" y="3450063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92D32"/>
                </a:solidFill>
                <a:latin typeface="Georgia"/>
              </a:rPr>
              <a:t>46.1%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992624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76B70"/>
                </a:solidFill>
              </a:rPr>
              <a:t>Flare minutes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456913"/>
            <a:ext cx="1005840" cy="2480846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57800" y="2127729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92D32"/>
                </a:solidFill>
                <a:latin typeface="Georgia"/>
              </a:rPr>
              <a:t>98.7%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57800" y="4992624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76B70"/>
                </a:solidFill>
              </a:rPr>
              <a:t>No-flare (~298)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76B70"/>
                </a:solidFill>
              </a:rPr>
              <a:t>Dashed line: 5%, the expected rate for normal minutes.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223760" y="1600200"/>
            <a:ext cx="4343400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498079" y="17556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HOW TO READ IT</a:t>
            </a:r>
          </a:p>
        </p:txBody>
      </p:sp>
      <p:sp>
        <p:nvSpPr>
          <p:cNvPr id="75" name="Oval 74"/>
          <p:cNvSpPr/>
          <p:nvPr/>
        </p:nvSpPr>
        <p:spPr>
          <a:xfrm>
            <a:off x="7498079" y="21488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2167128"/>
            <a:ext cx="34290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Reference: 13.0%.</a:t>
            </a:r>
            <a:r>
              <a:rPr sz="1200" b="0">
                <a:solidFill>
                  <a:srgbClr val="292D32"/>
                </a:solidFill>
              </a:rPr>
              <a:t>  The normal period already alarms 2.6 times more than it should.</a:t>
            </a:r>
          </a:p>
        </p:txBody>
      </p:sp>
      <p:sp>
        <p:nvSpPr>
          <p:cNvPr id="77" name="Oval 76"/>
          <p:cNvSpPr/>
          <p:nvPr/>
        </p:nvSpPr>
        <p:spPr>
          <a:xfrm>
            <a:off x="7498079" y="301752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01000" y="3035808"/>
            <a:ext cx="34290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All minutes: 46.4%.</a:t>
            </a:r>
            <a:r>
              <a:rPr sz="1200" b="0">
                <a:solidFill>
                  <a:srgbClr val="292D32"/>
                </a:solidFill>
              </a:rPr>
              <a:t>  The alarm is on for almost half the month.</a:t>
            </a:r>
          </a:p>
        </p:txBody>
      </p:sp>
      <p:sp>
        <p:nvSpPr>
          <p:cNvPr id="79" name="Oval 78"/>
          <p:cNvSpPr/>
          <p:nvPr/>
        </p:nvSpPr>
        <p:spPr>
          <a:xfrm>
            <a:off x="7498079" y="388620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3904487"/>
            <a:ext cx="34290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Flare vs no-flare.</a:t>
            </a:r>
            <a:r>
              <a:rPr sz="1200" b="0">
                <a:solidFill>
                  <a:srgbClr val="292D32"/>
                </a:solidFill>
              </a:rPr>
              <a:t>  46.1% against 98.7%. The alarm does not separate the two.</a:t>
            </a:r>
          </a:p>
        </p:txBody>
      </p:sp>
      <p:sp>
        <p:nvSpPr>
          <p:cNvPr id="81" name="Oval 80"/>
          <p:cNvSpPr/>
          <p:nvPr/>
        </p:nvSpPr>
        <p:spPr>
          <a:xfrm>
            <a:off x="7498079" y="4754879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4773167"/>
            <a:ext cx="34290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Small sample.</a:t>
            </a:r>
            <a:r>
              <a:rPr sz="1200" b="0">
                <a:solidFill>
                  <a:srgbClr val="292D32"/>
                </a:solidFill>
              </a:rPr>
              <a:t>  No-flare minutes are only about 298, so that bar is fragile.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83" name="TextBox 82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pca_pc_t2/outputs/data/s5_summary.json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Problem 4: the split of T² does not add up at alarms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The node terms should add up to the total T². At alarm minutes they miss by almost the whole amount.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6949440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GAP BETWEEN T² AND THE SUM OF ITS TERMS  (0 = ADDS UP EXACTLY)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240280"/>
            <a:ext cx="9144" cy="237744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377440" y="466344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83330" y="2240280"/>
            <a:ext cx="9144" cy="237744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509010" y="466344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0.25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4900" y="2240280"/>
            <a:ext cx="9144" cy="237744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640580" y="466344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6470" y="2240280"/>
            <a:ext cx="9144" cy="237744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772150" y="466344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0.75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78040" y="2240280"/>
            <a:ext cx="9144" cy="2377440"/>
          </a:xfrm>
          <a:prstGeom prst="rect">
            <a:avLst/>
          </a:prstGeom>
          <a:solidFill>
            <a:srgbClr val="E3DE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903720" y="466344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76B70"/>
                </a:solidFill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" y="24688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Normal minutes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2514600"/>
            <a:ext cx="1618365" cy="384048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2651760" y="2514600"/>
            <a:ext cx="588333" cy="384048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13245" y="2514600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F7A5C"/>
                </a:solidFill>
                <a:latin typeface="Georgia"/>
              </a:rPr>
              <a:t>0.13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2944368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typical gap 0.13  ·  1 in 10 minutes above 0.36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" y="35661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92D32"/>
                </a:solidFill>
              </a:rPr>
              <a:t>Alarm minutes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51760" y="3611880"/>
            <a:ext cx="4425685" cy="384048"/>
          </a:xfrm>
          <a:prstGeom prst="rect">
            <a:avLst/>
          </a:prstGeom>
          <a:solidFill>
            <a:srgbClr val="F6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2651760" y="3611880"/>
            <a:ext cx="4179593" cy="384048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16953" y="3611880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>
                <a:solidFill>
                  <a:srgbClr val="F7F5EF"/>
                </a:solidFill>
                <a:latin typeface="Georgia"/>
              </a:rPr>
              <a:t>0.92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4041648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76B70"/>
                </a:solidFill>
              </a:rPr>
              <a:t>typical gap 0.92  ·  1 in 10 minutes above 0.98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502920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76B70"/>
                </a:solidFill>
              </a:rPr>
              <a:t>Dark bar = median gap. Light bar = the gap that 90% of minutes stay under.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0" y="1600200"/>
            <a:ext cx="3794760" cy="1325880"/>
          </a:xfrm>
          <a:prstGeom prst="roundRect">
            <a:avLst>
              <a:gd name="adj" fmla="val 4762"/>
            </a:avLst>
          </a:prstGeom>
          <a:solidFill>
            <a:srgbClr val="F6E7E3"/>
          </a:solidFill>
          <a:ln w="1270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001000" y="17099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A84A3E"/>
                </a:solidFill>
              </a:rPr>
              <a:t>WHY IT MATTERS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201168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The blame list is built from these terms. If they do not add up at alarms, the blame list is not reliable.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0" y="3063240"/>
            <a:ext cx="3794760" cy="132588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01000" y="317296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THE TERMS ARE NOT NORMAL EITHER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47472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0.61% of normal values cross the limit, against 0.17% expected. Flare tags have very heavy tails.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526280"/>
            <a:ext cx="3794760" cy="1325880"/>
          </a:xfrm>
          <a:prstGeom prst="roundRect">
            <a:avLst>
              <a:gd name="adj" fmla="val 4762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01000" y="46360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9C7A35"/>
                </a:solidFill>
              </a:rPr>
              <a:t>LIKELY CAUSE (NOT YET CHECKED)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37760"/>
            <a:ext cx="3383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The method assumes a correct graph and a clean normal period. We have neither yet.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8" name="TextBox 57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pca_pc_t2/outputs/data/s5_summary.json, tables/reference_check.csv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What T² points 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For every alarm minute we list the nodes above the blame limit. These are leads, not answers.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6583680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96112" y="175564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NODE IS TO BLAME, % OF ALARM MINUTES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PC1  (LOUP)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194560"/>
            <a:ext cx="2787016" cy="256032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77688" y="218541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16.9%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26060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LR flare sum  (flare)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615184"/>
            <a:ext cx="2200861" cy="25603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291533" y="2606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13.4%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30266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509MW5101  (flare)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035808"/>
            <a:ext cx="1739402" cy="25603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830074" y="302666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34472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509FI5201  (flare)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17520" y="3456432"/>
            <a:ext cx="1481272" cy="25603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1944" y="34472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9.0%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" y="38679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PC14  (SEU3)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877056"/>
            <a:ext cx="1170721" cy="256032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261393" y="38679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7.1%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" y="42885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PC12  (PDA)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4297680"/>
            <a:ext cx="905442" cy="256032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996114" y="428853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5.5%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" y="47091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PC9  (ISOM)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4718304"/>
            <a:ext cx="484491" cy="256032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575163" y="47091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2.9%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51297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92D32"/>
                </a:solidFill>
              </a:rPr>
              <a:t>PC8  (ISOM_3)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5138928"/>
            <a:ext cx="469400" cy="256032"/>
          </a:xfrm>
          <a:prstGeom prst="rect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560072" y="51297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2.9%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548640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F7A5C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component (main unit)    </a:t>
            </a:r>
            <a:r>
              <a:rPr sz="1050" b="0">
                <a:solidFill>
                  <a:srgbClr val="8DAA91"/>
                </a:solidFill>
              </a:rPr>
              <a:t>■ </a:t>
            </a:r>
            <a:r>
              <a:rPr sz="1050" b="0">
                <a:solidFill>
                  <a:srgbClr val="676B70"/>
                </a:solidFill>
              </a:rPr>
              <a:t>flare tag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406640" y="1600200"/>
            <a:ext cx="4160520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680960" y="17556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HOW TO READ IT</a:t>
            </a:r>
          </a:p>
        </p:txBody>
      </p:sp>
      <p:sp>
        <p:nvSpPr>
          <p:cNvPr id="55" name="Oval 54"/>
          <p:cNvSpPr/>
          <p:nvPr/>
        </p:nvSpPr>
        <p:spPr>
          <a:xfrm>
            <a:off x="7680960" y="21488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3880" y="2167128"/>
            <a:ext cx="3200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Counting.</a:t>
            </a:r>
            <a:r>
              <a:rPr sz="1200" b="0">
                <a:solidFill>
                  <a:srgbClr val="292D32"/>
                </a:solidFill>
              </a:rPr>
              <a:t>  A bar is the share of alarm minutes where that node's term was above 3.13.</a:t>
            </a:r>
          </a:p>
        </p:txBody>
      </p:sp>
      <p:sp>
        <p:nvSpPr>
          <p:cNvPr id="57" name="Oval 56"/>
          <p:cNvSpPr/>
          <p:nvPr/>
        </p:nvSpPr>
        <p:spPr>
          <a:xfrm>
            <a:off x="7680960" y="301752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80" y="3035808"/>
            <a:ext cx="3200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Components.</a:t>
            </a:r>
            <a:r>
              <a:rPr sz="1200" b="0">
                <a:solidFill>
                  <a:srgbClr val="292D32"/>
                </a:solidFill>
              </a:rPr>
              <a:t>  A component on the list means its tags moved away from normal.</a:t>
            </a:r>
          </a:p>
        </p:txBody>
      </p:sp>
      <p:sp>
        <p:nvSpPr>
          <p:cNvPr id="59" name="Oval 58"/>
          <p:cNvSpPr/>
          <p:nvPr/>
        </p:nvSpPr>
        <p:spPr>
          <a:xfrm>
            <a:off x="7680960" y="388620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83880" y="3904487"/>
            <a:ext cx="3200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Flare tags.</a:t>
            </a:r>
            <a:r>
              <a:rPr sz="1200" b="0">
                <a:solidFill>
                  <a:srgbClr val="292D32"/>
                </a:solidFill>
              </a:rPr>
              <a:t>  A flare tag on the list means its parents do not explain its value.</a:t>
            </a:r>
          </a:p>
        </p:txBody>
      </p:sp>
      <p:sp>
        <p:nvSpPr>
          <p:cNvPr id="61" name="Oval 60"/>
          <p:cNvSpPr/>
          <p:nvPr/>
        </p:nvSpPr>
        <p:spPr>
          <a:xfrm>
            <a:off x="7680960" y="4754879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2F7A5C"/>
                </a:solidFill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80" y="4773167"/>
            <a:ext cx="3200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92D32"/>
                </a:solidFill>
              </a:rPr>
              <a:t>Caution.</a:t>
            </a:r>
            <a:r>
              <a:rPr sz="1200" b="0">
                <a:solidFill>
                  <a:srgbClr val="292D32"/>
                </a:solidFill>
              </a:rPr>
              <a:t>  Problems 1 to 4 apply to every bar here.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63" name="TextBox 62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pca_pc_t2/outputs/tables/root_cause_nodes.csv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How far we can trust these leads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Two of the flagged components do not hold up. One gives a lead worth checking with the plant team.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3557016" cy="4160520"/>
          </a:xfrm>
          <a:prstGeom prst="roundRect">
            <a:avLst>
              <a:gd name="adj" fmla="val 4762"/>
            </a:avLst>
          </a:prstGeom>
          <a:solidFill>
            <a:srgbClr val="F6E7E3"/>
          </a:solidFill>
          <a:ln w="1270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50392" y="17373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A84A3E"/>
                </a:solidFill>
              </a:rPr>
              <a:t>PC7 FIRES IN NORMAL TIMES TOO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15968" y="1600200"/>
            <a:ext cx="3557016" cy="4160520"/>
          </a:xfrm>
          <a:prstGeom prst="roundRect">
            <a:avLst>
              <a:gd name="adj" fmla="val 4762"/>
            </a:avLst>
          </a:prstGeom>
          <a:solidFill>
            <a:srgbClr val="F6E7E3"/>
          </a:solidFill>
          <a:ln w="1270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44568" y="17373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A84A3E"/>
                </a:solidFill>
              </a:rPr>
              <a:t>THE 'FIRST ALARM' IS THE FIRST MINUTE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1600200"/>
            <a:ext cx="3557016" cy="4160520"/>
          </a:xfrm>
          <a:prstGeom prst="roundRect">
            <a:avLst>
              <a:gd name="adj" fmla="val 4762"/>
            </a:avLst>
          </a:prstGeom>
          <a:solidFill>
            <a:srgbClr val="F5EEDD"/>
          </a:solidFill>
          <a:ln w="12700">
            <a:solidFill>
              <a:srgbClr val="9C7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38744" y="17373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9C7A35"/>
                </a:solidFill>
              </a:rPr>
              <a:t>ONE LEAD WORTH CHECKING: PC14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" y="22402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normal minutes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76272" y="2267712"/>
            <a:ext cx="1380886" cy="256032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30310" y="22402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4.7%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" y="2807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292D32"/>
                </a:solidFill>
              </a:rPr>
              <a:t>alarm minutes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76272" y="2834640"/>
            <a:ext cx="629750" cy="256032"/>
          </a:xfrm>
          <a:prstGeom prst="rect">
            <a:avLst/>
          </a:prstGeom>
          <a:solidFill>
            <a:srgbClr val="8DA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879174" y="28072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2.2%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" y="35204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PC7 is to blame more often in normal minutes than in alarm minutes.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So it is noise, not a flare signal.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44568" y="2423160"/>
            <a:ext cx="3063240" cy="274320"/>
          </a:xfrm>
          <a:prstGeom prst="rect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544568" y="2286000"/>
            <a:ext cx="36576" cy="548640"/>
          </a:xfrm>
          <a:prstGeom prst="rect">
            <a:avLst/>
          </a:prstGeom>
          <a:solidFill>
            <a:srgbClr val="292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4568" y="2880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76B70"/>
                </a:solidFill>
              </a:rPr>
              <a:t>1 May 00:00: first row of data, and first alarm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4568" y="35204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The single event's first alarm sits on the very first minute of the data.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So PC13 and PC7, flagged there, do not mark the start of a flare.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38744" y="2240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92D32"/>
                </a:solidFill>
              </a:rPr>
              <a:t>42PC4215.PV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1784" y="2276856"/>
            <a:ext cx="1132869" cy="22860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898661" y="2240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0.31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8744" y="26517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92D32"/>
                </a:solidFill>
              </a:rPr>
              <a:t>42PC4501.PV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01784" y="2688336"/>
            <a:ext cx="1124066" cy="22860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889858" y="2651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0.31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38744" y="30632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92D32"/>
                </a:solidFill>
              </a:rPr>
              <a:t>99PC1527.DACA.PV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01784" y="3099816"/>
            <a:ext cx="835680" cy="228600"/>
          </a:xfrm>
          <a:prstGeom prst="rect">
            <a:avLst/>
          </a:prstGeom>
          <a:solidFill>
            <a:srgbClr val="B7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601472" y="3063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0.23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3520440"/>
            <a:ext cx="31089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292D32"/>
                </a:solidFill>
              </a:rPr>
              <a:t>PC14 is blamed in 7.1% of alarm minutes, and it is built mostly from SEU3 pressure tags.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292D32"/>
                </a:solidFill>
              </a:rPr>
              <a:t>Worth checking with the plant team.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pca_pc_t2/outputs/tables/root_cause_nodes.csv, tables/root_cause_by_event.csv, tables/pca_top_tags.csv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The second pipeline crashed in the PC stage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causal_t2 runs PC on all tags directly. It loaded the data fine but could not finish the graph.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10945368" cy="16916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554480" y="2258568"/>
            <a:ext cx="9052560" cy="27432"/>
          </a:xfrm>
          <a:prstGeom prst="rect">
            <a:avLst/>
          </a:prstGeom>
          <a:solidFill>
            <a:srgbClr val="D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435607" y="2153412"/>
            <a:ext cx="237744" cy="237744"/>
          </a:xfrm>
          <a:prstGeom prst="ellipse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19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Load and clean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19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PASS, 8 s</a:t>
            </a:r>
          </a:p>
        </p:txBody>
      </p:sp>
      <p:sp>
        <p:nvSpPr>
          <p:cNvPr id="31" name="Oval 30"/>
          <p:cNvSpPr/>
          <p:nvPr/>
        </p:nvSpPr>
        <p:spPr>
          <a:xfrm>
            <a:off x="3246120" y="2153412"/>
            <a:ext cx="237744" cy="237744"/>
          </a:xfrm>
          <a:prstGeom prst="ellipse">
            <a:avLst/>
          </a:prstGeom>
          <a:solidFill>
            <a:srgbClr val="2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542032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Remove near-copies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42032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6 tags, |r| ≥ 0.999</a:t>
            </a:r>
          </a:p>
        </p:txBody>
      </p:sp>
      <p:sp>
        <p:nvSpPr>
          <p:cNvPr id="34" name="Oval 33"/>
          <p:cNvSpPr/>
          <p:nvPr/>
        </p:nvSpPr>
        <p:spPr>
          <a:xfrm>
            <a:off x="5056632" y="2153412"/>
            <a:ext cx="237744" cy="237744"/>
          </a:xfrm>
          <a:prstGeom prst="ellipse">
            <a:avLst/>
          </a:prstGeom>
          <a:solidFill>
            <a:srgbClr val="9C7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352544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PC on 267 tags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2544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depth capped at 1</a:t>
            </a:r>
          </a:p>
        </p:txBody>
      </p:sp>
      <p:sp>
        <p:nvSpPr>
          <p:cNvPr id="37" name="Oval 36"/>
          <p:cNvSpPr/>
          <p:nvPr/>
        </p:nvSpPr>
        <p:spPr>
          <a:xfrm>
            <a:off x="6867144" y="2153412"/>
            <a:ext cx="237744" cy="237744"/>
          </a:xfrm>
          <a:prstGeom prst="ellipse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163055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First run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63055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A84A3E"/>
                </a:solidFill>
              </a:rPr>
              <a:t>IndexError at 827 s</a:t>
            </a:r>
          </a:p>
        </p:txBody>
      </p:sp>
      <p:sp>
        <p:nvSpPr>
          <p:cNvPr id="40" name="Oval 39"/>
          <p:cNvSpPr/>
          <p:nvPr/>
        </p:nvSpPr>
        <p:spPr>
          <a:xfrm>
            <a:off x="8677655" y="2153412"/>
            <a:ext cx="237744" cy="237744"/>
          </a:xfrm>
          <a:prstGeom prst="ellipse">
            <a:avLst/>
          </a:prstGeom>
          <a:solidFill>
            <a:srgbClr val="A8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973567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Second 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7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A84A3E"/>
                </a:solidFill>
              </a:rPr>
              <a:t>segmentation fault</a:t>
            </a:r>
          </a:p>
        </p:txBody>
      </p:sp>
      <p:sp>
        <p:nvSpPr>
          <p:cNvPr id="43" name="Oval 42"/>
          <p:cNvSpPr/>
          <p:nvPr/>
        </p:nvSpPr>
        <p:spPr>
          <a:xfrm>
            <a:off x="10488167" y="2153412"/>
            <a:ext cx="237744" cy="237744"/>
          </a:xfrm>
          <a:prstGeom prst="ellipse">
            <a:avLst/>
          </a:prstGeom>
          <a:solidFill>
            <a:srgbClr val="7B5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784080" y="17830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292D32"/>
                </a:solidFill>
              </a:rPr>
              <a:t>Next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25146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292D32"/>
                </a:solidFill>
              </a:rPr>
              <a:t>3 checks on the lab PC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" y="3474720"/>
            <a:ext cx="5312664" cy="2286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96112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NEAR-COPIES REMOVED BEFORE PC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" y="39502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98PIC3307.DACA.PV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98PIC1601.DACA.PV</a:t>
            </a:r>
            <a:r>
              <a:rPr sz="1000" b="0">
                <a:solidFill>
                  <a:srgbClr val="676B70"/>
                </a:solidFill>
              </a:rPr>
              <a:t>   r 1.0000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424281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98PIC1601.DACA.PV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98PI2002.DACA.PV</a:t>
            </a:r>
            <a:r>
              <a:rPr sz="1000" b="0">
                <a:solidFill>
                  <a:srgbClr val="676B70"/>
                </a:solidFill>
              </a:rPr>
              <a:t>   r 1.0000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6112" y="453542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98PIC2601.DACA.PV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98PI2002.DACA.PV</a:t>
            </a:r>
            <a:r>
              <a:rPr sz="1000" b="0">
                <a:solidFill>
                  <a:srgbClr val="676B70"/>
                </a:solidFill>
              </a:rPr>
              <a:t>   r 1.0000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48280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98PIC1102.DACA.PV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98PI2002.DACA.PV</a:t>
            </a:r>
            <a:r>
              <a:rPr sz="1000" b="0">
                <a:solidFill>
                  <a:srgbClr val="676B70"/>
                </a:solidFill>
              </a:rPr>
              <a:t>   r 1.0000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PPI3207.PV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PPI3205.PV</a:t>
            </a:r>
            <a:r>
              <a:rPr sz="1000" b="0">
                <a:solidFill>
                  <a:srgbClr val="676B70"/>
                </a:solidFill>
              </a:rPr>
              <a:t>   r 0.9999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" y="54132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92D32"/>
                </a:solidFill>
              </a:rPr>
              <a:t>71PI9902.PV</a:t>
            </a:r>
            <a:r>
              <a:rPr sz="1100" b="0">
                <a:solidFill>
                  <a:srgbClr val="676B70"/>
                </a:solidFill>
              </a:rPr>
              <a:t>  =  </a:t>
            </a:r>
            <a:r>
              <a:rPr sz="1100" b="0">
                <a:solidFill>
                  <a:srgbClr val="292D32"/>
                </a:solidFill>
              </a:rPr>
              <a:t>71PC0001.PV</a:t>
            </a:r>
            <a:r>
              <a:rPr sz="1000" b="0">
                <a:solidFill>
                  <a:srgbClr val="676B70"/>
                </a:solidFill>
              </a:rPr>
              <a:t>   r 0.9992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54496" y="3474720"/>
            <a:ext cx="5312664" cy="2286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528816" y="3611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spc="150">
                <a:solidFill>
                  <a:srgbClr val="676B70"/>
                </a:solidFill>
              </a:rPr>
              <a:t>CHECKS READY IN COMMAND.MD</a:t>
            </a:r>
          </a:p>
        </p:txBody>
      </p:sp>
      <p:sp>
        <p:nvSpPr>
          <p:cNvPr id="56" name="Oval 55"/>
          <p:cNvSpPr/>
          <p:nvPr/>
        </p:nvSpPr>
        <p:spPr>
          <a:xfrm>
            <a:off x="6528816" y="3977639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736" y="3995927"/>
            <a:ext cx="434340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Traceback.</a:t>
            </a:r>
            <a:r>
              <a:rPr sz="1150" b="0">
                <a:solidFill>
                  <a:srgbClr val="292D32"/>
                </a:solidFill>
              </a:rPr>
              <a:t>  Run once with Python's fault handler on.</a:t>
            </a:r>
          </a:p>
        </p:txBody>
      </p:sp>
      <p:sp>
        <p:nvSpPr>
          <p:cNvPr id="58" name="Oval 57"/>
          <p:cNvSpPr/>
          <p:nvPr/>
        </p:nvSpPr>
        <p:spPr>
          <a:xfrm>
            <a:off x="6528816" y="4544568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1736" y="4562855"/>
            <a:ext cx="434340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One thread.</a:t>
            </a:r>
            <a:r>
              <a:rPr sz="1150" b="0">
                <a:solidFill>
                  <a:srgbClr val="292D32"/>
                </a:solidFill>
              </a:rPr>
              <a:t>  Re-run with BLAS on one thread, watching RAM.</a:t>
            </a:r>
          </a:p>
        </p:txBody>
      </p:sp>
      <p:sp>
        <p:nvSpPr>
          <p:cNvPr id="60" name="Oval 59"/>
          <p:cNvSpPr/>
          <p:nvPr/>
        </p:nvSpPr>
        <p:spPr>
          <a:xfrm>
            <a:off x="6528816" y="5111496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1736" y="5129783"/>
            <a:ext cx="434340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92D32"/>
                </a:solidFill>
              </a:rPr>
              <a:t>Versions.</a:t>
            </a:r>
            <a:r>
              <a:rPr sz="1150" b="0">
                <a:solidFill>
                  <a:srgbClr val="292D32"/>
                </a:solidFill>
              </a:rPr>
              <a:t>  Record numpy, scipy and causal-learn versions.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62" name="TextBox 61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causal_t2/outputs/LOG.md, logs/s2_pc.log, tables/s2_dropped_tags.csv; command.md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What worked and what did not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The machinery works end to end. The inputs to it, flare events and the normal period, are what need fixing.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5413248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21792" y="1600200"/>
            <a:ext cx="5413248" cy="548640"/>
          </a:xfrm>
          <a:prstGeom prst="roundRect">
            <a:avLst>
              <a:gd name="adj" fmla="val 12000"/>
            </a:avLst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96112" y="16002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2F7A5C"/>
                </a:solidFill>
                <a:latin typeface="Georgia"/>
              </a:rPr>
              <a:t>Worked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2377440"/>
            <a:ext cx="347472" cy="347472"/>
          </a:xfrm>
          <a:prstGeom prst="ellipse">
            <a:avLst/>
          </a:prstGeom>
          <a:solidFill>
            <a:srgbClr val="E8F0E9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395728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Both pipelines load and clean the data the same way: 273 tags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3035808"/>
            <a:ext cx="347472" cy="347472"/>
          </a:xfrm>
          <a:prstGeom prst="ellipse">
            <a:avLst/>
          </a:prstGeom>
          <a:solidFill>
            <a:srgbClr val="E8F0E9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9032" y="3054096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pca_pc_t2 runs end to end in under 30 s, all 7 stages pass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3694176"/>
            <a:ext cx="347472" cy="347472"/>
          </a:xfrm>
          <a:prstGeom prst="ellipse">
            <a:avLst/>
          </a:prstGeom>
          <a:solidFill>
            <a:srgbClr val="E8F0E9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712463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The flare rule inside PC held: no link leaves a flare tag</a:t>
            </a:r>
          </a:p>
        </p:txBody>
      </p:sp>
      <p:sp>
        <p:nvSpPr>
          <p:cNvPr id="35" name="Oval 34"/>
          <p:cNvSpPr/>
          <p:nvPr/>
        </p:nvSpPr>
        <p:spPr>
          <a:xfrm>
            <a:off x="896112" y="4352544"/>
            <a:ext cx="347472" cy="347472"/>
          </a:xfrm>
          <a:prstGeom prst="ellipse">
            <a:avLst/>
          </a:prstGeom>
          <a:solidFill>
            <a:srgbClr val="E8F0E9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99032" y="4370831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The graph narrows each flare tag to 15 to 19 components</a:t>
            </a:r>
          </a:p>
        </p:txBody>
      </p:sp>
      <p:sp>
        <p:nvSpPr>
          <p:cNvPr id="37" name="Oval 36"/>
          <p:cNvSpPr/>
          <p:nvPr/>
        </p:nvSpPr>
        <p:spPr>
          <a:xfrm>
            <a:off x="896112" y="5010912"/>
            <a:ext cx="347472" cy="347472"/>
          </a:xfrm>
          <a:prstGeom prst="ellipse">
            <a:avLst/>
          </a:prstGeom>
          <a:solidFill>
            <a:srgbClr val="E8F0E9"/>
          </a:solidFill>
          <a:ln w="20320">
            <a:solidFill>
              <a:srgbClr val="2F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F7A5C"/>
                </a:solidFill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5029200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PC14 gives one concrete lead: SEU3 pressure tags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53912" y="1600200"/>
            <a:ext cx="5413248" cy="41605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153912" y="1600200"/>
            <a:ext cx="5413248" cy="548640"/>
          </a:xfrm>
          <a:prstGeom prst="roundRect">
            <a:avLst>
              <a:gd name="adj" fmla="val 12000"/>
            </a:avLst>
          </a:prstGeom>
          <a:solidFill>
            <a:srgbClr val="F6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28232" y="160020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A84A3E"/>
                </a:solidFill>
                <a:latin typeface="Georgia"/>
              </a:rPr>
              <a:t>Not yet</a:t>
            </a:r>
          </a:p>
        </p:txBody>
      </p:sp>
      <p:sp>
        <p:nvSpPr>
          <p:cNvPr id="42" name="Oval 41"/>
          <p:cNvSpPr/>
          <p:nvPr/>
        </p:nvSpPr>
        <p:spPr>
          <a:xfrm>
            <a:off x="6428232" y="2377440"/>
            <a:ext cx="347472" cy="347472"/>
          </a:xfrm>
          <a:prstGeom prst="ellipse">
            <a:avLst/>
          </a:prstGeom>
          <a:solidFill>
            <a:srgbClr val="F6E7E3"/>
          </a:solidFill>
          <a:ln w="2032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395728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Flare events: one event covers 99.3% of the month</a:t>
            </a:r>
          </a:p>
        </p:txBody>
      </p:sp>
      <p:sp>
        <p:nvSpPr>
          <p:cNvPr id="44" name="Oval 43"/>
          <p:cNvSpPr/>
          <p:nvPr/>
        </p:nvSpPr>
        <p:spPr>
          <a:xfrm>
            <a:off x="6428232" y="3035808"/>
            <a:ext cx="347472" cy="347472"/>
          </a:xfrm>
          <a:prstGeom prst="ellipse">
            <a:avLst/>
          </a:prstGeom>
          <a:solidFill>
            <a:srgbClr val="F6E7E3"/>
          </a:solidFill>
          <a:ln w="2032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31152" y="3054096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No clean normal period: 13% of 'normal' minutes alarm</a:t>
            </a:r>
          </a:p>
        </p:txBody>
      </p:sp>
      <p:sp>
        <p:nvSpPr>
          <p:cNvPr id="46" name="Oval 45"/>
          <p:cNvSpPr/>
          <p:nvPr/>
        </p:nvSpPr>
        <p:spPr>
          <a:xfrm>
            <a:off x="6428232" y="3694176"/>
            <a:ext cx="347472" cy="347472"/>
          </a:xfrm>
          <a:prstGeom prst="ellipse">
            <a:avLst/>
          </a:prstGeom>
          <a:solidFill>
            <a:srgbClr val="F6E7E3"/>
          </a:solidFill>
          <a:ln w="2032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712463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T² terms do not add up at alarms: gap 0.92</a:t>
            </a:r>
          </a:p>
        </p:txBody>
      </p:sp>
      <p:sp>
        <p:nvSpPr>
          <p:cNvPr id="48" name="Oval 47"/>
          <p:cNvSpPr/>
          <p:nvPr/>
        </p:nvSpPr>
        <p:spPr>
          <a:xfrm>
            <a:off x="6428232" y="4352544"/>
            <a:ext cx="347472" cy="347472"/>
          </a:xfrm>
          <a:prstGeom prst="ellipse">
            <a:avLst/>
          </a:prstGeom>
          <a:solidFill>
            <a:srgbClr val="F6E7E3"/>
          </a:solidFill>
          <a:ln w="2032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1152" y="4370831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No links between components, so no cause chain</a:t>
            </a:r>
          </a:p>
        </p:txBody>
      </p:sp>
      <p:sp>
        <p:nvSpPr>
          <p:cNvPr id="50" name="Oval 49"/>
          <p:cNvSpPr/>
          <p:nvPr/>
        </p:nvSpPr>
        <p:spPr>
          <a:xfrm>
            <a:off x="6428232" y="5010912"/>
            <a:ext cx="347472" cy="347472"/>
          </a:xfrm>
          <a:prstGeom prst="ellipse">
            <a:avLst/>
          </a:prstGeom>
          <a:solidFill>
            <a:srgbClr val="F6E7E3"/>
          </a:solidFill>
          <a:ln w="20320">
            <a:solidFill>
              <a:srgbClr val="A8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A84A3E"/>
                </a:solidFill>
              </a:rPr>
              <a:t>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5029200"/>
            <a:ext cx="4434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92D32"/>
                </a:solidFill>
              </a:rPr>
              <a:t>causal_t2 crashes in the PC stage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2" name="TextBox 51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 and causal_t2/outputs, as cited on the slides before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000" b="1">
                <a:solidFill>
                  <a:srgbClr val="292D32"/>
                </a:solidFill>
              </a:rPr>
              <a:t>Next steps: fix the data setup, then rerun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rPr sz="1500" b="0">
                <a:solidFill>
                  <a:srgbClr val="676B70"/>
                </a:solidFill>
              </a:rPr>
              <a:t>The pipeline works. The inputs to it need fixing before the root causes can be read.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/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39728" y="63825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C586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21792" y="1600200"/>
            <a:ext cx="5312664" cy="41148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" y="1600200"/>
            <a:ext cx="5312664" cy="109728"/>
          </a:xfrm>
          <a:prstGeom prst="rect">
            <a:avLst/>
          </a:prstGeom>
          <a:solidFill>
            <a:srgbClr val="174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96112" y="187451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4A3A"/>
                </a:solidFill>
              </a:rPr>
              <a:t>pca_pc_t2  ·  PCA + traditional PC + T²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23774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74A3A"/>
                </a:solidFill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395728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Fix the flare rule so that flares become separate events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2999232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74A3A"/>
                </a:solidFill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9032" y="3017520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Find a flare-free reference period to learn normal behaviour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3621024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74A3A"/>
                </a:solidFill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639312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Check the unit folder names in .env (3 units were not found)</a:t>
            </a:r>
          </a:p>
        </p:txBody>
      </p:sp>
      <p:sp>
        <p:nvSpPr>
          <p:cNvPr id="35" name="Oval 34"/>
          <p:cNvSpPr/>
          <p:nvPr/>
        </p:nvSpPr>
        <p:spPr>
          <a:xfrm>
            <a:off x="896112" y="4242816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74A3A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99032" y="4261104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Rerun. Check: reference alarms near 5%, decomposition gap small</a:t>
            </a:r>
          </a:p>
        </p:txBody>
      </p:sp>
      <p:sp>
        <p:nvSpPr>
          <p:cNvPr id="37" name="Oval 36"/>
          <p:cNvSpPr/>
          <p:nvPr/>
        </p:nvSpPr>
        <p:spPr>
          <a:xfrm>
            <a:off x="896112" y="4864608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74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74A3A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4882896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Then read the root causes, starting with PC14 and the SEU3 tags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54496" y="1600200"/>
            <a:ext cx="5312664" cy="41148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AD4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254496" y="1600200"/>
            <a:ext cx="5312664" cy="109728"/>
          </a:xfrm>
          <a:prstGeom prst="rect">
            <a:avLst/>
          </a:prstGeom>
          <a:solidFill>
            <a:srgbClr val="7B5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28816" y="1874519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B5577"/>
                </a:solidFill>
              </a:rPr>
              <a:t>causal_t2  ·  traditional PC on all 267 tags</a:t>
            </a:r>
          </a:p>
        </p:txBody>
      </p:sp>
      <p:sp>
        <p:nvSpPr>
          <p:cNvPr id="42" name="Oval 41"/>
          <p:cNvSpPr/>
          <p:nvPr/>
        </p:nvSpPr>
        <p:spPr>
          <a:xfrm>
            <a:off x="6528816" y="2377440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31736" y="2395728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The PC stage crashed: an IndexError after 827 s, then a segfault</a:t>
            </a:r>
          </a:p>
        </p:txBody>
      </p:sp>
      <p:sp>
        <p:nvSpPr>
          <p:cNvPr id="44" name="Oval 43"/>
          <p:cNvSpPr/>
          <p:nvPr/>
        </p:nvSpPr>
        <p:spPr>
          <a:xfrm>
            <a:off x="6528816" y="2999232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31736" y="3017520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It has about 13 million tests even at depth 1</a:t>
            </a:r>
          </a:p>
        </p:txBody>
      </p:sp>
      <p:sp>
        <p:nvSpPr>
          <p:cNvPr id="46" name="Oval 45"/>
          <p:cNvSpPr/>
          <p:nvPr/>
        </p:nvSpPr>
        <p:spPr>
          <a:xfrm>
            <a:off x="6528816" y="3621024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1736" y="3639312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Run the three checks in command.md: traceback, one-thread run, versions</a:t>
            </a:r>
          </a:p>
        </p:txBody>
      </p:sp>
      <p:sp>
        <p:nvSpPr>
          <p:cNvPr id="48" name="Oval 47"/>
          <p:cNvSpPr/>
          <p:nvPr/>
        </p:nvSpPr>
        <p:spPr>
          <a:xfrm>
            <a:off x="6528816" y="4242816"/>
            <a:ext cx="329184" cy="329184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B55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7B5577"/>
                </a:solidFill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1736" y="4261104"/>
            <a:ext cx="43434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92D32"/>
                </a:solidFill>
              </a:rPr>
              <a:t>Pick the fix from the result: threading, memory, or library version</a:t>
            </a:r>
          </a:p>
        </p:txBody>
      </p:sp>
      <p:sp>
        <p:nvSpPr>
          <p:cNvPr id="4" name="Text 0"/>
          <p:cNvSpPr/>
          <p:nvPr/>
        </p:nvSpPr>
        <p:spPr>
          <a:xfrm>
            <a:off x="621792" y="63642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39D8F"/>
                </a:solidFill>
              </a:rPr>
              <a:t>Part B  ·  Plant data</a:t>
            </a:r>
            <a:endParaRPr lang="en-US" sz="1000" dirty="0"/>
          </a:p>
        </p:txBody>
      </p:sp>
      <p:sp>
        <p:nvSpPr>
          <p:cNvPr id="50" name="TextBox 49"/>
          <p:cNvSpPr txBox="1"/>
          <p:nvPr/>
        </p:nvSpPr>
        <p:spPr>
          <a:xfrm>
            <a:off x="2926080" y="6364224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76B70"/>
                </a:solidFill>
              </a:rPr>
              <a:t>Source: pca_pc_t2/outputs/SUMMARY.md, causal_t2/outputs/LOG.md, command.md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usal Graphite">
  <a:themeElements>
    <a:clrScheme name="Causal Graphite">
      <a:dk1>
        <a:srgbClr val="292D32"/>
      </a:dk1>
      <a:lt1>
        <a:srgbClr val="F7F5EF"/>
      </a:lt1>
      <a:dk2>
        <a:srgbClr val="676B70"/>
      </a:dk2>
      <a:lt2>
        <a:srgbClr val="FFFFFF"/>
      </a:lt2>
      <a:accent1>
        <a:srgbClr val="2F7A5C"/>
      </a:accent1>
      <a:accent2>
        <a:srgbClr val="9C7A35"/>
      </a:accent2>
      <a:accent3>
        <a:srgbClr val="7B5577"/>
      </a:accent3>
      <a:accent4>
        <a:srgbClr val="A84A3E"/>
      </a:accent4>
      <a:accent5>
        <a:srgbClr val="6A8E70"/>
      </a:accent5>
      <a:accent6>
        <a:srgbClr val="DAD4C6"/>
      </a:accent6>
      <a:hlink>
        <a:srgbClr val="6A8E70"/>
      </a:hlink>
      <a:folHlink>
        <a:srgbClr val="7B5577"/>
      </a:folHlink>
    </a:clrScheme>
    <a:fontScheme name="Causal Graphi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PCMCI+ — causal discovery for time series</dc:title>
  <dc:subject>PptxGenJS Presentation</dc:subject>
  <dc:creator>Satyam</dc:creator>
  <cp:lastModifiedBy>Satyam</cp:lastModifiedBy>
  <cp:revision>1</cp:revision>
  <dcterms:created xsi:type="dcterms:W3CDTF">2026-10-08T20:41:39Z</dcterms:created>
  <dcterms:modified xsi:type="dcterms:W3CDTF">2026-10-08T20:41:39Z</dcterms:modified>
</cp:coreProperties>
</file>