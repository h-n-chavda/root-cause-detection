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" y="2103120"/>
            <a:ext cx="38404" cy="1737360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15568" y="2066543"/>
            <a:ext cx="821336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4600" b="1" i="0">
                <a:solidFill>
                  <a:srgbClr val="ECEAE4"/>
                </a:solidFill>
                <a:latin typeface="Aptos"/>
              </a:rPr>
              <a:t>Five Questions, Answered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3273552"/>
            <a:ext cx="72835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9AA2AA"/>
                </a:solidFill>
                <a:latin typeface="Aptos"/>
              </a:rPr>
              <a:t>Follow-up to the last review · causal discovery for root-cause detection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115568" y="3877056"/>
            <a:ext cx="3090672" cy="0"/>
          </a:xfrm>
          <a:prstGeom prst="line">
            <a:avLst/>
          </a:prstGeom>
          <a:ln w="9525">
            <a:solidFill>
              <a:srgbClr val="363D4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0129723" y="5349240"/>
            <a:ext cx="1467612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A4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00" b="0" i="0">
                <a:solidFill>
                  <a:srgbClr val="8E97A0"/>
                </a:solidFill>
                <a:latin typeface="Aptos"/>
              </a:rPr>
              <a:t>August 2026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20963" y="5349240"/>
            <a:ext cx="1362456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A4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00" b="0" i="0">
                <a:solidFill>
                  <a:srgbClr val="8E97A0"/>
                </a:solidFill>
                <a:latin typeface="Aptos"/>
              </a:rPr>
              <a:t>3 datasets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65799" y="5349240"/>
            <a:ext cx="2308860" cy="310896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3A4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000" b="0" i="0">
                <a:solidFill>
                  <a:srgbClr val="8E97A0"/>
                </a:solidFill>
                <a:latin typeface="Aptos"/>
              </a:rPr>
              <a:t>65 sources reviewed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978408"/>
            <a:ext cx="11002975" cy="0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758952"/>
            <a:ext cx="72835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40">
                <a:solidFill>
                  <a:srgbClr val="3D6B99"/>
                </a:solidFill>
                <a:latin typeface="Aptos"/>
              </a:rPr>
              <a:t>Review follow-up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75895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E73"/>
                </a:solidFill>
                <a:latin typeface="Apto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100731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D21"/>
                </a:solidFill>
                <a:latin typeface="Aptos"/>
              </a:rPr>
              <a:t>Is there a C++ implementation of PC?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11002975" cy="566928"/>
          </a:xfrm>
          <a:prstGeom prst="roundRect">
            <a:avLst>
              <a:gd name="adj" fmla="val 8000"/>
            </a:avLst>
          </a:prstGeom>
          <a:solidFill>
            <a:srgbClr val="DA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41148" cy="566928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24812"/>
            <a:ext cx="105914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D21"/>
                </a:solidFill>
                <a:latin typeface="Aptos"/>
              </a:rPr>
              <a:t>Yes — four established ones. But they change speed, not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24328"/>
            <a:ext cx="170428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20">
                <a:solidFill>
                  <a:srgbClr val="6B6E73"/>
                </a:solidFill>
                <a:latin typeface="Aptos"/>
              </a:rPr>
              <a:t>IMPLEMENTATION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4097" y="2624328"/>
            <a:ext cx="263415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20">
                <a:solidFill>
                  <a:srgbClr val="6B6E73"/>
                </a:solidFill>
                <a:latin typeface="Aptos"/>
              </a:rPr>
              <a:t>LANGUAGE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43703" y="2624328"/>
            <a:ext cx="356402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20">
                <a:solidFill>
                  <a:srgbClr val="6B6E73"/>
                </a:solidFill>
                <a:latin typeface="Aptos"/>
              </a:rPr>
              <a:t>REPORTED SPEED-UP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3177" y="2624328"/>
            <a:ext cx="263415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20">
                <a:solidFill>
                  <a:srgbClr val="6B6E73"/>
                </a:solidFill>
                <a:latin typeface="Aptos"/>
              </a:rPr>
              <a:t>NEEDS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4360" y="2880360"/>
            <a:ext cx="11002975" cy="0"/>
          </a:xfrm>
          <a:prstGeom prst="line">
            <a:avLst/>
          </a:prstGeom>
          <a:ln w="11430">
            <a:solidFill>
              <a:srgbClr val="1A1D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94360" y="3008376"/>
            <a:ext cx="170428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D21"/>
                </a:solidFill>
                <a:latin typeface="Aptos"/>
              </a:rPr>
              <a:t>cuPC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4097" y="3008376"/>
            <a:ext cx="26341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6E73"/>
                </a:solidFill>
                <a:latin typeface="Aptos"/>
              </a:rPr>
              <a:t>CUDA / C++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43703" y="3008376"/>
            <a:ext cx="35640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A1D21"/>
                </a:solidFill>
                <a:latin typeface="Aptos"/>
              </a:rPr>
              <a:t>500–1300× over serial CPU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3177" y="3008376"/>
            <a:ext cx="26341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6E73"/>
                </a:solidFill>
                <a:latin typeface="Aptos"/>
              </a:rPr>
              <a:t>NVIDIA GPU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" y="3337560"/>
            <a:ext cx="11002975" cy="0"/>
          </a:xfrm>
          <a:prstGeom prst="line">
            <a:avLst/>
          </a:prstGeom>
          <a:ln w="635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94360" y="3429000"/>
            <a:ext cx="170428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D21"/>
                </a:solidFill>
                <a:latin typeface="Aptos"/>
              </a:rPr>
              <a:t>GPUCSL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54097" y="3429000"/>
            <a:ext cx="26341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6E73"/>
                </a:solidFill>
                <a:latin typeface="Aptos"/>
              </a:rPr>
              <a:t>CUDA, Python 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3703" y="3429000"/>
            <a:ext cx="35640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A1D21"/>
                </a:solidFill>
                <a:latin typeface="Aptos"/>
              </a:rPr>
              <a:t>9.5× vs pcalg, 19.8× vs bnlearn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3177" y="3429000"/>
            <a:ext cx="26341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6E73"/>
                </a:solidFill>
                <a:latin typeface="Aptos"/>
              </a:rPr>
              <a:t>NVIDIA GPU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4360" y="3758184"/>
            <a:ext cx="11002975" cy="0"/>
          </a:xfrm>
          <a:prstGeom prst="line">
            <a:avLst/>
          </a:prstGeom>
          <a:ln w="635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94360" y="3849624"/>
            <a:ext cx="170428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D21"/>
                </a:solidFill>
                <a:latin typeface="Aptos"/>
              </a:rPr>
              <a:t>PEPC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54097" y="3849624"/>
            <a:ext cx="26341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6E73"/>
                </a:solidFill>
                <a:latin typeface="Aptos"/>
              </a:rPr>
              <a:t>C++, multicore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43703" y="3849624"/>
            <a:ext cx="35640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A1D21"/>
                </a:solidFill>
                <a:latin typeface="Aptos"/>
              </a:rPr>
              <a:t>134× vs Tetrad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63177" y="3849624"/>
            <a:ext cx="26341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6E73"/>
                </a:solidFill>
                <a:latin typeface="Aptos"/>
              </a:rPr>
              <a:t>CPU only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94360" y="4178808"/>
            <a:ext cx="11002975" cy="0"/>
          </a:xfrm>
          <a:prstGeom prst="line">
            <a:avLst/>
          </a:prstGeom>
          <a:ln w="635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94360" y="4270248"/>
            <a:ext cx="170428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D21"/>
                </a:solidFill>
                <a:latin typeface="Aptos"/>
              </a:rPr>
              <a:t>pcalg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54097" y="4270248"/>
            <a:ext cx="26341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6E73"/>
                </a:solidFill>
                <a:latin typeface="Aptos"/>
              </a:rPr>
              <a:t>R with C++ 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43703" y="4270248"/>
            <a:ext cx="356402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A1D21"/>
                </a:solidFill>
                <a:latin typeface="Aptos"/>
              </a:rPr>
              <a:t>reference baseline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63177" y="4270248"/>
            <a:ext cx="26341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6E73"/>
                </a:solidFill>
                <a:latin typeface="Aptos"/>
              </a:rPr>
              <a:t>R runtime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94360" y="4599432"/>
            <a:ext cx="11002975" cy="0"/>
          </a:xfrm>
          <a:prstGeom prst="line">
            <a:avLst/>
          </a:prstGeom>
          <a:ln w="635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94360" y="4928616"/>
            <a:ext cx="63536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3D6B99"/>
                </a:solidFill>
                <a:latin typeface="Aptos"/>
              </a:rPr>
              <a:t>Why we are not adopting one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221224"/>
            <a:ext cx="6353632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A1D21"/>
                </a:solidFill>
                <a:latin typeface="Aptos"/>
              </a:rPr>
              <a:t>cuPC runs “an order-independent version of PC” — the same statistics we already have. These are scheduling wins, not statistical ones.</a:t>
            </a:r>
          </a:p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1A1D21"/>
                </a:solidFill>
                <a:latin typeface="Aptos"/>
              </a:rPr>
              <a:t>They optimise runs that take hours. Ours takes 0.13 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33308" y="4855464"/>
            <a:ext cx="3564026" cy="1060704"/>
          </a:xfrm>
          <a:prstGeom prst="roundRect">
            <a:avLst>
              <a:gd name="adj" fmla="val 6000"/>
            </a:avLst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16188" y="4983479"/>
            <a:ext cx="319826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20">
                <a:solidFill>
                  <a:srgbClr val="6B6E73"/>
                </a:solidFill>
                <a:latin typeface="Aptos"/>
              </a:rPr>
              <a:t>OUR RUNTIME TODAY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6188" y="5294376"/>
            <a:ext cx="188716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D21"/>
                </a:solidFill>
                <a:latin typeface="Aptos"/>
              </a:rPr>
              <a:t>Tennessee Eastman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82935" y="5276088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3D6B99"/>
                </a:solidFill>
                <a:latin typeface="Consolas"/>
              </a:rPr>
              <a:t>0.13 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16188" y="5586984"/>
            <a:ext cx="188716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1D21"/>
                </a:solidFill>
                <a:latin typeface="Aptos"/>
              </a:rPr>
              <a:t>Ultra-processed food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82935" y="5568696"/>
            <a:ext cx="7315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600" b="1" i="0">
                <a:solidFill>
                  <a:srgbClr val="3D6B99"/>
                </a:solidFill>
                <a:latin typeface="Consolas"/>
              </a:rPr>
              <a:t>0.29 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5879592"/>
            <a:ext cx="110029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Revisit at scale: 31 → 150 variables took independence tests from 5,900 to 1.97 million.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978408"/>
            <a:ext cx="11002975" cy="0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758952"/>
            <a:ext cx="72835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40">
                <a:solidFill>
                  <a:srgbClr val="1A7F72"/>
                </a:solidFill>
                <a:latin typeface="Aptos"/>
              </a:rPr>
              <a:t>Review follow-up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75895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E73"/>
                </a:solidFill>
                <a:latin typeface="Apto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100731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D21"/>
                </a:solidFill>
                <a:latin typeface="Aptos"/>
              </a:rPr>
              <a:t>Which libraries should we build 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11002975" cy="566928"/>
          </a:xfrm>
          <a:prstGeom prst="roundRect">
            <a:avLst>
              <a:gd name="adj" fmla="val 8000"/>
            </a:avLst>
          </a:prstGeom>
          <a:solidFill>
            <a:srgbClr val="D5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41148" cy="566928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24812"/>
            <a:ext cx="105914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D21"/>
                </a:solidFill>
                <a:latin typeface="Aptos"/>
              </a:rPr>
              <a:t>causal-learn and tigramite now — and yes, C++ can run under Python: GPUCSL.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642616"/>
            <a:ext cx="41148" cy="950976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24328"/>
            <a:ext cx="356402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20">
                <a:solidFill>
                  <a:srgbClr val="1A7F72"/>
                </a:solidFill>
                <a:latin typeface="Aptos"/>
              </a:rPr>
              <a:t>USE NOW — correctness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98648"/>
            <a:ext cx="170428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D21"/>
                </a:solidFill>
                <a:latin typeface="Consolas"/>
              </a:rPr>
              <a:t>causal-learn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965" y="2889504"/>
            <a:ext cx="8213369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6B6E73"/>
                </a:solidFill>
                <a:latin typeface="Aptos"/>
              </a:rPr>
              <a:t>Pure Python, from CMU. The library CIPCaD-Bench itself used for its published baseline, so our numbers become comparable.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64408"/>
            <a:ext cx="170428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D21"/>
                </a:solidFill>
                <a:latin typeface="Consolas"/>
              </a:rPr>
              <a:t>tigramite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965" y="3255264"/>
            <a:ext cx="8213369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6B6E73"/>
                </a:solidFill>
                <a:latin typeface="Aptos"/>
              </a:rPr>
              <a:t>PCMCI+ and LPCMCI — the time-series methods in question 3.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849623"/>
            <a:ext cx="41148" cy="585216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831335"/>
            <a:ext cx="356402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20">
                <a:solidFill>
                  <a:srgbClr val="3D6B99"/>
                </a:solidFill>
                <a:latin typeface="Aptos"/>
              </a:rPr>
              <a:t>ADD AT SCALE — speed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105655"/>
            <a:ext cx="170428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D21"/>
                </a:solidFill>
                <a:latin typeface="Consolas"/>
              </a:rPr>
              <a:t>GPUCSL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965" y="4096511"/>
            <a:ext cx="8213369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6B6E73"/>
                </a:solidFill>
                <a:latin typeface="Aptos"/>
              </a:rPr>
              <a:t>Python API over CUDA/C++ kernels. C++ performance without leaving Python.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690871"/>
            <a:ext cx="41148" cy="1316736"/>
          </a:xfrm>
          <a:prstGeom prst="rect">
            <a:avLst/>
          </a:prstGeom>
          <a:solidFill>
            <a:srgbClr val="6B6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72583"/>
            <a:ext cx="356402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20">
                <a:solidFill>
                  <a:srgbClr val="6B6E73"/>
                </a:solidFill>
                <a:latin typeface="Aptos"/>
              </a:rPr>
              <a:t>NOT VIABLE HERE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946903"/>
            <a:ext cx="170428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D21"/>
                </a:solidFill>
                <a:latin typeface="Consolas"/>
              </a:rPr>
              <a:t>pcalg / bnlearn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965" y="4937759"/>
            <a:ext cx="8213369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6B6E73"/>
                </a:solidFill>
                <a:latin typeface="Aptos"/>
              </a:rPr>
              <a:t>R only; no R on this machine.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312664"/>
            <a:ext cx="170428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D21"/>
                </a:solidFill>
                <a:latin typeface="Consolas"/>
              </a:rPr>
              <a:t>Tetrad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965" y="5303520"/>
            <a:ext cx="8213369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6B6E73"/>
                </a:solidFill>
                <a:latin typeface="Aptos"/>
              </a:rPr>
              <a:t>Needs JDK 21, we have Java 8.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678424"/>
            <a:ext cx="170428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D21"/>
                </a:solidFill>
                <a:latin typeface="Consolas"/>
              </a:rPr>
              <a:t>cuPC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965" y="5669280"/>
            <a:ext cx="8213369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6B6E73"/>
                </a:solidFill>
                <a:latin typeface="Aptos"/>
              </a:rPr>
              <a:t>Raw CUDA, no Python binding.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879592"/>
            <a:ext cx="110029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Recommendation: build on causal-learn and tigramite now; keep GPUCSL as the scale path, since it needs no change of language.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978408"/>
            <a:ext cx="11002975" cy="0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758952"/>
            <a:ext cx="72835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40">
                <a:solidFill>
                  <a:srgbClr val="B8860B"/>
                </a:solidFill>
                <a:latin typeface="Aptos"/>
              </a:rPr>
              <a:t>Review follow-up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75895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E73"/>
                </a:solidFill>
                <a:latin typeface="Apto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100731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D21"/>
                </a:solidFill>
                <a:latin typeface="Aptos"/>
              </a:rPr>
              <a:t>How do we handle time series and lag?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11002975" cy="566928"/>
          </a:xfrm>
          <a:prstGeom prst="roundRect">
            <a:avLst>
              <a:gd name="adj" fmla="val 8000"/>
            </a:avLst>
          </a:prstGeom>
          <a:solidFill>
            <a:srgbClr val="F5E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41148" cy="566928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24812"/>
            <a:ext cx="105914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D21"/>
                </a:solidFill>
                <a:latin typeface="Aptos"/>
              </a:rPr>
              <a:t>Correct the test for autocorrelation, and take lags from the plant, not the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24328"/>
            <a:ext cx="44938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20">
                <a:solidFill>
                  <a:srgbClr val="B8860B"/>
                </a:solidFill>
                <a:latin typeface="Aptos"/>
              </a:rPr>
              <a:t>WHAT WE MEASURED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35224"/>
            <a:ext cx="263415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20">
                <a:solidFill>
                  <a:srgbClr val="6B6E73"/>
                </a:solidFill>
                <a:latin typeface="Aptos"/>
              </a:rPr>
              <a:t>DATASET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965" y="2935224"/>
            <a:ext cx="7744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20">
                <a:solidFill>
                  <a:srgbClr val="6B6E73"/>
                </a:solidFill>
                <a:latin typeface="Aptos"/>
              </a:rPr>
              <a:t>SAMPLES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13834" y="2935224"/>
            <a:ext cx="7744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20">
                <a:solidFill>
                  <a:srgbClr val="6B6E73"/>
                </a:solidFill>
                <a:latin typeface="Aptos"/>
              </a:rPr>
              <a:t>EFFECTIVE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43703" y="2935224"/>
            <a:ext cx="7744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20">
                <a:solidFill>
                  <a:srgbClr val="6B6E73"/>
                </a:solidFill>
                <a:latin typeface="Aptos"/>
              </a:rPr>
              <a:t>USABLE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360" y="3191256"/>
            <a:ext cx="11002975" cy="0"/>
          </a:xfrm>
          <a:prstGeom prst="line">
            <a:avLst/>
          </a:prstGeom>
          <a:ln w="11430">
            <a:solidFill>
              <a:srgbClr val="1A1D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3319272"/>
            <a:ext cx="26341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A1D21"/>
                </a:solidFill>
                <a:latin typeface="Aptos"/>
              </a:rPr>
              <a:t>Ultra-processed food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965" y="3319272"/>
            <a:ext cx="7744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A1D21"/>
                </a:solidFill>
                <a:latin typeface="Consolas"/>
              </a:rPr>
              <a:t>23,132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3834" y="3319272"/>
            <a:ext cx="7744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B8860B"/>
                </a:solidFill>
                <a:latin typeface="Consolas"/>
              </a:rPr>
              <a:t>121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43703" y="3319272"/>
            <a:ext cx="7744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B8860B"/>
                </a:solidFill>
                <a:latin typeface="Consolas"/>
              </a:rPr>
              <a:t>0.5 %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94360" y="3685032"/>
            <a:ext cx="5487771" cy="0"/>
          </a:xfrm>
          <a:prstGeom prst="line">
            <a:avLst/>
          </a:prstGeom>
          <a:ln w="635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94360" y="3794760"/>
            <a:ext cx="26341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A1D21"/>
                </a:solidFill>
                <a:latin typeface="Aptos"/>
              </a:rPr>
              <a:t>Tennessee Eastman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965" y="3794760"/>
            <a:ext cx="7744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1A1D21"/>
                </a:solidFill>
                <a:latin typeface="Consolas"/>
              </a:rPr>
              <a:t>1,499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13834" y="3794760"/>
            <a:ext cx="7744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6B6E73"/>
                </a:solidFill>
                <a:latin typeface="Consolas"/>
              </a:rPr>
              <a:t>530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43703" y="3794760"/>
            <a:ext cx="7744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6B6E73"/>
                </a:solidFill>
                <a:latin typeface="Consolas"/>
              </a:rPr>
              <a:t>35 %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360" y="4160520"/>
            <a:ext cx="5487771" cy="0"/>
          </a:xfrm>
          <a:prstGeom prst="line">
            <a:avLst/>
          </a:prstGeom>
          <a:ln w="635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94360" y="4398264"/>
            <a:ext cx="44938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1" i="0">
                <a:solidFill>
                  <a:srgbClr val="1A1D21"/>
                </a:solidFill>
                <a:latin typeface="Aptos"/>
              </a:rPr>
              <a:t>23,132 samples carry about 120 independent observations.</a:t>
            </a:r>
          </a:p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6B6E73"/>
                </a:solidFill>
                <a:latin typeface="Aptos"/>
              </a:rPr>
              <a:t>The smallest detectable correlation is 0.44, not 0.03 — so 76 % of the edges we report are below what the evidence supports.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6451" y="2624328"/>
            <a:ext cx="54237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20">
                <a:solidFill>
                  <a:srgbClr val="1A7F72"/>
                </a:solidFill>
                <a:latin typeface="Aptos"/>
              </a:rPr>
              <a:t>WHAT WE DO ABOUT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6451" y="2935224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A7F72"/>
                </a:solidFill>
                <a:latin typeface="Consolas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67347" y="2916936"/>
            <a:ext cx="511286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D21"/>
                </a:solidFill>
                <a:latin typeface="Aptos"/>
              </a:rPr>
              <a:t>Correct the 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67347" y="3172968"/>
            <a:ext cx="511286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B6E73"/>
                </a:solidFill>
                <a:latin typeface="Aptos"/>
              </a:rPr>
              <a:t>Use the effective sample size in the Fisher-z degrees of freedom, and report both calibrations side by side.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6451" y="3867912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A7F72"/>
                </a:solidFill>
                <a:latin typeface="Consola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67347" y="3849624"/>
            <a:ext cx="511286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D21"/>
                </a:solidFill>
                <a:latin typeface="Aptos"/>
              </a:rPr>
              <a:t>Move to PCMCI+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67347" y="4105656"/>
            <a:ext cx="511286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B6E73"/>
                </a:solidFill>
                <a:latin typeface="Aptos"/>
              </a:rPr>
              <a:t>Built for autocorrelated series; “benefits from autocorrelation” rather than being broken by it. LPCMCI for UF, where the data authors record hidden confounders.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6451" y="4800600"/>
            <a:ext cx="274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 i="0">
                <a:solidFill>
                  <a:srgbClr val="1A7F72"/>
                </a:solidFill>
                <a:latin typeface="Consolas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67347" y="4782312"/>
            <a:ext cx="5112867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D21"/>
                </a:solidFill>
                <a:latin typeface="Aptos"/>
              </a:rPr>
              <a:t>Set τₘₐₓ from plant knowledge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67347" y="5038344"/>
            <a:ext cx="5112867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B6E73"/>
                </a:solidFill>
                <a:latin typeface="Aptos"/>
              </a:rPr>
              <a:t>We measured that the lags are not recoverable from the data: the series decorrelate over ~346 samples, seven times the longest real delay.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5879592"/>
            <a:ext cx="110029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B6E73"/>
                </a:solidFill>
                <a:latin typeface="Aptos"/>
              </a:rPr>
              <a:t>Thinning the series was considered and rejected: it costs recall heavily while barely moving precision, because it discards data instead of correcting the test.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978408"/>
            <a:ext cx="11002975" cy="0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758952"/>
            <a:ext cx="72835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40">
                <a:solidFill>
                  <a:srgbClr val="3D6B99"/>
                </a:solidFill>
                <a:latin typeface="Aptos"/>
              </a:rPr>
              <a:t>Review follow-up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75895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E73"/>
                </a:solidFill>
                <a:latin typeface="Apto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100731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D21"/>
                </a:solidFill>
                <a:latin typeface="Aptos"/>
              </a:rPr>
              <a:t>Without ground truth, which metric?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11002975" cy="566928"/>
          </a:xfrm>
          <a:prstGeom prst="roundRect">
            <a:avLst>
              <a:gd name="adj" fmla="val 8000"/>
            </a:avLst>
          </a:prstGeom>
          <a:solidFill>
            <a:srgbClr val="DA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41148" cy="566928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24812"/>
            <a:ext cx="105914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D21"/>
                </a:solidFill>
                <a:latin typeface="Aptos"/>
              </a:rPr>
              <a:t>Four, in order of what each can rule out — no single number does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24328"/>
            <a:ext cx="263415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20">
                <a:solidFill>
                  <a:srgbClr val="6B6E73"/>
                </a:solidFill>
                <a:latin typeface="Aptos"/>
              </a:rPr>
              <a:t>METRIC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5405" y="2624328"/>
            <a:ext cx="2634157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20">
                <a:solidFill>
                  <a:srgbClr val="6B6E73"/>
                </a:solidFill>
                <a:latin typeface="Aptos"/>
              </a:rPr>
              <a:t>WHAT IT OUTPUTS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6451" y="2624328"/>
            <a:ext cx="5240883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20">
                <a:solidFill>
                  <a:srgbClr val="6B6E73"/>
                </a:solidFill>
                <a:latin typeface="Aptos"/>
              </a:rPr>
              <a:t>WHAT IT BUYS US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94360" y="2880360"/>
            <a:ext cx="11002975" cy="0"/>
          </a:xfrm>
          <a:prstGeom prst="line">
            <a:avLst/>
          </a:prstGeom>
          <a:ln w="11430">
            <a:solidFill>
              <a:srgbClr val="1A1D2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48056" y="2971800"/>
            <a:ext cx="32004" cy="310896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008376"/>
            <a:ext cx="26341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D21"/>
                </a:solidFill>
                <a:latin typeface="Aptos"/>
              </a:rPr>
              <a:t>Edge stability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5405" y="3008376"/>
            <a:ext cx="263415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6E73"/>
                </a:solidFill>
                <a:latin typeface="Consolas"/>
              </a:rPr>
              <a:t>% of bootstrap resamples containing the 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6451" y="3008376"/>
            <a:ext cx="52408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D21"/>
                </a:solidFill>
                <a:latin typeface="Aptos"/>
              </a:rPr>
              <a:t>Gives every edge a confidence. Unstable edges are finite-sample noise.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94360" y="3410712"/>
            <a:ext cx="11002975" cy="0"/>
          </a:xfrm>
          <a:prstGeom prst="line">
            <a:avLst/>
          </a:prstGeom>
          <a:ln w="635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48056" y="3520440"/>
            <a:ext cx="32004" cy="310896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557016"/>
            <a:ext cx="26341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D21"/>
                </a:solidFill>
                <a:latin typeface="Aptos"/>
              </a:rPr>
              <a:t>Self-compatibility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5405" y="3557016"/>
            <a:ext cx="263415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6E73"/>
                </a:solidFill>
                <a:latin typeface="Consolas"/>
              </a:rPr>
              <a:t>disagreement across variable subsets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6451" y="3557016"/>
            <a:ext cx="52408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D21"/>
                </a:solidFill>
                <a:latin typeface="Aptos"/>
              </a:rPr>
              <a:t>A true edge should survive dropping other variables. Falsifies only.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4360" y="3959352"/>
            <a:ext cx="11002975" cy="0"/>
          </a:xfrm>
          <a:prstGeom prst="line">
            <a:avLst/>
          </a:prstGeom>
          <a:ln w="635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48056" y="4069080"/>
            <a:ext cx="32004" cy="310896"/>
          </a:xfrm>
          <a:prstGeom prst="rect">
            <a:avLst/>
          </a:prstGeom>
          <a:solidFill>
            <a:srgbClr val="3D6B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4105656"/>
            <a:ext cx="26341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D21"/>
                </a:solidFill>
                <a:latin typeface="Aptos"/>
              </a:rPr>
              <a:t>Falsification p-value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5405" y="4105656"/>
            <a:ext cx="263415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6E73"/>
                </a:solidFill>
                <a:latin typeface="Consolas"/>
              </a:rPr>
              <a:t>violations vs a node-permutation baseline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6451" y="4105656"/>
            <a:ext cx="52408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D21"/>
                </a:solidFill>
                <a:latin typeface="Aptos"/>
              </a:rPr>
              <a:t>Answers “how many errors are too many?” — is this graph better than random?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94360" y="4507992"/>
            <a:ext cx="11002975" cy="0"/>
          </a:xfrm>
          <a:prstGeom prst="line">
            <a:avLst/>
          </a:prstGeom>
          <a:ln w="635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448056" y="4617720"/>
            <a:ext cx="32004" cy="310896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4654296"/>
            <a:ext cx="26341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D21"/>
                </a:solidFill>
                <a:latin typeface="Aptos"/>
              </a:rPr>
              <a:t>Held-out log-likelihood + BIC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5405" y="4654296"/>
            <a:ext cx="263415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6B6E73"/>
                </a:solidFill>
                <a:latin typeface="Consolas"/>
              </a:rPr>
              <a:t>fit on a time-blocked split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6451" y="4654296"/>
            <a:ext cx="52408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1A1D21"/>
                </a:solidFill>
                <a:latin typeface="Aptos"/>
              </a:rPr>
              <a:t>The only one that can rank OUR graph against the assumed ground truth.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94360" y="5056632"/>
            <a:ext cx="11002975" cy="0"/>
          </a:xfrm>
          <a:prstGeom prst="line">
            <a:avLst/>
          </a:prstGeom>
          <a:ln w="6350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94360" y="5349240"/>
            <a:ext cx="11002975" cy="822960"/>
          </a:xfrm>
          <a:prstGeom prst="roundRect">
            <a:avLst>
              <a:gd name="adj" fmla="val 6000"/>
            </a:avLst>
          </a:prstGeom>
          <a:solidFill>
            <a:srgbClr val="F5EA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94360" y="5349240"/>
            <a:ext cx="41148" cy="82296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" y="5468112"/>
            <a:ext cx="1054577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D21"/>
                </a:solidFill>
                <a:latin typeface="Aptos"/>
              </a:rPr>
              <a:t>The limit to state before anyone proposes BIC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3816" y="5751576"/>
            <a:ext cx="1054577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B6E73"/>
                </a:solidFill>
                <a:latin typeface="Aptos"/>
              </a:rPr>
              <a:t>No observational score can separate graphs inside one Markov equivalence class — they share a likelihood. That is a theorem, not a tuning problem. It still works ACROSS classes, which is where our graph and the assumed ground truth sit.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7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978408"/>
            <a:ext cx="11002975" cy="0"/>
          </a:xfrm>
          <a:prstGeom prst="line">
            <a:avLst/>
          </a:prstGeom>
          <a:ln w="9525">
            <a:solidFill>
              <a:srgbClr val="C8C6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758952"/>
            <a:ext cx="72835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40">
                <a:solidFill>
                  <a:srgbClr val="1A7F72"/>
                </a:solidFill>
                <a:latin typeface="Aptos"/>
              </a:rPr>
              <a:t>Review follow-up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75895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6B6E73"/>
                </a:solidFill>
                <a:latin typeface="Aptos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1007310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1D21"/>
                </a:solidFill>
                <a:latin typeface="Aptos"/>
              </a:rPr>
              <a:t>A score is bad — how do we find out why?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83080"/>
            <a:ext cx="11002975" cy="566928"/>
          </a:xfrm>
          <a:prstGeom prst="roundRect">
            <a:avLst>
              <a:gd name="adj" fmla="val 8000"/>
            </a:avLst>
          </a:prstGeom>
          <a:solidFill>
            <a:srgbClr val="D5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783080"/>
            <a:ext cx="41148" cy="566928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24812"/>
            <a:ext cx="10591495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A1D21"/>
                </a:solidFill>
                <a:latin typeface="Aptos"/>
              </a:rPr>
              <a:t>Compute the ceiling first. What is left is ours to fix.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24328"/>
            <a:ext cx="44938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20">
                <a:solidFill>
                  <a:srgbClr val="1A7F72"/>
                </a:solidFill>
                <a:latin typeface="Aptos"/>
              </a:rPr>
              <a:t>FOUR DIAGNOSTICS, IN ORDER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935224"/>
            <a:ext cx="44938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D21"/>
                </a:solidFill>
                <a:latin typeface="Aptos"/>
              </a:rPr>
              <a:t>Identifiability ceiling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172968"/>
            <a:ext cx="4493895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6B6E73"/>
                </a:solidFill>
                <a:latin typeface="Aptos"/>
              </a:rPr>
              <a:t>Run the algorithm against the true graph's own independences. What it still cannot recover, no amount of data ever will.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739896"/>
            <a:ext cx="44938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D21"/>
                </a:solidFill>
                <a:latin typeface="Aptos"/>
              </a:rPr>
              <a:t>Effective sample 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977639"/>
            <a:ext cx="4493895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6B6E73"/>
                </a:solidFill>
                <a:latin typeface="Aptos"/>
              </a:rPr>
              <a:t>How much independent evidence the samples actually carry.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544568"/>
            <a:ext cx="44938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D21"/>
                </a:solidFill>
                <a:latin typeface="Aptos"/>
              </a:rPr>
              <a:t>Edges below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782312"/>
            <a:ext cx="4493895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6B6E73"/>
                </a:solidFill>
                <a:latin typeface="Aptos"/>
              </a:rPr>
              <a:t>Share of reported edges too weak for an honest test to see.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5349240"/>
            <a:ext cx="4493895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D21"/>
                </a:solidFill>
                <a:latin typeface="Aptos"/>
              </a:rPr>
              <a:t>Bootstrap stability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86983"/>
            <a:ext cx="4493895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6B6E73"/>
                </a:solidFill>
                <a:latin typeface="Aptos"/>
              </a:rPr>
              <a:t>Stable but wrong ⇒ assumption failure. Unstable ⇒ too little data.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6451" y="2624328"/>
            <a:ext cx="54237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20">
                <a:solidFill>
                  <a:srgbClr val="3D6B99"/>
                </a:solidFill>
                <a:latin typeface="Aptos"/>
              </a:rPr>
              <a:t>WHAT IT TOLD 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6451" y="2990088"/>
            <a:ext cx="54237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D21"/>
                </a:solidFill>
                <a:latin typeface="Aptos"/>
              </a:rPr>
              <a:t>Ultra-processed food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6451" y="3300984"/>
            <a:ext cx="4463643" cy="182880"/>
          </a:xfrm>
          <a:prstGeom prst="rect">
            <a:avLst/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6451" y="3300984"/>
            <a:ext cx="4088697" cy="182880"/>
          </a:xfrm>
          <a:prstGeom prst="rect">
            <a:avLst/>
          </a:prstGeom>
          <a:solidFill>
            <a:srgbClr val="DA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6451" y="3300984"/>
            <a:ext cx="160691" cy="182880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11535" y="3264408"/>
            <a:ext cx="868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6E73"/>
                </a:solidFill>
                <a:latin typeface="Consolas"/>
              </a:rPr>
              <a:t>4% of 92%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6451" y="3776472"/>
            <a:ext cx="5423763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1D21"/>
                </a:solidFill>
                <a:latin typeface="Aptos"/>
              </a:rPr>
              <a:t>Tennessee Eastman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6451" y="4087368"/>
            <a:ext cx="4463643" cy="182880"/>
          </a:xfrm>
          <a:prstGeom prst="rect">
            <a:avLst/>
          </a:prstGeom>
          <a:solidFill>
            <a:srgbClr val="EE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56451" y="4087368"/>
            <a:ext cx="3508423" cy="182880"/>
          </a:xfrm>
          <a:prstGeom prst="rect">
            <a:avLst/>
          </a:prstGeom>
          <a:solidFill>
            <a:srgbClr val="DA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6451" y="4087368"/>
            <a:ext cx="638301" cy="182880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11535" y="4050791"/>
            <a:ext cx="8686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6B6E73"/>
                </a:solidFill>
                <a:latin typeface="Consolas"/>
              </a:rPr>
              <a:t>14% of 79%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6451" y="4512564"/>
            <a:ext cx="100584" cy="100584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39331" y="4462272"/>
            <a:ext cx="1380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what we achieve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8091" y="4512564"/>
            <a:ext cx="100584" cy="100584"/>
          </a:xfrm>
          <a:prstGeom prst="rect">
            <a:avLst/>
          </a:prstGeom>
          <a:solidFill>
            <a:srgbClr val="DA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30971" y="4462272"/>
            <a:ext cx="1380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B6E73"/>
                </a:solidFill>
                <a:latin typeface="Aptos"/>
              </a:rPr>
              <a:t>what is achievable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6451" y="4946904"/>
            <a:ext cx="5423763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1" i="0">
                <a:solidFill>
                  <a:srgbClr val="1A1D21"/>
                </a:solidFill>
                <a:latin typeface="Aptos"/>
              </a:rPr>
              <a:t>The two datasets fail for different reasons.</a:t>
            </a:r>
          </a:p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B6E73"/>
                </a:solidFill>
                <a:latin typeface="Aptos"/>
              </a:rPr>
              <a:t>UF: the ceiling is 92 % and we reach 4 % — that gap is our orientation stage, not the data. TE: it recovers the instrumentation, not the chemistry — 82 % of its correct edges are a valve and its own flow meter.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94360" y="978408"/>
            <a:ext cx="11002975" cy="0"/>
          </a:xfrm>
          <a:prstGeom prst="line">
            <a:avLst/>
          </a:prstGeom>
          <a:ln w="9525">
            <a:solidFill>
              <a:srgbClr val="3339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94360" y="758952"/>
            <a:ext cx="72835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40">
                <a:solidFill>
                  <a:srgbClr val="1A7F72"/>
                </a:solidFill>
                <a:latin typeface="Aptos"/>
              </a:rPr>
              <a:t>Review follow-up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48695" y="758952"/>
            <a:ext cx="5486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>
                <a:solidFill>
                  <a:srgbClr val="7A8088"/>
                </a:solidFill>
                <a:latin typeface="Aptos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34440"/>
            <a:ext cx="821336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ECEAE4"/>
                </a:solidFill>
                <a:latin typeface="Aptos"/>
              </a:rPr>
              <a:t>Two decisions we cannot make ourselves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103120"/>
            <a:ext cx="41148" cy="1188720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2084831"/>
            <a:ext cx="365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20">
                <a:solidFill>
                  <a:srgbClr val="1A7F72"/>
                </a:solidFill>
                <a:latin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2340863"/>
            <a:ext cx="821336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CEAE4"/>
                </a:solidFill>
                <a:latin typeface="Aptos"/>
              </a:rPr>
              <a:t>Edge direction on control loops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2670048"/>
            <a:ext cx="821336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9AA2AA"/>
                </a:solidFill>
                <a:latin typeface="Aptos"/>
              </a:rPr>
              <a:t>A valve drives its flow; the controller drives the valve from the measurement. Both are real — the pair is a feedback loop. The benchmark picks one. Do we follow its convention, or model the loop honestly and accept that it cannot be scored?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3675887"/>
            <a:ext cx="41148" cy="1188720"/>
          </a:xfrm>
          <a:prstGeom prst="rect">
            <a:avLst/>
          </a:prstGeom>
          <a:solidFill>
            <a:srgbClr val="1A7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3657599"/>
            <a:ext cx="36576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 i="0" spc="120">
                <a:solidFill>
                  <a:srgbClr val="1A7F72"/>
                </a:solidFill>
                <a:latin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" y="3913631"/>
            <a:ext cx="821336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ECEAE4"/>
                </a:solidFill>
                <a:latin typeface="Aptos"/>
              </a:rPr>
              <a:t>A cyclic method for UFIMD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4242816"/>
            <a:ext cx="8213369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 i="0">
                <a:solidFill>
                  <a:srgbClr val="9AA2AA"/>
                </a:solidFill>
                <a:latin typeface="Aptos"/>
              </a:rPr>
              <a:t>That ground truth has 25 two-cycles, so an acyclic algorithm has no valid target. We found no maintained cyclic implementation of the quality we need. Do you know of one?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94360" y="5760720"/>
            <a:ext cx="11002975" cy="0"/>
          </a:xfrm>
          <a:prstGeom prst="line">
            <a:avLst/>
          </a:prstGeom>
          <a:ln w="9525">
            <a:solidFill>
              <a:srgbClr val="33394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94360" y="5907024"/>
            <a:ext cx="110029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7A8088"/>
                </a:solidFill>
                <a:latin typeface="Aptos"/>
              </a:rPr>
              <a:t>Full argument, alternatives and citations: FEEDBACK_RESPONSE.md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