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2.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3.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232E"/>
                </a:solidFill>
                <a:latin typeface="Cambria"/>
              </a:defRPr>
            </a:pPr>
            <a:r>
              <a:rPr sz="1300" b="0" i="0" u="none" strike="noStrike">
                <a:solidFill>
                  <a:srgbClr val="16232E"/>
                </a:solidFill>
                <a:latin typeface="Cambria"/>
              </a:rPr>
              <a:t>Simulation performance</a:t>
            </a:r>
          </a:p>
        </c:rich>
      </c:tx>
      <c:layout/>
      <c:overlay val="0"/>
    </c:title>
    <c:autoTitleDeleted val="0"/>
    <c:plotArea>
      <c:layout/>
      <c:barChart>
        <c:barDir val="col"/>
        <c:grouping val="clustered"/>
        <c:varyColors val="0"/>
        <c:ser>
          <c:idx val="0"/>
          <c:order val="0"/>
          <c:tx>
            <c:strRef>
              <c:f>Sheet1!$B$1</c:f>
              <c:strCache>
                <c:ptCount val="1"/>
                <c:pt idx="0">
                  <c:v>Lag-specific TE</c:v>
                </c:pt>
              </c:strCache>
            </c:strRef>
          </c:tx>
          <c:spPr>
            <a:solidFill>
              <a:srgbClr val="2E7D8A"/>
            </a:solidFill>
            <a:effectLst/>
          </c:spPr>
          <c:invertIfNegative val="0"/>
          <c:dLbls>
            <c:numFmt formatCode="0.00" sourceLinked="0"/>
            <c:txPr>
              <a:bodyPr/>
              <a:lstStyle/>
              <a:p>
                <a:pPr>
                  <a:defRPr b="0" i="0" strike="noStrike" sz="1000" u="none">
                    <a:solidFill>
                      <a:srgbClr val="16232E"/>
                    </a:solidFill>
                    <a:latin typeface="Arial"/>
                  </a:defRPr>
                </a:pPr>
              </a:p>
            </c:txPr>
            <c:showLegendKey val="0"/>
            <c:showVal val="1"/>
            <c:showCatName val="0"/>
            <c:showSerName val="0"/>
            <c:showPercent val="0"/>
            <c:showBubbleSize val="0"/>
            <c:showLeaderLines val="0"/>
          </c:dLbls>
          <c:cat>
            <c:multiLvlStrRef>
              <c:f>Sheet1!$A$2:$A$3</c:f>
              <c:multiLvlStrCache>
                <c:ptCount val="2"/>
                <c:lvl>
                  <c:pt idx="0">
                    <c:v>Accuracy</c:v>
                  </c:pt>
                  <c:pt idx="1">
                    <c:v>F1 score</c:v>
                  </c:pt>
                </c:lvl>
              </c:multiLvlStrCache>
            </c:multiLvlStrRef>
          </c:cat>
          <c:val>
            <c:numRef>
              <c:f>Sheet1!$B$2:$B$3</c:f>
              <c:numCache>
                <c:formatCode>General</c:formatCode>
                <c:ptCount val="2"/>
                <c:pt idx="0">
                  <c:v>1</c:v>
                </c:pt>
                <c:pt idx="1">
                  <c:v>1</c:v>
                </c:pt>
              </c:numCache>
            </c:numRef>
          </c:val>
        </c:ser>
        <c:ser>
          <c:idx val="1"/>
          <c:order val="1"/>
          <c:tx>
            <c:strRef>
              <c:f>Sheet1!$C$1</c:f>
              <c:strCache>
                <c:ptCount val="1"/>
                <c:pt idx="0">
                  <c:v>Classical transfer entropy</c:v>
                </c:pt>
              </c:strCache>
            </c:strRef>
          </c:tx>
          <c:spPr>
            <a:solidFill>
              <a:srgbClr val="C3CFD5"/>
            </a:solidFill>
            <a:effectLst/>
          </c:spPr>
          <c:invertIfNegative val="0"/>
          <c:dLbls>
            <c:numFmt formatCode="0.00" sourceLinked="0"/>
            <c:txPr>
              <a:bodyPr/>
              <a:lstStyle/>
              <a:p>
                <a:pPr>
                  <a:defRPr b="0" i="0" strike="noStrike" sz="1000" u="none">
                    <a:solidFill>
                      <a:srgbClr val="16232E"/>
                    </a:solidFill>
                    <a:latin typeface="Arial"/>
                  </a:defRPr>
                </a:pPr>
              </a:p>
            </c:txPr>
            <c:showLegendKey val="0"/>
            <c:showVal val="1"/>
            <c:showCatName val="0"/>
            <c:showSerName val="0"/>
            <c:showPercent val="0"/>
            <c:showBubbleSize val="0"/>
            <c:showLeaderLines val="0"/>
          </c:dLbls>
          <c:cat>
            <c:multiLvlStrRef>
              <c:f>Sheet1!$A$2:$A$3</c:f>
              <c:multiLvlStrCache>
                <c:ptCount val="2"/>
                <c:lvl>
                  <c:pt idx="0">
                    <c:v>Accuracy</c:v>
                  </c:pt>
                  <c:pt idx="1">
                    <c:v>F1 score</c:v>
                  </c:pt>
                </c:lvl>
              </c:multiLvlStrCache>
            </c:multiLvlStrRef>
          </c:cat>
          <c:val>
            <c:numRef>
              <c:f>Sheet1!$C$2:$C$3</c:f>
              <c:numCache>
                <c:formatCode>General</c:formatCode>
                <c:ptCount val="2"/>
                <c:pt idx="0">
                  <c:v>0.84</c:v>
                </c:pt>
                <c:pt idx="1">
                  <c:v>0.78</c:v>
                </c:pt>
              </c:numCache>
            </c:numRef>
          </c:val>
        </c:ser>
        <c:dLbls>
          <c:numFmt formatCode="0.00" sourceLinked="0"/>
          <c:txPr>
            <a:bodyPr/>
            <a:lstStyle/>
            <a:p>
              <a:pPr>
                <a:defRPr b="0" i="0" strike="noStrike" sz="1000" u="none">
                  <a:solidFill>
                    <a:srgbClr val="16232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A85"/>
                </a:solidFill>
                <a:latin typeface="Arial"/>
              </a:defRPr>
            </a:pPr>
            <a:endParaRPr lang="en-US"/>
          </a:p>
        </c:txPr>
        <c:crossAx val="2094734552"/>
        <c:crosses val="autoZero"/>
        <c:auto val="1"/>
        <c:lblAlgn val="ctr"/>
        <c:noMultiLvlLbl val="1"/>
      </c:catAx>
      <c:valAx>
        <c:axId val="2094734552"/>
        <c:scaling>
          <c:orientation val="minMax"/>
          <c:max val="1.1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A85"/>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6B7A85"/>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16232E"/>
                </a:solidFill>
                <a:latin typeface="Cambria"/>
              </a:defRPr>
            </a:pPr>
            <a:r>
              <a:rPr sz="1250" b="0" i="0" u="none" strike="noStrike">
                <a:solidFill>
                  <a:srgbClr val="16232E"/>
                </a:solidFill>
                <a:latin typeface="Cambria"/>
              </a:rPr>
              <a:t>Held-out error by node (1 - R squared, lower is better)</a:t>
            </a:r>
          </a:p>
        </c:rich>
      </c:tx>
      <c:layout/>
      <c:overlay val="0"/>
    </c:title>
    <c:autoTitleDeleted val="0"/>
    <c:plotArea>
      <c:layout/>
      <c:barChart>
        <c:barDir val="col"/>
        <c:grouping val="clustered"/>
        <c:varyColors val="0"/>
        <c:ser>
          <c:idx val="0"/>
          <c:order val="0"/>
          <c:tx>
            <c:strRef>
              <c:f>Sheet1!$B$1</c:f>
              <c:strCache>
                <c:ptCount val="1"/>
                <c:pt idx="0">
                  <c:v>Graph A</c:v>
                </c:pt>
              </c:strCache>
            </c:strRef>
          </c:tx>
          <c:spPr>
            <a:solidFill>
              <a:srgbClr val="2E7D8A"/>
            </a:solidFill>
            <a:effectLst/>
          </c:spPr>
          <c:invertIfNegative val="0"/>
          <c:dLbls>
            <c:numFmt formatCode="0.00" sourceLinked="0"/>
            <c:txPr>
              <a:bodyPr/>
              <a:lstStyle/>
              <a:p>
                <a:pPr>
                  <a:defRPr b="0" i="0" strike="noStrike" sz="900" u="none">
                    <a:solidFill>
                      <a:srgbClr val="6B7A85"/>
                    </a:solidFill>
                    <a:latin typeface="Arial"/>
                  </a:defRPr>
                </a:pPr>
              </a:p>
            </c:txPr>
            <c:showLegendKey val="0"/>
            <c:showVal val="1"/>
            <c:showCatName val="0"/>
            <c:showSerName val="0"/>
            <c:showPercent val="0"/>
            <c:showBubbleSize val="0"/>
            <c:showLeaderLines val="0"/>
          </c:dLbls>
          <c:cat>
            <c:multiLvlStrRef>
              <c:f>Sheet1!$A$2:$A$6</c:f>
              <c:multiLvlStrCache>
                <c:ptCount val="5"/>
                <c:lvl>
                  <c:pt idx="0">
                    <c:v>X1</c:v>
                  </c:pt>
                  <c:pt idx="1">
                    <c:v>X2</c:v>
                  </c:pt>
                  <c:pt idx="2">
                    <c:v>X3</c:v>
                  </c:pt>
                  <c:pt idx="3">
                    <c:v>X4</c:v>
                  </c:pt>
                  <c:pt idx="4">
                    <c:v>X5</c:v>
                  </c:pt>
                </c:lvl>
              </c:multiLvlStrCache>
            </c:multiLvlStrRef>
          </c:cat>
          <c:val>
            <c:numRef>
              <c:f>Sheet1!$B$2:$B$6</c:f>
              <c:numCache>
                <c:formatCode>General</c:formatCode>
                <c:ptCount val="5"/>
                <c:pt idx="0">
                  <c:v>0.31</c:v>
                </c:pt>
                <c:pt idx="1">
                  <c:v>0.44</c:v>
                </c:pt>
                <c:pt idx="2">
                  <c:v>0.19</c:v>
                </c:pt>
                <c:pt idx="3">
                  <c:v>0.52</c:v>
                </c:pt>
                <c:pt idx="4">
                  <c:v>0.27</c:v>
                </c:pt>
              </c:numCache>
            </c:numRef>
          </c:val>
        </c:ser>
        <c:ser>
          <c:idx val="1"/>
          <c:order val="1"/>
          <c:tx>
            <c:strRef>
              <c:f>Sheet1!$C$1</c:f>
              <c:strCache>
                <c:ptCount val="1"/>
                <c:pt idx="0">
                  <c:v>Graph B</c:v>
                </c:pt>
              </c:strCache>
            </c:strRef>
          </c:tx>
          <c:spPr>
            <a:solidFill>
              <a:srgbClr val="E07A28"/>
            </a:solidFill>
            <a:effectLst/>
          </c:spPr>
          <c:invertIfNegative val="0"/>
          <c:dLbls>
            <c:numFmt formatCode="0.00" sourceLinked="0"/>
            <c:txPr>
              <a:bodyPr/>
              <a:lstStyle/>
              <a:p>
                <a:pPr>
                  <a:defRPr b="0" i="0" strike="noStrike" sz="900" u="none">
                    <a:solidFill>
                      <a:srgbClr val="6B7A85"/>
                    </a:solidFill>
                    <a:latin typeface="Arial"/>
                  </a:defRPr>
                </a:pPr>
              </a:p>
            </c:txPr>
            <c:showLegendKey val="0"/>
            <c:showVal val="1"/>
            <c:showCatName val="0"/>
            <c:showSerName val="0"/>
            <c:showPercent val="0"/>
            <c:showBubbleSize val="0"/>
            <c:showLeaderLines val="0"/>
          </c:dLbls>
          <c:cat>
            <c:multiLvlStrRef>
              <c:f>Sheet1!$A$2:$A$6</c:f>
              <c:multiLvlStrCache>
                <c:ptCount val="5"/>
                <c:lvl>
                  <c:pt idx="0">
                    <c:v>X1</c:v>
                  </c:pt>
                  <c:pt idx="1">
                    <c:v>X2</c:v>
                  </c:pt>
                  <c:pt idx="2">
                    <c:v>X3</c:v>
                  </c:pt>
                  <c:pt idx="3">
                    <c:v>X4</c:v>
                  </c:pt>
                  <c:pt idx="4">
                    <c:v>X5</c:v>
                  </c:pt>
                </c:lvl>
              </c:multiLvlStrCache>
            </c:multiLvlStrRef>
          </c:cat>
          <c:val>
            <c:numRef>
              <c:f>Sheet1!$C$2:$C$6</c:f>
              <c:numCache>
                <c:formatCode>General</c:formatCode>
                <c:ptCount val="5"/>
                <c:pt idx="0">
                  <c:v>0.28</c:v>
                </c:pt>
                <c:pt idx="1">
                  <c:v>0.41</c:v>
                </c:pt>
                <c:pt idx="2">
                  <c:v>0.19</c:v>
                </c:pt>
                <c:pt idx="3">
                  <c:v>0.38</c:v>
                </c:pt>
                <c:pt idx="4">
                  <c:v>0.25</c:v>
                </c:pt>
              </c:numCache>
            </c:numRef>
          </c:val>
        </c:ser>
        <c:dLbls>
          <c:numFmt formatCode="0.00" sourceLinked="0"/>
          <c:txPr>
            <a:bodyPr/>
            <a:lstStyle/>
            <a:p>
              <a:pPr>
                <a:defRPr b="0" i="0" strike="noStrike" sz="900" u="none">
                  <a:solidFill>
                    <a:srgbClr val="6B7A8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A85"/>
                </a:solidFill>
                <a:latin typeface="Arial"/>
              </a:defRPr>
            </a:pPr>
            <a:endParaRPr lang="en-US"/>
          </a:p>
        </c:txPr>
        <c:crossAx val="2094734552"/>
        <c:crosses val="autoZero"/>
        <c:auto val="1"/>
        <c:lblAlgn val="ctr"/>
        <c:noMultiLvlLbl val="1"/>
      </c:catAx>
      <c:valAx>
        <c:axId val="2094734552"/>
        <c:scaling>
          <c:orientation val="minMax"/>
          <c:max val="0.6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6B7A85"/>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16232E"/>
                </a:solidFill>
                <a:latin typeface="Cambria"/>
              </a:defRPr>
            </a:pPr>
            <a:r>
              <a:rPr sz="1250" b="0" i="0" u="none" strike="noStrike">
                <a:solidFill>
                  <a:srgbClr val="16232E"/>
                </a:solidFill>
                <a:latin typeface="Cambria"/>
              </a:rPr>
              <a:t>One pair, ten resamples</a:t>
            </a:r>
          </a:p>
        </c:rich>
      </c:tx>
      <c:layout/>
      <c:overlay val="0"/>
    </c:title>
    <c:autoTitleDeleted val="0"/>
    <c:plotArea>
      <c:layout/>
      <c:pieChart>
        <c:varyColors val="1"/>
        <c:ser>
          <c:idx val="0"/>
          <c:order val="0"/>
          <c:tx>
            <c:strRef>
              <c:f>Sheet1!$B$1</c:f>
              <c:strCache>
                <c:ptCount val="1"/>
                <c:pt idx="0">
                  <c:v>States over 10 runs</c:v>
                </c:pt>
              </c:strCache>
            </c:strRef>
          </c:tx>
          <c:spPr>
            <a:solidFill>
              <a:schemeClr val="accent1"/>
            </a:solidFill>
            <a:ln w="9525" cap="flat">
              <a:solidFill>
                <a:srgbClr val="F9F9F9"/>
              </a:solidFill>
              <a:prstDash val="solid"/>
              <a:round/>
            </a:ln>
            <a:effectLst/>
          </c:spPr>
          <c:dPt>
            <c:idx val="0"/>
            <c:bubble3D val="0"/>
            <c:spPr>
              <a:solidFill>
                <a:srgbClr val="2E7D8A"/>
              </a:solidFill>
              <a:effectLst/>
            </c:spPr>
          </c:dPt>
          <c:dPt>
            <c:idx val="1"/>
            <c:bubble3D val="0"/>
            <c:spPr>
              <a:solidFill>
                <a:srgbClr val="8FB3BD"/>
              </a:solidFill>
              <a:effectLst/>
            </c:spPr>
          </c:dPt>
          <c:dPt>
            <c:idx val="2"/>
            <c:bubble3D val="0"/>
            <c:spPr>
              <a:solidFill>
                <a:srgbClr val="C3CFD5"/>
              </a:solidFill>
              <a:effectLst/>
            </c:spPr>
          </c:dPt>
          <c:dPt>
            <c:idx val="3"/>
            <c:bubble3D val="0"/>
            <c:spPr>
              <a:solidFill>
                <a:srgbClr val="E07A28"/>
              </a:solidFill>
              <a:effectLst/>
            </c:spPr>
          </c:dPt>
          <c:dLbls>
            <c:dLbl>
              <c:idx val="0"/>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Sheet1!$A$2:$A$5</c:f>
              <c:strCache>
                <c:ptCount val="4"/>
                <c:pt idx="0">
                  <c:v>Points one way</c:v>
                </c:pt>
                <c:pt idx="1">
                  <c:v>Undirected</c:v>
                </c:pt>
                <c:pt idx="2">
                  <c:v>No edge</c:v>
                </c:pt>
                <c:pt idx="3">
                  <c:v>Other way</c:v>
                </c:pt>
              </c:strCache>
            </c:strRef>
          </c:cat>
          <c:val>
            <c:numRef>
              <c:f>Sheet1!$B$2:$B$5</c:f>
              <c:numCache>
                <c:ptCount val="4"/>
                <c:pt idx="0">
                  <c:v>0.7</c:v>
                </c:pt>
                <c:pt idx="1">
                  <c:v>0.2</c:v>
                </c:pt>
                <c:pt idx="2">
                  <c:v>0.1</c:v>
                </c:pt>
                <c:pt idx="3">
                  <c:v>0</c:v>
                </c:pt>
              </c:numCache>
            </c:numRef>
          </c:val>
        </c:ser>
        <c:firstSliceAng val="0"/>
      </c:pieChart>
      <c:spPr>
        <a:noFill/>
        <a:ln>
          <a:noFill/>
        </a:ln>
        <a:effectLst/>
      </c:spPr>
    </c:plotArea>
    <c:legend>
      <c:legendPos val="b"/>
      <c:overlay val="0"/>
      <c:txPr>
        <a:bodyPr/>
        <a:lstStyle/>
        <a:p>
          <a:pPr>
            <a:defRPr sz="950">
              <a:solidFill>
                <a:srgbClr val="6B7A85"/>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minutes. Four questions. Week of reading, not of results.
Say up front: no new experiments this week, this is a literature and options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Q4 is deliberately last and deliberately open.
Sections 1-3 build the criteria that decide section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our code is correct for the 1993 algorithm. That is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understand every line. That was last week's work.
The skeleton is already PC-stable through the frozen adjacency snapshot.
The amber steps are the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2 is the one that bites us: 31 variables, dense graph, k&gt;=2 sepsets.
Problem 3 costs less to fix and removes silent conflicts.
The gene number shows the size of the effect on real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decision we owe ourselves before any new run.
causal-learn exposes all of these through uc_rule.
Recommendation: MPC first, MaxP if the ambiguous fraction is large.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of the slide: PC is now one option among several, not the default winner.
BOSS and GRaSP are the accuracy competitors.
cuPC matters only if runtime becomes the blocker.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plainly: we can polish the implementation and still get a wrong graph.
Row order: the first two are fatal, the last two are damaging.
This slide sets up section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section 1 ended on the failure. Section 2 answers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reversal is the headline: what breaks PC is what PCMCI+ uses.
Source is the PCMCI+ paper itself, so read it as the author's own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Sell the reuse: PC1 is our skeleton search with a lag index.
MCI is the new part, and it is one extra conditioning set.
Stationarity is the assumption most at risk on our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Action item before we trust this: test the residuals for non-Gaussianity.
lingam exposes get_error_independence_p_values() for the other assumption.
Check the prune default. It differs between the two packages.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method answers a different question from the other two: root cause and delay, not full structure.
Step 1 is the part that separates it from classical transfer entropy.
The delay it reports is checkable against known transport times, which is useful when no reference graph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autocorrelation row aloud. It decides the ranking.
No method covers all three answers, which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decision here. It sets the library answer in section 4.
My view: PCMCI+ first, alone, until we have a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section the evaluation plan depends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if TEGroundTruth.txt turns out to be a usable reference graph, this whole section becomes optional. That check is still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 version: the graph says these things are unrelated. Are they?
The uniformity idea is the part people miss. Do not count failures, check the shape.
Autocorrelation shrinks the p-values and breaks this. State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definition once: a true claim gives a p-value anywhere in 0 to 1 with equal chance. That is why flat is the target.
Walk the plot first, then the four steps on the right.
D is a distance you can point at. lambda scales it for sample size. The series turns it into a probability.
For the earlier example with 40 claims: D of 0.14 gives P = 0.42, D of 0.31 gives P = 0.001.
A high p-value on one claim is not support for that claim. Only the spread carries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Node X4 carries most of the difference. Keep the per-node table, not just the total.
The lambda flip is the honest part of this slide.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 length comes from the autocorrelation function: the lag where it drops below about 0.2.
Each resample must keep n rows, or you measure lost test power instead of instability.
This is the only method that reruns the discovery algorithm, so it costs B full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numbers rank fit, falsifiability and reproducibility. Nothing more.
Fix the decision rule in writing before the first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this section ends without a decision,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the GPL-3 license on tigramite for whoever owns our licensing policy.
The causal-learn copy of VARLiNGAM is the same code with a different prune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all three take a numeric matrix and return an adjacency structure. The difference is the wrapper and the index order.
One adapter to a common A[i,j,tau] format removes most of the pain.
Say clearly that the parameter list shifts once we fix the algorithm.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Gaussianity test is the first task, because it removes or keeps VAR-LiNGAM.
Write one adapter to a common A[i,j,tau] format and test it on a two-variable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ask: a decision on the algorithm set, so next week produces a graph.
If asked about ground truth: TE is a practice dataset, the real target is our own data.
Be explicit that the library answer is deliberately not given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2E"/>
        </a:solidFill>
      </p:bgPr>
    </p:bg>
    <p:spTree>
      <p:nvGrpSpPr>
        <p:cNvPr id="1" name=""/>
        <p:cNvGrpSpPr/>
        <p:nvPr/>
      </p:nvGrpSpPr>
      <p:grpSpPr>
        <a:xfrm>
          <a:off x="0" y="0"/>
          <a:ext cx="0" cy="0"/>
          <a:chOff x="0" y="0"/>
          <a:chExt cx="0" cy="0"/>
        </a:xfrm>
      </p:grpSpPr>
      <p:sp>
        <p:nvSpPr>
          <p:cNvPr id="2" name="Shape 0"/>
          <p:cNvSpPr/>
          <p:nvPr/>
        </p:nvSpPr>
        <p:spPr>
          <a:xfrm>
            <a:off x="9198864" y="1975104"/>
            <a:ext cx="457200" cy="1097280"/>
          </a:xfrm>
          <a:prstGeom prst="line">
            <a:avLst/>
          </a:prstGeom>
          <a:noFill/>
          <a:ln w="19050">
            <a:solidFill>
              <a:srgbClr val="3E5766"/>
            </a:solidFill>
            <a:prstDash val="solid"/>
            <a:tailEnd type="triangle"/>
          </a:ln>
        </p:spPr>
      </p:sp>
      <p:sp>
        <p:nvSpPr>
          <p:cNvPr id="3" name="Shape 1"/>
          <p:cNvSpPr/>
          <p:nvPr/>
        </p:nvSpPr>
        <p:spPr>
          <a:xfrm flipH="1">
            <a:off x="9656064" y="2798064"/>
            <a:ext cx="1097280" cy="274320"/>
          </a:xfrm>
          <a:prstGeom prst="line">
            <a:avLst/>
          </a:prstGeom>
          <a:noFill/>
          <a:ln w="19050">
            <a:solidFill>
              <a:srgbClr val="3E5766"/>
            </a:solidFill>
            <a:prstDash val="solid"/>
            <a:tailEnd type="triangle"/>
          </a:ln>
        </p:spPr>
      </p:sp>
      <p:sp>
        <p:nvSpPr>
          <p:cNvPr id="4" name="Shape 2"/>
          <p:cNvSpPr/>
          <p:nvPr/>
        </p:nvSpPr>
        <p:spPr>
          <a:xfrm flipH="1">
            <a:off x="8650224" y="3072384"/>
            <a:ext cx="1005840" cy="731520"/>
          </a:xfrm>
          <a:prstGeom prst="line">
            <a:avLst/>
          </a:prstGeom>
          <a:noFill/>
          <a:ln w="19050">
            <a:solidFill>
              <a:srgbClr val="3E5766"/>
            </a:solidFill>
            <a:prstDash val="solid"/>
            <a:tailEnd type="triangle"/>
          </a:ln>
        </p:spPr>
      </p:sp>
      <p:sp>
        <p:nvSpPr>
          <p:cNvPr id="5" name="Shape 3"/>
          <p:cNvSpPr/>
          <p:nvPr/>
        </p:nvSpPr>
        <p:spPr>
          <a:xfrm>
            <a:off x="9656064" y="3072384"/>
            <a:ext cx="731520" cy="1554480"/>
          </a:xfrm>
          <a:prstGeom prst="line">
            <a:avLst/>
          </a:prstGeom>
          <a:noFill/>
          <a:ln w="19050">
            <a:solidFill>
              <a:srgbClr val="3E5766"/>
            </a:solidFill>
            <a:prstDash val="solid"/>
            <a:tailEnd type="triangle"/>
          </a:ln>
        </p:spPr>
      </p:sp>
      <p:sp>
        <p:nvSpPr>
          <p:cNvPr id="6" name="Shape 4"/>
          <p:cNvSpPr/>
          <p:nvPr/>
        </p:nvSpPr>
        <p:spPr>
          <a:xfrm>
            <a:off x="8650224" y="3803904"/>
            <a:ext cx="1737360" cy="822960"/>
          </a:xfrm>
          <a:prstGeom prst="line">
            <a:avLst/>
          </a:prstGeom>
          <a:noFill/>
          <a:ln w="19050">
            <a:solidFill>
              <a:srgbClr val="3E5766"/>
            </a:solidFill>
            <a:prstDash val="solid"/>
            <a:tailEnd type="triangle"/>
          </a:ln>
        </p:spPr>
      </p:sp>
      <p:sp>
        <p:nvSpPr>
          <p:cNvPr id="7" name="Shape 5"/>
          <p:cNvSpPr/>
          <p:nvPr/>
        </p:nvSpPr>
        <p:spPr>
          <a:xfrm>
            <a:off x="9052560" y="1828800"/>
            <a:ext cx="292608" cy="292608"/>
          </a:xfrm>
          <a:prstGeom prst="ellipse">
            <a:avLst/>
          </a:prstGeom>
          <a:solidFill>
            <a:srgbClr val="2E7D8A"/>
          </a:solidFill>
          <a:ln/>
        </p:spPr>
      </p:sp>
      <p:sp>
        <p:nvSpPr>
          <p:cNvPr id="8" name="Shape 6"/>
          <p:cNvSpPr/>
          <p:nvPr/>
        </p:nvSpPr>
        <p:spPr>
          <a:xfrm>
            <a:off x="10607040" y="2651760"/>
            <a:ext cx="292608" cy="292608"/>
          </a:xfrm>
          <a:prstGeom prst="ellipse">
            <a:avLst/>
          </a:prstGeom>
          <a:solidFill>
            <a:srgbClr val="2E7D8A"/>
          </a:solidFill>
          <a:ln/>
        </p:spPr>
      </p:sp>
      <p:sp>
        <p:nvSpPr>
          <p:cNvPr id="9" name="Shape 7"/>
          <p:cNvSpPr/>
          <p:nvPr/>
        </p:nvSpPr>
        <p:spPr>
          <a:xfrm>
            <a:off x="8503920" y="3657600"/>
            <a:ext cx="292608" cy="292608"/>
          </a:xfrm>
          <a:prstGeom prst="ellipse">
            <a:avLst/>
          </a:prstGeom>
          <a:solidFill>
            <a:srgbClr val="2E7D8A"/>
          </a:solidFill>
          <a:ln/>
        </p:spPr>
      </p:sp>
      <p:sp>
        <p:nvSpPr>
          <p:cNvPr id="10" name="Shape 8"/>
          <p:cNvSpPr/>
          <p:nvPr/>
        </p:nvSpPr>
        <p:spPr>
          <a:xfrm>
            <a:off x="10241280" y="4480560"/>
            <a:ext cx="292608" cy="292608"/>
          </a:xfrm>
          <a:prstGeom prst="ellipse">
            <a:avLst/>
          </a:prstGeom>
          <a:solidFill>
            <a:srgbClr val="2E7D8A"/>
          </a:solidFill>
          <a:ln/>
        </p:spPr>
      </p:sp>
      <p:sp>
        <p:nvSpPr>
          <p:cNvPr id="11" name="Shape 9"/>
          <p:cNvSpPr/>
          <p:nvPr/>
        </p:nvSpPr>
        <p:spPr>
          <a:xfrm>
            <a:off x="9509760" y="2926080"/>
            <a:ext cx="292608" cy="292608"/>
          </a:xfrm>
          <a:prstGeom prst="ellipse">
            <a:avLst/>
          </a:prstGeom>
          <a:solidFill>
            <a:srgbClr val="E07A28"/>
          </a:solidFill>
          <a:ln/>
        </p:spPr>
      </p:sp>
      <p:sp>
        <p:nvSpPr>
          <p:cNvPr id="12" name="Text 10"/>
          <p:cNvSpPr/>
          <p:nvPr/>
        </p:nvSpPr>
        <p:spPr>
          <a:xfrm>
            <a:off x="822960" y="2011680"/>
            <a:ext cx="7315200" cy="274320"/>
          </a:xfrm>
          <a:prstGeom prst="rect">
            <a:avLst/>
          </a:prstGeom>
          <a:noFill/>
          <a:ln/>
        </p:spPr>
        <p:txBody>
          <a:bodyPr wrap="square" lIns="0" tIns="0" rIns="0" bIns="0" rtlCol="0" anchor="ctr"/>
          <a:lstStyle/>
          <a:p>
            <a:pPr indent="0" marL="0">
              <a:buNone/>
            </a:pPr>
            <a:r>
              <a:rPr lang="en-US" sz="1200" b="1" spc="300" kern="0" dirty="0">
                <a:solidFill>
                  <a:srgbClr val="E07A28"/>
                </a:solidFill>
                <a:latin typeface="Calibri" pitchFamily="34" charset="0"/>
                <a:ea typeface="Calibri" pitchFamily="34" charset="-122"/>
                <a:cs typeface="Calibri" pitchFamily="34" charset="-120"/>
              </a:rPr>
              <a:t>RESEARCH UPDATE</a:t>
            </a:r>
            <a:endParaRPr lang="en-US" sz="1200" dirty="0"/>
          </a:p>
        </p:txBody>
      </p:sp>
      <p:sp>
        <p:nvSpPr>
          <p:cNvPr id="13" name="Text 11"/>
          <p:cNvSpPr/>
          <p:nvPr/>
        </p:nvSpPr>
        <p:spPr>
          <a:xfrm>
            <a:off x="822960" y="2377440"/>
            <a:ext cx="7680960" cy="86868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Causal AI</a:t>
            </a:r>
            <a:endParaRPr lang="en-US" sz="5400" dirty="0"/>
          </a:p>
        </p:txBody>
      </p:sp>
      <p:sp>
        <p:nvSpPr>
          <p:cNvPr id="14" name="Text 12"/>
          <p:cNvSpPr/>
          <p:nvPr/>
        </p:nvSpPr>
        <p:spPr>
          <a:xfrm>
            <a:off x="822960" y="3200400"/>
            <a:ext cx="7680960" cy="640080"/>
          </a:xfrm>
          <a:prstGeom prst="rect">
            <a:avLst/>
          </a:prstGeom>
          <a:noFill/>
          <a:ln/>
        </p:spPr>
        <p:txBody>
          <a:bodyPr wrap="square" lIns="0" tIns="0" rIns="0" bIns="0" rtlCol="0" anchor="ctr"/>
          <a:lstStyle/>
          <a:p>
            <a:pPr indent="0" marL="0">
              <a:buNone/>
            </a:pPr>
            <a:r>
              <a:rPr lang="en-US" sz="3000" dirty="0">
                <a:solidFill>
                  <a:srgbClr val="CBD8DE"/>
                </a:solidFill>
                <a:latin typeface="Cambria" pitchFamily="34" charset="0"/>
                <a:ea typeface="Cambria" pitchFamily="34" charset="-122"/>
                <a:cs typeface="Cambria" pitchFamily="34" charset="-120"/>
              </a:rPr>
              <a:t>What We Did Over the Past Week</a:t>
            </a:r>
            <a:endParaRPr lang="en-US" sz="3000" dirty="0"/>
          </a:p>
        </p:txBody>
      </p:sp>
      <p:sp>
        <p:nvSpPr>
          <p:cNvPr id="15" name="Text 13"/>
          <p:cNvSpPr/>
          <p:nvPr/>
        </p:nvSpPr>
        <p:spPr>
          <a:xfrm>
            <a:off x="822960" y="4069080"/>
            <a:ext cx="7132320" cy="731520"/>
          </a:xfrm>
          <a:prstGeom prst="rect">
            <a:avLst/>
          </a:prstGeom>
          <a:noFill/>
          <a:ln/>
        </p:spPr>
        <p:txBody>
          <a:bodyPr wrap="square" lIns="0" tIns="0" rIns="0" bIns="0" rtlCol="0" anchor="ctr"/>
          <a:lstStyle/>
          <a:p>
            <a:pPr indent="0" marL="0">
              <a:lnSpc>
                <a:spcPts val="2200"/>
              </a:lnSpc>
              <a:buNone/>
            </a:pPr>
            <a:r>
              <a:rPr lang="en-US" sz="1400" dirty="0">
                <a:solidFill>
                  <a:srgbClr val="9FB2BC"/>
                </a:solidFill>
                <a:latin typeface="Calibri" pitchFamily="34" charset="0"/>
                <a:ea typeface="Calibri" pitchFamily="34" charset="-122"/>
                <a:cs typeface="Calibri" pitchFamily="34" charset="-120"/>
              </a:rPr>
              <a:t>The PC algorithm today, methods for time series, evaluation without a ground-truth graph, and the library decision.</a:t>
            </a:r>
            <a:endParaRPr lang="en-US" sz="1400" dirty="0"/>
          </a:p>
        </p:txBody>
      </p:sp>
      <p:sp>
        <p:nvSpPr>
          <p:cNvPr id="16" name="Text 14"/>
          <p:cNvSpPr/>
          <p:nvPr/>
        </p:nvSpPr>
        <p:spPr>
          <a:xfrm>
            <a:off x="822960" y="5943600"/>
            <a:ext cx="4572000" cy="274320"/>
          </a:xfrm>
          <a:prstGeom prst="rect">
            <a:avLst/>
          </a:prstGeom>
          <a:noFill/>
          <a:ln/>
        </p:spPr>
        <p:txBody>
          <a:bodyPr wrap="square" lIns="0" tIns="0" rIns="0" bIns="0" rtlCol="0" anchor="ctr"/>
          <a:lstStyle/>
          <a:p>
            <a:pPr indent="0" marL="0">
              <a:buNone/>
            </a:pPr>
            <a:r>
              <a:rPr lang="en-US" sz="1100" dirty="0">
                <a:solidFill>
                  <a:srgbClr val="6B7A85"/>
                </a:solidFill>
                <a:latin typeface="Calibri" pitchFamily="34" charset="0"/>
                <a:ea typeface="Calibri" pitchFamily="34" charset="-122"/>
                <a:cs typeface="Calibri" pitchFamily="34" charset="-120"/>
              </a:rPr>
              <a:t>25 August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2E7D8A"/>
                </a:solidFill>
                <a:latin typeface="Calibri" pitchFamily="34" charset="0"/>
                <a:ea typeface="Calibri" pitchFamily="34" charset="-122"/>
                <a:cs typeface="Calibri" pitchFamily="34" charset="-120"/>
              </a:rPr>
              <a:t>AGENDA</a:t>
            </a:r>
            <a:endParaRPr lang="en-US" sz="1100" dirty="0"/>
          </a:p>
        </p:txBody>
      </p:sp>
      <p:sp>
        <p:nvSpPr>
          <p:cNvPr id="3" name="Text 1"/>
          <p:cNvSpPr/>
          <p:nvPr/>
        </p:nvSpPr>
        <p:spPr>
          <a:xfrm>
            <a:off x="640080" y="658368"/>
            <a:ext cx="10881360" cy="868680"/>
          </a:xfrm>
          <a:prstGeom prst="rect">
            <a:avLst/>
          </a:prstGeom>
          <a:noFill/>
          <a:ln/>
        </p:spPr>
        <p:txBody>
          <a:bodyPr wrap="square" lIns="0" tIns="0" rIns="0" bIns="0" rtlCol="0" anchor="t"/>
          <a:lstStyle/>
          <a:p>
            <a:pPr indent="0" marL="0">
              <a:buNone/>
            </a:pPr>
            <a:r>
              <a:rPr lang="en-US" sz="3000" b="1" dirty="0">
                <a:solidFill>
                  <a:srgbClr val="16232E"/>
                </a:solidFill>
                <a:latin typeface="Cambria" pitchFamily="34" charset="0"/>
                <a:ea typeface="Cambria" pitchFamily="34" charset="-122"/>
                <a:cs typeface="Cambria" pitchFamily="34" charset="-120"/>
              </a:rPr>
              <a:t>Four questions we set out to answer</a:t>
            </a:r>
            <a:endParaRPr lang="en-US" sz="3000" dirty="0"/>
          </a:p>
        </p:txBody>
      </p:sp>
      <p:sp>
        <p:nvSpPr>
          <p:cNvPr id="4" name="Shape 2"/>
          <p:cNvSpPr/>
          <p:nvPr/>
        </p:nvSpPr>
        <p:spPr>
          <a:xfrm>
            <a:off x="640080" y="1691640"/>
            <a:ext cx="10881360" cy="914400"/>
          </a:xfrm>
          <a:prstGeom prst="roundRect">
            <a:avLst>
              <a:gd name="adj" fmla="val 8000"/>
            </a:avLst>
          </a:prstGeom>
          <a:solidFill>
            <a:srgbClr val="F0F3F5"/>
          </a:solidFill>
          <a:ln w="12700">
            <a:solidFill>
              <a:srgbClr val="F0F3F5"/>
            </a:solidFill>
            <a:prstDash val="solid"/>
          </a:ln>
        </p:spPr>
      </p:sp>
      <p:sp>
        <p:nvSpPr>
          <p:cNvPr id="5" name="Shape 3"/>
          <p:cNvSpPr/>
          <p:nvPr/>
        </p:nvSpPr>
        <p:spPr>
          <a:xfrm>
            <a:off x="914400" y="1956816"/>
            <a:ext cx="384048" cy="384048"/>
          </a:xfrm>
          <a:prstGeom prst="ellipse">
            <a:avLst/>
          </a:prstGeom>
          <a:solidFill>
            <a:srgbClr val="2E7D8A"/>
          </a:solidFill>
          <a:ln/>
        </p:spPr>
      </p:sp>
      <p:sp>
        <p:nvSpPr>
          <p:cNvPr id="6" name="Text 4"/>
          <p:cNvSpPr/>
          <p:nvPr/>
        </p:nvSpPr>
        <p:spPr>
          <a:xfrm>
            <a:off x="914400" y="19568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508760" y="1819656"/>
            <a:ext cx="9692640" cy="365760"/>
          </a:xfrm>
          <a:prstGeom prst="rect">
            <a:avLst/>
          </a:prstGeom>
          <a:noFill/>
          <a:ln/>
        </p:spPr>
        <p:txBody>
          <a:bodyPr wrap="square" lIns="0" tIns="0" rIns="0" bIns="0" rtlCol="0" anchor="ctr"/>
          <a:lstStyle/>
          <a:p>
            <a:pPr indent="0" marL="0">
              <a:buNone/>
            </a:pPr>
            <a:r>
              <a:rPr lang="en-US" sz="1700" b="1" dirty="0">
                <a:solidFill>
                  <a:srgbClr val="16232E"/>
                </a:solidFill>
                <a:latin typeface="Cambria" pitchFamily="34" charset="0"/>
                <a:ea typeface="Cambria" pitchFamily="34" charset="-122"/>
                <a:cs typeface="Cambria" pitchFamily="34" charset="-120"/>
              </a:rPr>
              <a:t>What is the current state of the art in PC algorithms?</a:t>
            </a:r>
            <a:endParaRPr lang="en-US" sz="1700" dirty="0"/>
          </a:p>
        </p:txBody>
      </p:sp>
      <p:sp>
        <p:nvSpPr>
          <p:cNvPr id="8" name="Text 6"/>
          <p:cNvSpPr/>
          <p:nvPr/>
        </p:nvSpPr>
        <p:spPr>
          <a:xfrm>
            <a:off x="1508760" y="2194560"/>
            <a:ext cx="9692640" cy="292608"/>
          </a:xfrm>
          <a:prstGeom prst="rect">
            <a:avLst/>
          </a:prstGeom>
          <a:noFill/>
          <a:ln/>
        </p:spPr>
        <p:txBody>
          <a:bodyPr wrap="square" lIns="0" tIns="0" rIns="0" bIns="0" rtlCol="0" anchor="ctr"/>
          <a:lstStyle/>
          <a:p>
            <a:pPr indent="0" marL="0">
              <a:buNone/>
            </a:pPr>
            <a:r>
              <a:rPr lang="en-US" sz="1250" dirty="0">
                <a:solidFill>
                  <a:srgbClr val="6B7A85"/>
                </a:solidFill>
                <a:latin typeface="Calibri" pitchFamily="34" charset="0"/>
                <a:ea typeface="Calibri" pitchFamily="34" charset="-122"/>
                <a:cs typeface="Calibri" pitchFamily="34" charset="-120"/>
              </a:rPr>
              <a:t>Our code is a 2000-era PC. The field is not.</a:t>
            </a:r>
            <a:endParaRPr lang="en-US" sz="1250" dirty="0"/>
          </a:p>
        </p:txBody>
      </p:sp>
      <p:sp>
        <p:nvSpPr>
          <p:cNvPr id="9" name="Shape 7"/>
          <p:cNvSpPr/>
          <p:nvPr/>
        </p:nvSpPr>
        <p:spPr>
          <a:xfrm>
            <a:off x="640080" y="2807208"/>
            <a:ext cx="10881360" cy="914400"/>
          </a:xfrm>
          <a:prstGeom prst="roundRect">
            <a:avLst>
              <a:gd name="adj" fmla="val 8000"/>
            </a:avLst>
          </a:prstGeom>
          <a:solidFill>
            <a:srgbClr val="E6EDF0"/>
          </a:solidFill>
          <a:ln w="12700">
            <a:solidFill>
              <a:srgbClr val="E6EDF0"/>
            </a:solidFill>
            <a:prstDash val="solid"/>
          </a:ln>
        </p:spPr>
      </p:sp>
      <p:sp>
        <p:nvSpPr>
          <p:cNvPr id="10" name="Shape 8"/>
          <p:cNvSpPr/>
          <p:nvPr/>
        </p:nvSpPr>
        <p:spPr>
          <a:xfrm>
            <a:off x="914400" y="3072384"/>
            <a:ext cx="384048" cy="384048"/>
          </a:xfrm>
          <a:prstGeom prst="ellipse">
            <a:avLst/>
          </a:prstGeom>
          <a:solidFill>
            <a:srgbClr val="2E7D8A"/>
          </a:solidFill>
          <a:ln/>
        </p:spPr>
      </p:sp>
      <p:sp>
        <p:nvSpPr>
          <p:cNvPr id="11" name="Text 9"/>
          <p:cNvSpPr/>
          <p:nvPr/>
        </p:nvSpPr>
        <p:spPr>
          <a:xfrm>
            <a:off x="914400" y="30723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508760" y="2935224"/>
            <a:ext cx="9692640" cy="365760"/>
          </a:xfrm>
          <a:prstGeom prst="rect">
            <a:avLst/>
          </a:prstGeom>
          <a:noFill/>
          <a:ln/>
        </p:spPr>
        <p:txBody>
          <a:bodyPr wrap="square" lIns="0" tIns="0" rIns="0" bIns="0" rtlCol="0" anchor="ctr"/>
          <a:lstStyle/>
          <a:p>
            <a:pPr indent="0" marL="0">
              <a:buNone/>
            </a:pPr>
            <a:r>
              <a:rPr lang="en-US" sz="1700" b="1" dirty="0">
                <a:solidFill>
                  <a:srgbClr val="16232E"/>
                </a:solidFill>
                <a:latin typeface="Cambria" pitchFamily="34" charset="0"/>
                <a:ea typeface="Cambria" pitchFamily="34" charset="-122"/>
                <a:cs typeface="Cambria" pitchFamily="34" charset="-120"/>
              </a:rPr>
              <a:t>What is the state of the art for time-series data?</a:t>
            </a:r>
            <a:endParaRPr lang="en-US" sz="1700" dirty="0"/>
          </a:p>
        </p:txBody>
      </p:sp>
      <p:sp>
        <p:nvSpPr>
          <p:cNvPr id="13" name="Text 11"/>
          <p:cNvSpPr/>
          <p:nvPr/>
        </p:nvSpPr>
        <p:spPr>
          <a:xfrm>
            <a:off x="1508760" y="3310128"/>
            <a:ext cx="9692640" cy="292608"/>
          </a:xfrm>
          <a:prstGeom prst="rect">
            <a:avLst/>
          </a:prstGeom>
          <a:noFill/>
          <a:ln/>
        </p:spPr>
        <p:txBody>
          <a:bodyPr wrap="square" lIns="0" tIns="0" rIns="0" bIns="0" rtlCol="0" anchor="ctr"/>
          <a:lstStyle/>
          <a:p>
            <a:pPr indent="0" marL="0">
              <a:buNone/>
            </a:pPr>
            <a:r>
              <a:rPr lang="en-US" sz="1250" dirty="0">
                <a:solidFill>
                  <a:srgbClr val="6B7A85"/>
                </a:solidFill>
                <a:latin typeface="Calibri" pitchFamily="34" charset="0"/>
                <a:ea typeface="Calibri" pitchFamily="34" charset="-122"/>
                <a:cs typeface="Calibri" pitchFamily="34" charset="-120"/>
              </a:rPr>
              <a:t>Three candidate methods, and why plain PC fails here.</a:t>
            </a:r>
            <a:endParaRPr lang="en-US" sz="1250" dirty="0"/>
          </a:p>
        </p:txBody>
      </p:sp>
      <p:sp>
        <p:nvSpPr>
          <p:cNvPr id="14" name="Shape 12"/>
          <p:cNvSpPr/>
          <p:nvPr/>
        </p:nvSpPr>
        <p:spPr>
          <a:xfrm>
            <a:off x="640080" y="3922776"/>
            <a:ext cx="10881360" cy="914400"/>
          </a:xfrm>
          <a:prstGeom prst="roundRect">
            <a:avLst>
              <a:gd name="adj" fmla="val 8000"/>
            </a:avLst>
          </a:prstGeom>
          <a:solidFill>
            <a:srgbClr val="F0F3F5"/>
          </a:solidFill>
          <a:ln w="12700">
            <a:solidFill>
              <a:srgbClr val="F0F3F5"/>
            </a:solidFill>
            <a:prstDash val="solid"/>
          </a:ln>
        </p:spPr>
      </p:sp>
      <p:sp>
        <p:nvSpPr>
          <p:cNvPr id="15" name="Shape 13"/>
          <p:cNvSpPr/>
          <p:nvPr/>
        </p:nvSpPr>
        <p:spPr>
          <a:xfrm>
            <a:off x="914400" y="4187952"/>
            <a:ext cx="384048" cy="384048"/>
          </a:xfrm>
          <a:prstGeom prst="ellipse">
            <a:avLst/>
          </a:prstGeom>
          <a:solidFill>
            <a:srgbClr val="2E7D8A"/>
          </a:solidFill>
          <a:ln/>
        </p:spPr>
      </p:sp>
      <p:sp>
        <p:nvSpPr>
          <p:cNvPr id="16" name="Text 14"/>
          <p:cNvSpPr/>
          <p:nvPr/>
        </p:nvSpPr>
        <p:spPr>
          <a:xfrm>
            <a:off x="914400" y="418795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508760" y="4050792"/>
            <a:ext cx="9692640" cy="365760"/>
          </a:xfrm>
          <a:prstGeom prst="rect">
            <a:avLst/>
          </a:prstGeom>
          <a:noFill/>
          <a:ln/>
        </p:spPr>
        <p:txBody>
          <a:bodyPr wrap="square" lIns="0" tIns="0" rIns="0" bIns="0" rtlCol="0" anchor="ctr"/>
          <a:lstStyle/>
          <a:p>
            <a:pPr indent="0" marL="0">
              <a:buNone/>
            </a:pPr>
            <a:r>
              <a:rPr lang="en-US" sz="1700" b="1" dirty="0">
                <a:solidFill>
                  <a:srgbClr val="16232E"/>
                </a:solidFill>
                <a:latin typeface="Cambria" pitchFamily="34" charset="0"/>
                <a:ea typeface="Cambria" pitchFamily="34" charset="-122"/>
                <a:cs typeface="Cambria" pitchFamily="34" charset="-120"/>
              </a:rPr>
              <a:t>How do we compare two causal graphs with no ground truth?</a:t>
            </a:r>
            <a:endParaRPr lang="en-US" sz="1700" dirty="0"/>
          </a:p>
        </p:txBody>
      </p:sp>
      <p:sp>
        <p:nvSpPr>
          <p:cNvPr id="18" name="Text 16"/>
          <p:cNvSpPr/>
          <p:nvPr/>
        </p:nvSpPr>
        <p:spPr>
          <a:xfrm>
            <a:off x="1508760" y="4425696"/>
            <a:ext cx="9692640" cy="292608"/>
          </a:xfrm>
          <a:prstGeom prst="rect">
            <a:avLst/>
          </a:prstGeom>
          <a:noFill/>
          <a:ln/>
        </p:spPr>
        <p:txBody>
          <a:bodyPr wrap="square" lIns="0" tIns="0" rIns="0" bIns="0" rtlCol="0" anchor="ctr"/>
          <a:lstStyle/>
          <a:p>
            <a:pPr indent="0" marL="0">
              <a:buNone/>
            </a:pPr>
            <a:r>
              <a:rPr lang="en-US" sz="1250" dirty="0">
                <a:solidFill>
                  <a:srgbClr val="6B7A85"/>
                </a:solidFill>
                <a:latin typeface="Calibri" pitchFamily="34" charset="0"/>
                <a:ea typeface="Calibri" pitchFamily="34" charset="-122"/>
                <a:cs typeface="Calibri" pitchFamily="34" charset="-120"/>
              </a:rPr>
              <a:t>Three graders, each measuring a different property.</a:t>
            </a:r>
            <a:endParaRPr lang="en-US" sz="1250" dirty="0"/>
          </a:p>
        </p:txBody>
      </p:sp>
      <p:sp>
        <p:nvSpPr>
          <p:cNvPr id="19" name="Shape 17"/>
          <p:cNvSpPr/>
          <p:nvPr/>
        </p:nvSpPr>
        <p:spPr>
          <a:xfrm>
            <a:off x="640080" y="5038344"/>
            <a:ext cx="10881360" cy="914400"/>
          </a:xfrm>
          <a:prstGeom prst="roundRect">
            <a:avLst>
              <a:gd name="adj" fmla="val 8000"/>
            </a:avLst>
          </a:prstGeom>
          <a:solidFill>
            <a:srgbClr val="E6EDF0"/>
          </a:solidFill>
          <a:ln w="12700">
            <a:solidFill>
              <a:srgbClr val="E6EDF0"/>
            </a:solidFill>
            <a:prstDash val="solid"/>
          </a:ln>
        </p:spPr>
      </p:sp>
      <p:sp>
        <p:nvSpPr>
          <p:cNvPr id="20" name="Shape 18"/>
          <p:cNvSpPr/>
          <p:nvPr/>
        </p:nvSpPr>
        <p:spPr>
          <a:xfrm>
            <a:off x="914400" y="5303520"/>
            <a:ext cx="384048" cy="384048"/>
          </a:xfrm>
          <a:prstGeom prst="ellipse">
            <a:avLst/>
          </a:prstGeom>
          <a:solidFill>
            <a:srgbClr val="E07A28"/>
          </a:solidFill>
          <a:ln/>
        </p:spPr>
      </p:sp>
      <p:sp>
        <p:nvSpPr>
          <p:cNvPr id="21" name="Text 19"/>
          <p:cNvSpPr/>
          <p:nvPr/>
        </p:nvSpPr>
        <p:spPr>
          <a:xfrm>
            <a:off x="914400" y="5303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1508760" y="5166360"/>
            <a:ext cx="9692640" cy="365760"/>
          </a:xfrm>
          <a:prstGeom prst="rect">
            <a:avLst/>
          </a:prstGeom>
          <a:noFill/>
          <a:ln/>
        </p:spPr>
        <p:txBody>
          <a:bodyPr wrap="square" lIns="0" tIns="0" rIns="0" bIns="0" rtlCol="0" anchor="ctr"/>
          <a:lstStyle/>
          <a:p>
            <a:pPr indent="0" marL="0">
              <a:buNone/>
            </a:pPr>
            <a:r>
              <a:rPr lang="en-US" sz="1700" b="1" dirty="0">
                <a:solidFill>
                  <a:srgbClr val="16232E"/>
                </a:solidFill>
                <a:latin typeface="Cambria" pitchFamily="34" charset="0"/>
                <a:ea typeface="Cambria" pitchFamily="34" charset="-122"/>
                <a:cs typeface="Cambria" pitchFamily="34" charset="-120"/>
              </a:rPr>
              <a:t>Which Python library should we use?</a:t>
            </a:r>
            <a:endParaRPr lang="en-US" sz="1700" dirty="0"/>
          </a:p>
        </p:txBody>
      </p:sp>
      <p:sp>
        <p:nvSpPr>
          <p:cNvPr id="23" name="Text 21"/>
          <p:cNvSpPr/>
          <p:nvPr/>
        </p:nvSpPr>
        <p:spPr>
          <a:xfrm>
            <a:off x="1508760" y="5541264"/>
            <a:ext cx="9692640" cy="292608"/>
          </a:xfrm>
          <a:prstGeom prst="rect">
            <a:avLst/>
          </a:prstGeom>
          <a:noFill/>
          <a:ln/>
        </p:spPr>
        <p:txBody>
          <a:bodyPr wrap="square" lIns="0" tIns="0" rIns="0" bIns="0" rtlCol="0" anchor="ctr"/>
          <a:lstStyle/>
          <a:p>
            <a:pPr indent="0" marL="0">
              <a:buNone/>
            </a:pPr>
            <a:r>
              <a:rPr lang="en-US" sz="1250" dirty="0">
                <a:solidFill>
                  <a:srgbClr val="6B7A85"/>
                </a:solidFill>
                <a:latin typeface="Calibri" pitchFamily="34" charset="0"/>
                <a:ea typeface="Calibri" pitchFamily="34" charset="-122"/>
                <a:cs typeface="Calibri" pitchFamily="34" charset="-120"/>
              </a:rPr>
              <a:t>Open. The answer follows the algorithm choice.</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232E"/>
        </a:solidFill>
      </p:bgPr>
    </p:bg>
    <p:spTree>
      <p:nvGrpSpPr>
        <p:cNvPr id="1" name=""/>
        <p:cNvGrpSpPr/>
        <p:nvPr/>
      </p:nvGrpSpPr>
      <p:grpSpPr>
        <a:xfrm>
          <a:off x="0" y="0"/>
          <a:ext cx="0" cy="0"/>
          <a:chOff x="0" y="0"/>
          <a:chExt cx="0" cy="0"/>
        </a:xfrm>
      </p:grpSpPr>
      <p:sp>
        <p:nvSpPr>
          <p:cNvPr id="2" name="Text 0"/>
          <p:cNvSpPr/>
          <p:nvPr/>
        </p:nvSpPr>
        <p:spPr>
          <a:xfrm>
            <a:off x="1005840" y="1920240"/>
            <a:ext cx="10058400" cy="274320"/>
          </a:xfrm>
          <a:prstGeom prst="rect">
            <a:avLst/>
          </a:prstGeom>
          <a:noFill/>
          <a:ln/>
        </p:spPr>
        <p:txBody>
          <a:bodyPr wrap="square" lIns="0" tIns="0" rIns="0" bIns="0" rtlCol="0" anchor="ctr"/>
          <a:lstStyle/>
          <a:p>
            <a:pPr indent="0" marL="0">
              <a:buNone/>
            </a:pPr>
            <a:r>
              <a:rPr lang="en-US" sz="1200" b="1" spc="300" kern="0" dirty="0">
                <a:solidFill>
                  <a:srgbClr val="E07A28"/>
                </a:solidFill>
                <a:latin typeface="Calibri" pitchFamily="34" charset="0"/>
                <a:ea typeface="Calibri" pitchFamily="34" charset="-122"/>
                <a:cs typeface="Calibri" pitchFamily="34" charset="-120"/>
              </a:rPr>
              <a:t>QUESTION 1 OF 4</a:t>
            </a:r>
            <a:endParaRPr lang="en-US" sz="1200" dirty="0"/>
          </a:p>
        </p:txBody>
      </p:sp>
      <p:sp>
        <p:nvSpPr>
          <p:cNvPr id="3" name="Text 1"/>
          <p:cNvSpPr/>
          <p:nvPr/>
        </p:nvSpPr>
        <p:spPr>
          <a:xfrm>
            <a:off x="1005840" y="2377440"/>
            <a:ext cx="9692640" cy="1828800"/>
          </a:xfrm>
          <a:prstGeom prst="rect">
            <a:avLst/>
          </a:prstGeom>
          <a:noFill/>
          <a:ln/>
        </p:spPr>
        <p:txBody>
          <a:bodyPr wrap="square" lIns="0" tIns="0" rIns="0" bIns="0" rtlCol="0" anchor="t"/>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What is the current state of the art</a:t>
            </a:r>
            <a:endParaRPr lang="en-US" sz="4000" dirty="0"/>
          </a:p>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in PC algorithms?</a:t>
            </a:r>
            <a:endParaRPr lang="en-US" sz="4000" dirty="0"/>
          </a:p>
        </p:txBody>
      </p:sp>
      <p:sp>
        <p:nvSpPr>
          <p:cNvPr id="4" name="Text 2"/>
          <p:cNvSpPr/>
          <p:nvPr/>
        </p:nvSpPr>
        <p:spPr>
          <a:xfrm>
            <a:off x="1005840" y="4434840"/>
            <a:ext cx="9144000" cy="365760"/>
          </a:xfrm>
          <a:prstGeom prst="rect">
            <a:avLst/>
          </a:prstGeom>
          <a:noFill/>
          <a:ln/>
        </p:spPr>
        <p:txBody>
          <a:bodyPr wrap="square" lIns="0" tIns="0" rIns="0" bIns="0" rtlCol="0" anchor="ctr"/>
          <a:lstStyle/>
          <a:p>
            <a:pPr indent="0" marL="0">
              <a:buNone/>
            </a:pPr>
            <a:r>
              <a:rPr lang="en-US" sz="1400" dirty="0">
                <a:solidFill>
                  <a:srgbClr val="9FB2BC"/>
                </a:solidFill>
                <a:latin typeface="Calibri" pitchFamily="34" charset="0"/>
                <a:ea typeface="Calibri" pitchFamily="34" charset="-122"/>
                <a:cs typeface="Calibri" pitchFamily="34" charset="-120"/>
              </a:rPr>
              <a:t>Where our implementation sits, and what the last ten years changed.</a:t>
            </a:r>
            <a:endParaRPr lang="en-US" sz="1400" dirty="0"/>
          </a:p>
        </p:txBody>
      </p:sp>
      <p:sp>
        <p:nvSpPr>
          <p:cNvPr id="5" name="Shape 3"/>
          <p:cNvSpPr/>
          <p:nvPr/>
        </p:nvSpPr>
        <p:spPr>
          <a:xfrm>
            <a:off x="1005840" y="4224528"/>
            <a:ext cx="1005840" cy="32004"/>
          </a:xfrm>
          <a:prstGeom prst="rect">
            <a:avLst/>
          </a:prstGeom>
          <a:solidFill>
            <a:srgbClr val="E07A28"/>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2E7D8A"/>
                </a:solidFill>
                <a:latin typeface="Calibri" pitchFamily="34" charset="0"/>
                <a:ea typeface="Calibri" pitchFamily="34" charset="-122"/>
                <a:cs typeface="Calibri" pitchFamily="34" charset="-120"/>
              </a:rPr>
              <a:t>STARTING POINT</a:t>
            </a:r>
            <a:endParaRPr lang="en-US" sz="1100" dirty="0"/>
          </a:p>
        </p:txBody>
      </p:sp>
      <p:sp>
        <p:nvSpPr>
          <p:cNvPr id="3" name="Text 1"/>
          <p:cNvSpPr/>
          <p:nvPr/>
        </p:nvSpPr>
        <p:spPr>
          <a:xfrm>
            <a:off x="640080" y="658368"/>
            <a:ext cx="10881360" cy="868680"/>
          </a:xfrm>
          <a:prstGeom prst="rect">
            <a:avLst/>
          </a:prstGeom>
          <a:noFill/>
          <a:ln/>
        </p:spPr>
        <p:txBody>
          <a:bodyPr wrap="square" lIns="0" tIns="0" rIns="0" bIns="0" rtlCol="0" anchor="t"/>
          <a:lstStyle/>
          <a:p>
            <a:pPr indent="0" marL="0">
              <a:buNone/>
            </a:pPr>
            <a:r>
              <a:rPr lang="en-US" sz="3000" b="1" dirty="0">
                <a:solidFill>
                  <a:srgbClr val="16232E"/>
                </a:solidFill>
                <a:latin typeface="Cambria" pitchFamily="34" charset="0"/>
                <a:ea typeface="Cambria" pitchFamily="34" charset="-122"/>
                <a:cs typeface="Cambria" pitchFamily="34" charset="-120"/>
              </a:rPr>
              <a:t>Our code runs a hand-written PC algorithm end to end</a:t>
            </a:r>
            <a:endParaRPr lang="en-US" sz="3000" dirty="0"/>
          </a:p>
        </p:txBody>
      </p:sp>
      <p:sp>
        <p:nvSpPr>
          <p:cNvPr id="4" name="Shape 2"/>
          <p:cNvSpPr/>
          <p:nvPr/>
        </p:nvSpPr>
        <p:spPr>
          <a:xfrm>
            <a:off x="640080" y="1920240"/>
            <a:ext cx="1600200" cy="1371600"/>
          </a:xfrm>
          <a:prstGeom prst="roundRect">
            <a:avLst>
              <a:gd name="adj" fmla="val 5333"/>
            </a:avLst>
          </a:prstGeom>
          <a:solidFill>
            <a:srgbClr val="F0F3F5"/>
          </a:solidFill>
          <a:ln w="12700">
            <a:solidFill>
              <a:srgbClr val="F0F3F5"/>
            </a:solidFill>
            <a:prstDash val="solid"/>
          </a:ln>
        </p:spPr>
      </p:sp>
      <p:sp>
        <p:nvSpPr>
          <p:cNvPr id="5" name="Shape 3"/>
          <p:cNvSpPr/>
          <p:nvPr/>
        </p:nvSpPr>
        <p:spPr>
          <a:xfrm>
            <a:off x="768096" y="2066544"/>
            <a:ext cx="182880" cy="182880"/>
          </a:xfrm>
          <a:prstGeom prst="ellipse">
            <a:avLst/>
          </a:prstGeom>
          <a:solidFill>
            <a:srgbClr val="3E7C59"/>
          </a:solidFill>
          <a:ln/>
        </p:spPr>
      </p:sp>
      <p:sp>
        <p:nvSpPr>
          <p:cNvPr id="6" name="Text 4"/>
          <p:cNvSpPr/>
          <p:nvPr/>
        </p:nvSpPr>
        <p:spPr>
          <a:xfrm>
            <a:off x="768096" y="2331720"/>
            <a:ext cx="1371600" cy="548640"/>
          </a:xfrm>
          <a:prstGeom prst="rect">
            <a:avLst/>
          </a:prstGeom>
          <a:noFill/>
          <a:ln/>
        </p:spPr>
        <p:txBody>
          <a:bodyPr wrap="square" lIns="0" tIns="0" rIns="0" bIns="0" rtlCol="0" anchor="t"/>
          <a:lstStyle/>
          <a:p>
            <a:pPr indent="0" marL="0">
              <a:buNone/>
            </a:pPr>
            <a:r>
              <a:rPr lang="en-US" sz="1350" b="1" dirty="0">
                <a:solidFill>
                  <a:srgbClr val="16232E"/>
                </a:solidFill>
                <a:latin typeface="Cambria" pitchFamily="34" charset="0"/>
                <a:ea typeface="Cambria" pitchFamily="34" charset="-122"/>
                <a:cs typeface="Cambria" pitchFamily="34" charset="-120"/>
              </a:rPr>
              <a:t>Correlation</a:t>
            </a:r>
            <a:endParaRPr lang="en-US" sz="1350" dirty="0"/>
          </a:p>
          <a:p>
            <a:pPr indent="0" marL="0">
              <a:buNone/>
            </a:pPr>
            <a:r>
              <a:rPr lang="en-US" sz="1350" b="1" dirty="0">
                <a:solidFill>
                  <a:srgbClr val="16232E"/>
                </a:solidFill>
                <a:latin typeface="Cambria" pitchFamily="34" charset="0"/>
                <a:ea typeface="Cambria" pitchFamily="34" charset="-122"/>
                <a:cs typeface="Cambria" pitchFamily="34" charset="-120"/>
              </a:rPr>
              <a:t>matrix</a:t>
            </a:r>
            <a:endParaRPr lang="en-US" sz="1350" dirty="0"/>
          </a:p>
        </p:txBody>
      </p:sp>
      <p:sp>
        <p:nvSpPr>
          <p:cNvPr id="7" name="Text 5"/>
          <p:cNvSpPr/>
          <p:nvPr/>
        </p:nvSpPr>
        <p:spPr>
          <a:xfrm>
            <a:off x="768096" y="2907792"/>
            <a:ext cx="1371600" cy="274320"/>
          </a:xfrm>
          <a:prstGeom prst="rect">
            <a:avLst/>
          </a:prstGeom>
          <a:noFill/>
          <a:ln/>
        </p:spPr>
        <p:txBody>
          <a:bodyPr wrap="square" lIns="0" tIns="0" rIns="0" bIns="0" rtlCol="0" anchor="ctr"/>
          <a:lstStyle/>
          <a:p>
            <a:pPr indent="0" marL="0">
              <a:buNone/>
            </a:pPr>
            <a:r>
              <a:rPr lang="en-US" sz="1050" dirty="0">
                <a:solidFill>
                  <a:srgbClr val="6B7A85"/>
                </a:solidFill>
                <a:latin typeface="Calibri" pitchFamily="34" charset="0"/>
                <a:ea typeface="Calibri" pitchFamily="34" charset="-122"/>
                <a:cs typeface="Calibri" pitchFamily="34" charset="-120"/>
              </a:rPr>
              <a:t>Computed once</a:t>
            </a:r>
            <a:endParaRPr lang="en-US" sz="1050" dirty="0"/>
          </a:p>
        </p:txBody>
      </p:sp>
      <p:sp>
        <p:nvSpPr>
          <p:cNvPr id="8" name="Shape 6"/>
          <p:cNvSpPr/>
          <p:nvPr/>
        </p:nvSpPr>
        <p:spPr>
          <a:xfrm>
            <a:off x="2276856" y="2505456"/>
            <a:ext cx="182880" cy="201168"/>
          </a:xfrm>
          <a:prstGeom prst="rightArrow">
            <a:avLst/>
          </a:prstGeom>
          <a:solidFill>
            <a:srgbClr val="B9C6CC"/>
          </a:solidFill>
          <a:ln/>
        </p:spPr>
      </p:sp>
      <p:sp>
        <p:nvSpPr>
          <p:cNvPr id="9" name="Shape 7"/>
          <p:cNvSpPr/>
          <p:nvPr/>
        </p:nvSpPr>
        <p:spPr>
          <a:xfrm>
            <a:off x="2496312" y="1920240"/>
            <a:ext cx="1600200" cy="1371600"/>
          </a:xfrm>
          <a:prstGeom prst="roundRect">
            <a:avLst>
              <a:gd name="adj" fmla="val 5333"/>
            </a:avLst>
          </a:prstGeom>
          <a:solidFill>
            <a:srgbClr val="F0F3F5"/>
          </a:solidFill>
          <a:ln w="12700">
            <a:solidFill>
              <a:srgbClr val="F0F3F5"/>
            </a:solidFill>
            <a:prstDash val="solid"/>
          </a:ln>
        </p:spPr>
      </p:sp>
      <p:sp>
        <p:nvSpPr>
          <p:cNvPr id="10" name="Shape 8"/>
          <p:cNvSpPr/>
          <p:nvPr/>
        </p:nvSpPr>
        <p:spPr>
          <a:xfrm>
            <a:off x="2624328" y="2066544"/>
            <a:ext cx="182880" cy="182880"/>
          </a:xfrm>
          <a:prstGeom prst="ellipse">
            <a:avLst/>
          </a:prstGeom>
          <a:solidFill>
            <a:srgbClr val="3E7C59"/>
          </a:solidFill>
          <a:ln/>
        </p:spPr>
      </p:sp>
      <p:sp>
        <p:nvSpPr>
          <p:cNvPr id="11" name="Text 9"/>
          <p:cNvSpPr/>
          <p:nvPr/>
        </p:nvSpPr>
        <p:spPr>
          <a:xfrm>
            <a:off x="2624328" y="2331720"/>
            <a:ext cx="1371600" cy="548640"/>
          </a:xfrm>
          <a:prstGeom prst="rect">
            <a:avLst/>
          </a:prstGeom>
          <a:noFill/>
          <a:ln/>
        </p:spPr>
        <p:txBody>
          <a:bodyPr wrap="square" lIns="0" tIns="0" rIns="0" bIns="0" rtlCol="0" anchor="t"/>
          <a:lstStyle/>
          <a:p>
            <a:pPr indent="0" marL="0">
              <a:buNone/>
            </a:pPr>
            <a:r>
              <a:rPr lang="en-US" sz="1350" b="1" dirty="0">
                <a:solidFill>
                  <a:srgbClr val="16232E"/>
                </a:solidFill>
                <a:latin typeface="Cambria" pitchFamily="34" charset="0"/>
                <a:ea typeface="Cambria" pitchFamily="34" charset="-122"/>
                <a:cs typeface="Cambria" pitchFamily="34" charset="-120"/>
              </a:rPr>
              <a:t>Skeleton</a:t>
            </a:r>
            <a:endParaRPr lang="en-US" sz="1350" dirty="0"/>
          </a:p>
          <a:p>
            <a:pPr indent="0" marL="0">
              <a:buNone/>
            </a:pPr>
            <a:r>
              <a:rPr lang="en-US" sz="1350" b="1" dirty="0">
                <a:solidFill>
                  <a:srgbClr val="16232E"/>
                </a:solidFill>
                <a:latin typeface="Cambria" pitchFamily="34" charset="0"/>
                <a:ea typeface="Cambria" pitchFamily="34" charset="-122"/>
                <a:cs typeface="Cambria" pitchFamily="34" charset="-120"/>
              </a:rPr>
              <a:t>search</a:t>
            </a:r>
            <a:endParaRPr lang="en-US" sz="1350" dirty="0"/>
          </a:p>
        </p:txBody>
      </p:sp>
      <p:sp>
        <p:nvSpPr>
          <p:cNvPr id="12" name="Text 10"/>
          <p:cNvSpPr/>
          <p:nvPr/>
        </p:nvSpPr>
        <p:spPr>
          <a:xfrm>
            <a:off x="2624328" y="2907792"/>
            <a:ext cx="1371600" cy="274320"/>
          </a:xfrm>
          <a:prstGeom prst="rect">
            <a:avLst/>
          </a:prstGeom>
          <a:noFill/>
          <a:ln/>
        </p:spPr>
        <p:txBody>
          <a:bodyPr wrap="square" lIns="0" tIns="0" rIns="0" bIns="0" rtlCol="0" anchor="ctr"/>
          <a:lstStyle/>
          <a:p>
            <a:pPr indent="0" marL="0">
              <a:buNone/>
            </a:pPr>
            <a:r>
              <a:rPr lang="en-US" sz="1050" dirty="0">
                <a:solidFill>
                  <a:srgbClr val="6B7A85"/>
                </a:solidFill>
                <a:latin typeface="Calibri" pitchFamily="34" charset="0"/>
                <a:ea typeface="Calibri" pitchFamily="34" charset="-122"/>
                <a:cs typeface="Calibri" pitchFamily="34" charset="-120"/>
              </a:rPr>
              <a:t>PC-stable</a:t>
            </a:r>
            <a:endParaRPr lang="en-US" sz="1050" dirty="0"/>
          </a:p>
        </p:txBody>
      </p:sp>
      <p:sp>
        <p:nvSpPr>
          <p:cNvPr id="13" name="Shape 11"/>
          <p:cNvSpPr/>
          <p:nvPr/>
        </p:nvSpPr>
        <p:spPr>
          <a:xfrm>
            <a:off x="4133088" y="2505456"/>
            <a:ext cx="182880" cy="201168"/>
          </a:xfrm>
          <a:prstGeom prst="rightArrow">
            <a:avLst/>
          </a:prstGeom>
          <a:solidFill>
            <a:srgbClr val="B9C6CC"/>
          </a:solidFill>
          <a:ln/>
        </p:spPr>
      </p:sp>
      <p:sp>
        <p:nvSpPr>
          <p:cNvPr id="14" name="Shape 12"/>
          <p:cNvSpPr/>
          <p:nvPr/>
        </p:nvSpPr>
        <p:spPr>
          <a:xfrm>
            <a:off x="4352544" y="1920240"/>
            <a:ext cx="1600200" cy="1371600"/>
          </a:xfrm>
          <a:prstGeom prst="roundRect">
            <a:avLst>
              <a:gd name="adj" fmla="val 5333"/>
            </a:avLst>
          </a:prstGeom>
          <a:solidFill>
            <a:srgbClr val="F0F3F5"/>
          </a:solidFill>
          <a:ln w="12700">
            <a:solidFill>
              <a:srgbClr val="F0F3F5"/>
            </a:solidFill>
            <a:prstDash val="solid"/>
          </a:ln>
        </p:spPr>
      </p:sp>
      <p:sp>
        <p:nvSpPr>
          <p:cNvPr id="15" name="Shape 13"/>
          <p:cNvSpPr/>
          <p:nvPr/>
        </p:nvSpPr>
        <p:spPr>
          <a:xfrm>
            <a:off x="4480560" y="2066544"/>
            <a:ext cx="182880" cy="182880"/>
          </a:xfrm>
          <a:prstGeom prst="ellipse">
            <a:avLst/>
          </a:prstGeom>
          <a:solidFill>
            <a:srgbClr val="E07A28"/>
          </a:solidFill>
          <a:ln/>
        </p:spPr>
      </p:sp>
      <p:sp>
        <p:nvSpPr>
          <p:cNvPr id="16" name="Text 14"/>
          <p:cNvSpPr/>
          <p:nvPr/>
        </p:nvSpPr>
        <p:spPr>
          <a:xfrm>
            <a:off x="4480560" y="2331720"/>
            <a:ext cx="1371600" cy="548640"/>
          </a:xfrm>
          <a:prstGeom prst="rect">
            <a:avLst/>
          </a:prstGeom>
          <a:noFill/>
          <a:ln/>
        </p:spPr>
        <p:txBody>
          <a:bodyPr wrap="square" lIns="0" tIns="0" rIns="0" bIns="0" rtlCol="0" anchor="t"/>
          <a:lstStyle/>
          <a:p>
            <a:pPr indent="0" marL="0">
              <a:buNone/>
            </a:pPr>
            <a:r>
              <a:rPr lang="en-US" sz="1350" b="1" dirty="0">
                <a:solidFill>
                  <a:srgbClr val="16232E"/>
                </a:solidFill>
                <a:latin typeface="Cambria" pitchFamily="34" charset="0"/>
                <a:ea typeface="Cambria" pitchFamily="34" charset="-122"/>
                <a:cs typeface="Cambria" pitchFamily="34" charset="-120"/>
              </a:rPr>
              <a:t>Separating</a:t>
            </a:r>
            <a:endParaRPr lang="en-US" sz="1350" dirty="0"/>
          </a:p>
          <a:p>
            <a:pPr indent="0" marL="0">
              <a:buNone/>
            </a:pPr>
            <a:r>
              <a:rPr lang="en-US" sz="1350" b="1" dirty="0">
                <a:solidFill>
                  <a:srgbClr val="16232E"/>
                </a:solidFill>
                <a:latin typeface="Cambria" pitchFamily="34" charset="0"/>
                <a:ea typeface="Cambria" pitchFamily="34" charset="-122"/>
                <a:cs typeface="Cambria" pitchFamily="34" charset="-120"/>
              </a:rPr>
              <a:t>sets</a:t>
            </a:r>
            <a:endParaRPr lang="en-US" sz="1350" dirty="0"/>
          </a:p>
        </p:txBody>
      </p:sp>
      <p:sp>
        <p:nvSpPr>
          <p:cNvPr id="17" name="Text 15"/>
          <p:cNvSpPr/>
          <p:nvPr/>
        </p:nvSpPr>
        <p:spPr>
          <a:xfrm>
            <a:off x="4480560" y="2907792"/>
            <a:ext cx="1371600" cy="274320"/>
          </a:xfrm>
          <a:prstGeom prst="rect">
            <a:avLst/>
          </a:prstGeom>
          <a:noFill/>
          <a:ln/>
        </p:spPr>
        <p:txBody>
          <a:bodyPr wrap="square" lIns="0" tIns="0" rIns="0" bIns="0" rtlCol="0" anchor="ctr"/>
          <a:lstStyle/>
          <a:p>
            <a:pPr indent="0" marL="0">
              <a:buNone/>
            </a:pPr>
            <a:r>
              <a:rPr lang="en-US" sz="1050" dirty="0">
                <a:solidFill>
                  <a:srgbClr val="6B7A85"/>
                </a:solidFill>
                <a:latin typeface="Calibri" pitchFamily="34" charset="0"/>
                <a:ea typeface="Calibri" pitchFamily="34" charset="-122"/>
                <a:cs typeface="Calibri" pitchFamily="34" charset="-120"/>
              </a:rPr>
              <a:t>First set wins</a:t>
            </a:r>
            <a:endParaRPr lang="en-US" sz="1050" dirty="0"/>
          </a:p>
        </p:txBody>
      </p:sp>
      <p:sp>
        <p:nvSpPr>
          <p:cNvPr id="18" name="Shape 16"/>
          <p:cNvSpPr/>
          <p:nvPr/>
        </p:nvSpPr>
        <p:spPr>
          <a:xfrm>
            <a:off x="5989320" y="2505456"/>
            <a:ext cx="182880" cy="201168"/>
          </a:xfrm>
          <a:prstGeom prst="rightArrow">
            <a:avLst/>
          </a:prstGeom>
          <a:solidFill>
            <a:srgbClr val="B9C6CC"/>
          </a:solidFill>
          <a:ln/>
        </p:spPr>
      </p:sp>
      <p:sp>
        <p:nvSpPr>
          <p:cNvPr id="19" name="Shape 17"/>
          <p:cNvSpPr/>
          <p:nvPr/>
        </p:nvSpPr>
        <p:spPr>
          <a:xfrm>
            <a:off x="6208776" y="1920240"/>
            <a:ext cx="1600200" cy="1371600"/>
          </a:xfrm>
          <a:prstGeom prst="roundRect">
            <a:avLst>
              <a:gd name="adj" fmla="val 5333"/>
            </a:avLst>
          </a:prstGeom>
          <a:solidFill>
            <a:srgbClr val="F0F3F5"/>
          </a:solidFill>
          <a:ln w="12700">
            <a:solidFill>
              <a:srgbClr val="F0F3F5"/>
            </a:solidFill>
            <a:prstDash val="solid"/>
          </a:ln>
        </p:spPr>
      </p:sp>
      <p:sp>
        <p:nvSpPr>
          <p:cNvPr id="20" name="Shape 18"/>
          <p:cNvSpPr/>
          <p:nvPr/>
        </p:nvSpPr>
        <p:spPr>
          <a:xfrm>
            <a:off x="6336792" y="2066544"/>
            <a:ext cx="182880" cy="182880"/>
          </a:xfrm>
          <a:prstGeom prst="ellipse">
            <a:avLst/>
          </a:prstGeom>
          <a:solidFill>
            <a:srgbClr val="E07A28"/>
          </a:solidFill>
          <a:ln/>
        </p:spPr>
      </p:sp>
      <p:sp>
        <p:nvSpPr>
          <p:cNvPr id="21" name="Text 19"/>
          <p:cNvSpPr/>
          <p:nvPr/>
        </p:nvSpPr>
        <p:spPr>
          <a:xfrm>
            <a:off x="6336792" y="2331720"/>
            <a:ext cx="1371600" cy="548640"/>
          </a:xfrm>
          <a:prstGeom prst="rect">
            <a:avLst/>
          </a:prstGeom>
          <a:noFill/>
          <a:ln/>
        </p:spPr>
        <p:txBody>
          <a:bodyPr wrap="square" lIns="0" tIns="0" rIns="0" bIns="0" rtlCol="0" anchor="t"/>
          <a:lstStyle/>
          <a:p>
            <a:pPr indent="0" marL="0">
              <a:buNone/>
            </a:pPr>
            <a:r>
              <a:rPr lang="en-US" sz="1350" b="1" dirty="0">
                <a:solidFill>
                  <a:srgbClr val="16232E"/>
                </a:solidFill>
                <a:latin typeface="Cambria" pitchFamily="34" charset="0"/>
                <a:ea typeface="Cambria" pitchFamily="34" charset="-122"/>
                <a:cs typeface="Cambria" pitchFamily="34" charset="-120"/>
              </a:rPr>
              <a:t>Collider</a:t>
            </a:r>
            <a:endParaRPr lang="en-US" sz="1350" dirty="0"/>
          </a:p>
          <a:p>
            <a:pPr indent="0" marL="0">
              <a:buNone/>
            </a:pPr>
            <a:r>
              <a:rPr lang="en-US" sz="1350" b="1" dirty="0">
                <a:solidFill>
                  <a:srgbClr val="16232E"/>
                </a:solidFill>
                <a:latin typeface="Cambria" pitchFamily="34" charset="0"/>
                <a:ea typeface="Cambria" pitchFamily="34" charset="-122"/>
                <a:cs typeface="Cambria" pitchFamily="34" charset="-120"/>
              </a:rPr>
              <a:t>orientation</a:t>
            </a:r>
            <a:endParaRPr lang="en-US" sz="1350" dirty="0"/>
          </a:p>
        </p:txBody>
      </p:sp>
      <p:sp>
        <p:nvSpPr>
          <p:cNvPr id="22" name="Text 20"/>
          <p:cNvSpPr/>
          <p:nvPr/>
        </p:nvSpPr>
        <p:spPr>
          <a:xfrm>
            <a:off x="6336792" y="2907792"/>
            <a:ext cx="1371600" cy="274320"/>
          </a:xfrm>
          <a:prstGeom prst="rect">
            <a:avLst/>
          </a:prstGeom>
          <a:noFill/>
          <a:ln/>
        </p:spPr>
        <p:txBody>
          <a:bodyPr wrap="square" lIns="0" tIns="0" rIns="0" bIns="0" rtlCol="0" anchor="ctr"/>
          <a:lstStyle/>
          <a:p>
            <a:pPr indent="0" marL="0">
              <a:buNone/>
            </a:pPr>
            <a:r>
              <a:rPr lang="en-US" sz="1050" dirty="0">
                <a:solidFill>
                  <a:srgbClr val="6B7A85"/>
                </a:solidFill>
                <a:latin typeface="Calibri" pitchFamily="34" charset="0"/>
                <a:ea typeface="Calibri" pitchFamily="34" charset="-122"/>
                <a:cs typeface="Calibri" pitchFamily="34" charset="-120"/>
              </a:rPr>
              <a:t>Order dependent</a:t>
            </a:r>
            <a:endParaRPr lang="en-US" sz="1050" dirty="0"/>
          </a:p>
        </p:txBody>
      </p:sp>
      <p:sp>
        <p:nvSpPr>
          <p:cNvPr id="23" name="Shape 21"/>
          <p:cNvSpPr/>
          <p:nvPr/>
        </p:nvSpPr>
        <p:spPr>
          <a:xfrm>
            <a:off x="7845552" y="2505456"/>
            <a:ext cx="182880" cy="201168"/>
          </a:xfrm>
          <a:prstGeom prst="rightArrow">
            <a:avLst/>
          </a:prstGeom>
          <a:solidFill>
            <a:srgbClr val="B9C6CC"/>
          </a:solidFill>
          <a:ln/>
        </p:spPr>
      </p:sp>
      <p:sp>
        <p:nvSpPr>
          <p:cNvPr id="24" name="Shape 22"/>
          <p:cNvSpPr/>
          <p:nvPr/>
        </p:nvSpPr>
        <p:spPr>
          <a:xfrm>
            <a:off x="8065008" y="1920240"/>
            <a:ext cx="1600200" cy="1371600"/>
          </a:xfrm>
          <a:prstGeom prst="roundRect">
            <a:avLst>
              <a:gd name="adj" fmla="val 5333"/>
            </a:avLst>
          </a:prstGeom>
          <a:solidFill>
            <a:srgbClr val="F0F3F5"/>
          </a:solidFill>
          <a:ln w="12700">
            <a:solidFill>
              <a:srgbClr val="F0F3F5"/>
            </a:solidFill>
            <a:prstDash val="solid"/>
          </a:ln>
        </p:spPr>
      </p:sp>
      <p:sp>
        <p:nvSpPr>
          <p:cNvPr id="25" name="Shape 23"/>
          <p:cNvSpPr/>
          <p:nvPr/>
        </p:nvSpPr>
        <p:spPr>
          <a:xfrm>
            <a:off x="8193024" y="2066544"/>
            <a:ext cx="182880" cy="182880"/>
          </a:xfrm>
          <a:prstGeom prst="ellipse">
            <a:avLst/>
          </a:prstGeom>
          <a:solidFill>
            <a:srgbClr val="E07A28"/>
          </a:solidFill>
          <a:ln/>
        </p:spPr>
      </p:sp>
      <p:sp>
        <p:nvSpPr>
          <p:cNvPr id="26" name="Text 24"/>
          <p:cNvSpPr/>
          <p:nvPr/>
        </p:nvSpPr>
        <p:spPr>
          <a:xfrm>
            <a:off x="8193024" y="2331720"/>
            <a:ext cx="1371600" cy="548640"/>
          </a:xfrm>
          <a:prstGeom prst="rect">
            <a:avLst/>
          </a:prstGeom>
          <a:noFill/>
          <a:ln/>
        </p:spPr>
        <p:txBody>
          <a:bodyPr wrap="square" lIns="0" tIns="0" rIns="0" bIns="0" rtlCol="0" anchor="t"/>
          <a:lstStyle/>
          <a:p>
            <a:pPr indent="0" marL="0">
              <a:buNone/>
            </a:pPr>
            <a:r>
              <a:rPr lang="en-US" sz="1350" b="1" dirty="0">
                <a:solidFill>
                  <a:srgbClr val="16232E"/>
                </a:solidFill>
                <a:latin typeface="Cambria" pitchFamily="34" charset="0"/>
                <a:ea typeface="Cambria" pitchFamily="34" charset="-122"/>
                <a:cs typeface="Cambria" pitchFamily="34" charset="-120"/>
              </a:rPr>
              <a:t>Meek</a:t>
            </a:r>
            <a:endParaRPr lang="en-US" sz="1350" dirty="0"/>
          </a:p>
          <a:p>
            <a:pPr indent="0" marL="0">
              <a:buNone/>
            </a:pPr>
            <a:r>
              <a:rPr lang="en-US" sz="1350" b="1" dirty="0">
                <a:solidFill>
                  <a:srgbClr val="16232E"/>
                </a:solidFill>
                <a:latin typeface="Cambria" pitchFamily="34" charset="0"/>
                <a:ea typeface="Cambria" pitchFamily="34" charset="-122"/>
                <a:cs typeface="Cambria" pitchFamily="34" charset="-120"/>
              </a:rPr>
              <a:t>rules</a:t>
            </a:r>
            <a:endParaRPr lang="en-US" sz="1350" dirty="0"/>
          </a:p>
        </p:txBody>
      </p:sp>
      <p:sp>
        <p:nvSpPr>
          <p:cNvPr id="27" name="Text 25"/>
          <p:cNvSpPr/>
          <p:nvPr/>
        </p:nvSpPr>
        <p:spPr>
          <a:xfrm>
            <a:off x="8193024" y="2907792"/>
            <a:ext cx="1371600" cy="274320"/>
          </a:xfrm>
          <a:prstGeom prst="rect">
            <a:avLst/>
          </a:prstGeom>
          <a:noFill/>
          <a:ln/>
        </p:spPr>
        <p:txBody>
          <a:bodyPr wrap="square" lIns="0" tIns="0" rIns="0" bIns="0" rtlCol="0" anchor="ctr"/>
          <a:lstStyle/>
          <a:p>
            <a:pPr indent="0" marL="0">
              <a:buNone/>
            </a:pPr>
            <a:r>
              <a:rPr lang="en-US" sz="1050" dirty="0">
                <a:solidFill>
                  <a:srgbClr val="6B7A85"/>
                </a:solidFill>
                <a:latin typeface="Calibri" pitchFamily="34" charset="0"/>
                <a:ea typeface="Calibri" pitchFamily="34" charset="-122"/>
                <a:cs typeface="Calibri" pitchFamily="34" charset="-120"/>
              </a:rPr>
              <a:t>No conflict marks</a:t>
            </a:r>
            <a:endParaRPr lang="en-US" sz="1050" dirty="0"/>
          </a:p>
        </p:txBody>
      </p:sp>
      <p:sp>
        <p:nvSpPr>
          <p:cNvPr id="28" name="Shape 26"/>
          <p:cNvSpPr/>
          <p:nvPr/>
        </p:nvSpPr>
        <p:spPr>
          <a:xfrm>
            <a:off x="9701784" y="2505456"/>
            <a:ext cx="182880" cy="201168"/>
          </a:xfrm>
          <a:prstGeom prst="rightArrow">
            <a:avLst/>
          </a:prstGeom>
          <a:solidFill>
            <a:srgbClr val="B9C6CC"/>
          </a:solidFill>
          <a:ln/>
        </p:spPr>
      </p:sp>
      <p:sp>
        <p:nvSpPr>
          <p:cNvPr id="29" name="Shape 27"/>
          <p:cNvSpPr/>
          <p:nvPr/>
        </p:nvSpPr>
        <p:spPr>
          <a:xfrm>
            <a:off x="9921240" y="1920240"/>
            <a:ext cx="1600200" cy="1371600"/>
          </a:xfrm>
          <a:prstGeom prst="roundRect">
            <a:avLst>
              <a:gd name="adj" fmla="val 5333"/>
            </a:avLst>
          </a:prstGeom>
          <a:solidFill>
            <a:srgbClr val="F0F3F5"/>
          </a:solidFill>
          <a:ln w="12700">
            <a:solidFill>
              <a:srgbClr val="F0F3F5"/>
            </a:solidFill>
            <a:prstDash val="solid"/>
          </a:ln>
        </p:spPr>
      </p:sp>
      <p:sp>
        <p:nvSpPr>
          <p:cNvPr id="30" name="Shape 28"/>
          <p:cNvSpPr/>
          <p:nvPr/>
        </p:nvSpPr>
        <p:spPr>
          <a:xfrm>
            <a:off x="10049256" y="2066544"/>
            <a:ext cx="182880" cy="182880"/>
          </a:xfrm>
          <a:prstGeom prst="ellipse">
            <a:avLst/>
          </a:prstGeom>
          <a:solidFill>
            <a:srgbClr val="2E7D8A"/>
          </a:solidFill>
          <a:ln/>
        </p:spPr>
      </p:sp>
      <p:sp>
        <p:nvSpPr>
          <p:cNvPr id="31" name="Text 29"/>
          <p:cNvSpPr/>
          <p:nvPr/>
        </p:nvSpPr>
        <p:spPr>
          <a:xfrm>
            <a:off x="10049256" y="2331720"/>
            <a:ext cx="1371600" cy="548640"/>
          </a:xfrm>
          <a:prstGeom prst="rect">
            <a:avLst/>
          </a:prstGeom>
          <a:noFill/>
          <a:ln/>
        </p:spPr>
        <p:txBody>
          <a:bodyPr wrap="square" lIns="0" tIns="0" rIns="0" bIns="0" rtlCol="0" anchor="t"/>
          <a:lstStyle/>
          <a:p>
            <a:pPr indent="0" marL="0">
              <a:buNone/>
            </a:pPr>
            <a:r>
              <a:rPr lang="en-US" sz="1350" b="1" dirty="0">
                <a:solidFill>
                  <a:srgbClr val="16232E"/>
                </a:solidFill>
                <a:latin typeface="Cambria" pitchFamily="34" charset="0"/>
                <a:ea typeface="Cambria" pitchFamily="34" charset="-122"/>
                <a:cs typeface="Cambria" pitchFamily="34" charset="-120"/>
              </a:rPr>
              <a:t>CPDAG</a:t>
            </a:r>
            <a:endParaRPr lang="en-US" sz="1350" dirty="0"/>
          </a:p>
        </p:txBody>
      </p:sp>
      <p:sp>
        <p:nvSpPr>
          <p:cNvPr id="32" name="Text 30"/>
          <p:cNvSpPr/>
          <p:nvPr/>
        </p:nvSpPr>
        <p:spPr>
          <a:xfrm>
            <a:off x="10049256" y="2907792"/>
            <a:ext cx="1371600" cy="274320"/>
          </a:xfrm>
          <a:prstGeom prst="rect">
            <a:avLst/>
          </a:prstGeom>
          <a:noFill/>
          <a:ln/>
        </p:spPr>
        <p:txBody>
          <a:bodyPr wrap="square" lIns="0" tIns="0" rIns="0" bIns="0" rtlCol="0" anchor="ctr"/>
          <a:lstStyle/>
          <a:p>
            <a:pPr indent="0" marL="0">
              <a:buNone/>
            </a:pPr>
            <a:r>
              <a:rPr lang="en-US" sz="1050" dirty="0">
                <a:solidFill>
                  <a:srgbClr val="6B7A85"/>
                </a:solidFill>
                <a:latin typeface="Calibri" pitchFamily="34" charset="0"/>
                <a:ea typeface="Calibri" pitchFamily="34" charset="-122"/>
                <a:cs typeface="Calibri" pitchFamily="34" charset="-120"/>
              </a:rPr>
              <a:t>Output</a:t>
            </a:r>
            <a:endParaRPr lang="en-US" sz="1050" dirty="0"/>
          </a:p>
        </p:txBody>
      </p:sp>
      <p:sp>
        <p:nvSpPr>
          <p:cNvPr id="33" name="Shape 31"/>
          <p:cNvSpPr/>
          <p:nvPr/>
        </p:nvSpPr>
        <p:spPr>
          <a:xfrm>
            <a:off x="640080" y="3794760"/>
            <a:ext cx="3429000" cy="1417320"/>
          </a:xfrm>
          <a:prstGeom prst="roundRect">
            <a:avLst>
              <a:gd name="adj" fmla="val 5161"/>
            </a:avLst>
          </a:prstGeom>
          <a:solidFill>
            <a:srgbClr val="E6EDF0"/>
          </a:solidFill>
          <a:ln w="12700">
            <a:solidFill>
              <a:srgbClr val="E6EDF0"/>
            </a:solidFill>
            <a:prstDash val="solid"/>
          </a:ln>
        </p:spPr>
      </p:sp>
      <p:sp>
        <p:nvSpPr>
          <p:cNvPr id="34" name="Text 32"/>
          <p:cNvSpPr/>
          <p:nvPr/>
        </p:nvSpPr>
        <p:spPr>
          <a:xfrm>
            <a:off x="896112" y="3977640"/>
            <a:ext cx="2926080" cy="502920"/>
          </a:xfrm>
          <a:prstGeom prst="rect">
            <a:avLst/>
          </a:prstGeom>
          <a:noFill/>
          <a:ln/>
        </p:spPr>
        <p:txBody>
          <a:bodyPr wrap="square" lIns="0" tIns="0" rIns="0" bIns="0" rtlCol="0" anchor="ctr"/>
          <a:lstStyle/>
          <a:p>
            <a:pPr indent="0" marL="0">
              <a:buNone/>
            </a:pPr>
            <a:r>
              <a:rPr lang="en-US" sz="2800" b="1" dirty="0">
                <a:solidFill>
                  <a:srgbClr val="2E7D8A"/>
                </a:solidFill>
                <a:latin typeface="Cambria" pitchFamily="34" charset="0"/>
                <a:ea typeface="Cambria" pitchFamily="34" charset="-122"/>
                <a:cs typeface="Cambria" pitchFamily="34" charset="-120"/>
              </a:rPr>
              <a:t>31</a:t>
            </a:r>
            <a:endParaRPr lang="en-US" sz="2800" dirty="0"/>
          </a:p>
        </p:txBody>
      </p:sp>
      <p:sp>
        <p:nvSpPr>
          <p:cNvPr id="35" name="Text 33"/>
          <p:cNvSpPr/>
          <p:nvPr/>
        </p:nvSpPr>
        <p:spPr>
          <a:xfrm>
            <a:off x="896112" y="4526280"/>
            <a:ext cx="2971800" cy="594360"/>
          </a:xfrm>
          <a:prstGeom prst="rect">
            <a:avLst/>
          </a:prstGeom>
          <a:noFill/>
          <a:ln/>
        </p:spPr>
        <p:txBody>
          <a:bodyPr wrap="square" lIns="0" tIns="0" rIns="0" bIns="0" rtlCol="0" anchor="t"/>
          <a:lstStyle/>
          <a:p>
            <a:pPr indent="0" marL="0">
              <a:buNone/>
            </a:pPr>
            <a:r>
              <a:rPr lang="en-US" sz="1200" dirty="0">
                <a:solidFill>
                  <a:srgbClr val="16232E"/>
                </a:solidFill>
                <a:latin typeface="Calibri" pitchFamily="34" charset="0"/>
                <a:ea typeface="Calibri" pitchFamily="34" charset="-122"/>
                <a:cs typeface="Calibri" pitchFamily="34" charset="-120"/>
              </a:rPr>
              <a:t>process variables from the Tennessee Eastman dataset</a:t>
            </a:r>
            <a:endParaRPr lang="en-US" sz="1200" dirty="0"/>
          </a:p>
        </p:txBody>
      </p:sp>
      <p:sp>
        <p:nvSpPr>
          <p:cNvPr id="36" name="Shape 34"/>
          <p:cNvSpPr/>
          <p:nvPr/>
        </p:nvSpPr>
        <p:spPr>
          <a:xfrm>
            <a:off x="4361688" y="3794760"/>
            <a:ext cx="3429000" cy="1417320"/>
          </a:xfrm>
          <a:prstGeom prst="roundRect">
            <a:avLst>
              <a:gd name="adj" fmla="val 5161"/>
            </a:avLst>
          </a:prstGeom>
          <a:solidFill>
            <a:srgbClr val="E6EDF0"/>
          </a:solidFill>
          <a:ln w="12700">
            <a:solidFill>
              <a:srgbClr val="E6EDF0"/>
            </a:solidFill>
            <a:prstDash val="solid"/>
          </a:ln>
        </p:spPr>
      </p:sp>
      <p:sp>
        <p:nvSpPr>
          <p:cNvPr id="37" name="Text 35"/>
          <p:cNvSpPr/>
          <p:nvPr/>
        </p:nvSpPr>
        <p:spPr>
          <a:xfrm>
            <a:off x="4617720" y="3977640"/>
            <a:ext cx="2926080" cy="502920"/>
          </a:xfrm>
          <a:prstGeom prst="rect">
            <a:avLst/>
          </a:prstGeom>
          <a:noFill/>
          <a:ln/>
        </p:spPr>
        <p:txBody>
          <a:bodyPr wrap="square" lIns="0" tIns="0" rIns="0" bIns="0" rtlCol="0" anchor="ctr"/>
          <a:lstStyle/>
          <a:p>
            <a:pPr indent="0" marL="0">
              <a:buNone/>
            </a:pPr>
            <a:r>
              <a:rPr lang="en-US" sz="2800" b="1" dirty="0">
                <a:solidFill>
                  <a:srgbClr val="2E7D8A"/>
                </a:solidFill>
                <a:latin typeface="Cambria" pitchFamily="34" charset="0"/>
                <a:ea typeface="Cambria" pitchFamily="34" charset="-122"/>
                <a:cs typeface="Cambria" pitchFamily="34" charset="-120"/>
              </a:rPr>
              <a:t>Fisher z</a:t>
            </a:r>
            <a:endParaRPr lang="en-US" sz="2800" dirty="0"/>
          </a:p>
        </p:txBody>
      </p:sp>
      <p:sp>
        <p:nvSpPr>
          <p:cNvPr id="38" name="Text 36"/>
          <p:cNvSpPr/>
          <p:nvPr/>
        </p:nvSpPr>
        <p:spPr>
          <a:xfrm>
            <a:off x="4617720" y="4526280"/>
            <a:ext cx="2971800" cy="594360"/>
          </a:xfrm>
          <a:prstGeom prst="rect">
            <a:avLst/>
          </a:prstGeom>
          <a:noFill/>
          <a:ln/>
        </p:spPr>
        <p:txBody>
          <a:bodyPr wrap="square" lIns="0" tIns="0" rIns="0" bIns="0" rtlCol="0" anchor="t"/>
          <a:lstStyle/>
          <a:p>
            <a:pPr indent="0" marL="0">
              <a:buNone/>
            </a:pPr>
            <a:r>
              <a:rPr lang="en-US" sz="1200" dirty="0">
                <a:solidFill>
                  <a:srgbClr val="16232E"/>
                </a:solidFill>
                <a:latin typeface="Calibri" pitchFamily="34" charset="0"/>
                <a:ea typeface="Calibri" pitchFamily="34" charset="-122"/>
                <a:cs typeface="Calibri" pitchFamily="34" charset="-120"/>
              </a:rPr>
              <a:t>partial correlation test, computed from the precision matrix</a:t>
            </a:r>
            <a:endParaRPr lang="en-US" sz="1200" dirty="0"/>
          </a:p>
        </p:txBody>
      </p:sp>
      <p:sp>
        <p:nvSpPr>
          <p:cNvPr id="39" name="Shape 37"/>
          <p:cNvSpPr/>
          <p:nvPr/>
        </p:nvSpPr>
        <p:spPr>
          <a:xfrm>
            <a:off x="8083296" y="3794760"/>
            <a:ext cx="3429000" cy="1417320"/>
          </a:xfrm>
          <a:prstGeom prst="roundRect">
            <a:avLst>
              <a:gd name="adj" fmla="val 5161"/>
            </a:avLst>
          </a:prstGeom>
          <a:solidFill>
            <a:srgbClr val="E6EDF0"/>
          </a:solidFill>
          <a:ln w="12700">
            <a:solidFill>
              <a:srgbClr val="E6EDF0"/>
            </a:solidFill>
            <a:prstDash val="solid"/>
          </a:ln>
        </p:spPr>
      </p:sp>
      <p:sp>
        <p:nvSpPr>
          <p:cNvPr id="40" name="Text 38"/>
          <p:cNvSpPr/>
          <p:nvPr/>
        </p:nvSpPr>
        <p:spPr>
          <a:xfrm>
            <a:off x="8339328" y="3977640"/>
            <a:ext cx="2926080" cy="502920"/>
          </a:xfrm>
          <a:prstGeom prst="rect">
            <a:avLst/>
          </a:prstGeom>
          <a:noFill/>
          <a:ln/>
        </p:spPr>
        <p:txBody>
          <a:bodyPr wrap="square" lIns="0" tIns="0" rIns="0" bIns="0" rtlCol="0" anchor="ctr"/>
          <a:lstStyle/>
          <a:p>
            <a:pPr indent="0" marL="0">
              <a:buNone/>
            </a:pPr>
            <a:r>
              <a:rPr lang="en-US" sz="2800" b="1" dirty="0">
                <a:solidFill>
                  <a:srgbClr val="2E7D8A"/>
                </a:solidFill>
                <a:latin typeface="Cambria" pitchFamily="34" charset="0"/>
                <a:ea typeface="Cambria" pitchFamily="34" charset="-122"/>
                <a:cs typeface="Cambria" pitchFamily="34" charset="-120"/>
              </a:rPr>
              <a:t>1 of 3</a:t>
            </a:r>
            <a:endParaRPr lang="en-US" sz="2800" dirty="0"/>
          </a:p>
        </p:txBody>
      </p:sp>
      <p:sp>
        <p:nvSpPr>
          <p:cNvPr id="41" name="Text 39"/>
          <p:cNvSpPr/>
          <p:nvPr/>
        </p:nvSpPr>
        <p:spPr>
          <a:xfrm>
            <a:off x="8339328" y="4526280"/>
            <a:ext cx="2971800" cy="594360"/>
          </a:xfrm>
          <a:prstGeom prst="rect">
            <a:avLst/>
          </a:prstGeom>
          <a:noFill/>
          <a:ln/>
        </p:spPr>
        <p:txBody>
          <a:bodyPr wrap="square" lIns="0" tIns="0" rIns="0" bIns="0" rtlCol="0" anchor="t"/>
          <a:lstStyle/>
          <a:p>
            <a:pPr indent="0" marL="0">
              <a:buNone/>
            </a:pPr>
            <a:r>
              <a:rPr lang="en-US" sz="1200" dirty="0">
                <a:solidFill>
                  <a:srgbClr val="16232E"/>
                </a:solidFill>
                <a:latin typeface="Calibri" pitchFamily="34" charset="0"/>
                <a:ea typeface="Calibri" pitchFamily="34" charset="-122"/>
                <a:cs typeface="Calibri" pitchFamily="34" charset="-120"/>
              </a:rPr>
              <a:t>order-dependence problems solved so far</a:t>
            </a:r>
            <a:endParaRPr lang="en-US" sz="1200" dirty="0"/>
          </a:p>
        </p:txBody>
      </p:sp>
      <p:sp>
        <p:nvSpPr>
          <p:cNvPr id="42" name="Text 40"/>
          <p:cNvSpPr/>
          <p:nvPr/>
        </p:nvSpPr>
        <p:spPr>
          <a:xfrm>
            <a:off x="640080" y="5532120"/>
            <a:ext cx="10881360" cy="274320"/>
          </a:xfrm>
          <a:prstGeom prst="rect">
            <a:avLst/>
          </a:prstGeom>
          <a:noFill/>
          <a:ln/>
        </p:spPr>
        <p:txBody>
          <a:bodyPr wrap="square" lIns="0" tIns="0" rIns="0" bIns="0" rtlCol="0" anchor="ctr"/>
          <a:lstStyle/>
          <a:p>
            <a:pPr indent="0" marL="0">
              <a:buNone/>
            </a:pPr>
            <a:r>
              <a:rPr lang="en-US" sz="1150" i="1" dirty="0">
                <a:solidFill>
                  <a:srgbClr val="6B7A85"/>
                </a:solidFill>
                <a:latin typeface="Calibri" pitchFamily="34" charset="0"/>
                <a:ea typeface="Calibri" pitchFamily="34" charset="-122"/>
                <a:cs typeface="Calibri" pitchFamily="34" charset="-120"/>
              </a:rPr>
              <a:t>Green marks a step that matches current practice. Amber marks a step the literature has replaced.</a:t>
            </a:r>
            <a:endParaRPr lang="en-US" sz="1150" dirty="0"/>
          </a:p>
        </p:txBody>
      </p:sp>
      <p:sp>
        <p:nvSpPr>
          <p:cNvPr id="43" name="Text 41"/>
          <p:cNvSpPr/>
          <p:nvPr/>
        </p:nvSpPr>
        <p:spPr>
          <a:xfrm>
            <a:off x="640080" y="6327648"/>
            <a:ext cx="10881360" cy="274320"/>
          </a:xfrm>
          <a:prstGeom prst="rect">
            <a:avLst/>
          </a:prstGeom>
          <a:noFill/>
          <a:ln/>
        </p:spPr>
        <p:txBody>
          <a:bodyPr wrap="square" lIns="0" tIns="0" rIns="0" bIns="0" rtlCol="0" anchor="ctr"/>
          <a:lstStyle/>
          <a:p>
            <a:pPr indent="0" marL="0">
              <a:buNone/>
            </a:pPr>
            <a:r>
              <a:rPr lang="en-US" sz="900" dirty="0">
                <a:solidFill>
                  <a:srgbClr val="6B7A85"/>
                </a:solidFill>
                <a:latin typeface="Calibri" pitchFamily="34" charset="0"/>
                <a:ea typeface="Calibri" pitchFamily="34" charset="-122"/>
                <a:cs typeface="Calibri" pitchFamily="34" charset="-120"/>
              </a:rPr>
              <a:t>Internal implementation: utils.py, main.py, test_pc.py. Dataset: datasetTE.csv (31 variables).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2E7D8A"/>
                </a:solidFill>
                <a:latin typeface="Calibri" pitchFamily="34" charset="0"/>
                <a:ea typeface="Calibri" pitchFamily="34" charset="-122"/>
                <a:cs typeface="Calibri" pitchFamily="34" charset="-120"/>
              </a:rPr>
              <a:t>QUESTION 1 - PC-STABLE</a:t>
            </a:r>
            <a:endParaRPr lang="en-US" sz="1100" dirty="0"/>
          </a:p>
        </p:txBody>
      </p:sp>
      <p:sp>
        <p:nvSpPr>
          <p:cNvPr id="3" name="Text 1"/>
          <p:cNvSpPr/>
          <p:nvPr/>
        </p:nvSpPr>
        <p:spPr>
          <a:xfrm>
            <a:off x="640080" y="658368"/>
            <a:ext cx="10881360" cy="868680"/>
          </a:xfrm>
          <a:prstGeom prst="rect">
            <a:avLst/>
          </a:prstGeom>
          <a:noFill/>
          <a:ln/>
        </p:spPr>
        <p:txBody>
          <a:bodyPr wrap="square" lIns="0" tIns="0" rIns="0" bIns="0" rtlCol="0" anchor="t"/>
          <a:lstStyle/>
          <a:p>
            <a:pPr indent="0" marL="0">
              <a:buNone/>
            </a:pPr>
            <a:r>
              <a:rPr lang="en-US" sz="3000" b="1" dirty="0">
                <a:solidFill>
                  <a:srgbClr val="16232E"/>
                </a:solidFill>
                <a:latin typeface="Cambria" pitchFamily="34" charset="0"/>
                <a:ea typeface="Cambria" pitchFamily="34" charset="-122"/>
                <a:cs typeface="Cambria" pitchFamily="34" charset="-120"/>
              </a:rPr>
              <a:t>Processing order changes the graph in three places. We fixed one.</a:t>
            </a:r>
            <a:endParaRPr lang="en-US" sz="3000" dirty="0"/>
          </a:p>
        </p:txBody>
      </p:sp>
      <p:sp>
        <p:nvSpPr>
          <p:cNvPr id="4" name="Shape 2"/>
          <p:cNvSpPr/>
          <p:nvPr/>
        </p:nvSpPr>
        <p:spPr>
          <a:xfrm>
            <a:off x="640080" y="1783080"/>
            <a:ext cx="3429000" cy="3337560"/>
          </a:xfrm>
          <a:prstGeom prst="roundRect">
            <a:avLst>
              <a:gd name="adj" fmla="val 2192"/>
            </a:avLst>
          </a:prstGeom>
          <a:solidFill>
            <a:srgbClr val="F0F3F5"/>
          </a:solidFill>
          <a:ln w="12700">
            <a:solidFill>
              <a:srgbClr val="F0F3F5"/>
            </a:solidFill>
            <a:prstDash val="solid"/>
          </a:ln>
        </p:spPr>
      </p:sp>
      <p:sp>
        <p:nvSpPr>
          <p:cNvPr id="5" name="Shape 3"/>
          <p:cNvSpPr/>
          <p:nvPr/>
        </p:nvSpPr>
        <p:spPr>
          <a:xfrm>
            <a:off x="914400" y="2011680"/>
            <a:ext cx="384048" cy="384048"/>
          </a:xfrm>
          <a:prstGeom prst="ellipse">
            <a:avLst/>
          </a:prstGeom>
          <a:solidFill>
            <a:srgbClr val="3E7C59"/>
          </a:solidFill>
          <a:ln/>
        </p:spPr>
      </p:sp>
      <p:sp>
        <p:nvSpPr>
          <p:cNvPr id="6" name="Text 4"/>
          <p:cNvSpPr/>
          <p:nvPr/>
        </p:nvSpPr>
        <p:spPr>
          <a:xfrm>
            <a:off x="914400" y="20116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914400" y="2542032"/>
            <a:ext cx="2880360" cy="365760"/>
          </a:xfrm>
          <a:prstGeom prst="rect">
            <a:avLst/>
          </a:prstGeom>
          <a:noFill/>
          <a:ln/>
        </p:spPr>
        <p:txBody>
          <a:bodyPr wrap="square" lIns="0" tIns="0" rIns="0" bIns="0" rtlCol="0" anchor="ctr"/>
          <a:lstStyle/>
          <a:p>
            <a:pPr indent="0" marL="0">
              <a:buNone/>
            </a:pPr>
            <a:r>
              <a:rPr lang="en-US" sz="1800" b="1" dirty="0">
                <a:solidFill>
                  <a:srgbClr val="16232E"/>
                </a:solidFill>
                <a:latin typeface="Cambria" pitchFamily="34" charset="0"/>
                <a:ea typeface="Cambria" pitchFamily="34" charset="-122"/>
                <a:cs typeface="Cambria" pitchFamily="34" charset="-120"/>
              </a:rPr>
              <a:t>Skeleton</a:t>
            </a:r>
            <a:endParaRPr lang="en-US" sz="1800" dirty="0"/>
          </a:p>
        </p:txBody>
      </p:sp>
      <p:sp>
        <p:nvSpPr>
          <p:cNvPr id="8" name="Text 6"/>
          <p:cNvSpPr/>
          <p:nvPr/>
        </p:nvSpPr>
        <p:spPr>
          <a:xfrm>
            <a:off x="914400" y="2971800"/>
            <a:ext cx="2880360" cy="1188720"/>
          </a:xfrm>
          <a:prstGeom prst="rect">
            <a:avLst/>
          </a:prstGeom>
          <a:noFill/>
          <a:ln/>
        </p:spPr>
        <p:txBody>
          <a:bodyPr wrap="square" lIns="0" tIns="0" rIns="0" bIns="0" rtlCol="0" anchor="t"/>
          <a:lstStyle/>
          <a:p>
            <a:pPr indent="0" marL="0">
              <a:lnSpc>
                <a:spcPts val="1700"/>
              </a:lnSpc>
              <a:buNone/>
            </a:pPr>
            <a:r>
              <a:rPr lang="en-US" sz="1200" dirty="0">
                <a:solidFill>
                  <a:srgbClr val="24363F"/>
                </a:solidFill>
                <a:latin typeface="Calibri" pitchFamily="34" charset="0"/>
                <a:ea typeface="Calibri" pitchFamily="34" charset="-122"/>
                <a:cs typeface="Calibri" pitchFamily="34" charset="-120"/>
              </a:rPr>
              <a:t>Deleting an edge shrinks the adjacency set that later tests use. A different variable order gives a different skeleton.</a:t>
            </a:r>
            <a:endParaRPr lang="en-US" sz="1200" dirty="0"/>
          </a:p>
        </p:txBody>
      </p:sp>
      <p:sp>
        <p:nvSpPr>
          <p:cNvPr id="9" name="Shape 7"/>
          <p:cNvSpPr/>
          <p:nvPr/>
        </p:nvSpPr>
        <p:spPr>
          <a:xfrm>
            <a:off x="914400" y="4160520"/>
            <a:ext cx="2880360" cy="777240"/>
          </a:xfrm>
          <a:prstGeom prst="roundRect">
            <a:avLst>
              <a:gd name="adj" fmla="val 7059"/>
            </a:avLst>
          </a:prstGeom>
          <a:solidFill>
            <a:srgbClr val="DCEAE1"/>
          </a:solidFill>
          <a:ln w="12700">
            <a:solidFill>
              <a:srgbClr val="333333"/>
            </a:solidFill>
            <a:prstDash val="solid"/>
          </a:ln>
        </p:spPr>
      </p:sp>
      <p:sp>
        <p:nvSpPr>
          <p:cNvPr id="10" name="Text 8"/>
          <p:cNvSpPr/>
          <p:nvPr/>
        </p:nvSpPr>
        <p:spPr>
          <a:xfrm>
            <a:off x="1051560" y="4233672"/>
            <a:ext cx="2606040" cy="640080"/>
          </a:xfrm>
          <a:prstGeom prst="rect">
            <a:avLst/>
          </a:prstGeom>
          <a:noFill/>
          <a:ln/>
        </p:spPr>
        <p:txBody>
          <a:bodyPr wrap="square" lIns="0" tIns="0" rIns="0" bIns="0" rtlCol="0" anchor="ctr"/>
          <a:lstStyle/>
          <a:p>
            <a:pPr indent="0" marL="0">
              <a:lnSpc>
                <a:spcPts val="1400"/>
              </a:lnSpc>
              <a:buNone/>
            </a:pPr>
            <a:r>
              <a:rPr lang="en-US" sz="1050" b="1" dirty="0">
                <a:solidFill>
                  <a:srgbClr val="2A5C42"/>
                </a:solidFill>
                <a:latin typeface="Calibri" pitchFamily="34" charset="0"/>
                <a:ea typeface="Calibri" pitchFamily="34" charset="-122"/>
                <a:cs typeface="Calibri" pitchFamily="34" charset="-120"/>
              </a:rPr>
              <a:t>FIXED - we freeze the adjacency sets at the start of each level.</a:t>
            </a:r>
            <a:endParaRPr lang="en-US" sz="1050" dirty="0"/>
          </a:p>
        </p:txBody>
      </p:sp>
      <p:sp>
        <p:nvSpPr>
          <p:cNvPr id="11" name="Shape 9"/>
          <p:cNvSpPr/>
          <p:nvPr/>
        </p:nvSpPr>
        <p:spPr>
          <a:xfrm>
            <a:off x="4361688" y="1783080"/>
            <a:ext cx="3429000" cy="3337560"/>
          </a:xfrm>
          <a:prstGeom prst="roundRect">
            <a:avLst>
              <a:gd name="adj" fmla="val 2192"/>
            </a:avLst>
          </a:prstGeom>
          <a:solidFill>
            <a:srgbClr val="F0F3F5"/>
          </a:solidFill>
          <a:ln w="12700">
            <a:solidFill>
              <a:srgbClr val="F0F3F5"/>
            </a:solidFill>
            <a:prstDash val="solid"/>
          </a:ln>
        </p:spPr>
      </p:sp>
      <p:sp>
        <p:nvSpPr>
          <p:cNvPr id="12" name="Shape 10"/>
          <p:cNvSpPr/>
          <p:nvPr/>
        </p:nvSpPr>
        <p:spPr>
          <a:xfrm>
            <a:off x="4636008" y="2011680"/>
            <a:ext cx="384048" cy="384048"/>
          </a:xfrm>
          <a:prstGeom prst="ellipse">
            <a:avLst/>
          </a:prstGeom>
          <a:solidFill>
            <a:srgbClr val="E07A28"/>
          </a:solidFill>
          <a:ln/>
        </p:spPr>
      </p:sp>
      <p:sp>
        <p:nvSpPr>
          <p:cNvPr id="13" name="Text 11"/>
          <p:cNvSpPr/>
          <p:nvPr/>
        </p:nvSpPr>
        <p:spPr>
          <a:xfrm>
            <a:off x="4636008" y="20116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4636008" y="2542032"/>
            <a:ext cx="2880360" cy="365760"/>
          </a:xfrm>
          <a:prstGeom prst="rect">
            <a:avLst/>
          </a:prstGeom>
          <a:noFill/>
          <a:ln/>
        </p:spPr>
        <p:txBody>
          <a:bodyPr wrap="square" lIns="0" tIns="0" rIns="0" bIns="0" rtlCol="0" anchor="ctr"/>
          <a:lstStyle/>
          <a:p>
            <a:pPr indent="0" marL="0">
              <a:buNone/>
            </a:pPr>
            <a:r>
              <a:rPr lang="en-US" sz="1800" b="1" dirty="0">
                <a:solidFill>
                  <a:srgbClr val="16232E"/>
                </a:solidFill>
                <a:latin typeface="Cambria" pitchFamily="34" charset="0"/>
                <a:ea typeface="Cambria" pitchFamily="34" charset="-122"/>
                <a:cs typeface="Cambria" pitchFamily="34" charset="-120"/>
              </a:rPr>
              <a:t>Collider orientation</a:t>
            </a:r>
            <a:endParaRPr lang="en-US" sz="1800" dirty="0"/>
          </a:p>
        </p:txBody>
      </p:sp>
      <p:sp>
        <p:nvSpPr>
          <p:cNvPr id="15" name="Text 13"/>
          <p:cNvSpPr/>
          <p:nvPr/>
        </p:nvSpPr>
        <p:spPr>
          <a:xfrm>
            <a:off x="4636008" y="2971800"/>
            <a:ext cx="2880360" cy="1188720"/>
          </a:xfrm>
          <a:prstGeom prst="rect">
            <a:avLst/>
          </a:prstGeom>
          <a:noFill/>
          <a:ln/>
        </p:spPr>
        <p:txBody>
          <a:bodyPr wrap="square" lIns="0" tIns="0" rIns="0" bIns="0" rtlCol="0" anchor="t"/>
          <a:lstStyle/>
          <a:p>
            <a:pPr indent="0" marL="0">
              <a:lnSpc>
                <a:spcPts val="1700"/>
              </a:lnSpc>
              <a:buNone/>
            </a:pPr>
            <a:r>
              <a:rPr lang="en-US" sz="1200" dirty="0">
                <a:solidFill>
                  <a:srgbClr val="24363F"/>
                </a:solidFill>
                <a:latin typeface="Calibri" pitchFamily="34" charset="0"/>
                <a:ea typeface="Calibri" pitchFamily="34" charset="-122"/>
                <a:cs typeface="Calibri" pitchFamily="34" charset="-120"/>
              </a:rPr>
              <a:t>The algorithm stores one separating set per pair. A different order stores a different set, and the collider decision flips.</a:t>
            </a:r>
            <a:endParaRPr lang="en-US" sz="1200" dirty="0"/>
          </a:p>
        </p:txBody>
      </p:sp>
      <p:sp>
        <p:nvSpPr>
          <p:cNvPr id="16" name="Shape 14"/>
          <p:cNvSpPr/>
          <p:nvPr/>
        </p:nvSpPr>
        <p:spPr>
          <a:xfrm>
            <a:off x="4636008" y="4160520"/>
            <a:ext cx="2880360" cy="777240"/>
          </a:xfrm>
          <a:prstGeom prst="roundRect">
            <a:avLst>
              <a:gd name="adj" fmla="val 7059"/>
            </a:avLst>
          </a:prstGeom>
          <a:solidFill>
            <a:srgbClr val="F7E6D6"/>
          </a:solidFill>
          <a:ln w="12700">
            <a:solidFill>
              <a:srgbClr val="333333"/>
            </a:solidFill>
            <a:prstDash val="solid"/>
          </a:ln>
        </p:spPr>
      </p:sp>
      <p:sp>
        <p:nvSpPr>
          <p:cNvPr id="17" name="Text 15"/>
          <p:cNvSpPr/>
          <p:nvPr/>
        </p:nvSpPr>
        <p:spPr>
          <a:xfrm>
            <a:off x="4773168" y="4233672"/>
            <a:ext cx="2606040" cy="640080"/>
          </a:xfrm>
          <a:prstGeom prst="rect">
            <a:avLst/>
          </a:prstGeom>
          <a:noFill/>
          <a:ln/>
        </p:spPr>
        <p:txBody>
          <a:bodyPr wrap="square" lIns="0" tIns="0" rIns="0" bIns="0" rtlCol="0" anchor="ctr"/>
          <a:lstStyle/>
          <a:p>
            <a:pPr indent="0" marL="0">
              <a:lnSpc>
                <a:spcPts val="1400"/>
              </a:lnSpc>
              <a:buNone/>
            </a:pPr>
            <a:r>
              <a:rPr lang="en-US" sz="1050" b="1" dirty="0">
                <a:solidFill>
                  <a:srgbClr val="8A4A16"/>
                </a:solidFill>
                <a:latin typeface="Calibri" pitchFamily="34" charset="0"/>
                <a:ea typeface="Calibri" pitchFamily="34" charset="-122"/>
                <a:cs typeface="Calibri" pitchFamily="34" charset="-120"/>
              </a:rPr>
              <a:t>OPEN - the fix is majority-rule or conservative voting over every valid separating set.</a:t>
            </a:r>
            <a:endParaRPr lang="en-US" sz="1050" dirty="0"/>
          </a:p>
        </p:txBody>
      </p:sp>
      <p:sp>
        <p:nvSpPr>
          <p:cNvPr id="18" name="Shape 16"/>
          <p:cNvSpPr/>
          <p:nvPr/>
        </p:nvSpPr>
        <p:spPr>
          <a:xfrm>
            <a:off x="8083296" y="1783080"/>
            <a:ext cx="3429000" cy="3337560"/>
          </a:xfrm>
          <a:prstGeom prst="roundRect">
            <a:avLst>
              <a:gd name="adj" fmla="val 2192"/>
            </a:avLst>
          </a:prstGeom>
          <a:solidFill>
            <a:srgbClr val="F0F3F5"/>
          </a:solidFill>
          <a:ln w="12700">
            <a:solidFill>
              <a:srgbClr val="F0F3F5"/>
            </a:solidFill>
            <a:prstDash val="solid"/>
          </a:ln>
        </p:spPr>
      </p:sp>
      <p:sp>
        <p:nvSpPr>
          <p:cNvPr id="19" name="Shape 17"/>
          <p:cNvSpPr/>
          <p:nvPr/>
        </p:nvSpPr>
        <p:spPr>
          <a:xfrm>
            <a:off x="8357616" y="2011680"/>
            <a:ext cx="384048" cy="384048"/>
          </a:xfrm>
          <a:prstGeom prst="ellipse">
            <a:avLst/>
          </a:prstGeom>
          <a:solidFill>
            <a:srgbClr val="E07A28"/>
          </a:solidFill>
          <a:ln/>
        </p:spPr>
      </p:sp>
      <p:sp>
        <p:nvSpPr>
          <p:cNvPr id="20" name="Text 18"/>
          <p:cNvSpPr/>
          <p:nvPr/>
        </p:nvSpPr>
        <p:spPr>
          <a:xfrm>
            <a:off x="8357616" y="20116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9"/>
          <p:cNvSpPr/>
          <p:nvPr/>
        </p:nvSpPr>
        <p:spPr>
          <a:xfrm>
            <a:off x="8357616" y="2542032"/>
            <a:ext cx="2880360" cy="365760"/>
          </a:xfrm>
          <a:prstGeom prst="rect">
            <a:avLst/>
          </a:prstGeom>
          <a:noFill/>
          <a:ln/>
        </p:spPr>
        <p:txBody>
          <a:bodyPr wrap="square" lIns="0" tIns="0" rIns="0" bIns="0" rtlCol="0" anchor="ctr"/>
          <a:lstStyle/>
          <a:p>
            <a:pPr indent="0" marL="0">
              <a:buNone/>
            </a:pPr>
            <a:r>
              <a:rPr lang="en-US" sz="1800" b="1" dirty="0">
                <a:solidFill>
                  <a:srgbClr val="16232E"/>
                </a:solidFill>
                <a:latin typeface="Cambria" pitchFamily="34" charset="0"/>
                <a:ea typeface="Cambria" pitchFamily="34" charset="-122"/>
                <a:cs typeface="Cambria" pitchFamily="34" charset="-120"/>
              </a:rPr>
              <a:t>Meek rules</a:t>
            </a:r>
            <a:endParaRPr lang="en-US" sz="1800" dirty="0"/>
          </a:p>
        </p:txBody>
      </p:sp>
      <p:sp>
        <p:nvSpPr>
          <p:cNvPr id="22" name="Text 20"/>
          <p:cNvSpPr/>
          <p:nvPr/>
        </p:nvSpPr>
        <p:spPr>
          <a:xfrm>
            <a:off x="8357616" y="2971800"/>
            <a:ext cx="2880360" cy="1188720"/>
          </a:xfrm>
          <a:prstGeom prst="rect">
            <a:avLst/>
          </a:prstGeom>
          <a:noFill/>
          <a:ln/>
        </p:spPr>
        <p:txBody>
          <a:bodyPr wrap="square" lIns="0" tIns="0" rIns="0" bIns="0" rtlCol="0" anchor="t"/>
          <a:lstStyle/>
          <a:p>
            <a:pPr indent="0" marL="0">
              <a:lnSpc>
                <a:spcPts val="1700"/>
              </a:lnSpc>
              <a:buNone/>
            </a:pPr>
            <a:r>
              <a:rPr lang="en-US" sz="1200" dirty="0">
                <a:solidFill>
                  <a:srgbClr val="24363F"/>
                </a:solidFill>
                <a:latin typeface="Calibri" pitchFamily="34" charset="0"/>
                <a:ea typeface="Calibri" pitchFamily="34" charset="-122"/>
                <a:cs typeface="Calibri" pitchFamily="34" charset="-120"/>
              </a:rPr>
              <a:t>The order of rule application changes the final CPDAG and can create conflicting arrow directions.</a:t>
            </a:r>
            <a:endParaRPr lang="en-US" sz="1200" dirty="0"/>
          </a:p>
        </p:txBody>
      </p:sp>
      <p:sp>
        <p:nvSpPr>
          <p:cNvPr id="23" name="Shape 21"/>
          <p:cNvSpPr/>
          <p:nvPr/>
        </p:nvSpPr>
        <p:spPr>
          <a:xfrm>
            <a:off x="8357616" y="4160520"/>
            <a:ext cx="2880360" cy="777240"/>
          </a:xfrm>
          <a:prstGeom prst="roundRect">
            <a:avLst>
              <a:gd name="adj" fmla="val 7059"/>
            </a:avLst>
          </a:prstGeom>
          <a:solidFill>
            <a:srgbClr val="F7E6D6"/>
          </a:solidFill>
          <a:ln w="12700">
            <a:solidFill>
              <a:srgbClr val="333333"/>
            </a:solidFill>
            <a:prstDash val="solid"/>
          </a:ln>
        </p:spPr>
      </p:sp>
      <p:sp>
        <p:nvSpPr>
          <p:cNvPr id="24" name="Text 22"/>
          <p:cNvSpPr/>
          <p:nvPr/>
        </p:nvSpPr>
        <p:spPr>
          <a:xfrm>
            <a:off x="8494776" y="4233672"/>
            <a:ext cx="2606040" cy="640080"/>
          </a:xfrm>
          <a:prstGeom prst="rect">
            <a:avLst/>
          </a:prstGeom>
          <a:noFill/>
          <a:ln/>
        </p:spPr>
        <p:txBody>
          <a:bodyPr wrap="square" lIns="0" tIns="0" rIns="0" bIns="0" rtlCol="0" anchor="ctr"/>
          <a:lstStyle/>
          <a:p>
            <a:pPr indent="0" marL="0">
              <a:lnSpc>
                <a:spcPts val="1400"/>
              </a:lnSpc>
              <a:buNone/>
            </a:pPr>
            <a:r>
              <a:rPr lang="en-US" sz="1050" b="1" dirty="0">
                <a:solidFill>
                  <a:srgbClr val="8A4A16"/>
                </a:solidFill>
                <a:latin typeface="Calibri" pitchFamily="34" charset="0"/>
                <a:ea typeface="Calibri" pitchFamily="34" charset="-122"/>
                <a:cs typeface="Calibri" pitchFamily="34" charset="-120"/>
              </a:rPr>
              <a:t>OPEN - the fix collects all orientations first, then marks conflicts with a bi-directed edge.</a:t>
            </a:r>
            <a:endParaRPr lang="en-US" sz="1050" dirty="0"/>
          </a:p>
        </p:txBody>
      </p:sp>
      <p:sp>
        <p:nvSpPr>
          <p:cNvPr id="25" name="Text 23"/>
          <p:cNvSpPr/>
          <p:nvPr/>
        </p:nvSpPr>
        <p:spPr>
          <a:xfrm>
            <a:off x="640080" y="5349240"/>
            <a:ext cx="10881360" cy="365760"/>
          </a:xfrm>
          <a:prstGeom prst="rect">
            <a:avLst/>
          </a:prstGeom>
          <a:noFill/>
          <a:ln/>
        </p:spPr>
        <p:txBody>
          <a:bodyPr wrap="square" lIns="0" tIns="0" rIns="0" bIns="0" rtlCol="0" anchor="ctr"/>
          <a:lstStyle/>
          <a:p>
            <a:pPr indent="0" marL="0">
              <a:buNone/>
            </a:pPr>
            <a:r>
              <a:rPr lang="en-US" sz="1300" i="1" dirty="0">
                <a:solidFill>
                  <a:srgbClr val="2E7D8A"/>
                </a:solidFill>
                <a:latin typeface="Calibri" pitchFamily="34" charset="0"/>
                <a:ea typeface="Calibri" pitchFamily="34" charset="-122"/>
                <a:cs typeface="Calibri" pitchFamily="34" charset="-120"/>
              </a:rPr>
              <a:t>On a 5,361-gene dataset, 25 different variable orders left about 2,000 edges appearing in half the runs or fewer.</a:t>
            </a:r>
            <a:endParaRPr lang="en-US" sz="1300" dirty="0"/>
          </a:p>
        </p:txBody>
      </p:sp>
      <p:sp>
        <p:nvSpPr>
          <p:cNvPr id="26" name="Text 24"/>
          <p:cNvSpPr/>
          <p:nvPr/>
        </p:nvSpPr>
        <p:spPr>
          <a:xfrm>
            <a:off x="640080" y="6327648"/>
            <a:ext cx="10881360" cy="274320"/>
          </a:xfrm>
          <a:prstGeom prst="rect">
            <a:avLst/>
          </a:prstGeom>
          <a:noFill/>
          <a:ln/>
        </p:spPr>
        <p:txBody>
          <a:bodyPr wrap="square" lIns="0" tIns="0" rIns="0" bIns="0" rtlCol="0" anchor="ctr"/>
          <a:lstStyle/>
          <a:p>
            <a:pPr indent="0" marL="0">
              <a:buNone/>
            </a:pPr>
            <a:r>
              <a:rPr lang="en-US" sz="900" dirty="0">
                <a:solidFill>
                  <a:srgbClr val="6B7A85"/>
                </a:solidFill>
                <a:latin typeface="Calibri" pitchFamily="34" charset="0"/>
                <a:ea typeface="Calibri" pitchFamily="34" charset="-122"/>
                <a:cs typeface="Calibri" pitchFamily="34" charset="-120"/>
              </a:rPr>
              <a:t>Colombo &amp; Maathuis, Order-Independent Constraint-Based Causal Structure Learning, JMLR 15(116):3921-3962, 2014 - jmlr.org/papers/v15/colombo14a.html</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2E7D8A"/>
                </a:solidFill>
                <a:latin typeface="Calibri" pitchFamily="34" charset="0"/>
                <a:ea typeface="Calibri" pitchFamily="34" charset="-122"/>
                <a:cs typeface="Calibri" pitchFamily="34" charset="-120"/>
              </a:rPr>
              <a:t>QUESTION 1 - COLLIDER RULES</a:t>
            </a:r>
            <a:endParaRPr lang="en-US" sz="1100" dirty="0"/>
          </a:p>
        </p:txBody>
      </p:sp>
      <p:sp>
        <p:nvSpPr>
          <p:cNvPr id="3" name="Text 1"/>
          <p:cNvSpPr/>
          <p:nvPr/>
        </p:nvSpPr>
        <p:spPr>
          <a:xfrm>
            <a:off x="640080" y="658368"/>
            <a:ext cx="10881360" cy="868680"/>
          </a:xfrm>
          <a:prstGeom prst="rect">
            <a:avLst/>
          </a:prstGeom>
          <a:noFill/>
          <a:ln/>
        </p:spPr>
        <p:txBody>
          <a:bodyPr wrap="square" lIns="0" tIns="0" rIns="0" bIns="0" rtlCol="0" anchor="t"/>
          <a:lstStyle/>
          <a:p>
            <a:pPr indent="0" marL="0">
              <a:buNone/>
            </a:pPr>
            <a:r>
              <a:rPr lang="en-US" sz="3000" b="1" dirty="0">
                <a:solidFill>
                  <a:srgbClr val="16232E"/>
                </a:solidFill>
                <a:latin typeface="Cambria" pitchFamily="34" charset="0"/>
                <a:ea typeface="Cambria" pitchFamily="34" charset="-122"/>
                <a:cs typeface="Cambria" pitchFamily="34" charset="-120"/>
              </a:rPr>
              <a:t>No collider rule wins on both precision and recall</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881360" cy="914400"/>
        </p:xfrm>
        <a:graphic>
          <a:graphicData uri="http://schemas.openxmlformats.org/drawingml/2006/table">
            <a:tbl>
              <a:tblPr/>
              <a:tblGrid>
                <a:gridCol w="1920240"/>
                <a:gridCol w="3749040"/>
                <a:gridCol w="2606040"/>
                <a:gridCol w="2606040"/>
              </a:tblGrid>
              <a:tr h="47548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Rule</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solidFill>
                      <a:srgbClr val="24363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How it decides a collider</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solidFill>
                      <a:srgbClr val="24363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you gain</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solidFill>
                      <a:srgbClr val="24363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you lose</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solidFill>
                      <a:srgbClr val="24363F"/>
                    </a:solidFill>
                  </a:tcPr>
                </a:tc>
              </a:tr>
              <a:tr h="475488">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Standard sepset</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Uses the single separating set stored during the skeleton search.</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Speed.</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Order dependence. Conflicting arrows.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r>
              <a:tr h="475488">
                <a:tc>
                  <a:txBody>
                    <a:bodyPr/>
                    <a:lstStyle/>
                    <a:p>
                      <a:pPr indent="0" marL="0">
                        <a:buNone/>
                      </a:pPr>
                      <a:r>
                        <a:rPr lang="en-US" sz="1200" b="1" dirty="0">
                          <a:solidFill>
                            <a:srgbClr val="16232E"/>
                          </a:solidFill>
                          <a:latin typeface="Calibri" pitchFamily="34" charset="0"/>
                          <a:ea typeface="Calibri" pitchFamily="34" charset="-122"/>
                          <a:cs typeface="Calibri" pitchFamily="34" charset="-120"/>
                        </a:rPr>
                        <a:t>Conservative (CPC)</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Lists every valid separating set. Orients only when all sets agree.</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Highest orientation precision.</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Lowest recall. Many triples stay ambiguous.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r>
              <a:tr h="475488">
                <a:tc>
                  <a:txBody>
                    <a:bodyPr/>
                    <a:lstStyle/>
                    <a:p>
                      <a:pPr indent="0" marL="0">
                        <a:buNone/>
                      </a:pPr>
                      <a:r>
                        <a:rPr lang="en-US" sz="1200" b="1" dirty="0">
                          <a:solidFill>
                            <a:srgbClr val="E07A28"/>
                          </a:solidFill>
                          <a:latin typeface="Calibri" pitchFamily="34" charset="0"/>
                          <a:ea typeface="Calibri" pitchFamily="34" charset="-122"/>
                          <a:cs typeface="Calibri" pitchFamily="34" charset="-120"/>
                        </a:rPr>
                        <a:t>Majority rule (MPC)</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Orients a collider when the middle node sits in fewer than half of the sets.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Best ROC for directed edges in the 2014 study.</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Ties still produce ambiguous triples.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r>
              <a:tr h="475488">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MaxP / PC-Max</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Uses the separating set with the largest p-value.</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Every triple gets a decision. No bi-directed edges.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Slightly lower precision than CPC.</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r>
              <a:tr h="475488">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definiteMaxP</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Orients only definite colliders and tracks definite non-colliders.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Caution where the evidence is weak.</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Fewer oriented edges again.</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r>
            </a:tbl>
          </a:graphicData>
        </a:graphic>
      </p:graphicFrame>
      <p:sp>
        <p:nvSpPr>
          <p:cNvPr id="5" name="Shape 2"/>
          <p:cNvSpPr/>
          <p:nvPr/>
        </p:nvSpPr>
        <p:spPr>
          <a:xfrm>
            <a:off x="640080" y="5074920"/>
            <a:ext cx="5303520" cy="960120"/>
          </a:xfrm>
          <a:prstGeom prst="roundRect">
            <a:avLst>
              <a:gd name="adj" fmla="val 7619"/>
            </a:avLst>
          </a:prstGeom>
          <a:solidFill>
            <a:srgbClr val="E6EDF0"/>
          </a:solidFill>
          <a:ln w="12700">
            <a:solidFill>
              <a:srgbClr val="E6EDF0"/>
            </a:solidFill>
            <a:prstDash val="solid"/>
          </a:ln>
        </p:spPr>
      </p:sp>
      <p:sp>
        <p:nvSpPr>
          <p:cNvPr id="6" name="Text 3"/>
          <p:cNvSpPr/>
          <p:nvPr/>
        </p:nvSpPr>
        <p:spPr>
          <a:xfrm>
            <a:off x="868680" y="5193792"/>
            <a:ext cx="4892040" cy="731520"/>
          </a:xfrm>
          <a:prstGeom prst="rect">
            <a:avLst/>
          </a:prstGeom>
          <a:noFill/>
          <a:ln/>
        </p:spPr>
        <p:txBody>
          <a:bodyPr wrap="square" lIns="0" tIns="0" rIns="0" bIns="0" rtlCol="0" anchor="ctr"/>
          <a:lstStyle/>
          <a:p>
            <a:pPr indent="0" marL="0">
              <a:lnSpc>
                <a:spcPts val="1600"/>
              </a:lnSpc>
              <a:buNone/>
            </a:pPr>
            <a:r>
              <a:rPr lang="en-US" sz="1200" dirty="0">
                <a:solidFill>
                  <a:srgbClr val="16232E"/>
                </a:solidFill>
                <a:latin typeface="Calibri" pitchFamily="34" charset="0"/>
                <a:ea typeface="Calibri" pitchFamily="34" charset="-122"/>
                <a:cs typeface="Calibri" pitchFamily="34" charset="-120"/>
              </a:rPr>
              <a:t>CPC marks about 4% of triples ambiguous at average degree 2, and about 7% at degree 4. No other rule marks any.</a:t>
            </a:r>
            <a:endParaRPr lang="en-US" sz="1200" dirty="0"/>
          </a:p>
        </p:txBody>
      </p:sp>
      <p:sp>
        <p:nvSpPr>
          <p:cNvPr id="7" name="Shape 4"/>
          <p:cNvSpPr/>
          <p:nvPr/>
        </p:nvSpPr>
        <p:spPr>
          <a:xfrm>
            <a:off x="6217920" y="5074920"/>
            <a:ext cx="5303520" cy="960120"/>
          </a:xfrm>
          <a:prstGeom prst="roundRect">
            <a:avLst>
              <a:gd name="adj" fmla="val 7619"/>
            </a:avLst>
          </a:prstGeom>
          <a:solidFill>
            <a:srgbClr val="E6EDF0"/>
          </a:solidFill>
          <a:ln w="12700">
            <a:solidFill>
              <a:srgbClr val="E6EDF0"/>
            </a:solidFill>
            <a:prstDash val="solid"/>
          </a:ln>
        </p:spPr>
      </p:sp>
      <p:sp>
        <p:nvSpPr>
          <p:cNvPr id="8" name="Text 5"/>
          <p:cNvSpPr/>
          <p:nvPr/>
        </p:nvSpPr>
        <p:spPr>
          <a:xfrm>
            <a:off x="6446520" y="5193792"/>
            <a:ext cx="4892040" cy="731520"/>
          </a:xfrm>
          <a:prstGeom prst="rect">
            <a:avLst/>
          </a:prstGeom>
          <a:noFill/>
          <a:ln/>
        </p:spPr>
        <p:txBody>
          <a:bodyPr wrap="square" lIns="0" tIns="0" rIns="0" bIns="0" rtlCol="0" anchor="ctr"/>
          <a:lstStyle/>
          <a:p>
            <a:pPr indent="0" marL="0">
              <a:lnSpc>
                <a:spcPts val="1600"/>
              </a:lnSpc>
              <a:buNone/>
            </a:pPr>
            <a:r>
              <a:rPr lang="en-US" sz="1200" dirty="0">
                <a:solidFill>
                  <a:srgbClr val="16232E"/>
                </a:solidFill>
                <a:latin typeface="Calibri" pitchFamily="34" charset="0"/>
                <a:ea typeface="Calibri" pitchFamily="34" charset="-122"/>
                <a:cs typeface="Calibri" pitchFamily="34" charset="-120"/>
              </a:rPr>
              <a:t>Choose by error budget. Wrong arrows are expensive for us, so start at MPC and read the ambiguous count.</a:t>
            </a:r>
            <a:endParaRPr lang="en-US" sz="1200" dirty="0"/>
          </a:p>
        </p:txBody>
      </p:sp>
      <p:sp>
        <p:nvSpPr>
          <p:cNvPr id="9" name="Text 6"/>
          <p:cNvSpPr/>
          <p:nvPr/>
        </p:nvSpPr>
        <p:spPr>
          <a:xfrm>
            <a:off x="640080" y="6327648"/>
            <a:ext cx="10881360" cy="274320"/>
          </a:xfrm>
          <a:prstGeom prst="rect">
            <a:avLst/>
          </a:prstGeom>
          <a:noFill/>
          <a:ln/>
        </p:spPr>
        <p:txBody>
          <a:bodyPr wrap="square" lIns="0" tIns="0" rIns="0" bIns="0" rtlCol="0" anchor="ctr"/>
          <a:lstStyle/>
          <a:p>
            <a:pPr indent="0" marL="0">
              <a:buNone/>
            </a:pPr>
            <a:r>
              <a:rPr lang="en-US" sz="900" dirty="0">
                <a:solidFill>
                  <a:srgbClr val="6B7A85"/>
                </a:solidFill>
                <a:latin typeface="Calibri" pitchFamily="34" charset="0"/>
                <a:ea typeface="Calibri" pitchFamily="34" charset="-122"/>
                <a:cs typeface="Calibri" pitchFamily="34" charset="-120"/>
              </a:rPr>
              <a:t>Ramsey, arXiv:1610.00378, 2016 - arxiv.org/abs/1610.00378 | Raghu, Poon &amp; Benos, PMLR 92:48-65, 2018 - proceedings.mlr.press/v92/raghu18a.html</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2E7D8A"/>
                </a:solidFill>
                <a:latin typeface="Calibri" pitchFamily="34" charset="0"/>
                <a:ea typeface="Calibri" pitchFamily="34" charset="-122"/>
                <a:cs typeface="Calibri" pitchFamily="34" charset="-120"/>
              </a:rPr>
              <a:t>QUESTION 1 - THE LANDSCAPE</a:t>
            </a:r>
            <a:endParaRPr lang="en-US" sz="1100" dirty="0"/>
          </a:p>
        </p:txBody>
      </p:sp>
      <p:sp>
        <p:nvSpPr>
          <p:cNvPr id="3" name="Text 1"/>
          <p:cNvSpPr/>
          <p:nvPr/>
        </p:nvSpPr>
        <p:spPr>
          <a:xfrm>
            <a:off x="640080" y="658368"/>
            <a:ext cx="10881360" cy="868680"/>
          </a:xfrm>
          <a:prstGeom prst="rect">
            <a:avLst/>
          </a:prstGeom>
          <a:noFill/>
          <a:ln/>
        </p:spPr>
        <p:txBody>
          <a:bodyPr wrap="square" lIns="0" tIns="0" rIns="0" bIns="0" rtlCol="0" anchor="t"/>
          <a:lstStyle/>
          <a:p>
            <a:pPr indent="0" marL="0">
              <a:buNone/>
            </a:pPr>
            <a:r>
              <a:rPr lang="en-US" sz="3000" b="1" dirty="0">
                <a:solidFill>
                  <a:srgbClr val="16232E"/>
                </a:solidFill>
                <a:latin typeface="Cambria" pitchFamily="34" charset="0"/>
                <a:ea typeface="Cambria" pitchFamily="34" charset="-122"/>
                <a:cs typeface="Cambria" pitchFamily="34" charset="-120"/>
              </a:rPr>
              <a:t>Since 2014 the work moved in five directions, none of them plain PC</a:t>
            </a:r>
            <a:endParaRPr lang="en-US" sz="3000" dirty="0"/>
          </a:p>
        </p:txBody>
      </p:sp>
      <p:sp>
        <p:nvSpPr>
          <p:cNvPr id="4" name="Shape 2"/>
          <p:cNvSpPr/>
          <p:nvPr/>
        </p:nvSpPr>
        <p:spPr>
          <a:xfrm>
            <a:off x="640080" y="1828800"/>
            <a:ext cx="3429000" cy="1691640"/>
          </a:xfrm>
          <a:prstGeom prst="roundRect">
            <a:avLst>
              <a:gd name="adj" fmla="val 4324"/>
            </a:avLst>
          </a:prstGeom>
          <a:solidFill>
            <a:srgbClr val="F0F3F5"/>
          </a:solidFill>
          <a:ln w="12700">
            <a:solidFill>
              <a:srgbClr val="F0F3F5"/>
            </a:solidFill>
            <a:prstDash val="solid"/>
          </a:ln>
        </p:spPr>
      </p:sp>
      <p:sp>
        <p:nvSpPr>
          <p:cNvPr id="5" name="Shape 3"/>
          <p:cNvSpPr/>
          <p:nvPr/>
        </p:nvSpPr>
        <p:spPr>
          <a:xfrm>
            <a:off x="914400" y="2084832"/>
            <a:ext cx="256032" cy="256032"/>
          </a:xfrm>
          <a:prstGeom prst="ellipse">
            <a:avLst/>
          </a:prstGeom>
          <a:solidFill>
            <a:srgbClr val="2E7D8A"/>
          </a:solidFill>
          <a:ln/>
        </p:spPr>
      </p:sp>
      <p:sp>
        <p:nvSpPr>
          <p:cNvPr id="6" name="Text 4"/>
          <p:cNvSpPr/>
          <p:nvPr/>
        </p:nvSpPr>
        <p:spPr>
          <a:xfrm>
            <a:off x="1298448" y="2029968"/>
            <a:ext cx="2560320" cy="365760"/>
          </a:xfrm>
          <a:prstGeom prst="rect">
            <a:avLst/>
          </a:prstGeom>
          <a:noFill/>
          <a:ln/>
        </p:spPr>
        <p:txBody>
          <a:bodyPr wrap="square" lIns="0" tIns="0" rIns="0" bIns="0" rtlCol="0" anchor="ctr"/>
          <a:lstStyle/>
          <a:p>
            <a:pPr indent="0" marL="0">
              <a:buNone/>
            </a:pPr>
            <a:r>
              <a:rPr lang="en-US" sz="1550" b="1" dirty="0">
                <a:solidFill>
                  <a:srgbClr val="16232E"/>
                </a:solidFill>
                <a:latin typeface="Cambria" pitchFamily="34" charset="0"/>
                <a:ea typeface="Cambria" pitchFamily="34" charset="-122"/>
                <a:cs typeface="Cambria" pitchFamily="34" charset="-120"/>
              </a:rPr>
              <a:t>Time series</a:t>
            </a:r>
            <a:endParaRPr lang="en-US" sz="1550" dirty="0"/>
          </a:p>
        </p:txBody>
      </p:sp>
      <p:sp>
        <p:nvSpPr>
          <p:cNvPr id="7" name="Text 5"/>
          <p:cNvSpPr/>
          <p:nvPr/>
        </p:nvSpPr>
        <p:spPr>
          <a:xfrm>
            <a:off x="914400" y="2487168"/>
            <a:ext cx="2926080" cy="914400"/>
          </a:xfrm>
          <a:prstGeom prst="rect">
            <a:avLst/>
          </a:prstGeom>
          <a:noFill/>
          <a:ln/>
        </p:spPr>
        <p:txBody>
          <a:bodyPr wrap="square" lIns="0" tIns="0" rIns="0" bIns="0" rtlCol="0" anchor="t"/>
          <a:lstStyle/>
          <a:p>
            <a:pPr indent="0" marL="0">
              <a:lnSpc>
                <a:spcPts val="1600"/>
              </a:lnSpc>
              <a:buNone/>
            </a:pPr>
            <a:r>
              <a:rPr lang="en-US" sz="1150" dirty="0">
                <a:solidFill>
                  <a:srgbClr val="24363F"/>
                </a:solidFill>
                <a:latin typeface="Calibri" pitchFamily="34" charset="0"/>
                <a:ea typeface="Calibri" pitchFamily="34" charset="-122"/>
                <a:cs typeface="Calibri" pitchFamily="34" charset="-120"/>
              </a:rPr>
              <a:t>PCMCI, PCMCI+, LPCMCI, Bagged-PCMCI+ handle lags and autocorrelation.</a:t>
            </a:r>
            <a:endParaRPr lang="en-US" sz="1150" dirty="0"/>
          </a:p>
        </p:txBody>
      </p:sp>
      <p:sp>
        <p:nvSpPr>
          <p:cNvPr id="8" name="Shape 6"/>
          <p:cNvSpPr/>
          <p:nvPr/>
        </p:nvSpPr>
        <p:spPr>
          <a:xfrm>
            <a:off x="4361688" y="1828800"/>
            <a:ext cx="3429000" cy="1691640"/>
          </a:xfrm>
          <a:prstGeom prst="roundRect">
            <a:avLst>
              <a:gd name="adj" fmla="val 4324"/>
            </a:avLst>
          </a:prstGeom>
          <a:solidFill>
            <a:srgbClr val="F0F3F5"/>
          </a:solidFill>
          <a:ln w="12700">
            <a:solidFill>
              <a:srgbClr val="F0F3F5"/>
            </a:solidFill>
            <a:prstDash val="solid"/>
          </a:ln>
        </p:spPr>
      </p:sp>
      <p:sp>
        <p:nvSpPr>
          <p:cNvPr id="9" name="Shape 7"/>
          <p:cNvSpPr/>
          <p:nvPr/>
        </p:nvSpPr>
        <p:spPr>
          <a:xfrm>
            <a:off x="4636008" y="2084832"/>
            <a:ext cx="256032" cy="256032"/>
          </a:xfrm>
          <a:prstGeom prst="ellipse">
            <a:avLst/>
          </a:prstGeom>
          <a:solidFill>
            <a:srgbClr val="2E7D8A"/>
          </a:solidFill>
          <a:ln/>
        </p:spPr>
      </p:sp>
      <p:sp>
        <p:nvSpPr>
          <p:cNvPr id="10" name="Text 8"/>
          <p:cNvSpPr/>
          <p:nvPr/>
        </p:nvSpPr>
        <p:spPr>
          <a:xfrm>
            <a:off x="5020056" y="2029968"/>
            <a:ext cx="2560320" cy="365760"/>
          </a:xfrm>
          <a:prstGeom prst="rect">
            <a:avLst/>
          </a:prstGeom>
          <a:noFill/>
          <a:ln/>
        </p:spPr>
        <p:txBody>
          <a:bodyPr wrap="square" lIns="0" tIns="0" rIns="0" bIns="0" rtlCol="0" anchor="ctr"/>
          <a:lstStyle/>
          <a:p>
            <a:pPr indent="0" marL="0">
              <a:buNone/>
            </a:pPr>
            <a:r>
              <a:rPr lang="en-US" sz="1550" b="1" dirty="0">
                <a:solidFill>
                  <a:srgbClr val="16232E"/>
                </a:solidFill>
                <a:latin typeface="Cambria" pitchFamily="34" charset="0"/>
                <a:ea typeface="Cambria" pitchFamily="34" charset="-122"/>
                <a:cs typeface="Cambria" pitchFamily="34" charset="-120"/>
              </a:rPr>
              <a:t>Latent variables</a:t>
            </a:r>
            <a:endParaRPr lang="en-US" sz="1550" dirty="0"/>
          </a:p>
        </p:txBody>
      </p:sp>
      <p:sp>
        <p:nvSpPr>
          <p:cNvPr id="11" name="Text 9"/>
          <p:cNvSpPr/>
          <p:nvPr/>
        </p:nvSpPr>
        <p:spPr>
          <a:xfrm>
            <a:off x="4636008" y="2487168"/>
            <a:ext cx="2926080" cy="914400"/>
          </a:xfrm>
          <a:prstGeom prst="rect">
            <a:avLst/>
          </a:prstGeom>
          <a:noFill/>
          <a:ln/>
        </p:spPr>
        <p:txBody>
          <a:bodyPr wrap="square" lIns="0" tIns="0" rIns="0" bIns="0" rtlCol="0" anchor="t"/>
          <a:lstStyle/>
          <a:p>
            <a:pPr indent="0" marL="0">
              <a:lnSpc>
                <a:spcPts val="1600"/>
              </a:lnSpc>
              <a:buNone/>
            </a:pPr>
            <a:r>
              <a:rPr lang="en-US" sz="1150" dirty="0">
                <a:solidFill>
                  <a:srgbClr val="24363F"/>
                </a:solidFill>
                <a:latin typeface="Calibri" pitchFamily="34" charset="0"/>
                <a:ea typeface="Calibri" pitchFamily="34" charset="-122"/>
                <a:cs typeface="Calibri" pitchFamily="34" charset="-120"/>
              </a:rPr>
              <a:t>FCI and RFCI drop causal sufficiency and return a PAG instead of a CPDAG.</a:t>
            </a:r>
            <a:endParaRPr lang="en-US" sz="1150" dirty="0"/>
          </a:p>
        </p:txBody>
      </p:sp>
      <p:sp>
        <p:nvSpPr>
          <p:cNvPr id="12" name="Shape 10"/>
          <p:cNvSpPr/>
          <p:nvPr/>
        </p:nvSpPr>
        <p:spPr>
          <a:xfrm>
            <a:off x="8083296" y="1828800"/>
            <a:ext cx="3429000" cy="1691640"/>
          </a:xfrm>
          <a:prstGeom prst="roundRect">
            <a:avLst>
              <a:gd name="adj" fmla="val 4324"/>
            </a:avLst>
          </a:prstGeom>
          <a:solidFill>
            <a:srgbClr val="F0F3F5"/>
          </a:solidFill>
          <a:ln w="12700">
            <a:solidFill>
              <a:srgbClr val="F0F3F5"/>
            </a:solidFill>
            <a:prstDash val="solid"/>
          </a:ln>
        </p:spPr>
      </p:sp>
      <p:sp>
        <p:nvSpPr>
          <p:cNvPr id="13" name="Shape 11"/>
          <p:cNvSpPr/>
          <p:nvPr/>
        </p:nvSpPr>
        <p:spPr>
          <a:xfrm>
            <a:off x="8357616" y="2084832"/>
            <a:ext cx="256032" cy="256032"/>
          </a:xfrm>
          <a:prstGeom prst="ellipse">
            <a:avLst/>
          </a:prstGeom>
          <a:solidFill>
            <a:srgbClr val="E07A28"/>
          </a:solidFill>
          <a:ln/>
        </p:spPr>
      </p:sp>
      <p:sp>
        <p:nvSpPr>
          <p:cNvPr id="14" name="Text 12"/>
          <p:cNvSpPr/>
          <p:nvPr/>
        </p:nvSpPr>
        <p:spPr>
          <a:xfrm>
            <a:off x="8741664" y="2029968"/>
            <a:ext cx="2560320" cy="365760"/>
          </a:xfrm>
          <a:prstGeom prst="rect">
            <a:avLst/>
          </a:prstGeom>
          <a:noFill/>
          <a:ln/>
        </p:spPr>
        <p:txBody>
          <a:bodyPr wrap="square" lIns="0" tIns="0" rIns="0" bIns="0" rtlCol="0" anchor="ctr"/>
          <a:lstStyle/>
          <a:p>
            <a:pPr indent="0" marL="0">
              <a:buNone/>
            </a:pPr>
            <a:r>
              <a:rPr lang="en-US" sz="1550" b="1" dirty="0">
                <a:solidFill>
                  <a:srgbClr val="16232E"/>
                </a:solidFill>
                <a:latin typeface="Cambria" pitchFamily="34" charset="0"/>
                <a:ea typeface="Cambria" pitchFamily="34" charset="-122"/>
                <a:cs typeface="Cambria" pitchFamily="34" charset="-120"/>
              </a:rPr>
              <a:t>Score-based search</a:t>
            </a:r>
            <a:endParaRPr lang="en-US" sz="1550" dirty="0"/>
          </a:p>
        </p:txBody>
      </p:sp>
      <p:sp>
        <p:nvSpPr>
          <p:cNvPr id="15" name="Text 13"/>
          <p:cNvSpPr/>
          <p:nvPr/>
        </p:nvSpPr>
        <p:spPr>
          <a:xfrm>
            <a:off x="8357616" y="2487168"/>
            <a:ext cx="2926080" cy="914400"/>
          </a:xfrm>
          <a:prstGeom prst="rect">
            <a:avLst/>
          </a:prstGeom>
          <a:noFill/>
          <a:ln/>
        </p:spPr>
        <p:txBody>
          <a:bodyPr wrap="square" lIns="0" tIns="0" rIns="0" bIns="0" rtlCol="0" anchor="t"/>
          <a:lstStyle/>
          <a:p>
            <a:pPr indent="0" marL="0">
              <a:lnSpc>
                <a:spcPts val="1600"/>
              </a:lnSpc>
              <a:buNone/>
            </a:pPr>
            <a:r>
              <a:rPr lang="en-US" sz="1150" dirty="0">
                <a:solidFill>
                  <a:srgbClr val="24363F"/>
                </a:solidFill>
                <a:latin typeface="Calibri" pitchFamily="34" charset="0"/>
                <a:ea typeface="Calibri" pitchFamily="34" charset="-122"/>
                <a:cs typeface="Calibri" pitchFamily="34" charset="-120"/>
              </a:rPr>
              <a:t>GES, GRaSP and BOSS search over scores and orders. They beat every PC variant on orientation recall.</a:t>
            </a:r>
            <a:endParaRPr lang="en-US" sz="1150" dirty="0"/>
          </a:p>
        </p:txBody>
      </p:sp>
      <p:sp>
        <p:nvSpPr>
          <p:cNvPr id="16" name="Shape 14"/>
          <p:cNvSpPr/>
          <p:nvPr/>
        </p:nvSpPr>
        <p:spPr>
          <a:xfrm>
            <a:off x="640080" y="3703320"/>
            <a:ext cx="3429000" cy="1691640"/>
          </a:xfrm>
          <a:prstGeom prst="roundRect">
            <a:avLst>
              <a:gd name="adj" fmla="val 4324"/>
            </a:avLst>
          </a:prstGeom>
          <a:solidFill>
            <a:srgbClr val="F0F3F5"/>
          </a:solidFill>
          <a:ln w="12700">
            <a:solidFill>
              <a:srgbClr val="F0F3F5"/>
            </a:solidFill>
            <a:prstDash val="solid"/>
          </a:ln>
        </p:spPr>
      </p:sp>
      <p:sp>
        <p:nvSpPr>
          <p:cNvPr id="17" name="Shape 15"/>
          <p:cNvSpPr/>
          <p:nvPr/>
        </p:nvSpPr>
        <p:spPr>
          <a:xfrm>
            <a:off x="914400" y="3959352"/>
            <a:ext cx="256032" cy="256032"/>
          </a:xfrm>
          <a:prstGeom prst="ellipse">
            <a:avLst/>
          </a:prstGeom>
          <a:solidFill>
            <a:srgbClr val="2E7D8A"/>
          </a:solidFill>
          <a:ln/>
        </p:spPr>
      </p:sp>
      <p:sp>
        <p:nvSpPr>
          <p:cNvPr id="18" name="Text 16"/>
          <p:cNvSpPr/>
          <p:nvPr/>
        </p:nvSpPr>
        <p:spPr>
          <a:xfrm>
            <a:off x="1298448" y="3904488"/>
            <a:ext cx="2560320" cy="365760"/>
          </a:xfrm>
          <a:prstGeom prst="rect">
            <a:avLst/>
          </a:prstGeom>
          <a:noFill/>
          <a:ln/>
        </p:spPr>
        <p:txBody>
          <a:bodyPr wrap="square" lIns="0" tIns="0" rIns="0" bIns="0" rtlCol="0" anchor="ctr"/>
          <a:lstStyle/>
          <a:p>
            <a:pPr indent="0" marL="0">
              <a:buNone/>
            </a:pPr>
            <a:r>
              <a:rPr lang="en-US" sz="1550" b="1" dirty="0">
                <a:solidFill>
                  <a:srgbClr val="16232E"/>
                </a:solidFill>
                <a:latin typeface="Cambria" pitchFamily="34" charset="0"/>
                <a:ea typeface="Cambria" pitchFamily="34" charset="-122"/>
                <a:cs typeface="Cambria" pitchFamily="34" charset="-120"/>
              </a:rPr>
              <a:t>Speed</a:t>
            </a:r>
            <a:endParaRPr lang="en-US" sz="1550" dirty="0"/>
          </a:p>
        </p:txBody>
      </p:sp>
      <p:sp>
        <p:nvSpPr>
          <p:cNvPr id="19" name="Text 17"/>
          <p:cNvSpPr/>
          <p:nvPr/>
        </p:nvSpPr>
        <p:spPr>
          <a:xfrm>
            <a:off x="914400" y="4361688"/>
            <a:ext cx="2926080" cy="914400"/>
          </a:xfrm>
          <a:prstGeom prst="rect">
            <a:avLst/>
          </a:prstGeom>
          <a:noFill/>
          <a:ln/>
        </p:spPr>
        <p:txBody>
          <a:bodyPr wrap="square" lIns="0" tIns="0" rIns="0" bIns="0" rtlCol="0" anchor="t"/>
          <a:lstStyle/>
          <a:p>
            <a:pPr indent="0" marL="0">
              <a:lnSpc>
                <a:spcPts val="1600"/>
              </a:lnSpc>
              <a:buNone/>
            </a:pPr>
            <a:r>
              <a:rPr lang="en-US" sz="1150" dirty="0">
                <a:solidFill>
                  <a:srgbClr val="24363F"/>
                </a:solidFill>
                <a:latin typeface="Calibri" pitchFamily="34" charset="0"/>
                <a:ea typeface="Calibri" pitchFamily="34" charset="-122"/>
                <a:cs typeface="Calibri" pitchFamily="34" charset="-120"/>
              </a:rPr>
              <a:t>cuPC runs an order-independent PC on a GPU. The paper reports 500x to 1300x over the serial version.</a:t>
            </a:r>
            <a:endParaRPr lang="en-US" sz="1150" dirty="0"/>
          </a:p>
        </p:txBody>
      </p:sp>
      <p:sp>
        <p:nvSpPr>
          <p:cNvPr id="20" name="Shape 18"/>
          <p:cNvSpPr/>
          <p:nvPr/>
        </p:nvSpPr>
        <p:spPr>
          <a:xfrm>
            <a:off x="4361688" y="3703320"/>
            <a:ext cx="3429000" cy="1691640"/>
          </a:xfrm>
          <a:prstGeom prst="roundRect">
            <a:avLst>
              <a:gd name="adj" fmla="val 4324"/>
            </a:avLst>
          </a:prstGeom>
          <a:solidFill>
            <a:srgbClr val="F0F3F5"/>
          </a:solidFill>
          <a:ln w="12700">
            <a:solidFill>
              <a:srgbClr val="F0F3F5"/>
            </a:solidFill>
            <a:prstDash val="solid"/>
          </a:ln>
        </p:spPr>
      </p:sp>
      <p:sp>
        <p:nvSpPr>
          <p:cNvPr id="21" name="Shape 19"/>
          <p:cNvSpPr/>
          <p:nvPr/>
        </p:nvSpPr>
        <p:spPr>
          <a:xfrm>
            <a:off x="4636008" y="3959352"/>
            <a:ext cx="256032" cy="256032"/>
          </a:xfrm>
          <a:prstGeom prst="ellipse">
            <a:avLst/>
          </a:prstGeom>
          <a:solidFill>
            <a:srgbClr val="2E7D8A"/>
          </a:solidFill>
          <a:ln/>
        </p:spPr>
      </p:sp>
      <p:sp>
        <p:nvSpPr>
          <p:cNvPr id="22" name="Text 20"/>
          <p:cNvSpPr/>
          <p:nvPr/>
        </p:nvSpPr>
        <p:spPr>
          <a:xfrm>
            <a:off x="5020056" y="3904488"/>
            <a:ext cx="2560320" cy="365760"/>
          </a:xfrm>
          <a:prstGeom prst="rect">
            <a:avLst/>
          </a:prstGeom>
          <a:noFill/>
          <a:ln/>
        </p:spPr>
        <p:txBody>
          <a:bodyPr wrap="square" lIns="0" tIns="0" rIns="0" bIns="0" rtlCol="0" anchor="ctr"/>
          <a:lstStyle/>
          <a:p>
            <a:pPr indent="0" marL="0">
              <a:buNone/>
            </a:pPr>
            <a:r>
              <a:rPr lang="en-US" sz="1550" b="1" dirty="0">
                <a:solidFill>
                  <a:srgbClr val="16232E"/>
                </a:solidFill>
                <a:latin typeface="Cambria" pitchFamily="34" charset="0"/>
                <a:ea typeface="Cambria" pitchFamily="34" charset="-122"/>
                <a:cs typeface="Cambria" pitchFamily="34" charset="-120"/>
              </a:rPr>
              <a:t>Test power</a:t>
            </a:r>
            <a:endParaRPr lang="en-US" sz="1550" dirty="0"/>
          </a:p>
        </p:txBody>
      </p:sp>
      <p:sp>
        <p:nvSpPr>
          <p:cNvPr id="23" name="Text 21"/>
          <p:cNvSpPr/>
          <p:nvPr/>
        </p:nvSpPr>
        <p:spPr>
          <a:xfrm>
            <a:off x="4636008" y="4361688"/>
            <a:ext cx="2926080" cy="914400"/>
          </a:xfrm>
          <a:prstGeom prst="rect">
            <a:avLst/>
          </a:prstGeom>
          <a:noFill/>
          <a:ln/>
        </p:spPr>
        <p:txBody>
          <a:bodyPr wrap="square" lIns="0" tIns="0" rIns="0" bIns="0" rtlCol="0" anchor="t"/>
          <a:lstStyle/>
          <a:p>
            <a:pPr indent="0" marL="0">
              <a:lnSpc>
                <a:spcPts val="1600"/>
              </a:lnSpc>
              <a:buNone/>
            </a:pPr>
            <a:r>
              <a:rPr lang="en-US" sz="1150" dirty="0">
                <a:solidFill>
                  <a:srgbClr val="24363F"/>
                </a:solidFill>
                <a:latin typeface="Calibri" pitchFamily="34" charset="0"/>
                <a:ea typeface="Calibri" pitchFamily="34" charset="-122"/>
                <a:cs typeface="Calibri" pitchFamily="34" charset="-120"/>
              </a:rPr>
              <a:t>Kernel tests (KCI) cost order n-cubed. RCIT and FastKCI approximate them. PC-p adds false-discovery-rate control.</a:t>
            </a:r>
            <a:endParaRPr lang="en-US" sz="1150" dirty="0"/>
          </a:p>
        </p:txBody>
      </p:sp>
      <p:sp>
        <p:nvSpPr>
          <p:cNvPr id="24" name="Shape 22"/>
          <p:cNvSpPr/>
          <p:nvPr/>
        </p:nvSpPr>
        <p:spPr>
          <a:xfrm>
            <a:off x="8083296" y="3703320"/>
            <a:ext cx="3429000" cy="1691640"/>
          </a:xfrm>
          <a:prstGeom prst="roundRect">
            <a:avLst>
              <a:gd name="adj" fmla="val 4324"/>
            </a:avLst>
          </a:prstGeom>
          <a:solidFill>
            <a:srgbClr val="24363F"/>
          </a:solidFill>
          <a:ln w="12700">
            <a:solidFill>
              <a:srgbClr val="24363F"/>
            </a:solidFill>
            <a:prstDash val="solid"/>
          </a:ln>
        </p:spPr>
      </p:sp>
      <p:sp>
        <p:nvSpPr>
          <p:cNvPr id="25" name="Text 23"/>
          <p:cNvSpPr/>
          <p:nvPr/>
        </p:nvSpPr>
        <p:spPr>
          <a:xfrm>
            <a:off x="8357616" y="3904488"/>
            <a:ext cx="2926080" cy="32004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What this means for us</a:t>
            </a:r>
            <a:endParaRPr lang="en-US" sz="1550" dirty="0"/>
          </a:p>
        </p:txBody>
      </p:sp>
      <p:sp>
        <p:nvSpPr>
          <p:cNvPr id="26" name="Text 24"/>
          <p:cNvSpPr/>
          <p:nvPr/>
        </p:nvSpPr>
        <p:spPr>
          <a:xfrm>
            <a:off x="8357616" y="4315968"/>
            <a:ext cx="2926080" cy="914400"/>
          </a:xfrm>
          <a:prstGeom prst="rect">
            <a:avLst/>
          </a:prstGeom>
          <a:noFill/>
          <a:ln/>
        </p:spPr>
        <p:txBody>
          <a:bodyPr wrap="square" lIns="0" tIns="0" rIns="0" bIns="0" rtlCol="0" anchor="t"/>
          <a:lstStyle/>
          <a:p>
            <a:pPr indent="0" marL="0">
              <a:lnSpc>
                <a:spcPts val="1600"/>
              </a:lnSpc>
              <a:buNone/>
            </a:pPr>
            <a:r>
              <a:rPr lang="en-US" sz="1150" dirty="0">
                <a:solidFill>
                  <a:srgbClr val="CBD8DE"/>
                </a:solidFill>
                <a:latin typeface="Calibri" pitchFamily="34" charset="0"/>
                <a:ea typeface="Calibri" pitchFamily="34" charset="-122"/>
                <a:cs typeface="Calibri" pitchFamily="34" charset="-120"/>
              </a:rPr>
              <a:t>PC stays useful for its transparency and its pluggable test. It is no longer the accuracy benchmark.</a:t>
            </a:r>
            <a:endParaRPr lang="en-US" sz="1150" dirty="0"/>
          </a:p>
        </p:txBody>
      </p:sp>
      <p:sp>
        <p:nvSpPr>
          <p:cNvPr id="27" name="Text 25"/>
          <p:cNvSpPr/>
          <p:nvPr/>
        </p:nvSpPr>
        <p:spPr>
          <a:xfrm>
            <a:off x="640080" y="6327648"/>
            <a:ext cx="10881360" cy="274320"/>
          </a:xfrm>
          <a:prstGeom prst="rect">
            <a:avLst/>
          </a:prstGeom>
          <a:noFill/>
          <a:ln/>
        </p:spPr>
        <p:txBody>
          <a:bodyPr wrap="square" lIns="0" tIns="0" rIns="0" bIns="0" rtlCol="0" anchor="ctr"/>
          <a:lstStyle/>
          <a:p>
            <a:pPr indent="0" marL="0">
              <a:buNone/>
            </a:pPr>
            <a:r>
              <a:rPr lang="en-US" sz="900" dirty="0">
                <a:solidFill>
                  <a:srgbClr val="6B7A85"/>
                </a:solidFill>
                <a:latin typeface="Calibri" pitchFamily="34" charset="0"/>
                <a:ea typeface="Calibri" pitchFamily="34" charset="-122"/>
                <a:cs typeface="Calibri" pitchFamily="34" charset="-120"/>
              </a:rPr>
              <a:t>Andrews et al., BOSS, NeurIPS 2023 | Zarebavani et al., cuPC, arXiv:1812.08491 | Strobl et al., PC-p, arXiv:1607.03975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2E7D8A"/>
                </a:solidFill>
                <a:latin typeface="Calibri" pitchFamily="34" charset="0"/>
                <a:ea typeface="Calibri" pitchFamily="34" charset="-122"/>
                <a:cs typeface="Calibri" pitchFamily="34" charset="-120"/>
              </a:rPr>
              <a:t>QUESTION 1 - FIT TO OUR DATA</a:t>
            </a:r>
            <a:endParaRPr lang="en-US" sz="1100" dirty="0"/>
          </a:p>
        </p:txBody>
      </p:sp>
      <p:sp>
        <p:nvSpPr>
          <p:cNvPr id="3" name="Text 1"/>
          <p:cNvSpPr/>
          <p:nvPr/>
        </p:nvSpPr>
        <p:spPr>
          <a:xfrm>
            <a:off x="640080" y="658368"/>
            <a:ext cx="10881360" cy="868680"/>
          </a:xfrm>
          <a:prstGeom prst="rect">
            <a:avLst/>
          </a:prstGeom>
          <a:noFill/>
          <a:ln/>
        </p:spPr>
        <p:txBody>
          <a:bodyPr wrap="square" lIns="0" tIns="0" rIns="0" bIns="0" rtlCol="0" anchor="t"/>
          <a:lstStyle/>
          <a:p>
            <a:pPr indent="0" marL="0">
              <a:buNone/>
            </a:pPr>
            <a:r>
              <a:rPr lang="en-US" sz="3000" b="1" dirty="0">
                <a:solidFill>
                  <a:srgbClr val="16232E"/>
                </a:solidFill>
                <a:latin typeface="Cambria" pitchFamily="34" charset="0"/>
                <a:ea typeface="Cambria" pitchFamily="34" charset="-122"/>
                <a:cs typeface="Cambria" pitchFamily="34" charset="-120"/>
              </a:rPr>
              <a:t>Our plant data breaks four assumptions that plain PC needs</a:t>
            </a:r>
            <a:endParaRPr lang="en-US" sz="3000" dirty="0"/>
          </a:p>
        </p:txBody>
      </p:sp>
      <p:sp>
        <p:nvSpPr>
          <p:cNvPr id="4" name="Shape 2"/>
          <p:cNvSpPr/>
          <p:nvPr/>
        </p:nvSpPr>
        <p:spPr>
          <a:xfrm>
            <a:off x="640080" y="1783080"/>
            <a:ext cx="10881360" cy="914400"/>
          </a:xfrm>
          <a:prstGeom prst="roundRect">
            <a:avLst>
              <a:gd name="adj" fmla="val 8000"/>
            </a:avLst>
          </a:prstGeom>
          <a:solidFill>
            <a:srgbClr val="F0F3F5"/>
          </a:solidFill>
          <a:ln w="12700">
            <a:solidFill>
              <a:srgbClr val="F0F3F5"/>
            </a:solidFill>
            <a:prstDash val="solid"/>
          </a:ln>
        </p:spPr>
      </p:sp>
      <p:sp>
        <p:nvSpPr>
          <p:cNvPr id="5" name="Shape 3"/>
          <p:cNvSpPr/>
          <p:nvPr/>
        </p:nvSpPr>
        <p:spPr>
          <a:xfrm>
            <a:off x="868680" y="2112264"/>
            <a:ext cx="237744" cy="237744"/>
          </a:xfrm>
          <a:prstGeom prst="ellipse">
            <a:avLst/>
          </a:prstGeom>
          <a:solidFill>
            <a:srgbClr val="B03A2E"/>
          </a:solidFill>
          <a:ln/>
        </p:spPr>
      </p:sp>
      <p:sp>
        <p:nvSpPr>
          <p:cNvPr id="6" name="Text 4"/>
          <p:cNvSpPr/>
          <p:nvPr/>
        </p:nvSpPr>
        <p:spPr>
          <a:xfrm>
            <a:off x="1280160" y="1892808"/>
            <a:ext cx="2468880" cy="694944"/>
          </a:xfrm>
          <a:prstGeom prst="rect">
            <a:avLst/>
          </a:prstGeom>
          <a:noFill/>
          <a:ln/>
        </p:spPr>
        <p:txBody>
          <a:bodyPr wrap="square" lIns="0" tIns="0" rIns="0" bIns="0" rtlCol="0" anchor="ctr"/>
          <a:lstStyle/>
          <a:p>
            <a:pPr indent="0" marL="0">
              <a:buNone/>
            </a:pPr>
            <a:r>
              <a:rPr lang="en-US" sz="1600" b="1" dirty="0">
                <a:solidFill>
                  <a:srgbClr val="16232E"/>
                </a:solidFill>
                <a:latin typeface="Cambria" pitchFamily="34" charset="0"/>
                <a:ea typeface="Cambria" pitchFamily="34" charset="-122"/>
                <a:cs typeface="Cambria" pitchFamily="34" charset="-120"/>
              </a:rPr>
              <a:t>Independent rows</a:t>
            </a:r>
            <a:endParaRPr lang="en-US" sz="1600" dirty="0"/>
          </a:p>
        </p:txBody>
      </p:sp>
      <p:sp>
        <p:nvSpPr>
          <p:cNvPr id="7" name="Text 5"/>
          <p:cNvSpPr/>
          <p:nvPr/>
        </p:nvSpPr>
        <p:spPr>
          <a:xfrm>
            <a:off x="3840480" y="1892808"/>
            <a:ext cx="3657600" cy="694944"/>
          </a:xfrm>
          <a:prstGeom prst="rect">
            <a:avLst/>
          </a:prstGeom>
          <a:noFill/>
          <a:ln/>
        </p:spPr>
        <p:txBody>
          <a:bodyPr wrap="square" lIns="0" tIns="0" rIns="0" bIns="0" rtlCol="0" anchor="ctr"/>
          <a:lstStyle/>
          <a:p>
            <a:pPr indent="0" marL="0">
              <a:lnSpc>
                <a:spcPts val="1600"/>
              </a:lnSpc>
              <a:buNone/>
            </a:pPr>
            <a:r>
              <a:rPr lang="en-US" sz="1200" dirty="0">
                <a:solidFill>
                  <a:srgbClr val="24363F"/>
                </a:solidFill>
                <a:latin typeface="Calibri" pitchFamily="34" charset="0"/>
                <a:ea typeface="Calibri" pitchFamily="34" charset="-122"/>
                <a:cs typeface="Calibri" pitchFamily="34" charset="-120"/>
              </a:rPr>
              <a:t>Control loops make each row nearly a copy of the row before it.</a:t>
            </a:r>
            <a:endParaRPr lang="en-US" sz="1200" dirty="0"/>
          </a:p>
        </p:txBody>
      </p:sp>
      <p:sp>
        <p:nvSpPr>
          <p:cNvPr id="8" name="Text 6"/>
          <p:cNvSpPr/>
          <p:nvPr/>
        </p:nvSpPr>
        <p:spPr>
          <a:xfrm>
            <a:off x="7635240" y="1892808"/>
            <a:ext cx="3657600" cy="694944"/>
          </a:xfrm>
          <a:prstGeom prst="rect">
            <a:avLst/>
          </a:prstGeom>
          <a:noFill/>
          <a:ln/>
        </p:spPr>
        <p:txBody>
          <a:bodyPr wrap="square" lIns="0" tIns="0" rIns="0" bIns="0" rtlCol="0" anchor="ctr"/>
          <a:lstStyle/>
          <a:p>
            <a:pPr indent="0" marL="0">
              <a:lnSpc>
                <a:spcPts val="1600"/>
              </a:lnSpc>
              <a:buNone/>
            </a:pPr>
            <a:r>
              <a:rPr lang="en-US" sz="1200" b="1" dirty="0">
                <a:solidFill>
                  <a:srgbClr val="B03A2E"/>
                </a:solidFill>
                <a:latin typeface="Calibri" pitchFamily="34" charset="0"/>
                <a:ea typeface="Calibri" pitchFamily="34" charset="-122"/>
                <a:cs typeface="Calibri" pitchFamily="34" charset="-120"/>
              </a:rPr>
              <a:t>The effective sample size falls far below n. P-values come out too small.</a:t>
            </a:r>
            <a:endParaRPr lang="en-US" sz="1200" dirty="0"/>
          </a:p>
        </p:txBody>
      </p:sp>
      <p:sp>
        <p:nvSpPr>
          <p:cNvPr id="9" name="Shape 7"/>
          <p:cNvSpPr/>
          <p:nvPr/>
        </p:nvSpPr>
        <p:spPr>
          <a:xfrm>
            <a:off x="640080" y="2862072"/>
            <a:ext cx="10881360" cy="914400"/>
          </a:xfrm>
          <a:prstGeom prst="roundRect">
            <a:avLst>
              <a:gd name="adj" fmla="val 8000"/>
            </a:avLst>
          </a:prstGeom>
          <a:solidFill>
            <a:srgbClr val="FFFFFF"/>
          </a:solidFill>
          <a:ln w="12700">
            <a:solidFill>
              <a:srgbClr val="FFFFFF"/>
            </a:solidFill>
            <a:prstDash val="solid"/>
          </a:ln>
        </p:spPr>
      </p:sp>
      <p:sp>
        <p:nvSpPr>
          <p:cNvPr id="10" name="Shape 8"/>
          <p:cNvSpPr/>
          <p:nvPr/>
        </p:nvSpPr>
        <p:spPr>
          <a:xfrm>
            <a:off x="868680" y="3191256"/>
            <a:ext cx="237744" cy="237744"/>
          </a:xfrm>
          <a:prstGeom prst="ellipse">
            <a:avLst/>
          </a:prstGeom>
          <a:solidFill>
            <a:srgbClr val="B03A2E"/>
          </a:solidFill>
          <a:ln/>
        </p:spPr>
      </p:sp>
      <p:sp>
        <p:nvSpPr>
          <p:cNvPr id="11" name="Text 9"/>
          <p:cNvSpPr/>
          <p:nvPr/>
        </p:nvSpPr>
        <p:spPr>
          <a:xfrm>
            <a:off x="1280160" y="2971800"/>
            <a:ext cx="2468880" cy="694944"/>
          </a:xfrm>
          <a:prstGeom prst="rect">
            <a:avLst/>
          </a:prstGeom>
          <a:noFill/>
          <a:ln/>
        </p:spPr>
        <p:txBody>
          <a:bodyPr wrap="square" lIns="0" tIns="0" rIns="0" bIns="0" rtlCol="0" anchor="ctr"/>
          <a:lstStyle/>
          <a:p>
            <a:pPr indent="0" marL="0">
              <a:buNone/>
            </a:pPr>
            <a:r>
              <a:rPr lang="en-US" sz="1600" b="1" dirty="0">
                <a:solidFill>
                  <a:srgbClr val="16232E"/>
                </a:solidFill>
                <a:latin typeface="Cambria" pitchFamily="34" charset="0"/>
                <a:ea typeface="Cambria" pitchFamily="34" charset="-122"/>
                <a:cs typeface="Cambria" pitchFamily="34" charset="-120"/>
              </a:rPr>
              <a:t>Acyclicity</a:t>
            </a:r>
            <a:endParaRPr lang="en-US" sz="1600" dirty="0"/>
          </a:p>
        </p:txBody>
      </p:sp>
      <p:sp>
        <p:nvSpPr>
          <p:cNvPr id="12" name="Text 10"/>
          <p:cNvSpPr/>
          <p:nvPr/>
        </p:nvSpPr>
        <p:spPr>
          <a:xfrm>
            <a:off x="3840480" y="2971800"/>
            <a:ext cx="3657600" cy="694944"/>
          </a:xfrm>
          <a:prstGeom prst="rect">
            <a:avLst/>
          </a:prstGeom>
          <a:noFill/>
          <a:ln/>
        </p:spPr>
        <p:txBody>
          <a:bodyPr wrap="square" lIns="0" tIns="0" rIns="0" bIns="0" rtlCol="0" anchor="ctr"/>
          <a:lstStyle/>
          <a:p>
            <a:pPr indent="0" marL="0">
              <a:lnSpc>
                <a:spcPts val="1600"/>
              </a:lnSpc>
              <a:buNone/>
            </a:pPr>
            <a:r>
              <a:rPr lang="en-US" sz="1200" dirty="0">
                <a:solidFill>
                  <a:srgbClr val="24363F"/>
                </a:solidFill>
                <a:latin typeface="Calibri" pitchFamily="34" charset="0"/>
                <a:ea typeface="Calibri" pitchFamily="34" charset="-122"/>
                <a:cs typeface="Calibri" pitchFamily="34" charset="-120"/>
              </a:rPr>
              <a:t>The plant runs on feedback loops.</a:t>
            </a:r>
            <a:endParaRPr lang="en-US" sz="1200" dirty="0"/>
          </a:p>
        </p:txBody>
      </p:sp>
      <p:sp>
        <p:nvSpPr>
          <p:cNvPr id="13" name="Text 11"/>
          <p:cNvSpPr/>
          <p:nvPr/>
        </p:nvSpPr>
        <p:spPr>
          <a:xfrm>
            <a:off x="7635240" y="2971800"/>
            <a:ext cx="3657600" cy="694944"/>
          </a:xfrm>
          <a:prstGeom prst="rect">
            <a:avLst/>
          </a:prstGeom>
          <a:noFill/>
          <a:ln/>
        </p:spPr>
        <p:txBody>
          <a:bodyPr wrap="square" lIns="0" tIns="0" rIns="0" bIns="0" rtlCol="0" anchor="ctr"/>
          <a:lstStyle/>
          <a:p>
            <a:pPr indent="0" marL="0">
              <a:lnSpc>
                <a:spcPts val="1600"/>
              </a:lnSpc>
              <a:buNone/>
            </a:pPr>
            <a:r>
              <a:rPr lang="en-US" sz="1200" b="1" dirty="0">
                <a:solidFill>
                  <a:srgbClr val="B03A2E"/>
                </a:solidFill>
                <a:latin typeface="Calibri" pitchFamily="34" charset="0"/>
                <a:ea typeface="Calibri" pitchFamily="34" charset="-122"/>
                <a:cs typeface="Calibri" pitchFamily="34" charset="-120"/>
              </a:rPr>
              <a:t>A CPDAG cannot represent a loop at all.</a:t>
            </a:r>
            <a:endParaRPr lang="en-US" sz="1200" dirty="0"/>
          </a:p>
        </p:txBody>
      </p:sp>
      <p:sp>
        <p:nvSpPr>
          <p:cNvPr id="14" name="Shape 12"/>
          <p:cNvSpPr/>
          <p:nvPr/>
        </p:nvSpPr>
        <p:spPr>
          <a:xfrm>
            <a:off x="640080" y="3941064"/>
            <a:ext cx="10881360" cy="914400"/>
          </a:xfrm>
          <a:prstGeom prst="roundRect">
            <a:avLst>
              <a:gd name="adj" fmla="val 8000"/>
            </a:avLst>
          </a:prstGeom>
          <a:solidFill>
            <a:srgbClr val="F0F3F5"/>
          </a:solidFill>
          <a:ln w="12700">
            <a:solidFill>
              <a:srgbClr val="F0F3F5"/>
            </a:solidFill>
            <a:prstDash val="solid"/>
          </a:ln>
        </p:spPr>
      </p:sp>
      <p:sp>
        <p:nvSpPr>
          <p:cNvPr id="15" name="Shape 13"/>
          <p:cNvSpPr/>
          <p:nvPr/>
        </p:nvSpPr>
        <p:spPr>
          <a:xfrm>
            <a:off x="868680" y="4270248"/>
            <a:ext cx="237744" cy="237744"/>
          </a:xfrm>
          <a:prstGeom prst="ellipse">
            <a:avLst/>
          </a:prstGeom>
          <a:solidFill>
            <a:srgbClr val="E07A28"/>
          </a:solidFill>
          <a:ln/>
        </p:spPr>
      </p:sp>
      <p:sp>
        <p:nvSpPr>
          <p:cNvPr id="16" name="Text 14"/>
          <p:cNvSpPr/>
          <p:nvPr/>
        </p:nvSpPr>
        <p:spPr>
          <a:xfrm>
            <a:off x="1280160" y="4050792"/>
            <a:ext cx="2468880" cy="694944"/>
          </a:xfrm>
          <a:prstGeom prst="rect">
            <a:avLst/>
          </a:prstGeom>
          <a:noFill/>
          <a:ln/>
        </p:spPr>
        <p:txBody>
          <a:bodyPr wrap="square" lIns="0" tIns="0" rIns="0" bIns="0" rtlCol="0" anchor="ctr"/>
          <a:lstStyle/>
          <a:p>
            <a:pPr indent="0" marL="0">
              <a:buNone/>
            </a:pPr>
            <a:r>
              <a:rPr lang="en-US" sz="1600" b="1" dirty="0">
                <a:solidFill>
                  <a:srgbClr val="16232E"/>
                </a:solidFill>
                <a:latin typeface="Cambria" pitchFamily="34" charset="0"/>
                <a:ea typeface="Cambria" pitchFamily="34" charset="-122"/>
                <a:cs typeface="Cambria" pitchFamily="34" charset="-120"/>
              </a:rPr>
              <a:t>Causal sufficiency</a:t>
            </a:r>
            <a:endParaRPr lang="en-US" sz="1600" dirty="0"/>
          </a:p>
        </p:txBody>
      </p:sp>
      <p:sp>
        <p:nvSpPr>
          <p:cNvPr id="17" name="Text 15"/>
          <p:cNvSpPr/>
          <p:nvPr/>
        </p:nvSpPr>
        <p:spPr>
          <a:xfrm>
            <a:off x="3840480" y="4050792"/>
            <a:ext cx="3657600" cy="694944"/>
          </a:xfrm>
          <a:prstGeom prst="rect">
            <a:avLst/>
          </a:prstGeom>
          <a:noFill/>
          <a:ln/>
        </p:spPr>
        <p:txBody>
          <a:bodyPr wrap="square" lIns="0" tIns="0" rIns="0" bIns="0" rtlCol="0" anchor="ctr"/>
          <a:lstStyle/>
          <a:p>
            <a:pPr indent="0" marL="0">
              <a:lnSpc>
                <a:spcPts val="1600"/>
              </a:lnSpc>
              <a:buNone/>
            </a:pPr>
            <a:r>
              <a:rPr lang="en-US" sz="1200" dirty="0">
                <a:solidFill>
                  <a:srgbClr val="24363F"/>
                </a:solidFill>
                <a:latin typeface="Calibri" pitchFamily="34" charset="0"/>
                <a:ea typeface="Calibri" pitchFamily="34" charset="-122"/>
                <a:cs typeface="Calibri" pitchFamily="34" charset="-120"/>
              </a:rPr>
              <a:t>Disturbances and unmeasured states drive several sensors at once.</a:t>
            </a:r>
            <a:endParaRPr lang="en-US" sz="1200" dirty="0"/>
          </a:p>
        </p:txBody>
      </p:sp>
      <p:sp>
        <p:nvSpPr>
          <p:cNvPr id="18" name="Text 16"/>
          <p:cNvSpPr/>
          <p:nvPr/>
        </p:nvSpPr>
        <p:spPr>
          <a:xfrm>
            <a:off x="7635240" y="4050792"/>
            <a:ext cx="3657600" cy="694944"/>
          </a:xfrm>
          <a:prstGeom prst="rect">
            <a:avLst/>
          </a:prstGeom>
          <a:noFill/>
          <a:ln/>
        </p:spPr>
        <p:txBody>
          <a:bodyPr wrap="square" lIns="0" tIns="0" rIns="0" bIns="0" rtlCol="0" anchor="ctr"/>
          <a:lstStyle/>
          <a:p>
            <a:pPr indent="0" marL="0">
              <a:lnSpc>
                <a:spcPts val="1600"/>
              </a:lnSpc>
              <a:buNone/>
            </a:pPr>
            <a:r>
              <a:rPr lang="en-US" sz="1200" b="1" dirty="0">
                <a:solidFill>
                  <a:srgbClr val="E07A28"/>
                </a:solidFill>
                <a:latin typeface="Calibri" pitchFamily="34" charset="0"/>
                <a:ea typeface="Calibri" pitchFamily="34" charset="-122"/>
                <a:cs typeface="Calibri" pitchFamily="34" charset="-120"/>
              </a:rPr>
              <a:t>Hidden common causes create edges that are not real.</a:t>
            </a:r>
            <a:endParaRPr lang="en-US" sz="1200" dirty="0"/>
          </a:p>
        </p:txBody>
      </p:sp>
      <p:sp>
        <p:nvSpPr>
          <p:cNvPr id="19" name="Shape 17"/>
          <p:cNvSpPr/>
          <p:nvPr/>
        </p:nvSpPr>
        <p:spPr>
          <a:xfrm>
            <a:off x="640080" y="5020056"/>
            <a:ext cx="10881360" cy="914400"/>
          </a:xfrm>
          <a:prstGeom prst="roundRect">
            <a:avLst>
              <a:gd name="adj" fmla="val 8000"/>
            </a:avLst>
          </a:prstGeom>
          <a:solidFill>
            <a:srgbClr val="FFFFFF"/>
          </a:solidFill>
          <a:ln w="12700">
            <a:solidFill>
              <a:srgbClr val="FFFFFF"/>
            </a:solidFill>
            <a:prstDash val="solid"/>
          </a:ln>
        </p:spPr>
      </p:sp>
      <p:sp>
        <p:nvSpPr>
          <p:cNvPr id="20" name="Shape 18"/>
          <p:cNvSpPr/>
          <p:nvPr/>
        </p:nvSpPr>
        <p:spPr>
          <a:xfrm>
            <a:off x="868680" y="5349240"/>
            <a:ext cx="237744" cy="237744"/>
          </a:xfrm>
          <a:prstGeom prst="ellipse">
            <a:avLst/>
          </a:prstGeom>
          <a:solidFill>
            <a:srgbClr val="E07A28"/>
          </a:solidFill>
          <a:ln/>
        </p:spPr>
      </p:sp>
      <p:sp>
        <p:nvSpPr>
          <p:cNvPr id="21" name="Text 19"/>
          <p:cNvSpPr/>
          <p:nvPr/>
        </p:nvSpPr>
        <p:spPr>
          <a:xfrm>
            <a:off x="1280160" y="5129784"/>
            <a:ext cx="2468880" cy="694944"/>
          </a:xfrm>
          <a:prstGeom prst="rect">
            <a:avLst/>
          </a:prstGeom>
          <a:noFill/>
          <a:ln/>
        </p:spPr>
        <p:txBody>
          <a:bodyPr wrap="square" lIns="0" tIns="0" rIns="0" bIns="0" rtlCol="0" anchor="ctr"/>
          <a:lstStyle/>
          <a:p>
            <a:pPr indent="0" marL="0">
              <a:buNone/>
            </a:pPr>
            <a:r>
              <a:rPr lang="en-US" sz="1600" b="1" dirty="0">
                <a:solidFill>
                  <a:srgbClr val="16232E"/>
                </a:solidFill>
                <a:latin typeface="Cambria" pitchFamily="34" charset="0"/>
                <a:ea typeface="Cambria" pitchFamily="34" charset="-122"/>
                <a:cs typeface="Cambria" pitchFamily="34" charset="-120"/>
              </a:rPr>
              <a:t>Faithfulness</a:t>
            </a:r>
            <a:endParaRPr lang="en-US" sz="1600" dirty="0"/>
          </a:p>
        </p:txBody>
      </p:sp>
      <p:sp>
        <p:nvSpPr>
          <p:cNvPr id="22" name="Text 20"/>
          <p:cNvSpPr/>
          <p:nvPr/>
        </p:nvSpPr>
        <p:spPr>
          <a:xfrm>
            <a:off x="3840480" y="5129784"/>
            <a:ext cx="3657600" cy="694944"/>
          </a:xfrm>
          <a:prstGeom prst="rect">
            <a:avLst/>
          </a:prstGeom>
          <a:noFill/>
          <a:ln/>
        </p:spPr>
        <p:txBody>
          <a:bodyPr wrap="square" lIns="0" tIns="0" rIns="0" bIns="0" rtlCol="0" anchor="ctr"/>
          <a:lstStyle/>
          <a:p>
            <a:pPr indent="0" marL="0">
              <a:lnSpc>
                <a:spcPts val="1600"/>
              </a:lnSpc>
              <a:buNone/>
            </a:pPr>
            <a:r>
              <a:rPr lang="en-US" sz="1200" dirty="0">
                <a:solidFill>
                  <a:srgbClr val="24363F"/>
                </a:solidFill>
                <a:latin typeface="Calibri" pitchFamily="34" charset="0"/>
                <a:ea typeface="Calibri" pitchFamily="34" charset="-122"/>
                <a:cs typeface="Calibri" pitchFamily="34" charset="-120"/>
              </a:rPr>
              <a:t>A controller cancels a disturbance, so the correlation reads as zero.</a:t>
            </a:r>
            <a:endParaRPr lang="en-US" sz="1200" dirty="0"/>
          </a:p>
        </p:txBody>
      </p:sp>
      <p:sp>
        <p:nvSpPr>
          <p:cNvPr id="23" name="Text 21"/>
          <p:cNvSpPr/>
          <p:nvPr/>
        </p:nvSpPr>
        <p:spPr>
          <a:xfrm>
            <a:off x="7635240" y="5129784"/>
            <a:ext cx="3657600" cy="694944"/>
          </a:xfrm>
          <a:prstGeom prst="rect">
            <a:avLst/>
          </a:prstGeom>
          <a:noFill/>
          <a:ln/>
        </p:spPr>
        <p:txBody>
          <a:bodyPr wrap="square" lIns="0" tIns="0" rIns="0" bIns="0" rtlCol="0" anchor="ctr"/>
          <a:lstStyle/>
          <a:p>
            <a:pPr indent="0" marL="0">
              <a:lnSpc>
                <a:spcPts val="1600"/>
              </a:lnSpc>
              <a:buNone/>
            </a:pPr>
            <a:r>
              <a:rPr lang="en-US" sz="1200" b="1" dirty="0">
                <a:solidFill>
                  <a:srgbClr val="E07A28"/>
                </a:solidFill>
                <a:latin typeface="Calibri" pitchFamily="34" charset="0"/>
                <a:ea typeface="Calibri" pitchFamily="34" charset="-122"/>
                <a:cs typeface="Calibri" pitchFamily="34" charset="-120"/>
              </a:rPr>
              <a:t>A real edge disappears from the graph.</a:t>
            </a:r>
            <a:endParaRPr lang="en-US" sz="1200" dirty="0"/>
          </a:p>
        </p:txBody>
      </p:sp>
      <p:sp>
        <p:nvSpPr>
          <p:cNvPr id="24" name="Text 22"/>
          <p:cNvSpPr/>
          <p:nvPr/>
        </p:nvSpPr>
        <p:spPr>
          <a:xfrm>
            <a:off x="640080" y="5852160"/>
            <a:ext cx="10881360" cy="320040"/>
          </a:xfrm>
          <a:prstGeom prst="rect">
            <a:avLst/>
          </a:prstGeom>
          <a:noFill/>
          <a:ln/>
        </p:spPr>
        <p:txBody>
          <a:bodyPr wrap="square" lIns="0" tIns="0" rIns="0" bIns="0" rtlCol="0" anchor="ctr"/>
          <a:lstStyle/>
          <a:p>
            <a:pPr indent="0" marL="0">
              <a:buNone/>
            </a:pPr>
            <a:r>
              <a:rPr lang="en-US" sz="1500" b="1" dirty="0">
                <a:solidFill>
                  <a:srgbClr val="16232E"/>
                </a:solidFill>
                <a:latin typeface="Cambria" pitchFamily="34" charset="0"/>
                <a:ea typeface="Cambria" pitchFamily="34" charset="-122"/>
                <a:cs typeface="Cambria" pitchFamily="34" charset="-120"/>
              </a:rPr>
              <a:t>This is not a bug in our code. Plain PC is the wrong model for this data.</a:t>
            </a:r>
            <a:endParaRPr lang="en-US" sz="1500" dirty="0"/>
          </a:p>
        </p:txBody>
      </p:sp>
      <p:sp>
        <p:nvSpPr>
          <p:cNvPr id="25" name="Text 23"/>
          <p:cNvSpPr/>
          <p:nvPr/>
        </p:nvSpPr>
        <p:spPr>
          <a:xfrm>
            <a:off x="640080" y="6327648"/>
            <a:ext cx="10881360" cy="274320"/>
          </a:xfrm>
          <a:prstGeom prst="rect">
            <a:avLst/>
          </a:prstGeom>
          <a:noFill/>
          <a:ln/>
        </p:spPr>
        <p:txBody>
          <a:bodyPr wrap="square" lIns="0" tIns="0" rIns="0" bIns="0" rtlCol="0" anchor="ctr"/>
          <a:lstStyle/>
          <a:p>
            <a:pPr indent="0" marL="0">
              <a:buNone/>
            </a:pPr>
            <a:r>
              <a:rPr lang="en-US" sz="900" dirty="0">
                <a:solidFill>
                  <a:srgbClr val="6B7A85"/>
                </a:solidFill>
                <a:latin typeface="Calibri" pitchFamily="34" charset="0"/>
                <a:ea typeface="Calibri" pitchFamily="34" charset="-122"/>
                <a:cs typeface="Calibri" pitchFamily="34" charset="-120"/>
              </a:rPr>
              <a:t>Uhler, Raskutti, Buhlmann &amp; Yu, Annals of Statistics 41(2):436-463, 2013 - arxiv.org/abs/1207.0547 | Runge, PMLR 124:1388-1397, 2020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232E"/>
        </a:solidFill>
      </p:bgPr>
    </p:bg>
    <p:spTree>
      <p:nvGrpSpPr>
        <p:cNvPr id="1" name=""/>
        <p:cNvGrpSpPr/>
        <p:nvPr/>
      </p:nvGrpSpPr>
      <p:grpSpPr>
        <a:xfrm>
          <a:off x="0" y="0"/>
          <a:ext cx="0" cy="0"/>
          <a:chOff x="0" y="0"/>
          <a:chExt cx="0" cy="0"/>
        </a:xfrm>
      </p:grpSpPr>
      <p:sp>
        <p:nvSpPr>
          <p:cNvPr id="2" name="Text 0"/>
          <p:cNvSpPr/>
          <p:nvPr/>
        </p:nvSpPr>
        <p:spPr>
          <a:xfrm>
            <a:off x="1005840" y="1920240"/>
            <a:ext cx="10058400" cy="274320"/>
          </a:xfrm>
          <a:prstGeom prst="rect">
            <a:avLst/>
          </a:prstGeom>
          <a:noFill/>
          <a:ln/>
        </p:spPr>
        <p:txBody>
          <a:bodyPr wrap="square" lIns="0" tIns="0" rIns="0" bIns="0" rtlCol="0" anchor="ctr"/>
          <a:lstStyle/>
          <a:p>
            <a:pPr indent="0" marL="0">
              <a:buNone/>
            </a:pPr>
            <a:r>
              <a:rPr lang="en-US" sz="1200" b="1" spc="300" kern="0" dirty="0">
                <a:solidFill>
                  <a:srgbClr val="E07A28"/>
                </a:solidFill>
                <a:latin typeface="Calibri" pitchFamily="34" charset="0"/>
                <a:ea typeface="Calibri" pitchFamily="34" charset="-122"/>
                <a:cs typeface="Calibri" pitchFamily="34" charset="-120"/>
              </a:rPr>
              <a:t>QUESTION 2 OF 4</a:t>
            </a:r>
            <a:endParaRPr lang="en-US" sz="1200" dirty="0"/>
          </a:p>
        </p:txBody>
      </p:sp>
      <p:sp>
        <p:nvSpPr>
          <p:cNvPr id="3" name="Text 1"/>
          <p:cNvSpPr/>
          <p:nvPr/>
        </p:nvSpPr>
        <p:spPr>
          <a:xfrm>
            <a:off x="1005840" y="2377440"/>
            <a:ext cx="9692640" cy="1828800"/>
          </a:xfrm>
          <a:prstGeom prst="rect">
            <a:avLst/>
          </a:prstGeom>
          <a:noFill/>
          <a:ln/>
        </p:spPr>
        <p:txBody>
          <a:bodyPr wrap="square" lIns="0" tIns="0" rIns="0" bIns="0" rtlCol="0" anchor="t"/>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What is the state of the art</a:t>
            </a:r>
            <a:endParaRPr lang="en-US" sz="4000" dirty="0"/>
          </a:p>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for time-series datasets?</a:t>
            </a:r>
            <a:endParaRPr lang="en-US" sz="4000" dirty="0"/>
          </a:p>
        </p:txBody>
      </p:sp>
      <p:sp>
        <p:nvSpPr>
          <p:cNvPr id="4" name="Text 2"/>
          <p:cNvSpPr/>
          <p:nvPr/>
        </p:nvSpPr>
        <p:spPr>
          <a:xfrm>
            <a:off x="1005840" y="4434840"/>
            <a:ext cx="9144000" cy="365760"/>
          </a:xfrm>
          <a:prstGeom prst="rect">
            <a:avLst/>
          </a:prstGeom>
          <a:noFill/>
          <a:ln/>
        </p:spPr>
        <p:txBody>
          <a:bodyPr wrap="square" lIns="0" tIns="0" rIns="0" bIns="0" rtlCol="0" anchor="ctr"/>
          <a:lstStyle/>
          <a:p>
            <a:pPr indent="0" marL="0">
              <a:buNone/>
            </a:pPr>
            <a:r>
              <a:rPr lang="en-US" sz="1400" dirty="0">
                <a:solidFill>
                  <a:srgbClr val="9FB2BC"/>
                </a:solidFill>
                <a:latin typeface="Calibri" pitchFamily="34" charset="0"/>
                <a:ea typeface="Calibri" pitchFamily="34" charset="-122"/>
                <a:cs typeface="Calibri" pitchFamily="34" charset="-120"/>
              </a:rPr>
              <a:t>Three candidate methods, and the reason plain PC fails on autocorrelated data.</a:t>
            </a:r>
            <a:endParaRPr lang="en-US" sz="1400" dirty="0"/>
          </a:p>
        </p:txBody>
      </p:sp>
      <p:sp>
        <p:nvSpPr>
          <p:cNvPr id="5" name="Shape 3"/>
          <p:cNvSpPr/>
          <p:nvPr/>
        </p:nvSpPr>
        <p:spPr>
          <a:xfrm>
            <a:off x="1005840" y="4224528"/>
            <a:ext cx="1005840" cy="32004"/>
          </a:xfrm>
          <a:prstGeom prst="rect">
            <a:avLst/>
          </a:prstGeom>
          <a:solidFill>
            <a:srgbClr val="E07A28"/>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232E"/>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E07A28"/>
                </a:solidFill>
                <a:latin typeface="Calibri" pitchFamily="34" charset="0"/>
                <a:ea typeface="Calibri" pitchFamily="34" charset="-122"/>
                <a:cs typeface="Calibri" pitchFamily="34" charset="-120"/>
              </a:rPr>
              <a:t>QUESTION 2 - THE CORE PROBLEM</a:t>
            </a:r>
            <a:endParaRPr lang="en-US" sz="1100" dirty="0"/>
          </a:p>
        </p:txBody>
      </p:sp>
      <p:sp>
        <p:nvSpPr>
          <p:cNvPr id="3" name="Text 1"/>
          <p:cNvSpPr/>
          <p:nvPr/>
        </p:nvSpPr>
        <p:spPr>
          <a:xfrm>
            <a:off x="640080" y="658368"/>
            <a:ext cx="10881360" cy="86868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Autocorrelation does not slow PC down. It makes PC wrong.</a:t>
            </a:r>
            <a:endParaRPr lang="en-US" sz="3000" dirty="0"/>
          </a:p>
        </p:txBody>
      </p:sp>
      <p:sp>
        <p:nvSpPr>
          <p:cNvPr id="4" name="Shape 2"/>
          <p:cNvSpPr/>
          <p:nvPr/>
        </p:nvSpPr>
        <p:spPr>
          <a:xfrm>
            <a:off x="640080" y="1920240"/>
            <a:ext cx="5303520" cy="3108960"/>
          </a:xfrm>
          <a:prstGeom prst="roundRect">
            <a:avLst>
              <a:gd name="adj" fmla="val 2353"/>
            </a:avLst>
          </a:prstGeom>
          <a:solidFill>
            <a:srgbClr val="2C3E48"/>
          </a:solidFill>
          <a:ln w="12700">
            <a:solidFill>
              <a:srgbClr val="2C3E48"/>
            </a:solidFill>
            <a:prstDash val="solid"/>
          </a:ln>
        </p:spPr>
      </p:sp>
      <p:sp>
        <p:nvSpPr>
          <p:cNvPr id="5" name="Text 3"/>
          <p:cNvSpPr/>
          <p:nvPr/>
        </p:nvSpPr>
        <p:spPr>
          <a:xfrm>
            <a:off x="914400" y="2148840"/>
            <a:ext cx="4754880" cy="3657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Plain PC</a:t>
            </a:r>
            <a:endParaRPr lang="en-US" sz="2000" dirty="0"/>
          </a:p>
        </p:txBody>
      </p:sp>
      <p:sp>
        <p:nvSpPr>
          <p:cNvPr id="6" name="Shape 4"/>
          <p:cNvSpPr/>
          <p:nvPr/>
        </p:nvSpPr>
        <p:spPr>
          <a:xfrm>
            <a:off x="914400" y="2724912"/>
            <a:ext cx="182880" cy="182880"/>
          </a:xfrm>
          <a:prstGeom prst="ellipse">
            <a:avLst/>
          </a:prstGeom>
          <a:solidFill>
            <a:srgbClr val="B03A2E"/>
          </a:solidFill>
          <a:ln/>
        </p:spPr>
      </p:sp>
      <p:sp>
        <p:nvSpPr>
          <p:cNvPr id="7" name="Text 5"/>
          <p:cNvSpPr/>
          <p:nvPr/>
        </p:nvSpPr>
        <p:spPr>
          <a:xfrm>
            <a:off x="1261872" y="2651760"/>
            <a:ext cx="438912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Very low adjacency detection</a:t>
            </a:r>
            <a:endParaRPr lang="en-US" sz="1350" dirty="0"/>
          </a:p>
        </p:txBody>
      </p:sp>
      <p:sp>
        <p:nvSpPr>
          <p:cNvPr id="8" name="Text 6"/>
          <p:cNvSpPr/>
          <p:nvPr/>
        </p:nvSpPr>
        <p:spPr>
          <a:xfrm>
            <a:off x="1261872" y="2944368"/>
            <a:ext cx="4389120" cy="274320"/>
          </a:xfrm>
          <a:prstGeom prst="rect">
            <a:avLst/>
          </a:prstGeom>
          <a:noFill/>
          <a:ln/>
        </p:spPr>
        <p:txBody>
          <a:bodyPr wrap="square" lIns="0" tIns="0" rIns="0" bIns="0" rtlCol="0" anchor="ctr"/>
          <a:lstStyle/>
          <a:p>
            <a:pPr indent="0" marL="0">
              <a:buNone/>
            </a:pPr>
            <a:r>
              <a:rPr lang="en-US" sz="1150" dirty="0">
                <a:solidFill>
                  <a:srgbClr val="9FB2BC"/>
                </a:solidFill>
                <a:latin typeface="Calibri" pitchFamily="34" charset="0"/>
                <a:ea typeface="Calibri" pitchFamily="34" charset="-122"/>
                <a:cs typeface="Calibri" pitchFamily="34" charset="-120"/>
              </a:rPr>
              <a:t>Real edges are missed.</a:t>
            </a:r>
            <a:endParaRPr lang="en-US" sz="1150" dirty="0"/>
          </a:p>
        </p:txBody>
      </p:sp>
      <p:sp>
        <p:nvSpPr>
          <p:cNvPr id="9" name="Shape 7"/>
          <p:cNvSpPr/>
          <p:nvPr/>
        </p:nvSpPr>
        <p:spPr>
          <a:xfrm>
            <a:off x="914400" y="3474720"/>
            <a:ext cx="182880" cy="182880"/>
          </a:xfrm>
          <a:prstGeom prst="ellipse">
            <a:avLst/>
          </a:prstGeom>
          <a:solidFill>
            <a:srgbClr val="B03A2E"/>
          </a:solidFill>
          <a:ln/>
        </p:spPr>
      </p:sp>
      <p:sp>
        <p:nvSpPr>
          <p:cNvPr id="10" name="Text 8"/>
          <p:cNvSpPr/>
          <p:nvPr/>
        </p:nvSpPr>
        <p:spPr>
          <a:xfrm>
            <a:off x="1261872" y="3401568"/>
            <a:ext cx="438912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Very low orientation detection</a:t>
            </a:r>
            <a:endParaRPr lang="en-US" sz="1350" dirty="0"/>
          </a:p>
        </p:txBody>
      </p:sp>
      <p:sp>
        <p:nvSpPr>
          <p:cNvPr id="11" name="Text 9"/>
          <p:cNvSpPr/>
          <p:nvPr/>
        </p:nvSpPr>
        <p:spPr>
          <a:xfrm>
            <a:off x="1261872" y="3694176"/>
            <a:ext cx="4389120" cy="274320"/>
          </a:xfrm>
          <a:prstGeom prst="rect">
            <a:avLst/>
          </a:prstGeom>
          <a:noFill/>
          <a:ln/>
        </p:spPr>
        <p:txBody>
          <a:bodyPr wrap="square" lIns="0" tIns="0" rIns="0" bIns="0" rtlCol="0" anchor="ctr"/>
          <a:lstStyle/>
          <a:p>
            <a:pPr indent="0" marL="0">
              <a:buNone/>
            </a:pPr>
            <a:r>
              <a:rPr lang="en-US" sz="1150" dirty="0">
                <a:solidFill>
                  <a:srgbClr val="9FB2BC"/>
                </a:solidFill>
                <a:latin typeface="Calibri" pitchFamily="34" charset="0"/>
                <a:ea typeface="Calibri" pitchFamily="34" charset="-122"/>
                <a:cs typeface="Calibri" pitchFamily="34" charset="-120"/>
              </a:rPr>
              <a:t>Arrows stay undecided.</a:t>
            </a:r>
            <a:endParaRPr lang="en-US" sz="1150" dirty="0"/>
          </a:p>
        </p:txBody>
      </p:sp>
      <p:sp>
        <p:nvSpPr>
          <p:cNvPr id="12" name="Shape 10"/>
          <p:cNvSpPr/>
          <p:nvPr/>
        </p:nvSpPr>
        <p:spPr>
          <a:xfrm>
            <a:off x="914400" y="4224528"/>
            <a:ext cx="182880" cy="182880"/>
          </a:xfrm>
          <a:prstGeom prst="ellipse">
            <a:avLst/>
          </a:prstGeom>
          <a:solidFill>
            <a:srgbClr val="B03A2E"/>
          </a:solidFill>
          <a:ln/>
        </p:spPr>
      </p:sp>
      <p:sp>
        <p:nvSpPr>
          <p:cNvPr id="13" name="Text 11"/>
          <p:cNvSpPr/>
          <p:nvPr/>
        </p:nvSpPr>
        <p:spPr>
          <a:xfrm>
            <a:off x="1261872" y="4151376"/>
            <a:ext cx="438912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Inflated false positives</a:t>
            </a:r>
            <a:endParaRPr lang="en-US" sz="1350" dirty="0"/>
          </a:p>
        </p:txBody>
      </p:sp>
      <p:sp>
        <p:nvSpPr>
          <p:cNvPr id="14" name="Text 12"/>
          <p:cNvSpPr/>
          <p:nvPr/>
        </p:nvSpPr>
        <p:spPr>
          <a:xfrm>
            <a:off x="1261872" y="4443984"/>
            <a:ext cx="4389120" cy="274320"/>
          </a:xfrm>
          <a:prstGeom prst="rect">
            <a:avLst/>
          </a:prstGeom>
          <a:noFill/>
          <a:ln/>
        </p:spPr>
        <p:txBody>
          <a:bodyPr wrap="square" lIns="0" tIns="0" rIns="0" bIns="0" rtlCol="0" anchor="ctr"/>
          <a:lstStyle/>
          <a:p>
            <a:pPr indent="0" marL="0">
              <a:buNone/>
            </a:pPr>
            <a:r>
              <a:rPr lang="en-US" sz="1150" dirty="0">
                <a:solidFill>
                  <a:srgbClr val="9FB2BC"/>
                </a:solidFill>
                <a:latin typeface="Calibri" pitchFamily="34" charset="0"/>
                <a:ea typeface="Calibri" pitchFamily="34" charset="-122"/>
                <a:cs typeface="Calibri" pitchFamily="34" charset="-120"/>
              </a:rPr>
              <a:t>Edges appear that are not there.</a:t>
            </a:r>
            <a:endParaRPr lang="en-US" sz="1150" dirty="0"/>
          </a:p>
        </p:txBody>
      </p:sp>
      <p:sp>
        <p:nvSpPr>
          <p:cNvPr id="15" name="Shape 13"/>
          <p:cNvSpPr/>
          <p:nvPr/>
        </p:nvSpPr>
        <p:spPr>
          <a:xfrm>
            <a:off x="6217920" y="1920240"/>
            <a:ext cx="5303520" cy="3108960"/>
          </a:xfrm>
          <a:prstGeom prst="roundRect">
            <a:avLst>
              <a:gd name="adj" fmla="val 2353"/>
            </a:avLst>
          </a:prstGeom>
          <a:solidFill>
            <a:srgbClr val="1F4A52"/>
          </a:solidFill>
          <a:ln w="12700">
            <a:solidFill>
              <a:srgbClr val="1F4A52"/>
            </a:solidFill>
            <a:prstDash val="solid"/>
          </a:ln>
        </p:spPr>
      </p:sp>
      <p:sp>
        <p:nvSpPr>
          <p:cNvPr id="16" name="Text 14"/>
          <p:cNvSpPr/>
          <p:nvPr/>
        </p:nvSpPr>
        <p:spPr>
          <a:xfrm>
            <a:off x="6492240" y="2148840"/>
            <a:ext cx="4754880" cy="3657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PCMCI+</a:t>
            </a:r>
            <a:endParaRPr lang="en-US" sz="2000" dirty="0"/>
          </a:p>
        </p:txBody>
      </p:sp>
      <p:sp>
        <p:nvSpPr>
          <p:cNvPr id="17" name="Shape 15"/>
          <p:cNvSpPr/>
          <p:nvPr/>
        </p:nvSpPr>
        <p:spPr>
          <a:xfrm>
            <a:off x="6492240" y="2724912"/>
            <a:ext cx="182880" cy="182880"/>
          </a:xfrm>
          <a:prstGeom prst="ellipse">
            <a:avLst/>
          </a:prstGeom>
          <a:solidFill>
            <a:srgbClr val="5FD0A8"/>
          </a:solidFill>
          <a:ln/>
        </p:spPr>
      </p:sp>
      <p:sp>
        <p:nvSpPr>
          <p:cNvPr id="18" name="Text 16"/>
          <p:cNvSpPr/>
          <p:nvPr/>
        </p:nvSpPr>
        <p:spPr>
          <a:xfrm>
            <a:off x="6839712" y="2651760"/>
            <a:ext cx="438912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Much higher recall</a:t>
            </a:r>
            <a:endParaRPr lang="en-US" sz="1350" dirty="0"/>
          </a:p>
        </p:txBody>
      </p:sp>
      <p:sp>
        <p:nvSpPr>
          <p:cNvPr id="19" name="Text 17"/>
          <p:cNvSpPr/>
          <p:nvPr/>
        </p:nvSpPr>
        <p:spPr>
          <a:xfrm>
            <a:off x="6839712" y="2944368"/>
            <a:ext cx="4389120" cy="274320"/>
          </a:xfrm>
          <a:prstGeom prst="rect">
            <a:avLst/>
          </a:prstGeom>
          <a:noFill/>
          <a:ln/>
        </p:spPr>
        <p:txBody>
          <a:bodyPr wrap="square" lIns="0" tIns="0" rIns="0" bIns="0" rtlCol="0" anchor="ctr"/>
          <a:lstStyle/>
          <a:p>
            <a:pPr indent="0" marL="0">
              <a:buNone/>
            </a:pPr>
            <a:r>
              <a:rPr lang="en-US" sz="1150" dirty="0">
                <a:solidFill>
                  <a:srgbClr val="A8C7C4"/>
                </a:solidFill>
                <a:latin typeface="Calibri" pitchFamily="34" charset="0"/>
                <a:ea typeface="Calibri" pitchFamily="34" charset="-122"/>
                <a:cs typeface="Calibri" pitchFamily="34" charset="-120"/>
              </a:rPr>
              <a:t>It recovers the links PC misses.</a:t>
            </a:r>
            <a:endParaRPr lang="en-US" sz="1150" dirty="0"/>
          </a:p>
        </p:txBody>
      </p:sp>
      <p:sp>
        <p:nvSpPr>
          <p:cNvPr id="20" name="Shape 18"/>
          <p:cNvSpPr/>
          <p:nvPr/>
        </p:nvSpPr>
        <p:spPr>
          <a:xfrm>
            <a:off x="6492240" y="3474720"/>
            <a:ext cx="182880" cy="182880"/>
          </a:xfrm>
          <a:prstGeom prst="ellipse">
            <a:avLst/>
          </a:prstGeom>
          <a:solidFill>
            <a:srgbClr val="5FD0A8"/>
          </a:solidFill>
          <a:ln/>
        </p:spPr>
      </p:sp>
      <p:sp>
        <p:nvSpPr>
          <p:cNvPr id="21" name="Text 19"/>
          <p:cNvSpPr/>
          <p:nvPr/>
        </p:nvSpPr>
        <p:spPr>
          <a:xfrm>
            <a:off x="6839712" y="3401568"/>
            <a:ext cx="438912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Controlled false positives</a:t>
            </a:r>
            <a:endParaRPr lang="en-US" sz="1350" dirty="0"/>
          </a:p>
        </p:txBody>
      </p:sp>
      <p:sp>
        <p:nvSpPr>
          <p:cNvPr id="22" name="Text 20"/>
          <p:cNvSpPr/>
          <p:nvPr/>
        </p:nvSpPr>
        <p:spPr>
          <a:xfrm>
            <a:off x="6839712" y="3694176"/>
            <a:ext cx="4389120" cy="274320"/>
          </a:xfrm>
          <a:prstGeom prst="rect">
            <a:avLst/>
          </a:prstGeom>
          <a:noFill/>
          <a:ln/>
        </p:spPr>
        <p:txBody>
          <a:bodyPr wrap="square" lIns="0" tIns="0" rIns="0" bIns="0" rtlCol="0" anchor="ctr"/>
          <a:lstStyle/>
          <a:p>
            <a:pPr indent="0" marL="0">
              <a:buNone/>
            </a:pPr>
            <a:r>
              <a:rPr lang="en-US" sz="1150" dirty="0">
                <a:solidFill>
                  <a:srgbClr val="A8C7C4"/>
                </a:solidFill>
                <a:latin typeface="Calibri" pitchFamily="34" charset="0"/>
                <a:ea typeface="Calibri" pitchFamily="34" charset="-122"/>
                <a:cs typeface="Calibri" pitchFamily="34" charset="-120"/>
              </a:rPr>
              <a:t>The MCI step recalibrates the test.</a:t>
            </a:r>
            <a:endParaRPr lang="en-US" sz="1150" dirty="0"/>
          </a:p>
        </p:txBody>
      </p:sp>
      <p:sp>
        <p:nvSpPr>
          <p:cNvPr id="23" name="Shape 21"/>
          <p:cNvSpPr/>
          <p:nvPr/>
        </p:nvSpPr>
        <p:spPr>
          <a:xfrm>
            <a:off x="6492240" y="4224528"/>
            <a:ext cx="182880" cy="182880"/>
          </a:xfrm>
          <a:prstGeom prst="ellipse">
            <a:avLst/>
          </a:prstGeom>
          <a:solidFill>
            <a:srgbClr val="5FD0A8"/>
          </a:solidFill>
          <a:ln/>
        </p:spPr>
      </p:sp>
      <p:sp>
        <p:nvSpPr>
          <p:cNvPr id="24" name="Text 22"/>
          <p:cNvSpPr/>
          <p:nvPr/>
        </p:nvSpPr>
        <p:spPr>
          <a:xfrm>
            <a:off x="6839712" y="4151376"/>
            <a:ext cx="438912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Faster runtime</a:t>
            </a:r>
            <a:endParaRPr lang="en-US" sz="1350" dirty="0"/>
          </a:p>
        </p:txBody>
      </p:sp>
      <p:sp>
        <p:nvSpPr>
          <p:cNvPr id="25" name="Text 23"/>
          <p:cNvSpPr/>
          <p:nvPr/>
        </p:nvSpPr>
        <p:spPr>
          <a:xfrm>
            <a:off x="6839712" y="4443984"/>
            <a:ext cx="4389120" cy="274320"/>
          </a:xfrm>
          <a:prstGeom prst="rect">
            <a:avLst/>
          </a:prstGeom>
          <a:noFill/>
          <a:ln/>
        </p:spPr>
        <p:txBody>
          <a:bodyPr wrap="square" lIns="0" tIns="0" rIns="0" bIns="0" rtlCol="0" anchor="ctr"/>
          <a:lstStyle/>
          <a:p>
            <a:pPr indent="0" marL="0">
              <a:buNone/>
            </a:pPr>
            <a:r>
              <a:rPr lang="en-US" sz="1150" dirty="0">
                <a:solidFill>
                  <a:srgbClr val="A8C7C4"/>
                </a:solidFill>
                <a:latin typeface="Calibri" pitchFamily="34" charset="0"/>
                <a:ea typeface="Calibri" pitchFamily="34" charset="-122"/>
                <a:cs typeface="Calibri" pitchFamily="34" charset="-120"/>
              </a:rPr>
              <a:t>Fewer wasted conditional tests.</a:t>
            </a:r>
            <a:endParaRPr lang="en-US" sz="1150" dirty="0"/>
          </a:p>
        </p:txBody>
      </p:sp>
      <p:sp>
        <p:nvSpPr>
          <p:cNvPr id="26" name="Text 24"/>
          <p:cNvSpPr/>
          <p:nvPr/>
        </p:nvSpPr>
        <p:spPr>
          <a:xfrm>
            <a:off x="640080" y="5257800"/>
            <a:ext cx="10881360" cy="640080"/>
          </a:xfrm>
          <a:prstGeom prst="rect">
            <a:avLst/>
          </a:prstGeom>
          <a:noFill/>
          <a:ln/>
        </p:spPr>
        <p:txBody>
          <a:bodyPr wrap="square" lIns="0" tIns="0" rIns="0" bIns="0" rtlCol="0" anchor="t"/>
          <a:lstStyle/>
          <a:p>
            <a:pPr indent="0" marL="0">
              <a:lnSpc>
                <a:spcPts val="2000"/>
              </a:lnSpc>
              <a:buNone/>
            </a:pPr>
            <a:r>
              <a:rPr lang="en-US" sz="1350" i="1" dirty="0">
                <a:solidFill>
                  <a:srgbClr val="CBD8DE"/>
                </a:solidFill>
                <a:latin typeface="Calibri" pitchFamily="34" charset="0"/>
                <a:ea typeface="Calibri" pitchFamily="34" charset="-122"/>
                <a:cs typeface="Calibri" pitchFamily="34" charset="-120"/>
              </a:rPr>
              <a:t>Autocorrelation even helps PCMCI+ orient contemporaneous edges. It creates orientable triples that an isolated instantaneous link cannot produce on its own.</a:t>
            </a:r>
            <a:endParaRPr lang="en-US" sz="1350" dirty="0"/>
          </a:p>
        </p:txBody>
      </p:sp>
      <p:sp>
        <p:nvSpPr>
          <p:cNvPr id="27" name="Text 25"/>
          <p:cNvSpPr/>
          <p:nvPr/>
        </p:nvSpPr>
        <p:spPr>
          <a:xfrm>
            <a:off x="640080" y="6327648"/>
            <a:ext cx="10881360" cy="274320"/>
          </a:xfrm>
          <a:prstGeom prst="rect">
            <a:avLst/>
          </a:prstGeom>
          <a:noFill/>
          <a:ln/>
        </p:spPr>
        <p:txBody>
          <a:bodyPr wrap="square" lIns="0" tIns="0" rIns="0" bIns="0" rtlCol="0" anchor="ctr"/>
          <a:lstStyle/>
          <a:p>
            <a:pPr indent="0" marL="0">
              <a:buNone/>
            </a:pPr>
            <a:r>
              <a:rPr lang="en-US" sz="900" dirty="0">
                <a:solidFill>
                  <a:srgbClr val="6B7A85"/>
                </a:solidFill>
                <a:latin typeface="Calibri" pitchFamily="34" charset="0"/>
                <a:ea typeface="Calibri" pitchFamily="34" charset="-122"/>
                <a:cs typeface="Calibri" pitchFamily="34" charset="-120"/>
              </a:rPr>
              <a:t>Runge, Discovering contemporaneous and lagged causal relations in autocorrelated nonlinear time series datasets, UAI 2020, PMLR 124:1388-1397 - proceedings.mlr.press/v124/runge20a.html</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2E7D8A"/>
                </a:solidFill>
                <a:latin typeface="Calibri" pitchFamily="34" charset="0"/>
                <a:ea typeface="Calibri" pitchFamily="34" charset="-122"/>
                <a:cs typeface="Calibri" pitchFamily="34" charset="-120"/>
              </a:rPr>
              <a:t>QUESTION 2 - CANDIDATE 1</a:t>
            </a:r>
            <a:endParaRPr lang="en-US" sz="1100" dirty="0"/>
          </a:p>
        </p:txBody>
      </p:sp>
      <p:sp>
        <p:nvSpPr>
          <p:cNvPr id="3" name="Text 1"/>
          <p:cNvSpPr/>
          <p:nvPr/>
        </p:nvSpPr>
        <p:spPr>
          <a:xfrm>
            <a:off x="640080" y="658368"/>
            <a:ext cx="10881360" cy="868680"/>
          </a:xfrm>
          <a:prstGeom prst="rect">
            <a:avLst/>
          </a:prstGeom>
          <a:noFill/>
          <a:ln/>
        </p:spPr>
        <p:txBody>
          <a:bodyPr wrap="square" lIns="0" tIns="0" rIns="0" bIns="0" rtlCol="0" anchor="t"/>
          <a:lstStyle/>
          <a:p>
            <a:pPr indent="0" marL="0">
              <a:buNone/>
            </a:pPr>
            <a:r>
              <a:rPr lang="en-US" sz="3000" b="1" dirty="0">
                <a:solidFill>
                  <a:srgbClr val="16232E"/>
                </a:solidFill>
                <a:latin typeface="Cambria" pitchFamily="34" charset="0"/>
                <a:ea typeface="Cambria" pitchFamily="34" charset="-122"/>
                <a:cs typeface="Cambria" pitchFamily="34" charset="-120"/>
              </a:rPr>
              <a:t>PCMCI+ is the shortest upgrade path from the code we already have</a:t>
            </a:r>
            <a:endParaRPr lang="en-US" sz="3000" dirty="0"/>
          </a:p>
        </p:txBody>
      </p:sp>
      <p:sp>
        <p:nvSpPr>
          <p:cNvPr id="4" name="Shape 2"/>
          <p:cNvSpPr/>
          <p:nvPr/>
        </p:nvSpPr>
        <p:spPr>
          <a:xfrm>
            <a:off x="640080" y="1828800"/>
            <a:ext cx="3429000" cy="2103120"/>
          </a:xfrm>
          <a:prstGeom prst="roundRect">
            <a:avLst>
              <a:gd name="adj" fmla="val 3478"/>
            </a:avLst>
          </a:prstGeom>
          <a:solidFill>
            <a:srgbClr val="F0F3F5"/>
          </a:solidFill>
          <a:ln w="12700">
            <a:solidFill>
              <a:srgbClr val="F0F3F5"/>
            </a:solidFill>
            <a:prstDash val="solid"/>
          </a:ln>
        </p:spPr>
      </p:sp>
      <p:sp>
        <p:nvSpPr>
          <p:cNvPr id="5" name="Text 3"/>
          <p:cNvSpPr/>
          <p:nvPr/>
        </p:nvSpPr>
        <p:spPr>
          <a:xfrm>
            <a:off x="914400" y="2011680"/>
            <a:ext cx="2880360" cy="411480"/>
          </a:xfrm>
          <a:prstGeom prst="rect">
            <a:avLst/>
          </a:prstGeom>
          <a:noFill/>
          <a:ln/>
        </p:spPr>
        <p:txBody>
          <a:bodyPr wrap="square" lIns="0" tIns="0" rIns="0" bIns="0" rtlCol="0" anchor="ctr"/>
          <a:lstStyle/>
          <a:p>
            <a:pPr indent="0" marL="0">
              <a:buNone/>
            </a:pPr>
            <a:r>
              <a:rPr lang="en-US" sz="1900" b="1" dirty="0">
                <a:solidFill>
                  <a:srgbClr val="2E7D8A"/>
                </a:solidFill>
                <a:latin typeface="Cambria" pitchFamily="34" charset="0"/>
                <a:ea typeface="Cambria" pitchFamily="34" charset="-122"/>
                <a:cs typeface="Cambria" pitchFamily="34" charset="-120"/>
              </a:rPr>
              <a:t>PC1</a:t>
            </a:r>
            <a:endParaRPr lang="en-US" sz="1900" dirty="0"/>
          </a:p>
        </p:txBody>
      </p:sp>
      <p:sp>
        <p:nvSpPr>
          <p:cNvPr id="6" name="Text 4"/>
          <p:cNvSpPr/>
          <p:nvPr/>
        </p:nvSpPr>
        <p:spPr>
          <a:xfrm>
            <a:off x="914400" y="2468880"/>
            <a:ext cx="2880360" cy="777240"/>
          </a:xfrm>
          <a:prstGeom prst="rect">
            <a:avLst/>
          </a:prstGeom>
          <a:noFill/>
          <a:ln/>
        </p:spPr>
        <p:txBody>
          <a:bodyPr wrap="square" lIns="0" tIns="0" rIns="0" bIns="0" rtlCol="0" anchor="t"/>
          <a:lstStyle/>
          <a:p>
            <a:pPr indent="0" marL="0">
              <a:lnSpc>
                <a:spcPts val="1600"/>
              </a:lnSpc>
              <a:buNone/>
            </a:pPr>
            <a:r>
              <a:rPr lang="en-US" sz="1200" dirty="0">
                <a:solidFill>
                  <a:srgbClr val="24363F"/>
                </a:solidFill>
                <a:latin typeface="Calibri" pitchFamily="34" charset="0"/>
                <a:ea typeface="Calibri" pitchFamily="34" charset="-122"/>
                <a:cs typeface="Calibri" pitchFamily="34" charset="-120"/>
              </a:rPr>
              <a:t>A stable-PC step finds the lagged parents of each variable.</a:t>
            </a:r>
            <a:endParaRPr lang="en-US" sz="1200" dirty="0"/>
          </a:p>
        </p:txBody>
      </p:sp>
      <p:sp>
        <p:nvSpPr>
          <p:cNvPr id="7" name="Text 5"/>
          <p:cNvSpPr/>
          <p:nvPr/>
        </p:nvSpPr>
        <p:spPr>
          <a:xfrm>
            <a:off x="914400" y="3310128"/>
            <a:ext cx="2880360" cy="457200"/>
          </a:xfrm>
          <a:prstGeom prst="rect">
            <a:avLst/>
          </a:prstGeom>
          <a:noFill/>
          <a:ln/>
        </p:spPr>
        <p:txBody>
          <a:bodyPr wrap="square" lIns="0" tIns="0" rIns="0" bIns="0" rtlCol="0" anchor="t"/>
          <a:lstStyle/>
          <a:p>
            <a:pPr indent="0" marL="0">
              <a:lnSpc>
                <a:spcPts val="1500"/>
              </a:lnSpc>
              <a:buNone/>
            </a:pPr>
            <a:r>
              <a:rPr lang="en-US" sz="1150" b="1" dirty="0">
                <a:solidFill>
                  <a:srgbClr val="E07A28"/>
                </a:solidFill>
                <a:latin typeface="Calibri" pitchFamily="34" charset="0"/>
                <a:ea typeface="Calibri" pitchFamily="34" charset="-122"/>
                <a:cs typeface="Calibri" pitchFamily="34" charset="-120"/>
              </a:rPr>
              <a:t>Our skeleton code carries over.</a:t>
            </a:r>
            <a:endParaRPr lang="en-US" sz="1150" dirty="0"/>
          </a:p>
        </p:txBody>
      </p:sp>
      <p:sp>
        <p:nvSpPr>
          <p:cNvPr id="8" name="Shape 6"/>
          <p:cNvSpPr/>
          <p:nvPr/>
        </p:nvSpPr>
        <p:spPr>
          <a:xfrm>
            <a:off x="4142232" y="2788920"/>
            <a:ext cx="146304" cy="201168"/>
          </a:xfrm>
          <a:prstGeom prst="rightArrow">
            <a:avLst/>
          </a:prstGeom>
          <a:solidFill>
            <a:srgbClr val="B9C6CC"/>
          </a:solidFill>
          <a:ln/>
        </p:spPr>
      </p:sp>
      <p:sp>
        <p:nvSpPr>
          <p:cNvPr id="9" name="Shape 7"/>
          <p:cNvSpPr/>
          <p:nvPr/>
        </p:nvSpPr>
        <p:spPr>
          <a:xfrm>
            <a:off x="4361688" y="1828800"/>
            <a:ext cx="3429000" cy="2103120"/>
          </a:xfrm>
          <a:prstGeom prst="roundRect">
            <a:avLst>
              <a:gd name="adj" fmla="val 3478"/>
            </a:avLst>
          </a:prstGeom>
          <a:solidFill>
            <a:srgbClr val="F0F3F5"/>
          </a:solidFill>
          <a:ln w="12700">
            <a:solidFill>
              <a:srgbClr val="F0F3F5"/>
            </a:solidFill>
            <a:prstDash val="solid"/>
          </a:ln>
        </p:spPr>
      </p:sp>
      <p:sp>
        <p:nvSpPr>
          <p:cNvPr id="10" name="Text 8"/>
          <p:cNvSpPr/>
          <p:nvPr/>
        </p:nvSpPr>
        <p:spPr>
          <a:xfrm>
            <a:off x="4636008" y="2011680"/>
            <a:ext cx="2880360" cy="411480"/>
          </a:xfrm>
          <a:prstGeom prst="rect">
            <a:avLst/>
          </a:prstGeom>
          <a:noFill/>
          <a:ln/>
        </p:spPr>
        <p:txBody>
          <a:bodyPr wrap="square" lIns="0" tIns="0" rIns="0" bIns="0" rtlCol="0" anchor="ctr"/>
          <a:lstStyle/>
          <a:p>
            <a:pPr indent="0" marL="0">
              <a:buNone/>
            </a:pPr>
            <a:r>
              <a:rPr lang="en-US" sz="1900" b="1" dirty="0">
                <a:solidFill>
                  <a:srgbClr val="2E7D8A"/>
                </a:solidFill>
                <a:latin typeface="Cambria" pitchFamily="34" charset="0"/>
                <a:ea typeface="Cambria" pitchFamily="34" charset="-122"/>
                <a:cs typeface="Cambria" pitchFamily="34" charset="-120"/>
              </a:rPr>
              <a:t>MCI</a:t>
            </a:r>
            <a:endParaRPr lang="en-US" sz="1900" dirty="0"/>
          </a:p>
        </p:txBody>
      </p:sp>
      <p:sp>
        <p:nvSpPr>
          <p:cNvPr id="11" name="Text 9"/>
          <p:cNvSpPr/>
          <p:nvPr/>
        </p:nvSpPr>
        <p:spPr>
          <a:xfrm>
            <a:off x="4636008" y="2468880"/>
            <a:ext cx="2880360" cy="777240"/>
          </a:xfrm>
          <a:prstGeom prst="rect">
            <a:avLst/>
          </a:prstGeom>
          <a:noFill/>
          <a:ln/>
        </p:spPr>
        <p:txBody>
          <a:bodyPr wrap="square" lIns="0" tIns="0" rIns="0" bIns="0" rtlCol="0" anchor="t"/>
          <a:lstStyle/>
          <a:p>
            <a:pPr indent="0" marL="0">
              <a:lnSpc>
                <a:spcPts val="1600"/>
              </a:lnSpc>
              <a:buNone/>
            </a:pPr>
            <a:r>
              <a:rPr lang="en-US" sz="1200" dirty="0">
                <a:solidFill>
                  <a:srgbClr val="24363F"/>
                </a:solidFill>
                <a:latin typeface="Calibri" pitchFamily="34" charset="0"/>
                <a:ea typeface="Calibri" pitchFamily="34" charset="-122"/>
                <a:cs typeface="Calibri" pitchFamily="34" charset="-120"/>
              </a:rPr>
              <a:t>Each test conditions on the parents of the driver and of the target.</a:t>
            </a:r>
            <a:endParaRPr lang="en-US" sz="1200" dirty="0"/>
          </a:p>
        </p:txBody>
      </p:sp>
      <p:sp>
        <p:nvSpPr>
          <p:cNvPr id="12" name="Text 10"/>
          <p:cNvSpPr/>
          <p:nvPr/>
        </p:nvSpPr>
        <p:spPr>
          <a:xfrm>
            <a:off x="4636008" y="3310128"/>
            <a:ext cx="2880360" cy="457200"/>
          </a:xfrm>
          <a:prstGeom prst="rect">
            <a:avLst/>
          </a:prstGeom>
          <a:noFill/>
          <a:ln/>
        </p:spPr>
        <p:txBody>
          <a:bodyPr wrap="square" lIns="0" tIns="0" rIns="0" bIns="0" rtlCol="0" anchor="t"/>
          <a:lstStyle/>
          <a:p>
            <a:pPr indent="0" marL="0">
              <a:lnSpc>
                <a:spcPts val="1500"/>
              </a:lnSpc>
              <a:buNone/>
            </a:pPr>
            <a:r>
              <a:rPr lang="en-US" sz="1150" b="1" dirty="0">
                <a:solidFill>
                  <a:srgbClr val="E07A28"/>
                </a:solidFill>
                <a:latin typeface="Calibri" pitchFamily="34" charset="0"/>
                <a:ea typeface="Calibri" pitchFamily="34" charset="-122"/>
                <a:cs typeface="Calibri" pitchFamily="34" charset="-120"/>
              </a:rPr>
              <a:t>This restores the test under autocorrelation.</a:t>
            </a:r>
            <a:endParaRPr lang="en-US" sz="1150" dirty="0"/>
          </a:p>
        </p:txBody>
      </p:sp>
      <p:sp>
        <p:nvSpPr>
          <p:cNvPr id="13" name="Shape 11"/>
          <p:cNvSpPr/>
          <p:nvPr/>
        </p:nvSpPr>
        <p:spPr>
          <a:xfrm>
            <a:off x="7863840" y="2788920"/>
            <a:ext cx="146304" cy="201168"/>
          </a:xfrm>
          <a:prstGeom prst="rightArrow">
            <a:avLst/>
          </a:prstGeom>
          <a:solidFill>
            <a:srgbClr val="B9C6CC"/>
          </a:solidFill>
          <a:ln/>
        </p:spPr>
      </p:sp>
      <p:sp>
        <p:nvSpPr>
          <p:cNvPr id="14" name="Shape 12"/>
          <p:cNvSpPr/>
          <p:nvPr/>
        </p:nvSpPr>
        <p:spPr>
          <a:xfrm>
            <a:off x="8083296" y="1828800"/>
            <a:ext cx="3429000" cy="2103120"/>
          </a:xfrm>
          <a:prstGeom prst="roundRect">
            <a:avLst>
              <a:gd name="adj" fmla="val 3478"/>
            </a:avLst>
          </a:prstGeom>
          <a:solidFill>
            <a:srgbClr val="F0F3F5"/>
          </a:solidFill>
          <a:ln w="12700">
            <a:solidFill>
              <a:srgbClr val="F0F3F5"/>
            </a:solidFill>
            <a:prstDash val="solid"/>
          </a:ln>
        </p:spPr>
      </p:sp>
      <p:sp>
        <p:nvSpPr>
          <p:cNvPr id="15" name="Text 13"/>
          <p:cNvSpPr/>
          <p:nvPr/>
        </p:nvSpPr>
        <p:spPr>
          <a:xfrm>
            <a:off x="8357616" y="2011680"/>
            <a:ext cx="2880360" cy="411480"/>
          </a:xfrm>
          <a:prstGeom prst="rect">
            <a:avLst/>
          </a:prstGeom>
          <a:noFill/>
          <a:ln/>
        </p:spPr>
        <p:txBody>
          <a:bodyPr wrap="square" lIns="0" tIns="0" rIns="0" bIns="0" rtlCol="0" anchor="ctr"/>
          <a:lstStyle/>
          <a:p>
            <a:pPr indent="0" marL="0">
              <a:buNone/>
            </a:pPr>
            <a:r>
              <a:rPr lang="en-US" sz="1900" b="1" dirty="0">
                <a:solidFill>
                  <a:srgbClr val="2E7D8A"/>
                </a:solidFill>
                <a:latin typeface="Cambria" pitchFamily="34" charset="0"/>
                <a:ea typeface="Cambria" pitchFamily="34" charset="-122"/>
                <a:cs typeface="Cambria" pitchFamily="34" charset="-120"/>
              </a:rPr>
              <a:t>PCMCI+</a:t>
            </a:r>
            <a:endParaRPr lang="en-US" sz="1900" dirty="0"/>
          </a:p>
        </p:txBody>
      </p:sp>
      <p:sp>
        <p:nvSpPr>
          <p:cNvPr id="16" name="Text 14"/>
          <p:cNvSpPr/>
          <p:nvPr/>
        </p:nvSpPr>
        <p:spPr>
          <a:xfrm>
            <a:off x="8357616" y="2468880"/>
            <a:ext cx="2880360" cy="777240"/>
          </a:xfrm>
          <a:prstGeom prst="rect">
            <a:avLst/>
          </a:prstGeom>
          <a:noFill/>
          <a:ln/>
        </p:spPr>
        <p:txBody>
          <a:bodyPr wrap="square" lIns="0" tIns="0" rIns="0" bIns="0" rtlCol="0" anchor="t"/>
          <a:lstStyle/>
          <a:p>
            <a:pPr indent="0" marL="0">
              <a:lnSpc>
                <a:spcPts val="1600"/>
              </a:lnSpc>
              <a:buNone/>
            </a:pPr>
            <a:r>
              <a:rPr lang="en-US" sz="1200" dirty="0">
                <a:solidFill>
                  <a:srgbClr val="24363F"/>
                </a:solidFill>
                <a:latin typeface="Calibri" pitchFamily="34" charset="0"/>
                <a:ea typeface="Calibri" pitchFamily="34" charset="-122"/>
                <a:cs typeface="Calibri" pitchFamily="34" charset="-120"/>
              </a:rPr>
              <a:t>A further stage recovers contemporaneous links at lag 0.</a:t>
            </a:r>
            <a:endParaRPr lang="en-US" sz="1200" dirty="0"/>
          </a:p>
        </p:txBody>
      </p:sp>
      <p:sp>
        <p:nvSpPr>
          <p:cNvPr id="17" name="Text 15"/>
          <p:cNvSpPr/>
          <p:nvPr/>
        </p:nvSpPr>
        <p:spPr>
          <a:xfrm>
            <a:off x="8357616" y="3310128"/>
            <a:ext cx="2880360" cy="457200"/>
          </a:xfrm>
          <a:prstGeom prst="rect">
            <a:avLst/>
          </a:prstGeom>
          <a:noFill/>
          <a:ln/>
        </p:spPr>
        <p:txBody>
          <a:bodyPr wrap="square" lIns="0" tIns="0" rIns="0" bIns="0" rtlCol="0" anchor="t"/>
          <a:lstStyle/>
          <a:p>
            <a:pPr indent="0" marL="0">
              <a:lnSpc>
                <a:spcPts val="1500"/>
              </a:lnSpc>
              <a:buNone/>
            </a:pPr>
            <a:r>
              <a:rPr lang="en-US" sz="1150" b="1" dirty="0">
                <a:solidFill>
                  <a:srgbClr val="E07A28"/>
                </a:solidFill>
                <a:latin typeface="Calibri" pitchFamily="34" charset="0"/>
                <a:ea typeface="Calibri" pitchFamily="34" charset="-122"/>
                <a:cs typeface="Calibri" pitchFamily="34" charset="-120"/>
              </a:rPr>
              <a:t>Output covers lagged and instant effects.</a:t>
            </a:r>
            <a:endParaRPr lang="en-US" sz="1150" dirty="0"/>
          </a:p>
        </p:txBody>
      </p:sp>
      <p:sp>
        <p:nvSpPr>
          <p:cNvPr id="18" name="Text 16"/>
          <p:cNvSpPr/>
          <p:nvPr/>
        </p:nvSpPr>
        <p:spPr>
          <a:xfrm>
            <a:off x="640080" y="4160520"/>
            <a:ext cx="1828800" cy="457200"/>
          </a:xfrm>
          <a:prstGeom prst="rect">
            <a:avLst/>
          </a:prstGeom>
          <a:noFill/>
          <a:ln/>
        </p:spPr>
        <p:txBody>
          <a:bodyPr wrap="square" lIns="0" tIns="0" rIns="0" bIns="0" rtlCol="0" anchor="ctr"/>
          <a:lstStyle/>
          <a:p>
            <a:pPr indent="0" marL="0">
              <a:buNone/>
            </a:pPr>
            <a:r>
              <a:rPr lang="en-US" sz="1250" b="1" dirty="0">
                <a:solidFill>
                  <a:srgbClr val="2E7D8A"/>
                </a:solidFill>
                <a:latin typeface="Calibri" pitchFamily="34" charset="0"/>
                <a:ea typeface="Calibri" pitchFamily="34" charset="-122"/>
                <a:cs typeface="Calibri" pitchFamily="34" charset="-120"/>
              </a:rPr>
              <a:t>Noise model</a:t>
            </a:r>
            <a:endParaRPr lang="en-US" sz="1250" dirty="0"/>
          </a:p>
        </p:txBody>
      </p:sp>
      <p:sp>
        <p:nvSpPr>
          <p:cNvPr id="19" name="Text 17"/>
          <p:cNvSpPr/>
          <p:nvPr/>
        </p:nvSpPr>
        <p:spPr>
          <a:xfrm>
            <a:off x="2560320" y="4160520"/>
            <a:ext cx="8961120" cy="457200"/>
          </a:xfrm>
          <a:prstGeom prst="rect">
            <a:avLst/>
          </a:prstGeom>
          <a:noFill/>
          <a:ln/>
        </p:spPr>
        <p:txBody>
          <a:bodyPr wrap="square" lIns="0" tIns="0" rIns="0" bIns="0" rtlCol="0" anchor="ctr"/>
          <a:lstStyle/>
          <a:p>
            <a:pPr indent="0" marL="0">
              <a:buNone/>
            </a:pPr>
            <a:r>
              <a:rPr lang="en-US" sz="1250" dirty="0">
                <a:solidFill>
                  <a:srgbClr val="24363F"/>
                </a:solidFill>
                <a:latin typeface="Calibri" pitchFamily="34" charset="0"/>
                <a:ea typeface="Calibri" pitchFamily="34" charset="-122"/>
                <a:cs typeface="Calibri" pitchFamily="34" charset="-120"/>
              </a:rPr>
              <a:t>Free. The test is a plug-in object. ParCorr for linear Gaussian data, GPDC or CMIknn for nonlinear data.</a:t>
            </a:r>
            <a:endParaRPr lang="en-US" sz="1250" dirty="0"/>
          </a:p>
        </p:txBody>
      </p:sp>
      <p:sp>
        <p:nvSpPr>
          <p:cNvPr id="20" name="Text 18"/>
          <p:cNvSpPr/>
          <p:nvPr/>
        </p:nvSpPr>
        <p:spPr>
          <a:xfrm>
            <a:off x="640080" y="4764024"/>
            <a:ext cx="1828800" cy="457200"/>
          </a:xfrm>
          <a:prstGeom prst="rect">
            <a:avLst/>
          </a:prstGeom>
          <a:noFill/>
          <a:ln/>
        </p:spPr>
        <p:txBody>
          <a:bodyPr wrap="square" lIns="0" tIns="0" rIns="0" bIns="0" rtlCol="0" anchor="ctr"/>
          <a:lstStyle/>
          <a:p>
            <a:pPr indent="0" marL="0">
              <a:buNone/>
            </a:pPr>
            <a:r>
              <a:rPr lang="en-US" sz="1250" b="1" dirty="0">
                <a:solidFill>
                  <a:srgbClr val="2E7D8A"/>
                </a:solidFill>
                <a:latin typeface="Calibri" pitchFamily="34" charset="0"/>
                <a:ea typeface="Calibri" pitchFamily="34" charset="-122"/>
                <a:cs typeface="Calibri" pitchFamily="34" charset="-120"/>
              </a:rPr>
              <a:t>Assumes</a:t>
            </a:r>
            <a:endParaRPr lang="en-US" sz="1250" dirty="0"/>
          </a:p>
        </p:txBody>
      </p:sp>
      <p:sp>
        <p:nvSpPr>
          <p:cNvPr id="21" name="Text 19"/>
          <p:cNvSpPr/>
          <p:nvPr/>
        </p:nvSpPr>
        <p:spPr>
          <a:xfrm>
            <a:off x="2560320" y="4764024"/>
            <a:ext cx="8961120" cy="457200"/>
          </a:xfrm>
          <a:prstGeom prst="rect">
            <a:avLst/>
          </a:prstGeom>
          <a:noFill/>
          <a:ln/>
        </p:spPr>
        <p:txBody>
          <a:bodyPr wrap="square" lIns="0" tIns="0" rIns="0" bIns="0" rtlCol="0" anchor="ctr"/>
          <a:lstStyle/>
          <a:p>
            <a:pPr indent="0" marL="0">
              <a:buNone/>
            </a:pPr>
            <a:r>
              <a:rPr lang="en-US" sz="1250" dirty="0">
                <a:solidFill>
                  <a:srgbClr val="24363F"/>
                </a:solidFill>
                <a:latin typeface="Calibri" pitchFamily="34" charset="0"/>
                <a:ea typeface="Calibri" pitchFamily="34" charset="-122"/>
                <a:cs typeface="Calibri" pitchFamily="34" charset="-120"/>
              </a:rPr>
              <a:t>Causal sufficiency and stationarity. Edges that flip between operating regimes signal a hidden confounder.</a:t>
            </a:r>
            <a:endParaRPr lang="en-US" sz="1250" dirty="0"/>
          </a:p>
        </p:txBody>
      </p:sp>
      <p:sp>
        <p:nvSpPr>
          <p:cNvPr id="22" name="Text 20"/>
          <p:cNvSpPr/>
          <p:nvPr/>
        </p:nvSpPr>
        <p:spPr>
          <a:xfrm>
            <a:off x="640080" y="5367528"/>
            <a:ext cx="1828800" cy="457200"/>
          </a:xfrm>
          <a:prstGeom prst="rect">
            <a:avLst/>
          </a:prstGeom>
          <a:noFill/>
          <a:ln/>
        </p:spPr>
        <p:txBody>
          <a:bodyPr wrap="square" lIns="0" tIns="0" rIns="0" bIns="0" rtlCol="0" anchor="ctr"/>
          <a:lstStyle/>
          <a:p>
            <a:pPr indent="0" marL="0">
              <a:buNone/>
            </a:pPr>
            <a:r>
              <a:rPr lang="en-US" sz="1250" b="1" dirty="0">
                <a:solidFill>
                  <a:srgbClr val="2E7D8A"/>
                </a:solidFill>
                <a:latin typeface="Calibri" pitchFamily="34" charset="0"/>
                <a:ea typeface="Calibri" pitchFamily="34" charset="-122"/>
                <a:cs typeface="Calibri" pitchFamily="34" charset="-120"/>
              </a:rPr>
              <a:t>If confounded</a:t>
            </a:r>
            <a:endParaRPr lang="en-US" sz="1250" dirty="0"/>
          </a:p>
        </p:txBody>
      </p:sp>
      <p:sp>
        <p:nvSpPr>
          <p:cNvPr id="23" name="Text 21"/>
          <p:cNvSpPr/>
          <p:nvPr/>
        </p:nvSpPr>
        <p:spPr>
          <a:xfrm>
            <a:off x="2560320" y="5367528"/>
            <a:ext cx="8961120" cy="457200"/>
          </a:xfrm>
          <a:prstGeom prst="rect">
            <a:avLst/>
          </a:prstGeom>
          <a:noFill/>
          <a:ln/>
        </p:spPr>
        <p:txBody>
          <a:bodyPr wrap="square" lIns="0" tIns="0" rIns="0" bIns="0" rtlCol="0" anchor="ctr"/>
          <a:lstStyle/>
          <a:p>
            <a:pPr indent="0" marL="0">
              <a:buNone/>
            </a:pPr>
            <a:r>
              <a:rPr lang="en-US" sz="1250" dirty="0">
                <a:solidFill>
                  <a:srgbClr val="24363F"/>
                </a:solidFill>
                <a:latin typeface="Calibri" pitchFamily="34" charset="0"/>
                <a:ea typeface="Calibri" pitchFamily="34" charset="-122"/>
                <a:cs typeface="Calibri" pitchFamily="34" charset="-120"/>
              </a:rPr>
              <a:t>Switch to LPCMCI. It returns a PAG instead of a CPDAG.</a:t>
            </a:r>
            <a:endParaRPr lang="en-US" sz="1250" dirty="0"/>
          </a:p>
        </p:txBody>
      </p:sp>
      <p:sp>
        <p:nvSpPr>
          <p:cNvPr id="24" name="Text 22"/>
          <p:cNvSpPr/>
          <p:nvPr/>
        </p:nvSpPr>
        <p:spPr>
          <a:xfrm>
            <a:off x="640080" y="6327648"/>
            <a:ext cx="10881360" cy="274320"/>
          </a:xfrm>
          <a:prstGeom prst="rect">
            <a:avLst/>
          </a:prstGeom>
          <a:noFill/>
          <a:ln/>
        </p:spPr>
        <p:txBody>
          <a:bodyPr wrap="square" lIns="0" tIns="0" rIns="0" bIns="0" rtlCol="0" anchor="ctr"/>
          <a:lstStyle/>
          <a:p>
            <a:pPr indent="0" marL="0">
              <a:buNone/>
            </a:pPr>
            <a:r>
              <a:rPr lang="en-US" sz="900" dirty="0">
                <a:solidFill>
                  <a:srgbClr val="6B7A85"/>
                </a:solidFill>
                <a:latin typeface="Calibri" pitchFamily="34" charset="0"/>
                <a:ea typeface="Calibri" pitchFamily="34" charset="-122"/>
                <a:cs typeface="Calibri" pitchFamily="34" charset="-120"/>
              </a:rPr>
              <a:t>Runge et al., Science Advances 5(11):eaau4996, 2019 | Runge, PMLR 124:1388-1397, 2020 | Gerhardus &amp; Runge, LPCMCI, NeurIPS 2020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2E7D8A"/>
                </a:solidFill>
                <a:latin typeface="Calibri" pitchFamily="34" charset="0"/>
                <a:ea typeface="Calibri" pitchFamily="34" charset="-122"/>
                <a:cs typeface="Calibri" pitchFamily="34" charset="-120"/>
              </a:rPr>
              <a:t>QUESTION 2 - CANDIDATE 2</a:t>
            </a:r>
            <a:endParaRPr lang="en-US" sz="1100" dirty="0"/>
          </a:p>
        </p:txBody>
      </p:sp>
      <p:sp>
        <p:nvSpPr>
          <p:cNvPr id="3" name="Text 1"/>
          <p:cNvSpPr/>
          <p:nvPr/>
        </p:nvSpPr>
        <p:spPr>
          <a:xfrm>
            <a:off x="640080" y="658368"/>
            <a:ext cx="10881360" cy="868680"/>
          </a:xfrm>
          <a:prstGeom prst="rect">
            <a:avLst/>
          </a:prstGeom>
          <a:noFill/>
          <a:ln/>
        </p:spPr>
        <p:txBody>
          <a:bodyPr wrap="square" lIns="0" tIns="0" rIns="0" bIns="0" rtlCol="0" anchor="t"/>
          <a:lstStyle/>
          <a:p>
            <a:pPr indent="0" marL="0">
              <a:buNone/>
            </a:pPr>
            <a:r>
              <a:rPr lang="en-US" sz="3000" b="1" dirty="0">
                <a:solidFill>
                  <a:srgbClr val="16232E"/>
                </a:solidFill>
                <a:latin typeface="Cambria" pitchFamily="34" charset="0"/>
                <a:ea typeface="Cambria" pitchFamily="34" charset="-122"/>
                <a:cs typeface="Cambria" pitchFamily="34" charset="-120"/>
              </a:rPr>
              <a:t>VAR-LiNGAM answers the one question a CPDAG cannot</a:t>
            </a:r>
            <a:endParaRPr lang="en-US" sz="3000" dirty="0"/>
          </a:p>
        </p:txBody>
      </p:sp>
      <p:sp>
        <p:nvSpPr>
          <p:cNvPr id="4" name="Shape 2"/>
          <p:cNvSpPr/>
          <p:nvPr/>
        </p:nvSpPr>
        <p:spPr>
          <a:xfrm>
            <a:off x="640080" y="1828800"/>
            <a:ext cx="5349240" cy="2194560"/>
          </a:xfrm>
          <a:prstGeom prst="roundRect">
            <a:avLst>
              <a:gd name="adj" fmla="val 3333"/>
            </a:avLst>
          </a:prstGeom>
          <a:solidFill>
            <a:srgbClr val="E6EDF0"/>
          </a:solidFill>
          <a:ln w="12700">
            <a:solidFill>
              <a:srgbClr val="E6EDF0"/>
            </a:solidFill>
            <a:prstDash val="solid"/>
          </a:ln>
        </p:spPr>
      </p:sp>
      <p:sp>
        <p:nvSpPr>
          <p:cNvPr id="5" name="Text 3"/>
          <p:cNvSpPr/>
          <p:nvPr/>
        </p:nvSpPr>
        <p:spPr>
          <a:xfrm>
            <a:off x="914400" y="2011680"/>
            <a:ext cx="4754880" cy="365760"/>
          </a:xfrm>
          <a:prstGeom prst="rect">
            <a:avLst/>
          </a:prstGeom>
          <a:noFill/>
          <a:ln/>
        </p:spPr>
        <p:txBody>
          <a:bodyPr wrap="square" lIns="0" tIns="0" rIns="0" bIns="0" rtlCol="0" anchor="ctr"/>
          <a:lstStyle/>
          <a:p>
            <a:pPr indent="0" marL="0">
              <a:buNone/>
            </a:pPr>
            <a:r>
              <a:rPr lang="en-US" sz="1800" b="1" dirty="0">
                <a:solidFill>
                  <a:srgbClr val="16232E"/>
                </a:solidFill>
                <a:latin typeface="Cambria" pitchFamily="34" charset="0"/>
                <a:ea typeface="Cambria" pitchFamily="34" charset="-122"/>
                <a:cs typeface="Cambria" pitchFamily="34" charset="-120"/>
              </a:rPr>
              <a:t>The gap it fills</a:t>
            </a:r>
            <a:endParaRPr lang="en-US" sz="1800" dirty="0"/>
          </a:p>
        </p:txBody>
      </p:sp>
      <p:sp>
        <p:nvSpPr>
          <p:cNvPr id="6" name="Text 4"/>
          <p:cNvSpPr/>
          <p:nvPr/>
        </p:nvSpPr>
        <p:spPr>
          <a:xfrm>
            <a:off x="914400" y="2468880"/>
            <a:ext cx="4846320" cy="1417320"/>
          </a:xfrm>
          <a:prstGeom prst="rect">
            <a:avLst/>
          </a:prstGeom>
          <a:noFill/>
          <a:ln/>
        </p:spPr>
        <p:txBody>
          <a:bodyPr wrap="square" lIns="0" tIns="0" rIns="0" bIns="0" rtlCol="0" anchor="t"/>
          <a:lstStyle/>
          <a:p>
            <a:pPr indent="0" marL="0">
              <a:lnSpc>
                <a:spcPts val="1700"/>
              </a:lnSpc>
              <a:buNone/>
            </a:pPr>
            <a:r>
              <a:rPr lang="en-US" sz="1250" dirty="0">
                <a:solidFill>
                  <a:srgbClr val="24363F"/>
                </a:solidFill>
                <a:latin typeface="Calibri" pitchFamily="34" charset="0"/>
                <a:ea typeface="Calibri" pitchFamily="34" charset="-122"/>
                <a:cs typeface="Calibri" pitchFamily="34" charset="-120"/>
              </a:rPr>
              <a:t>Constraint-based methods leave many instantaneous links undirected. Both directions sit in the same equivalence class, so the data cannot separate them.</a:t>
            </a:r>
            <a:endParaRPr lang="en-US" sz="1250" dirty="0"/>
          </a:p>
          <a:p>
            <a:pPr indent="0" marL="0">
              <a:lnSpc>
                <a:spcPts val="1700"/>
              </a:lnSpc>
              <a:buNone/>
            </a:pPr>
            <a:endParaRPr lang="en-US" sz="1250" dirty="0"/>
          </a:p>
          <a:p>
            <a:pPr indent="0" marL="0">
              <a:lnSpc>
                <a:spcPts val="1700"/>
              </a:lnSpc>
              <a:buNone/>
            </a:pPr>
            <a:r>
              <a:rPr lang="en-US" sz="1250" dirty="0">
                <a:solidFill>
                  <a:srgbClr val="24363F"/>
                </a:solidFill>
                <a:latin typeface="Calibri" pitchFamily="34" charset="0"/>
                <a:ea typeface="Calibri" pitchFamily="34" charset="-122"/>
                <a:cs typeface="Calibri" pitchFamily="34" charset="-120"/>
              </a:rPr>
              <a:t>VAR-LiNGAM breaks the tie. It fits a VAR model, then runs ICA on the residuals. Non-Gaussian noise carries the direction.</a:t>
            </a:r>
            <a:endParaRPr lang="en-US" sz="1250" dirty="0"/>
          </a:p>
        </p:txBody>
      </p:sp>
      <p:sp>
        <p:nvSpPr>
          <p:cNvPr id="7" name="Shape 5"/>
          <p:cNvSpPr/>
          <p:nvPr/>
        </p:nvSpPr>
        <p:spPr>
          <a:xfrm>
            <a:off x="6172200" y="1828800"/>
            <a:ext cx="5349240" cy="2194560"/>
          </a:xfrm>
          <a:prstGeom prst="roundRect">
            <a:avLst>
              <a:gd name="adj" fmla="val 3333"/>
            </a:avLst>
          </a:prstGeom>
          <a:solidFill>
            <a:srgbClr val="F7E6D6"/>
          </a:solidFill>
          <a:ln w="12700">
            <a:solidFill>
              <a:srgbClr val="F7E6D6"/>
            </a:solidFill>
            <a:prstDash val="solid"/>
          </a:ln>
        </p:spPr>
      </p:sp>
      <p:sp>
        <p:nvSpPr>
          <p:cNvPr id="8" name="Text 6"/>
          <p:cNvSpPr/>
          <p:nvPr/>
        </p:nvSpPr>
        <p:spPr>
          <a:xfrm>
            <a:off x="6446520" y="2011680"/>
            <a:ext cx="4754880" cy="365760"/>
          </a:xfrm>
          <a:prstGeom prst="rect">
            <a:avLst/>
          </a:prstGeom>
          <a:noFill/>
          <a:ln/>
        </p:spPr>
        <p:txBody>
          <a:bodyPr wrap="square" lIns="0" tIns="0" rIns="0" bIns="0" rtlCol="0" anchor="ctr"/>
          <a:lstStyle/>
          <a:p>
            <a:pPr indent="0" marL="0">
              <a:buNone/>
            </a:pPr>
            <a:r>
              <a:rPr lang="en-US" sz="1800" b="1" dirty="0">
                <a:solidFill>
                  <a:srgbClr val="8A4A16"/>
                </a:solidFill>
                <a:latin typeface="Cambria" pitchFamily="34" charset="0"/>
                <a:ea typeface="Cambria" pitchFamily="34" charset="-122"/>
                <a:cs typeface="Cambria" pitchFamily="34" charset="-120"/>
              </a:rPr>
              <a:t>The hard requirement</a:t>
            </a:r>
            <a:endParaRPr lang="en-US" sz="1800" dirty="0"/>
          </a:p>
        </p:txBody>
      </p:sp>
      <p:sp>
        <p:nvSpPr>
          <p:cNvPr id="9" name="Text 7"/>
          <p:cNvSpPr/>
          <p:nvPr/>
        </p:nvSpPr>
        <p:spPr>
          <a:xfrm>
            <a:off x="6446520" y="2468880"/>
            <a:ext cx="4846320" cy="1417320"/>
          </a:xfrm>
          <a:prstGeom prst="rect">
            <a:avLst/>
          </a:prstGeom>
          <a:noFill/>
          <a:ln/>
        </p:spPr>
        <p:txBody>
          <a:bodyPr wrap="square" lIns="0" tIns="0" rIns="0" bIns="0" rtlCol="0" anchor="t"/>
          <a:lstStyle/>
          <a:p>
            <a:pPr indent="0" marL="0">
              <a:lnSpc>
                <a:spcPts val="1700"/>
              </a:lnSpc>
              <a:buNone/>
            </a:pPr>
            <a:r>
              <a:rPr lang="en-US" sz="1250" dirty="0">
                <a:solidFill>
                  <a:srgbClr val="6E3D14"/>
                </a:solidFill>
                <a:latin typeface="Calibri" pitchFamily="34" charset="0"/>
                <a:ea typeface="Calibri" pitchFamily="34" charset="-122"/>
                <a:cs typeface="Calibri" pitchFamily="34" charset="-120"/>
              </a:rPr>
              <a:t>The residuals must be non-Gaussian. This is mathematics, not a preference. ICA identifiability depends on it.</a:t>
            </a:r>
            <a:endParaRPr lang="en-US" sz="1250" dirty="0"/>
          </a:p>
          <a:p>
            <a:pPr indent="0" marL="0">
              <a:lnSpc>
                <a:spcPts val="1700"/>
              </a:lnSpc>
              <a:buNone/>
            </a:pPr>
            <a:endParaRPr lang="en-US" sz="1250" dirty="0"/>
          </a:p>
          <a:p>
            <a:pPr indent="0" marL="0">
              <a:lnSpc>
                <a:spcPts val="1700"/>
              </a:lnSpc>
              <a:buNone/>
            </a:pPr>
            <a:r>
              <a:rPr lang="en-US" sz="1250" dirty="0">
                <a:solidFill>
                  <a:srgbClr val="6E3D14"/>
                </a:solidFill>
                <a:latin typeface="Calibri" pitchFamily="34" charset="0"/>
                <a:ea typeface="Calibri" pitchFamily="34" charset="-122"/>
                <a:cs typeface="Calibri" pitchFamily="34" charset="-120"/>
              </a:rPr>
              <a:t>If the residuals of the Tennessee Eastman data are close to Gaussian, the contemporaneous directions are not identifiable and the output means nothing.</a:t>
            </a:r>
            <a:endParaRPr lang="en-US" sz="1250" dirty="0"/>
          </a:p>
        </p:txBody>
      </p:sp>
      <p:sp>
        <p:nvSpPr>
          <p:cNvPr id="10" name="Shape 8"/>
          <p:cNvSpPr/>
          <p:nvPr/>
        </p:nvSpPr>
        <p:spPr>
          <a:xfrm>
            <a:off x="640080" y="4251960"/>
            <a:ext cx="10881360" cy="1508760"/>
          </a:xfrm>
          <a:prstGeom prst="roundRect">
            <a:avLst>
              <a:gd name="adj" fmla="val 4848"/>
            </a:avLst>
          </a:prstGeom>
          <a:solidFill>
            <a:srgbClr val="24363F"/>
          </a:solidFill>
          <a:ln w="12700">
            <a:solidFill>
              <a:srgbClr val="24363F"/>
            </a:solidFill>
            <a:prstDash val="solid"/>
          </a:ln>
        </p:spPr>
      </p:sp>
      <p:sp>
        <p:nvSpPr>
          <p:cNvPr id="11" name="Text 9"/>
          <p:cNvSpPr/>
          <p:nvPr/>
        </p:nvSpPr>
        <p:spPr>
          <a:xfrm>
            <a:off x="914400" y="4434840"/>
            <a:ext cx="2743200" cy="320040"/>
          </a:xfrm>
          <a:prstGeom prst="rect">
            <a:avLst/>
          </a:prstGeom>
          <a:noFill/>
          <a:ln/>
        </p:spPr>
        <p:txBody>
          <a:bodyPr wrap="square" lIns="0" tIns="0" rIns="0" bIns="0" rtlCol="0" anchor="ctr"/>
          <a:lstStyle/>
          <a:p>
            <a:pPr indent="0" marL="0">
              <a:buNone/>
            </a:pPr>
            <a:r>
              <a:rPr lang="en-US" sz="1200" b="1" spc="100" kern="0" dirty="0">
                <a:solidFill>
                  <a:srgbClr val="E07A28"/>
                </a:solidFill>
                <a:latin typeface="Calibri" pitchFamily="34" charset="0"/>
                <a:ea typeface="Calibri" pitchFamily="34" charset="-122"/>
                <a:cs typeface="Calibri" pitchFamily="34" charset="-120"/>
              </a:rPr>
              <a:t>Known weakness</a:t>
            </a:r>
            <a:endParaRPr lang="en-US" sz="1200" dirty="0"/>
          </a:p>
        </p:txBody>
      </p:sp>
      <p:sp>
        <p:nvSpPr>
          <p:cNvPr id="12" name="Text 10"/>
          <p:cNvSpPr/>
          <p:nvPr/>
        </p:nvSpPr>
        <p:spPr>
          <a:xfrm>
            <a:off x="914400" y="4800600"/>
            <a:ext cx="10332720" cy="777240"/>
          </a:xfrm>
          <a:prstGeom prst="rect">
            <a:avLst/>
          </a:prstGeom>
          <a:noFill/>
          <a:ln/>
        </p:spPr>
        <p:txBody>
          <a:bodyPr wrap="square" lIns="0" tIns="0" rIns="0" bIns="0" rtlCol="0" anchor="t"/>
          <a:lstStyle/>
          <a:p>
            <a:pPr indent="0" marL="0">
              <a:lnSpc>
                <a:spcPts val="1900"/>
              </a:lnSpc>
              <a:buNone/>
            </a:pPr>
            <a:r>
              <a:rPr lang="en-US" sz="1350" dirty="0">
                <a:solidFill>
                  <a:srgbClr val="FFFFFF"/>
                </a:solidFill>
                <a:latin typeface="Calibri" pitchFamily="34" charset="0"/>
                <a:ea typeface="Calibri" pitchFamily="34" charset="-122"/>
                <a:cs typeface="Calibri" pitchFamily="34" charset="-120"/>
              </a:rPr>
              <a:t>The PCMCI+ paper reports that LiNGAM suffers from large autocorrelation. Our data is strongly autocorrelated. So we run VAR-LiNGAM as an orientation cross-check against PCMCI+, never as the primary discovery engine.</a:t>
            </a:r>
            <a:endParaRPr lang="en-US" sz="1350" dirty="0"/>
          </a:p>
        </p:txBody>
      </p:sp>
      <p:sp>
        <p:nvSpPr>
          <p:cNvPr id="13" name="Text 11"/>
          <p:cNvSpPr/>
          <p:nvPr/>
        </p:nvSpPr>
        <p:spPr>
          <a:xfrm>
            <a:off x="640080" y="6327648"/>
            <a:ext cx="10881360" cy="274320"/>
          </a:xfrm>
          <a:prstGeom prst="rect">
            <a:avLst/>
          </a:prstGeom>
          <a:noFill/>
          <a:ln/>
        </p:spPr>
        <p:txBody>
          <a:bodyPr wrap="square" lIns="0" tIns="0" rIns="0" bIns="0" rtlCol="0" anchor="ctr"/>
          <a:lstStyle/>
          <a:p>
            <a:pPr indent="0" marL="0">
              <a:buNone/>
            </a:pPr>
            <a:r>
              <a:rPr lang="en-US" sz="900" dirty="0">
                <a:solidFill>
                  <a:srgbClr val="6B7A85"/>
                </a:solidFill>
                <a:latin typeface="Calibri" pitchFamily="34" charset="0"/>
                <a:ea typeface="Calibri" pitchFamily="34" charset="-122"/>
                <a:cs typeface="Calibri" pitchFamily="34" charset="-120"/>
              </a:rPr>
              <a:t>Hyvarinen, Zhang, Shimizu &amp; Hoyer, JMLR 11:1709-1731, 2010 - jmlr.org/papers/v11/hyvarinen10a.html | Runge, PMLR 124:1388-1397, 2020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2E7D8A"/>
                </a:solidFill>
                <a:latin typeface="Calibri" pitchFamily="34" charset="0"/>
                <a:ea typeface="Calibri" pitchFamily="34" charset="-122"/>
                <a:cs typeface="Calibri" pitchFamily="34" charset="-120"/>
              </a:rPr>
              <a:t>QUESTION 2 - CANDIDATE 3</a:t>
            </a:r>
            <a:endParaRPr lang="en-US" sz="1100" dirty="0"/>
          </a:p>
        </p:txBody>
      </p:sp>
      <p:sp>
        <p:nvSpPr>
          <p:cNvPr id="3" name="Text 1"/>
          <p:cNvSpPr/>
          <p:nvPr/>
        </p:nvSpPr>
        <p:spPr>
          <a:xfrm>
            <a:off x="640080" y="658368"/>
            <a:ext cx="10881360" cy="868680"/>
          </a:xfrm>
          <a:prstGeom prst="rect">
            <a:avLst/>
          </a:prstGeom>
          <a:noFill/>
          <a:ln/>
        </p:spPr>
        <p:txBody>
          <a:bodyPr wrap="square" lIns="0" tIns="0" rIns="0" bIns="0" rtlCol="0" anchor="t"/>
          <a:lstStyle/>
          <a:p>
            <a:pPr indent="0" marL="0">
              <a:buNone/>
            </a:pPr>
            <a:r>
              <a:rPr lang="en-US" sz="3000" b="1" dirty="0">
                <a:solidFill>
                  <a:srgbClr val="16232E"/>
                </a:solidFill>
                <a:latin typeface="Cambria" pitchFamily="34" charset="0"/>
                <a:ea typeface="Cambria" pitchFamily="34" charset="-122"/>
                <a:cs typeface="Cambria" pitchFamily="34" charset="-120"/>
              </a:rPr>
              <a:t>Lag-specific transfer entropy answers where a fault started and how long it took</a:t>
            </a:r>
            <a:endParaRPr lang="en-US" sz="3000" dirty="0"/>
          </a:p>
        </p:txBody>
      </p:sp>
      <p:sp>
        <p:nvSpPr>
          <p:cNvPr id="4" name="Shape 2"/>
          <p:cNvSpPr/>
          <p:nvPr/>
        </p:nvSpPr>
        <p:spPr>
          <a:xfrm>
            <a:off x="640080" y="1828800"/>
            <a:ext cx="5669280" cy="804672"/>
          </a:xfrm>
          <a:prstGeom prst="roundRect">
            <a:avLst>
              <a:gd name="adj" fmla="val 9091"/>
            </a:avLst>
          </a:prstGeom>
          <a:solidFill>
            <a:srgbClr val="F0F3F5"/>
          </a:solidFill>
          <a:ln w="12700">
            <a:solidFill>
              <a:srgbClr val="F0F3F5"/>
            </a:solidFill>
            <a:prstDash val="solid"/>
          </a:ln>
        </p:spPr>
      </p:sp>
      <p:sp>
        <p:nvSpPr>
          <p:cNvPr id="5" name="Shape 3"/>
          <p:cNvSpPr/>
          <p:nvPr/>
        </p:nvSpPr>
        <p:spPr>
          <a:xfrm>
            <a:off x="868680" y="2039112"/>
            <a:ext cx="384048" cy="384048"/>
          </a:xfrm>
          <a:prstGeom prst="ellipse">
            <a:avLst/>
          </a:prstGeom>
          <a:solidFill>
            <a:srgbClr val="2E7D8A"/>
          </a:solidFill>
          <a:ln/>
        </p:spPr>
      </p:sp>
      <p:sp>
        <p:nvSpPr>
          <p:cNvPr id="6" name="Text 4"/>
          <p:cNvSpPr/>
          <p:nvPr/>
        </p:nvSpPr>
        <p:spPr>
          <a:xfrm>
            <a:off x="868680" y="20391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417320" y="1901952"/>
            <a:ext cx="4663440" cy="292608"/>
          </a:xfrm>
          <a:prstGeom prst="rect">
            <a:avLst/>
          </a:prstGeom>
          <a:noFill/>
          <a:ln/>
        </p:spPr>
        <p:txBody>
          <a:bodyPr wrap="square" lIns="0" tIns="0" rIns="0" bIns="0" rtlCol="0" anchor="ctr"/>
          <a:lstStyle/>
          <a:p>
            <a:pPr indent="0" marL="0">
              <a:buNone/>
            </a:pPr>
            <a:r>
              <a:rPr lang="en-US" sz="1450" b="1" dirty="0">
                <a:solidFill>
                  <a:srgbClr val="16232E"/>
                </a:solidFill>
                <a:latin typeface="Cambria" pitchFamily="34" charset="0"/>
                <a:ea typeface="Cambria" pitchFamily="34" charset="-122"/>
                <a:cs typeface="Cambria" pitchFamily="34" charset="-120"/>
              </a:rPr>
              <a:t>Self-prediction optimization</a:t>
            </a:r>
            <a:endParaRPr lang="en-US" sz="1450" dirty="0"/>
          </a:p>
        </p:txBody>
      </p:sp>
      <p:sp>
        <p:nvSpPr>
          <p:cNvPr id="8" name="Text 6"/>
          <p:cNvSpPr/>
          <p:nvPr/>
        </p:nvSpPr>
        <p:spPr>
          <a:xfrm>
            <a:off x="1417320" y="2194560"/>
            <a:ext cx="4709160" cy="384048"/>
          </a:xfrm>
          <a:prstGeom prst="rect">
            <a:avLst/>
          </a:prstGeom>
          <a:noFill/>
          <a:ln/>
        </p:spPr>
        <p:txBody>
          <a:bodyPr wrap="square" lIns="0" tIns="0" rIns="0" bIns="0" rtlCol="0" anchor="t"/>
          <a:lstStyle/>
          <a:p>
            <a:pPr indent="0" marL="0">
              <a:lnSpc>
                <a:spcPts val="1400"/>
              </a:lnSpc>
              <a:buNone/>
            </a:pPr>
            <a:r>
              <a:rPr lang="en-US" sz="1100" dirty="0">
                <a:solidFill>
                  <a:srgbClr val="6B7A85"/>
                </a:solidFill>
                <a:latin typeface="Calibri" pitchFamily="34" charset="0"/>
                <a:ea typeface="Calibri" pitchFamily="34" charset="-122"/>
                <a:cs typeface="Calibri" pitchFamily="34" charset="-120"/>
              </a:rPr>
              <a:t>Remove each sensor's own memory first, so the driver is not credited twice.</a:t>
            </a:r>
            <a:endParaRPr lang="en-US" sz="1100" dirty="0"/>
          </a:p>
        </p:txBody>
      </p:sp>
      <p:sp>
        <p:nvSpPr>
          <p:cNvPr id="9" name="Shape 7"/>
          <p:cNvSpPr/>
          <p:nvPr/>
        </p:nvSpPr>
        <p:spPr>
          <a:xfrm>
            <a:off x="640080" y="2761488"/>
            <a:ext cx="5669280" cy="804672"/>
          </a:xfrm>
          <a:prstGeom prst="roundRect">
            <a:avLst>
              <a:gd name="adj" fmla="val 9091"/>
            </a:avLst>
          </a:prstGeom>
          <a:solidFill>
            <a:srgbClr val="F0F3F5"/>
          </a:solidFill>
          <a:ln w="12700">
            <a:solidFill>
              <a:srgbClr val="F0F3F5"/>
            </a:solidFill>
            <a:prstDash val="solid"/>
          </a:ln>
        </p:spPr>
      </p:sp>
      <p:sp>
        <p:nvSpPr>
          <p:cNvPr id="10" name="Shape 8"/>
          <p:cNvSpPr/>
          <p:nvPr/>
        </p:nvSpPr>
        <p:spPr>
          <a:xfrm>
            <a:off x="868680" y="2971800"/>
            <a:ext cx="384048" cy="384048"/>
          </a:xfrm>
          <a:prstGeom prst="ellipse">
            <a:avLst/>
          </a:prstGeom>
          <a:solidFill>
            <a:srgbClr val="2E7D8A"/>
          </a:solidFill>
          <a:ln/>
        </p:spPr>
      </p:sp>
      <p:sp>
        <p:nvSpPr>
          <p:cNvPr id="11" name="Text 9"/>
          <p:cNvSpPr/>
          <p:nvPr/>
        </p:nvSpPr>
        <p:spPr>
          <a:xfrm>
            <a:off x="868680" y="29718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417320" y="2834640"/>
            <a:ext cx="4663440" cy="292608"/>
          </a:xfrm>
          <a:prstGeom prst="rect">
            <a:avLst/>
          </a:prstGeom>
          <a:noFill/>
          <a:ln/>
        </p:spPr>
        <p:txBody>
          <a:bodyPr wrap="square" lIns="0" tIns="0" rIns="0" bIns="0" rtlCol="0" anchor="ctr"/>
          <a:lstStyle/>
          <a:p>
            <a:pPr indent="0" marL="0">
              <a:buNone/>
            </a:pPr>
            <a:r>
              <a:rPr lang="en-US" sz="1450" b="1" dirty="0">
                <a:solidFill>
                  <a:srgbClr val="16232E"/>
                </a:solidFill>
                <a:latin typeface="Cambria" pitchFamily="34" charset="0"/>
                <a:ea typeface="Cambria" pitchFamily="34" charset="-122"/>
                <a:cs typeface="Cambria" pitchFamily="34" charset="-120"/>
              </a:rPr>
              <a:t>Lag scan</a:t>
            </a:r>
            <a:endParaRPr lang="en-US" sz="1450" dirty="0"/>
          </a:p>
        </p:txBody>
      </p:sp>
      <p:sp>
        <p:nvSpPr>
          <p:cNvPr id="13" name="Text 11"/>
          <p:cNvSpPr/>
          <p:nvPr/>
        </p:nvSpPr>
        <p:spPr>
          <a:xfrm>
            <a:off x="1417320" y="3127248"/>
            <a:ext cx="4709160" cy="384048"/>
          </a:xfrm>
          <a:prstGeom prst="rect">
            <a:avLst/>
          </a:prstGeom>
          <a:noFill/>
          <a:ln/>
        </p:spPr>
        <p:txBody>
          <a:bodyPr wrap="square" lIns="0" tIns="0" rIns="0" bIns="0" rtlCol="0" anchor="t"/>
          <a:lstStyle/>
          <a:p>
            <a:pPr indent="0" marL="0">
              <a:lnSpc>
                <a:spcPts val="1400"/>
              </a:lnSpc>
              <a:buNone/>
            </a:pPr>
            <a:r>
              <a:rPr lang="en-US" sz="1100" dirty="0">
                <a:solidFill>
                  <a:srgbClr val="6B7A85"/>
                </a:solidFill>
                <a:latin typeface="Calibri" pitchFamily="34" charset="0"/>
                <a:ea typeface="Calibri" pitchFamily="34" charset="-122"/>
                <a:cs typeface="Calibri" pitchFamily="34" charset="-120"/>
              </a:rPr>
              <a:t>Compute transfer entropy at every candidate lag up to a chosen maximum.</a:t>
            </a:r>
            <a:endParaRPr lang="en-US" sz="1100" dirty="0"/>
          </a:p>
        </p:txBody>
      </p:sp>
      <p:sp>
        <p:nvSpPr>
          <p:cNvPr id="14" name="Shape 12"/>
          <p:cNvSpPr/>
          <p:nvPr/>
        </p:nvSpPr>
        <p:spPr>
          <a:xfrm>
            <a:off x="640080" y="3694176"/>
            <a:ext cx="5669280" cy="804672"/>
          </a:xfrm>
          <a:prstGeom prst="roundRect">
            <a:avLst>
              <a:gd name="adj" fmla="val 9091"/>
            </a:avLst>
          </a:prstGeom>
          <a:solidFill>
            <a:srgbClr val="F0F3F5"/>
          </a:solidFill>
          <a:ln w="12700">
            <a:solidFill>
              <a:srgbClr val="F0F3F5"/>
            </a:solidFill>
            <a:prstDash val="solid"/>
          </a:ln>
        </p:spPr>
      </p:sp>
      <p:sp>
        <p:nvSpPr>
          <p:cNvPr id="15" name="Shape 13"/>
          <p:cNvSpPr/>
          <p:nvPr/>
        </p:nvSpPr>
        <p:spPr>
          <a:xfrm>
            <a:off x="868680" y="3904488"/>
            <a:ext cx="384048" cy="384048"/>
          </a:xfrm>
          <a:prstGeom prst="ellipse">
            <a:avLst/>
          </a:prstGeom>
          <a:solidFill>
            <a:srgbClr val="2E7D8A"/>
          </a:solidFill>
          <a:ln/>
        </p:spPr>
      </p:sp>
      <p:sp>
        <p:nvSpPr>
          <p:cNvPr id="16" name="Text 14"/>
          <p:cNvSpPr/>
          <p:nvPr/>
        </p:nvSpPr>
        <p:spPr>
          <a:xfrm>
            <a:off x="868680" y="39044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417320" y="3767328"/>
            <a:ext cx="4663440" cy="292608"/>
          </a:xfrm>
          <a:prstGeom prst="rect">
            <a:avLst/>
          </a:prstGeom>
          <a:noFill/>
          <a:ln/>
        </p:spPr>
        <p:txBody>
          <a:bodyPr wrap="square" lIns="0" tIns="0" rIns="0" bIns="0" rtlCol="0" anchor="ctr"/>
          <a:lstStyle/>
          <a:p>
            <a:pPr indent="0" marL="0">
              <a:buNone/>
            </a:pPr>
            <a:r>
              <a:rPr lang="en-US" sz="1450" b="1" dirty="0">
                <a:solidFill>
                  <a:srgbClr val="16232E"/>
                </a:solidFill>
                <a:latin typeface="Cambria" pitchFamily="34" charset="0"/>
                <a:ea typeface="Cambria" pitchFamily="34" charset="-122"/>
                <a:cs typeface="Cambria" pitchFamily="34" charset="-120"/>
              </a:rPr>
              <a:t>Delay selection</a:t>
            </a:r>
            <a:endParaRPr lang="en-US" sz="1450" dirty="0"/>
          </a:p>
        </p:txBody>
      </p:sp>
      <p:sp>
        <p:nvSpPr>
          <p:cNvPr id="18" name="Text 16"/>
          <p:cNvSpPr/>
          <p:nvPr/>
        </p:nvSpPr>
        <p:spPr>
          <a:xfrm>
            <a:off x="1417320" y="4059936"/>
            <a:ext cx="4709160" cy="384048"/>
          </a:xfrm>
          <a:prstGeom prst="rect">
            <a:avLst/>
          </a:prstGeom>
          <a:noFill/>
          <a:ln/>
        </p:spPr>
        <p:txBody>
          <a:bodyPr wrap="square" lIns="0" tIns="0" rIns="0" bIns="0" rtlCol="0" anchor="t"/>
          <a:lstStyle/>
          <a:p>
            <a:pPr indent="0" marL="0">
              <a:lnSpc>
                <a:spcPts val="1400"/>
              </a:lnSpc>
              <a:buNone/>
            </a:pPr>
            <a:r>
              <a:rPr lang="en-US" sz="1100" dirty="0">
                <a:solidFill>
                  <a:srgbClr val="6B7A85"/>
                </a:solidFill>
                <a:latin typeface="Calibri" pitchFamily="34" charset="0"/>
                <a:ea typeface="Calibri" pitchFamily="34" charset="-122"/>
                <a:cs typeface="Calibri" pitchFamily="34" charset="-120"/>
              </a:rPr>
              <a:t>Take the lag with the highest score. That lag is the propagation delay.</a:t>
            </a:r>
            <a:endParaRPr lang="en-US" sz="1100" dirty="0"/>
          </a:p>
        </p:txBody>
      </p:sp>
      <p:graphicFrame>
        <p:nvGraphicFramePr>
          <p:cNvPr id="19" name="Chart 0" descr=""/>
          <p:cNvGraphicFramePr/>
          <p:nvPr/>
        </p:nvGraphicFramePr>
        <p:xfrm>
          <a:off x="6537960" y="1783080"/>
          <a:ext cx="4983480" cy="2743200"/>
        </p:xfrm>
        <a:graphic xmlns:a="http://schemas.openxmlformats.org/drawingml/2006/main">
          <a:graphicData uri="http://schemas.openxmlformats.org/drawingml/2006/chart">
            <c:chart xmlns:c="http://schemas.openxmlformats.org/drawingml/2006/chart" r:id="rId1"/>
          </a:graphicData>
        </a:graphic>
      </p:graphicFrame>
      <p:sp>
        <p:nvSpPr>
          <p:cNvPr id="20" name="Shape 17"/>
          <p:cNvSpPr/>
          <p:nvPr/>
        </p:nvSpPr>
        <p:spPr>
          <a:xfrm>
            <a:off x="640080" y="4709160"/>
            <a:ext cx="3429000" cy="1325880"/>
          </a:xfrm>
          <a:prstGeom prst="roundRect">
            <a:avLst>
              <a:gd name="adj" fmla="val 5517"/>
            </a:avLst>
          </a:prstGeom>
          <a:solidFill>
            <a:srgbClr val="E6EDF0"/>
          </a:solidFill>
          <a:ln w="12700">
            <a:solidFill>
              <a:srgbClr val="E6EDF0"/>
            </a:solidFill>
            <a:prstDash val="solid"/>
          </a:ln>
        </p:spPr>
      </p:sp>
      <p:sp>
        <p:nvSpPr>
          <p:cNvPr id="21" name="Text 18"/>
          <p:cNvSpPr/>
          <p:nvPr/>
        </p:nvSpPr>
        <p:spPr>
          <a:xfrm>
            <a:off x="896112" y="4828032"/>
            <a:ext cx="2926080" cy="274320"/>
          </a:xfrm>
          <a:prstGeom prst="rect">
            <a:avLst/>
          </a:prstGeom>
          <a:noFill/>
          <a:ln/>
        </p:spPr>
        <p:txBody>
          <a:bodyPr wrap="square" lIns="0" tIns="0" rIns="0" bIns="0" rtlCol="0" anchor="ctr"/>
          <a:lstStyle/>
          <a:p>
            <a:pPr indent="0" marL="0">
              <a:buNone/>
            </a:pPr>
            <a:r>
              <a:rPr lang="en-US" sz="1150" b="1" spc="100" kern="0" dirty="0">
                <a:solidFill>
                  <a:srgbClr val="2E7D8A"/>
                </a:solidFill>
                <a:latin typeface="Calibri" pitchFamily="34" charset="0"/>
                <a:ea typeface="Calibri" pitchFamily="34" charset="-122"/>
                <a:cs typeface="Calibri" pitchFamily="34" charset="-120"/>
              </a:rPr>
              <a:t>Field evidence</a:t>
            </a:r>
            <a:endParaRPr lang="en-US" sz="1150" dirty="0"/>
          </a:p>
        </p:txBody>
      </p:sp>
      <p:sp>
        <p:nvSpPr>
          <p:cNvPr id="22" name="Text 19"/>
          <p:cNvSpPr/>
          <p:nvPr/>
        </p:nvSpPr>
        <p:spPr>
          <a:xfrm>
            <a:off x="896112" y="5120640"/>
            <a:ext cx="2944368" cy="841248"/>
          </a:xfrm>
          <a:prstGeom prst="rect">
            <a:avLst/>
          </a:prstGeom>
          <a:noFill/>
          <a:ln/>
        </p:spPr>
        <p:txBody>
          <a:bodyPr wrap="square" lIns="0" tIns="0" rIns="0" bIns="0" rtlCol="0" anchor="t"/>
          <a:lstStyle/>
          <a:p>
            <a:pPr indent="0" marL="0">
              <a:lnSpc>
                <a:spcPts val="1400"/>
              </a:lnSpc>
              <a:buNone/>
            </a:pPr>
            <a:r>
              <a:rPr lang="en-US" sz="1100" dirty="0">
                <a:solidFill>
                  <a:srgbClr val="24363F"/>
                </a:solidFill>
                <a:latin typeface="Calibri" pitchFamily="34" charset="0"/>
                <a:ea typeface="Calibri" pitchFamily="34" charset="-122"/>
                <a:cs typeface="Calibri" pitchFamily="34" charset="-120"/>
              </a:rPr>
              <a:t>Tested on a slugging flow rig and a full-scale blast furnace. Domain experts confirmed the estimated lags. Root cause held at -10 dB.</a:t>
            </a:r>
            <a:endParaRPr lang="en-US" sz="1100" dirty="0"/>
          </a:p>
        </p:txBody>
      </p:sp>
      <p:sp>
        <p:nvSpPr>
          <p:cNvPr id="23" name="Shape 20"/>
          <p:cNvSpPr/>
          <p:nvPr/>
        </p:nvSpPr>
        <p:spPr>
          <a:xfrm>
            <a:off x="4361688" y="4709160"/>
            <a:ext cx="3429000" cy="1325880"/>
          </a:xfrm>
          <a:prstGeom prst="roundRect">
            <a:avLst>
              <a:gd name="adj" fmla="val 5517"/>
            </a:avLst>
          </a:prstGeom>
          <a:solidFill>
            <a:srgbClr val="E6EDF0"/>
          </a:solidFill>
          <a:ln w="12700">
            <a:solidFill>
              <a:srgbClr val="E6EDF0"/>
            </a:solidFill>
            <a:prstDash val="solid"/>
          </a:ln>
        </p:spPr>
      </p:sp>
      <p:sp>
        <p:nvSpPr>
          <p:cNvPr id="24" name="Text 21"/>
          <p:cNvSpPr/>
          <p:nvPr/>
        </p:nvSpPr>
        <p:spPr>
          <a:xfrm>
            <a:off x="4617720" y="4828032"/>
            <a:ext cx="2926080" cy="274320"/>
          </a:xfrm>
          <a:prstGeom prst="rect">
            <a:avLst/>
          </a:prstGeom>
          <a:noFill/>
          <a:ln/>
        </p:spPr>
        <p:txBody>
          <a:bodyPr wrap="square" lIns="0" tIns="0" rIns="0" bIns="0" rtlCol="0" anchor="ctr"/>
          <a:lstStyle/>
          <a:p>
            <a:pPr indent="0" marL="0">
              <a:buNone/>
            </a:pPr>
            <a:r>
              <a:rPr lang="en-US" sz="1150" b="1" spc="100" kern="0" dirty="0">
                <a:solidFill>
                  <a:srgbClr val="2E7D8A"/>
                </a:solidFill>
                <a:latin typeface="Calibri" pitchFamily="34" charset="0"/>
                <a:ea typeface="Calibri" pitchFamily="34" charset="-122"/>
                <a:cs typeface="Calibri" pitchFamily="34" charset="-120"/>
              </a:rPr>
              <a:t>Significance test</a:t>
            </a:r>
            <a:endParaRPr lang="en-US" sz="1150" dirty="0"/>
          </a:p>
        </p:txBody>
      </p:sp>
      <p:sp>
        <p:nvSpPr>
          <p:cNvPr id="25" name="Text 22"/>
          <p:cNvSpPr/>
          <p:nvPr/>
        </p:nvSpPr>
        <p:spPr>
          <a:xfrm>
            <a:off x="4617720" y="5120640"/>
            <a:ext cx="2944368" cy="841248"/>
          </a:xfrm>
          <a:prstGeom prst="rect">
            <a:avLst/>
          </a:prstGeom>
          <a:noFill/>
          <a:ln/>
        </p:spPr>
        <p:txBody>
          <a:bodyPr wrap="square" lIns="0" tIns="0" rIns="0" bIns="0" rtlCol="0" anchor="t"/>
          <a:lstStyle/>
          <a:p>
            <a:pPr indent="0" marL="0">
              <a:lnSpc>
                <a:spcPts val="1400"/>
              </a:lnSpc>
              <a:buNone/>
            </a:pPr>
            <a:r>
              <a:rPr lang="en-US" sz="1100" dirty="0">
                <a:solidFill>
                  <a:srgbClr val="24363F"/>
                </a:solidFill>
                <a:latin typeface="Calibri" pitchFamily="34" charset="0"/>
                <a:ea typeface="Calibri" pitchFamily="34" charset="-122"/>
                <a:cs typeface="Calibri" pitchFamily="34" charset="-120"/>
              </a:rPr>
              <a:t>Shift the driver by a random offset to build a null distribution. 100 surrogates, alpha 0.05, one sided.</a:t>
            </a:r>
            <a:endParaRPr lang="en-US" sz="1100" dirty="0"/>
          </a:p>
        </p:txBody>
      </p:sp>
      <p:sp>
        <p:nvSpPr>
          <p:cNvPr id="26" name="Shape 23"/>
          <p:cNvSpPr/>
          <p:nvPr/>
        </p:nvSpPr>
        <p:spPr>
          <a:xfrm>
            <a:off x="8083296" y="4709160"/>
            <a:ext cx="3429000" cy="1325880"/>
          </a:xfrm>
          <a:prstGeom prst="roundRect">
            <a:avLst>
              <a:gd name="adj" fmla="val 5517"/>
            </a:avLst>
          </a:prstGeom>
          <a:solidFill>
            <a:srgbClr val="F7E6D6"/>
          </a:solidFill>
          <a:ln w="12700">
            <a:solidFill>
              <a:srgbClr val="F7E6D6"/>
            </a:solidFill>
            <a:prstDash val="solid"/>
          </a:ln>
        </p:spPr>
      </p:sp>
      <p:sp>
        <p:nvSpPr>
          <p:cNvPr id="27" name="Text 24"/>
          <p:cNvSpPr/>
          <p:nvPr/>
        </p:nvSpPr>
        <p:spPr>
          <a:xfrm>
            <a:off x="8339328" y="4828032"/>
            <a:ext cx="2926080" cy="274320"/>
          </a:xfrm>
          <a:prstGeom prst="rect">
            <a:avLst/>
          </a:prstGeom>
          <a:noFill/>
          <a:ln/>
        </p:spPr>
        <p:txBody>
          <a:bodyPr wrap="square" lIns="0" tIns="0" rIns="0" bIns="0" rtlCol="0" anchor="ctr"/>
          <a:lstStyle/>
          <a:p>
            <a:pPr indent="0" marL="0">
              <a:buNone/>
            </a:pPr>
            <a:r>
              <a:rPr lang="en-US" sz="1150" b="1" spc="100" kern="0" dirty="0">
                <a:solidFill>
                  <a:srgbClr val="8A4A16"/>
                </a:solidFill>
                <a:latin typeface="Calibri" pitchFamily="34" charset="0"/>
                <a:ea typeface="Calibri" pitchFamily="34" charset="-122"/>
                <a:cs typeface="Calibri" pitchFamily="34" charset="-120"/>
              </a:rPr>
              <a:t>Limits</a:t>
            </a:r>
            <a:endParaRPr lang="en-US" sz="1150" dirty="0"/>
          </a:p>
        </p:txBody>
      </p:sp>
      <p:sp>
        <p:nvSpPr>
          <p:cNvPr id="28" name="Text 25"/>
          <p:cNvSpPr/>
          <p:nvPr/>
        </p:nvSpPr>
        <p:spPr>
          <a:xfrm>
            <a:off x="8339328" y="5120640"/>
            <a:ext cx="2944368" cy="841248"/>
          </a:xfrm>
          <a:prstGeom prst="rect">
            <a:avLst/>
          </a:prstGeom>
          <a:noFill/>
          <a:ln/>
        </p:spPr>
        <p:txBody>
          <a:bodyPr wrap="square" lIns="0" tIns="0" rIns="0" bIns="0" rtlCol="0" anchor="t"/>
          <a:lstStyle/>
          <a:p>
            <a:pPr indent="0" marL="0">
              <a:lnSpc>
                <a:spcPts val="1400"/>
              </a:lnSpc>
              <a:buNone/>
            </a:pPr>
            <a:r>
              <a:rPr lang="en-US" sz="1100" dirty="0">
                <a:solidFill>
                  <a:srgbClr val="6E3D14"/>
                </a:solidFill>
                <a:latin typeface="Calibri" pitchFamily="34" charset="0"/>
                <a:ea typeface="Calibri" pitchFamily="34" charset="-122"/>
                <a:cs typeface="Calibri" pitchFamily="34" charset="-120"/>
              </a:rPr>
              <a:t>Assumes one disturbance and a stationary process. Cost is high, so shortlist the variables first.</a:t>
            </a:r>
            <a:endParaRPr lang="en-US" sz="1100" dirty="0"/>
          </a:p>
        </p:txBody>
      </p:sp>
      <p:sp>
        <p:nvSpPr>
          <p:cNvPr id="29" name="Text 26"/>
          <p:cNvSpPr/>
          <p:nvPr/>
        </p:nvSpPr>
        <p:spPr>
          <a:xfrm>
            <a:off x="640080" y="6327648"/>
            <a:ext cx="10881360" cy="274320"/>
          </a:xfrm>
          <a:prstGeom prst="rect">
            <a:avLst/>
          </a:prstGeom>
          <a:noFill/>
          <a:ln/>
        </p:spPr>
        <p:txBody>
          <a:bodyPr wrap="square" lIns="0" tIns="0" rIns="0" bIns="0" rtlCol="0" anchor="ctr"/>
          <a:lstStyle/>
          <a:p>
            <a:pPr indent="0" marL="0">
              <a:buNone/>
            </a:pPr>
            <a:r>
              <a:rPr lang="en-US" sz="900" dirty="0">
                <a:solidFill>
                  <a:srgbClr val="6B7A85"/>
                </a:solidFill>
                <a:latin typeface="Calibri" pitchFamily="34" charset="0"/>
                <a:ea typeface="Calibri" pitchFamily="34" charset="-122"/>
                <a:cs typeface="Calibri" pitchFamily="34" charset="-120"/>
              </a:rPr>
              <a:t>Chen, Liang, Wang, Yao, Su &amp; Liu, Lag-Specific Transfer Entropy for Root Cause Diagnosis and Delay Estimation, Sensors 25(13):3980, 2025 - doi.org/10.3390/s25133980</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2E7D8A"/>
                </a:solidFill>
                <a:latin typeface="Calibri" pitchFamily="34" charset="0"/>
                <a:ea typeface="Calibri" pitchFamily="34" charset="-122"/>
                <a:cs typeface="Calibri" pitchFamily="34" charset="-120"/>
              </a:rPr>
              <a:t>QUESTION 2 - SIDE BY SIDE</a:t>
            </a:r>
            <a:endParaRPr lang="en-US" sz="1100" dirty="0"/>
          </a:p>
        </p:txBody>
      </p:sp>
      <p:sp>
        <p:nvSpPr>
          <p:cNvPr id="3" name="Text 1"/>
          <p:cNvSpPr/>
          <p:nvPr/>
        </p:nvSpPr>
        <p:spPr>
          <a:xfrm>
            <a:off x="640080" y="658368"/>
            <a:ext cx="10881360" cy="868680"/>
          </a:xfrm>
          <a:prstGeom prst="rect">
            <a:avLst/>
          </a:prstGeom>
          <a:noFill/>
          <a:ln/>
        </p:spPr>
        <p:txBody>
          <a:bodyPr wrap="square" lIns="0" tIns="0" rIns="0" bIns="0" rtlCol="0" anchor="t"/>
          <a:lstStyle/>
          <a:p>
            <a:pPr indent="0" marL="0">
              <a:buNone/>
            </a:pPr>
            <a:r>
              <a:rPr lang="en-US" sz="3000" b="1" dirty="0">
                <a:solidFill>
                  <a:srgbClr val="16232E"/>
                </a:solidFill>
                <a:latin typeface="Cambria" pitchFamily="34" charset="0"/>
                <a:ea typeface="Cambria" pitchFamily="34" charset="-122"/>
                <a:cs typeface="Cambria" pitchFamily="34" charset="-120"/>
              </a:rPr>
              <a:t>The three methods answer three different questions</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881360" cy="914400"/>
        </p:xfrm>
        <a:graphic>
          <a:graphicData uri="http://schemas.openxmlformats.org/drawingml/2006/table">
            <a:tbl>
              <a:tblPr/>
              <a:tblGrid>
                <a:gridCol w="1828800"/>
                <a:gridCol w="3017520"/>
                <a:gridCol w="3017520"/>
                <a:gridCol w="3017520"/>
              </a:tblGrid>
              <a:tr h="548640">
                <a:tc>
                  <a:txBody>
                    <a:bodyPr/>
                    <a:lstStyle/>
                    <a:p>
                      <a:pPr indent="0" marL="0">
                        <a:buNone/>
                      </a:pP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solidFill>
                      <a:srgbClr val="24363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PCMCI+</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solidFill>
                      <a:srgbClr val="24363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VAR-LiNGAM</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solidFill>
                      <a:srgbClr val="24363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Lag-specific transfer entropy</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solidFill>
                      <a:srgbClr val="24363F"/>
                    </a:solidFill>
                  </a:tcPr>
                </a:tc>
              </a:tr>
              <a:tr h="548640">
                <a:tc>
                  <a:txBody>
                    <a:bodyPr/>
                    <a:lstStyle/>
                    <a:p>
                      <a:pPr indent="0" marL="0">
                        <a:buNone/>
                      </a:pPr>
                      <a:r>
                        <a:rPr lang="en-US" sz="1200" b="1" dirty="0">
                          <a:solidFill>
                            <a:srgbClr val="16232E"/>
                          </a:solidFill>
                          <a:latin typeface="Calibri" pitchFamily="34" charset="0"/>
                          <a:ea typeface="Calibri" pitchFamily="34" charset="-122"/>
                          <a:cs typeface="Calibri" pitchFamily="34" charset="-120"/>
                        </a:rPr>
                        <a:t>Family</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Constraint based, built on PC logic</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Functional model, VAR plus ICA</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Information theoretic, model free</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r>
              <a:tr h="548640">
                <a:tc>
                  <a:txBody>
                    <a:bodyPr/>
                    <a:lstStyle/>
                    <a:p>
                      <a:pPr indent="0" marL="0">
                        <a:buNone/>
                      </a:pPr>
                      <a:r>
                        <a:rPr lang="en-US" sz="1200" b="1" dirty="0">
                          <a:solidFill>
                            <a:srgbClr val="16232E"/>
                          </a:solidFill>
                          <a:latin typeface="Calibri" pitchFamily="34" charset="0"/>
                          <a:ea typeface="Calibri" pitchFamily="34" charset="-122"/>
                          <a:cs typeface="Calibri" pitchFamily="34" charset="-120"/>
                        </a:rPr>
                        <a:t>Answers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Which links exist, lagged and instant</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Which way an instant link points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Where a disturbance started and its delay</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r>
              <a:tr h="548640">
                <a:tc>
                  <a:txBody>
                    <a:bodyPr/>
                    <a:lstStyle/>
                    <a:p>
                      <a:pPr indent="0" marL="0">
                        <a:buNone/>
                      </a:pPr>
                      <a:r>
                        <a:rPr lang="en-US" sz="1200" b="1" dirty="0">
                          <a:solidFill>
                            <a:srgbClr val="16232E"/>
                          </a:solidFill>
                          <a:latin typeface="Calibri" pitchFamily="34" charset="0"/>
                          <a:ea typeface="Calibri" pitchFamily="34" charset="-122"/>
                          <a:cs typeface="Calibri" pitchFamily="34" charset="-120"/>
                        </a:rPr>
                        <a:t>Noise</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Free. The test is pluggable.</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Must be non-Gaussian</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Distribution free</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r>
              <a:tr h="548640">
                <a:tc>
                  <a:txBody>
                    <a:bodyPr/>
                    <a:lstStyle/>
                    <a:p>
                      <a:pPr indent="0" marL="0">
                        <a:buNone/>
                      </a:pPr>
                      <a:r>
                        <a:rPr lang="en-US" sz="1200" b="1" dirty="0">
                          <a:solidFill>
                            <a:srgbClr val="16232E"/>
                          </a:solidFill>
                          <a:latin typeface="Calibri" pitchFamily="34" charset="0"/>
                          <a:ea typeface="Calibri" pitchFamily="34" charset="-122"/>
                          <a:cs typeface="Calibri" pitchFamily="34" charset="-120"/>
                        </a:rPr>
                        <a:t>Autocorrelation</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b="1" dirty="0">
                          <a:solidFill>
                            <a:srgbClr val="3E7C59"/>
                          </a:solidFill>
                          <a:latin typeface="Calibri" pitchFamily="34" charset="0"/>
                          <a:ea typeface="Calibri" pitchFamily="34" charset="-122"/>
                          <a:cs typeface="Calibri" pitchFamily="34" charset="-120"/>
                        </a:rPr>
                        <a:t>Handles it. Uses it to orient.</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b="1" dirty="0">
                          <a:solidFill>
                            <a:srgbClr val="B03A2E"/>
                          </a:solidFill>
                          <a:latin typeface="Calibri" pitchFamily="34" charset="0"/>
                          <a:ea typeface="Calibri" pitchFamily="34" charset="-122"/>
                          <a:cs typeface="Calibri" pitchFamily="34" charset="-120"/>
                        </a:rPr>
                        <a:t>Suffers under it</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Built around the lag</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r>
              <a:tr h="548640">
                <a:tc>
                  <a:txBody>
                    <a:bodyPr/>
                    <a:lstStyle/>
                    <a:p>
                      <a:pPr indent="0" marL="0">
                        <a:buNone/>
                      </a:pPr>
                      <a:r>
                        <a:rPr lang="en-US" sz="1200" b="1" dirty="0">
                          <a:solidFill>
                            <a:srgbClr val="16232E"/>
                          </a:solidFill>
                          <a:latin typeface="Calibri" pitchFamily="34" charset="0"/>
                          <a:ea typeface="Calibri" pitchFamily="34" charset="-122"/>
                          <a:cs typeface="Calibri" pitchFamily="34" charset="-120"/>
                        </a:rPr>
                        <a:t>Main caveat</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Assumes sufficiency and stationarity</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Unusable on Gaussian residuals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One disturbance only. High cost.</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r>
              <a:tr h="548640">
                <a:tc>
                  <a:txBody>
                    <a:bodyPr/>
                    <a:lstStyle/>
                    <a:p>
                      <a:pPr indent="0" marL="0">
                        <a:buNone/>
                      </a:pPr>
                      <a:r>
                        <a:rPr lang="en-US" sz="1200" b="1" dirty="0">
                          <a:solidFill>
                            <a:srgbClr val="16232E"/>
                          </a:solidFill>
                          <a:latin typeface="Calibri" pitchFamily="34" charset="0"/>
                          <a:ea typeface="Calibri" pitchFamily="34" charset="-122"/>
                          <a:cs typeface="Calibri" pitchFamily="34" charset="-120"/>
                        </a:rPr>
                        <a:t>Validation</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Bagged-PCMCI+ gives per-edge confidence</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Bootstrap and residual tests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Surrogate test plus delay against physics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r>
            </a:tbl>
          </a:graphicData>
        </a:graphic>
      </p:graphicFrame>
      <p:sp>
        <p:nvSpPr>
          <p:cNvPr id="5" name="Text 2"/>
          <p:cNvSpPr/>
          <p:nvPr/>
        </p:nvSpPr>
        <p:spPr>
          <a:xfrm>
            <a:off x="640080" y="6327648"/>
            <a:ext cx="10881360" cy="274320"/>
          </a:xfrm>
          <a:prstGeom prst="rect">
            <a:avLst/>
          </a:prstGeom>
          <a:noFill/>
          <a:ln/>
        </p:spPr>
        <p:txBody>
          <a:bodyPr wrap="square" lIns="0" tIns="0" rIns="0" bIns="0" rtlCol="0" anchor="ctr"/>
          <a:lstStyle/>
          <a:p>
            <a:pPr indent="0" marL="0">
              <a:buNone/>
            </a:pPr>
            <a:r>
              <a:rPr lang="en-US" sz="900" dirty="0">
                <a:solidFill>
                  <a:srgbClr val="6B7A85"/>
                </a:solidFill>
                <a:latin typeface="Calibri" pitchFamily="34" charset="0"/>
                <a:ea typeface="Calibri" pitchFamily="34" charset="-122"/>
                <a:cs typeface="Calibri" pitchFamily="34" charset="-120"/>
              </a:rPr>
              <a:t>Sources as cited on the preceding three slides. Bagged-PCMCI+: Debeire, Gerhardus, Runge &amp; Eyring, PMLR 236, 2024 - proceedings.mlr.press/v236/debeire24a.html</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232E"/>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E07A28"/>
                </a:solidFill>
                <a:latin typeface="Calibri" pitchFamily="34" charset="0"/>
                <a:ea typeface="Calibri" pitchFamily="34" charset="-122"/>
                <a:cs typeface="Calibri" pitchFamily="34" charset="-120"/>
              </a:rPr>
              <a:t>QUESTION 2 - RECOMMENDATION</a:t>
            </a:r>
            <a:endParaRPr lang="en-US" sz="1100" dirty="0"/>
          </a:p>
        </p:txBody>
      </p:sp>
      <p:sp>
        <p:nvSpPr>
          <p:cNvPr id="3" name="Text 1"/>
          <p:cNvSpPr/>
          <p:nvPr/>
        </p:nvSpPr>
        <p:spPr>
          <a:xfrm>
            <a:off x="640080" y="658368"/>
            <a:ext cx="10881360" cy="86868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Not one best model. A staged combination.</a:t>
            </a:r>
            <a:endParaRPr lang="en-US" sz="3000" dirty="0"/>
          </a:p>
        </p:txBody>
      </p:sp>
      <p:sp>
        <p:nvSpPr>
          <p:cNvPr id="4" name="Shape 2"/>
          <p:cNvSpPr/>
          <p:nvPr/>
        </p:nvSpPr>
        <p:spPr>
          <a:xfrm>
            <a:off x="640080" y="2011680"/>
            <a:ext cx="3429000" cy="2651760"/>
          </a:xfrm>
          <a:prstGeom prst="roundRect">
            <a:avLst>
              <a:gd name="adj" fmla="val 2759"/>
            </a:avLst>
          </a:prstGeom>
          <a:solidFill>
            <a:srgbClr val="3A2C1E"/>
          </a:solidFill>
          <a:ln w="12700">
            <a:solidFill>
              <a:srgbClr val="3A2C1E"/>
            </a:solidFill>
            <a:prstDash val="solid"/>
          </a:ln>
        </p:spPr>
      </p:sp>
      <p:sp>
        <p:nvSpPr>
          <p:cNvPr id="5" name="Text 3"/>
          <p:cNvSpPr/>
          <p:nvPr/>
        </p:nvSpPr>
        <p:spPr>
          <a:xfrm>
            <a:off x="914400" y="2212848"/>
            <a:ext cx="2880360" cy="274320"/>
          </a:xfrm>
          <a:prstGeom prst="rect">
            <a:avLst/>
          </a:prstGeom>
          <a:noFill/>
          <a:ln/>
        </p:spPr>
        <p:txBody>
          <a:bodyPr wrap="square" lIns="0" tIns="0" rIns="0" bIns="0" rtlCol="0" anchor="ctr"/>
          <a:lstStyle/>
          <a:p>
            <a:pPr indent="0" marL="0">
              <a:buNone/>
            </a:pPr>
            <a:r>
              <a:rPr lang="en-US" sz="1100" b="1" spc="200" kern="0" dirty="0">
                <a:solidFill>
                  <a:srgbClr val="E07A28"/>
                </a:solidFill>
                <a:latin typeface="Calibri" pitchFamily="34" charset="0"/>
                <a:ea typeface="Calibri" pitchFamily="34" charset="-122"/>
                <a:cs typeface="Calibri" pitchFamily="34" charset="-120"/>
              </a:rPr>
              <a:t>PRIMARY</a:t>
            </a:r>
            <a:endParaRPr lang="en-US" sz="1100" dirty="0"/>
          </a:p>
        </p:txBody>
      </p:sp>
      <p:sp>
        <p:nvSpPr>
          <p:cNvPr id="6" name="Text 4"/>
          <p:cNvSpPr/>
          <p:nvPr/>
        </p:nvSpPr>
        <p:spPr>
          <a:xfrm>
            <a:off x="914400" y="2542032"/>
            <a:ext cx="2880360" cy="5486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PCMCI+</a:t>
            </a:r>
            <a:endParaRPr lang="en-US" sz="2200" dirty="0"/>
          </a:p>
        </p:txBody>
      </p:sp>
      <p:sp>
        <p:nvSpPr>
          <p:cNvPr id="7" name="Text 5"/>
          <p:cNvSpPr/>
          <p:nvPr/>
        </p:nvSpPr>
        <p:spPr>
          <a:xfrm>
            <a:off x="914400" y="3200400"/>
            <a:ext cx="2880360" cy="1234440"/>
          </a:xfrm>
          <a:prstGeom prst="rect">
            <a:avLst/>
          </a:prstGeom>
          <a:noFill/>
          <a:ln/>
        </p:spPr>
        <p:txBody>
          <a:bodyPr wrap="square" lIns="0" tIns="0" rIns="0" bIns="0" rtlCol="0" anchor="t"/>
          <a:lstStyle/>
          <a:p>
            <a:pPr indent="0" marL="0">
              <a:lnSpc>
                <a:spcPts val="1800"/>
              </a:lnSpc>
              <a:buNone/>
            </a:pPr>
            <a:r>
              <a:rPr lang="en-US" sz="1250" dirty="0">
                <a:solidFill>
                  <a:srgbClr val="CBD8DE"/>
                </a:solidFill>
                <a:latin typeface="Calibri" pitchFamily="34" charset="0"/>
                <a:ea typeface="Calibri" pitchFamily="34" charset="-122"/>
                <a:cs typeface="Calibri" pitchFamily="34" charset="-120"/>
              </a:rPr>
              <a:t>Best handling of autocorrelation. Most reuse from our current code.</a:t>
            </a:r>
            <a:endParaRPr lang="en-US" sz="1250" dirty="0"/>
          </a:p>
        </p:txBody>
      </p:sp>
      <p:sp>
        <p:nvSpPr>
          <p:cNvPr id="8" name="Shape 6"/>
          <p:cNvSpPr/>
          <p:nvPr/>
        </p:nvSpPr>
        <p:spPr>
          <a:xfrm>
            <a:off x="4160520" y="3246120"/>
            <a:ext cx="137160" cy="201168"/>
          </a:xfrm>
          <a:prstGeom prst="rightArrow">
            <a:avLst/>
          </a:prstGeom>
          <a:solidFill>
            <a:srgbClr val="4C6472"/>
          </a:solidFill>
          <a:ln/>
        </p:spPr>
      </p:sp>
      <p:sp>
        <p:nvSpPr>
          <p:cNvPr id="9" name="Shape 7"/>
          <p:cNvSpPr/>
          <p:nvPr/>
        </p:nvSpPr>
        <p:spPr>
          <a:xfrm>
            <a:off x="4361688" y="2011680"/>
            <a:ext cx="3429000" cy="2651760"/>
          </a:xfrm>
          <a:prstGeom prst="roundRect">
            <a:avLst>
              <a:gd name="adj" fmla="val 2759"/>
            </a:avLst>
          </a:prstGeom>
          <a:solidFill>
            <a:srgbClr val="2C3E48"/>
          </a:solidFill>
          <a:ln w="12700">
            <a:solidFill>
              <a:srgbClr val="2C3E48"/>
            </a:solidFill>
            <a:prstDash val="solid"/>
          </a:ln>
        </p:spPr>
      </p:sp>
      <p:sp>
        <p:nvSpPr>
          <p:cNvPr id="10" name="Text 8"/>
          <p:cNvSpPr/>
          <p:nvPr/>
        </p:nvSpPr>
        <p:spPr>
          <a:xfrm>
            <a:off x="4636008" y="2212848"/>
            <a:ext cx="2880360" cy="274320"/>
          </a:xfrm>
          <a:prstGeom prst="rect">
            <a:avLst/>
          </a:prstGeom>
          <a:noFill/>
          <a:ln/>
        </p:spPr>
        <p:txBody>
          <a:bodyPr wrap="square" lIns="0" tIns="0" rIns="0" bIns="0" rtlCol="0" anchor="ctr"/>
          <a:lstStyle/>
          <a:p>
            <a:pPr indent="0" marL="0">
              <a:buNone/>
            </a:pPr>
            <a:r>
              <a:rPr lang="en-US" sz="1100" b="1" spc="200" kern="0" dirty="0">
                <a:solidFill>
                  <a:srgbClr val="5FD0A8"/>
                </a:solidFill>
                <a:latin typeface="Calibri" pitchFamily="34" charset="0"/>
                <a:ea typeface="Calibri" pitchFamily="34" charset="-122"/>
                <a:cs typeface="Calibri" pitchFamily="34" charset="-120"/>
              </a:rPr>
              <a:t>CROSS-CHECK</a:t>
            </a:r>
            <a:endParaRPr lang="en-US" sz="1100" dirty="0"/>
          </a:p>
        </p:txBody>
      </p:sp>
      <p:sp>
        <p:nvSpPr>
          <p:cNvPr id="11" name="Text 9"/>
          <p:cNvSpPr/>
          <p:nvPr/>
        </p:nvSpPr>
        <p:spPr>
          <a:xfrm>
            <a:off x="4636008" y="2542032"/>
            <a:ext cx="2880360" cy="5486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VAR-LiNGAM</a:t>
            </a:r>
            <a:endParaRPr lang="en-US" sz="2200" dirty="0"/>
          </a:p>
        </p:txBody>
      </p:sp>
      <p:sp>
        <p:nvSpPr>
          <p:cNvPr id="12" name="Text 10"/>
          <p:cNvSpPr/>
          <p:nvPr/>
        </p:nvSpPr>
        <p:spPr>
          <a:xfrm>
            <a:off x="4636008" y="3200400"/>
            <a:ext cx="2880360" cy="1234440"/>
          </a:xfrm>
          <a:prstGeom prst="rect">
            <a:avLst/>
          </a:prstGeom>
          <a:noFill/>
          <a:ln/>
        </p:spPr>
        <p:txBody>
          <a:bodyPr wrap="square" lIns="0" tIns="0" rIns="0" bIns="0" rtlCol="0" anchor="t"/>
          <a:lstStyle/>
          <a:p>
            <a:pPr indent="0" marL="0">
              <a:lnSpc>
                <a:spcPts val="1800"/>
              </a:lnSpc>
              <a:buNone/>
            </a:pPr>
            <a:r>
              <a:rPr lang="en-US" sz="1250" dirty="0">
                <a:solidFill>
                  <a:srgbClr val="CBD8DE"/>
                </a:solidFill>
                <a:latin typeface="Calibri" pitchFamily="34" charset="0"/>
                <a:ea typeface="Calibri" pitchFamily="34" charset="-122"/>
                <a:cs typeface="Calibri" pitchFamily="34" charset="-120"/>
              </a:rPr>
              <a:t>Run it when the residuals are clearly non-Gaussian. Compare the arrow directions.</a:t>
            </a:r>
            <a:endParaRPr lang="en-US" sz="1250" dirty="0"/>
          </a:p>
        </p:txBody>
      </p:sp>
      <p:sp>
        <p:nvSpPr>
          <p:cNvPr id="13" name="Shape 11"/>
          <p:cNvSpPr/>
          <p:nvPr/>
        </p:nvSpPr>
        <p:spPr>
          <a:xfrm>
            <a:off x="7882128" y="3246120"/>
            <a:ext cx="137160" cy="201168"/>
          </a:xfrm>
          <a:prstGeom prst="rightArrow">
            <a:avLst/>
          </a:prstGeom>
          <a:solidFill>
            <a:srgbClr val="4C6472"/>
          </a:solidFill>
          <a:ln/>
        </p:spPr>
      </p:sp>
      <p:sp>
        <p:nvSpPr>
          <p:cNvPr id="14" name="Shape 12"/>
          <p:cNvSpPr/>
          <p:nvPr/>
        </p:nvSpPr>
        <p:spPr>
          <a:xfrm>
            <a:off x="8083296" y="2011680"/>
            <a:ext cx="3429000" cy="2651760"/>
          </a:xfrm>
          <a:prstGeom prst="roundRect">
            <a:avLst>
              <a:gd name="adj" fmla="val 2759"/>
            </a:avLst>
          </a:prstGeom>
          <a:solidFill>
            <a:srgbClr val="2C3E48"/>
          </a:solidFill>
          <a:ln w="12700">
            <a:solidFill>
              <a:srgbClr val="2C3E48"/>
            </a:solidFill>
            <a:prstDash val="solid"/>
          </a:ln>
        </p:spPr>
      </p:sp>
      <p:sp>
        <p:nvSpPr>
          <p:cNvPr id="15" name="Text 13"/>
          <p:cNvSpPr/>
          <p:nvPr/>
        </p:nvSpPr>
        <p:spPr>
          <a:xfrm>
            <a:off x="8357616" y="2212848"/>
            <a:ext cx="2880360" cy="274320"/>
          </a:xfrm>
          <a:prstGeom prst="rect">
            <a:avLst/>
          </a:prstGeom>
          <a:noFill/>
          <a:ln/>
        </p:spPr>
        <p:txBody>
          <a:bodyPr wrap="square" lIns="0" tIns="0" rIns="0" bIns="0" rtlCol="0" anchor="ctr"/>
          <a:lstStyle/>
          <a:p>
            <a:pPr indent="0" marL="0">
              <a:buNone/>
            </a:pPr>
            <a:r>
              <a:rPr lang="en-US" sz="1100" b="1" spc="200" kern="0" dirty="0">
                <a:solidFill>
                  <a:srgbClr val="5FD0A8"/>
                </a:solidFill>
                <a:latin typeface="Calibri" pitchFamily="34" charset="0"/>
                <a:ea typeface="Calibri" pitchFamily="34" charset="-122"/>
                <a:cs typeface="Calibri" pitchFamily="34" charset="-120"/>
              </a:rPr>
              <a:t>ROOT CAUSE</a:t>
            </a:r>
            <a:endParaRPr lang="en-US" sz="1100" dirty="0"/>
          </a:p>
        </p:txBody>
      </p:sp>
      <p:sp>
        <p:nvSpPr>
          <p:cNvPr id="16" name="Text 14"/>
          <p:cNvSpPr/>
          <p:nvPr/>
        </p:nvSpPr>
        <p:spPr>
          <a:xfrm>
            <a:off x="8357616" y="2542032"/>
            <a:ext cx="2880360" cy="5486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Lag-specific TE</a:t>
            </a:r>
            <a:endParaRPr lang="en-US" sz="2200" dirty="0"/>
          </a:p>
        </p:txBody>
      </p:sp>
      <p:sp>
        <p:nvSpPr>
          <p:cNvPr id="17" name="Text 15"/>
          <p:cNvSpPr/>
          <p:nvPr/>
        </p:nvSpPr>
        <p:spPr>
          <a:xfrm>
            <a:off x="8357616" y="3200400"/>
            <a:ext cx="2880360" cy="1234440"/>
          </a:xfrm>
          <a:prstGeom prst="rect">
            <a:avLst/>
          </a:prstGeom>
          <a:noFill/>
          <a:ln/>
        </p:spPr>
        <p:txBody>
          <a:bodyPr wrap="square" lIns="0" tIns="0" rIns="0" bIns="0" rtlCol="0" anchor="t"/>
          <a:lstStyle/>
          <a:p>
            <a:pPr indent="0" marL="0">
              <a:lnSpc>
                <a:spcPts val="1800"/>
              </a:lnSpc>
              <a:buNone/>
            </a:pPr>
            <a:r>
              <a:rPr lang="en-US" sz="1250" dirty="0">
                <a:solidFill>
                  <a:srgbClr val="CBD8DE"/>
                </a:solidFill>
                <a:latin typeface="Calibri" pitchFamily="34" charset="0"/>
                <a:ea typeface="Calibri" pitchFamily="34" charset="-122"/>
                <a:cs typeface="Calibri" pitchFamily="34" charset="-120"/>
              </a:rPr>
              <a:t>Run it on a shortlist of variables to locate a fault and measure its delay.</a:t>
            </a:r>
            <a:endParaRPr lang="en-US" sz="1250" dirty="0"/>
          </a:p>
        </p:txBody>
      </p:sp>
      <p:sp>
        <p:nvSpPr>
          <p:cNvPr id="18" name="Text 16"/>
          <p:cNvSpPr/>
          <p:nvPr/>
        </p:nvSpPr>
        <p:spPr>
          <a:xfrm>
            <a:off x="640080" y="5029200"/>
            <a:ext cx="1088136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The methods are complements, not competitors. Each one covers a weakness of the others.</a:t>
            </a:r>
            <a:endParaRPr lang="en-US" sz="1700" dirty="0"/>
          </a:p>
        </p:txBody>
      </p:sp>
      <p:sp>
        <p:nvSpPr>
          <p:cNvPr id="19" name="Text 17"/>
          <p:cNvSpPr/>
          <p:nvPr/>
        </p:nvSpPr>
        <p:spPr>
          <a:xfrm>
            <a:off x="640080" y="5440680"/>
            <a:ext cx="10881360" cy="365760"/>
          </a:xfrm>
          <a:prstGeom prst="rect">
            <a:avLst/>
          </a:prstGeom>
          <a:noFill/>
          <a:ln/>
        </p:spPr>
        <p:txBody>
          <a:bodyPr wrap="square" lIns="0" tIns="0" rIns="0" bIns="0" rtlCol="0" anchor="ctr"/>
          <a:lstStyle/>
          <a:p>
            <a:pPr indent="0" marL="0">
              <a:buNone/>
            </a:pPr>
            <a:r>
              <a:rPr lang="en-US" sz="1300" i="1" dirty="0">
                <a:solidFill>
                  <a:srgbClr val="9FB2BC"/>
                </a:solidFill>
                <a:latin typeface="Calibri" pitchFamily="34" charset="0"/>
                <a:ea typeface="Calibri" pitchFamily="34" charset="-122"/>
                <a:cs typeface="Calibri" pitchFamily="34" charset="-120"/>
              </a:rPr>
              <a:t>Open question for the team: do we run all three this quarter, or PCMCI+ alone until it produces a graph worth checking?</a:t>
            </a:r>
            <a:endParaRPr lang="en-US" sz="1300" dirty="0"/>
          </a:p>
        </p:txBody>
      </p:sp>
      <p:sp>
        <p:nvSpPr>
          <p:cNvPr id="20" name="Text 18"/>
          <p:cNvSpPr/>
          <p:nvPr/>
        </p:nvSpPr>
        <p:spPr>
          <a:xfrm>
            <a:off x="640080" y="6327648"/>
            <a:ext cx="10881360" cy="274320"/>
          </a:xfrm>
          <a:prstGeom prst="rect">
            <a:avLst/>
          </a:prstGeom>
          <a:noFill/>
          <a:ln/>
        </p:spPr>
        <p:txBody>
          <a:bodyPr wrap="square" lIns="0" tIns="0" rIns="0" bIns="0" rtlCol="0" anchor="ctr"/>
          <a:lstStyle/>
          <a:p>
            <a:pPr indent="0" marL="0">
              <a:buNone/>
            </a:pPr>
            <a:r>
              <a:rPr lang="en-US" sz="900" dirty="0">
                <a:solidFill>
                  <a:srgbClr val="6B7A85"/>
                </a:solidFill>
                <a:latin typeface="Calibri" pitchFamily="34" charset="0"/>
                <a:ea typeface="Calibri" pitchFamily="34" charset="-122"/>
                <a:cs typeface="Calibri" pitchFamily="34" charset="-120"/>
              </a:rPr>
              <a:t>Recommendation taken from our own literature review, not from a single paper.</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232E"/>
        </a:solidFill>
      </p:bgPr>
    </p:bg>
    <p:spTree>
      <p:nvGrpSpPr>
        <p:cNvPr id="1" name=""/>
        <p:cNvGrpSpPr/>
        <p:nvPr/>
      </p:nvGrpSpPr>
      <p:grpSpPr>
        <a:xfrm>
          <a:off x="0" y="0"/>
          <a:ext cx="0" cy="0"/>
          <a:chOff x="0" y="0"/>
          <a:chExt cx="0" cy="0"/>
        </a:xfrm>
      </p:grpSpPr>
      <p:sp>
        <p:nvSpPr>
          <p:cNvPr id="2" name="Text 0"/>
          <p:cNvSpPr/>
          <p:nvPr/>
        </p:nvSpPr>
        <p:spPr>
          <a:xfrm>
            <a:off x="1005840" y="1920240"/>
            <a:ext cx="10058400" cy="274320"/>
          </a:xfrm>
          <a:prstGeom prst="rect">
            <a:avLst/>
          </a:prstGeom>
          <a:noFill/>
          <a:ln/>
        </p:spPr>
        <p:txBody>
          <a:bodyPr wrap="square" lIns="0" tIns="0" rIns="0" bIns="0" rtlCol="0" anchor="ctr"/>
          <a:lstStyle/>
          <a:p>
            <a:pPr indent="0" marL="0">
              <a:buNone/>
            </a:pPr>
            <a:r>
              <a:rPr lang="en-US" sz="1200" b="1" spc="300" kern="0" dirty="0">
                <a:solidFill>
                  <a:srgbClr val="E07A28"/>
                </a:solidFill>
                <a:latin typeface="Calibri" pitchFamily="34" charset="0"/>
                <a:ea typeface="Calibri" pitchFamily="34" charset="-122"/>
                <a:cs typeface="Calibri" pitchFamily="34" charset="-120"/>
              </a:rPr>
              <a:t>QUESTION 3 OF 4</a:t>
            </a:r>
            <a:endParaRPr lang="en-US" sz="1200" dirty="0"/>
          </a:p>
        </p:txBody>
      </p:sp>
      <p:sp>
        <p:nvSpPr>
          <p:cNvPr id="3" name="Text 1"/>
          <p:cNvSpPr/>
          <p:nvPr/>
        </p:nvSpPr>
        <p:spPr>
          <a:xfrm>
            <a:off x="1005840" y="2377440"/>
            <a:ext cx="9692640" cy="1828800"/>
          </a:xfrm>
          <a:prstGeom prst="rect">
            <a:avLst/>
          </a:prstGeom>
          <a:noFill/>
          <a:ln/>
        </p:spPr>
        <p:txBody>
          <a:bodyPr wrap="square" lIns="0" tIns="0" rIns="0" bIns="0" rtlCol="0" anchor="t"/>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How do we compare two causal graphs</a:t>
            </a:r>
            <a:endParaRPr lang="en-US" sz="4000" dirty="0"/>
          </a:p>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without a ground-truth graph?</a:t>
            </a:r>
            <a:endParaRPr lang="en-US" sz="4000" dirty="0"/>
          </a:p>
        </p:txBody>
      </p:sp>
      <p:sp>
        <p:nvSpPr>
          <p:cNvPr id="4" name="Text 2"/>
          <p:cNvSpPr/>
          <p:nvPr/>
        </p:nvSpPr>
        <p:spPr>
          <a:xfrm>
            <a:off x="1005840" y="4434840"/>
            <a:ext cx="9144000" cy="365760"/>
          </a:xfrm>
          <a:prstGeom prst="rect">
            <a:avLst/>
          </a:prstGeom>
          <a:noFill/>
          <a:ln/>
        </p:spPr>
        <p:txBody>
          <a:bodyPr wrap="square" lIns="0" tIns="0" rIns="0" bIns="0" rtlCol="0" anchor="ctr"/>
          <a:lstStyle/>
          <a:p>
            <a:pPr indent="0" marL="0">
              <a:buNone/>
            </a:pPr>
            <a:r>
              <a:rPr lang="en-US" sz="1400" dirty="0">
                <a:solidFill>
                  <a:srgbClr val="9FB2BC"/>
                </a:solidFill>
                <a:latin typeface="Calibri" pitchFamily="34" charset="0"/>
                <a:ea typeface="Calibri" pitchFamily="34" charset="-122"/>
                <a:cs typeface="Calibri" pitchFamily="34" charset="-120"/>
              </a:rPr>
              <a:t>Three methods. Each grades a different property of a graph.</a:t>
            </a:r>
            <a:endParaRPr lang="en-US" sz="1400" dirty="0"/>
          </a:p>
        </p:txBody>
      </p:sp>
      <p:sp>
        <p:nvSpPr>
          <p:cNvPr id="5" name="Shape 3"/>
          <p:cNvSpPr/>
          <p:nvPr/>
        </p:nvSpPr>
        <p:spPr>
          <a:xfrm>
            <a:off x="1005840" y="4224528"/>
            <a:ext cx="1005840" cy="32004"/>
          </a:xfrm>
          <a:prstGeom prst="rect">
            <a:avLst/>
          </a:prstGeom>
          <a:solidFill>
            <a:srgbClr val="E07A28"/>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2E7D8A"/>
                </a:solidFill>
                <a:latin typeface="Calibri" pitchFamily="34" charset="0"/>
                <a:ea typeface="Calibri" pitchFamily="34" charset="-122"/>
                <a:cs typeface="Calibri" pitchFamily="34" charset="-120"/>
              </a:rPr>
              <a:t>QUESTION 3 - THE PROBLEM</a:t>
            </a:r>
            <a:endParaRPr lang="en-US" sz="1100" dirty="0"/>
          </a:p>
        </p:txBody>
      </p:sp>
      <p:sp>
        <p:nvSpPr>
          <p:cNvPr id="3" name="Text 1"/>
          <p:cNvSpPr/>
          <p:nvPr/>
        </p:nvSpPr>
        <p:spPr>
          <a:xfrm>
            <a:off x="640080" y="658368"/>
            <a:ext cx="10881360" cy="868680"/>
          </a:xfrm>
          <a:prstGeom prst="rect">
            <a:avLst/>
          </a:prstGeom>
          <a:noFill/>
          <a:ln/>
        </p:spPr>
        <p:txBody>
          <a:bodyPr wrap="square" lIns="0" tIns="0" rIns="0" bIns="0" rtlCol="0" anchor="t"/>
          <a:lstStyle/>
          <a:p>
            <a:pPr indent="0" marL="0">
              <a:buNone/>
            </a:pPr>
            <a:r>
              <a:rPr lang="en-US" sz="3000" b="1" dirty="0">
                <a:solidFill>
                  <a:srgbClr val="16232E"/>
                </a:solidFill>
                <a:latin typeface="Cambria" pitchFamily="34" charset="0"/>
                <a:ea typeface="Cambria" pitchFamily="34" charset="-122"/>
                <a:cs typeface="Cambria" pitchFamily="34" charset="-120"/>
              </a:rPr>
              <a:t>Structural Hamming Distance needs an answer key. We do not have one.</a:t>
            </a:r>
            <a:endParaRPr lang="en-US" sz="3000" dirty="0"/>
          </a:p>
        </p:txBody>
      </p:sp>
      <p:sp>
        <p:nvSpPr>
          <p:cNvPr id="4" name="Shape 2"/>
          <p:cNvSpPr/>
          <p:nvPr/>
        </p:nvSpPr>
        <p:spPr>
          <a:xfrm>
            <a:off x="640080" y="1783080"/>
            <a:ext cx="10881360" cy="1051560"/>
          </a:xfrm>
          <a:prstGeom prst="roundRect">
            <a:avLst>
              <a:gd name="adj" fmla="val 6957"/>
            </a:avLst>
          </a:prstGeom>
          <a:solidFill>
            <a:srgbClr val="E6EDF0"/>
          </a:solidFill>
          <a:ln w="12700">
            <a:solidFill>
              <a:srgbClr val="E6EDF0"/>
            </a:solidFill>
            <a:prstDash val="solid"/>
          </a:ln>
        </p:spPr>
      </p:sp>
      <p:sp>
        <p:nvSpPr>
          <p:cNvPr id="5" name="Text 3"/>
          <p:cNvSpPr/>
          <p:nvPr/>
        </p:nvSpPr>
        <p:spPr>
          <a:xfrm>
            <a:off x="914400" y="1920240"/>
            <a:ext cx="10332720" cy="822960"/>
          </a:xfrm>
          <a:prstGeom prst="rect">
            <a:avLst/>
          </a:prstGeom>
          <a:noFill/>
          <a:ln/>
        </p:spPr>
        <p:txBody>
          <a:bodyPr wrap="square" lIns="0" tIns="0" rIns="0" bIns="0" rtlCol="0" anchor="ctr"/>
          <a:lstStyle/>
          <a:p>
            <a:pPr indent="0" marL="0">
              <a:lnSpc>
                <a:spcPts val="2000"/>
              </a:lnSpc>
              <a:buNone/>
            </a:pPr>
            <a:r>
              <a:rPr lang="en-US" sz="1400" dirty="0">
                <a:solidFill>
                  <a:srgbClr val="16232E"/>
                </a:solidFill>
                <a:latin typeface="Calibri" pitchFamily="34" charset="0"/>
                <a:ea typeface="Calibri" pitchFamily="34" charset="-122"/>
                <a:cs typeface="Calibri" pitchFamily="34" charset="-120"/>
              </a:rPr>
              <a:t>We have two candidate CPDAGs over the same variables. They come from different algorithms, different settings, or differently prepared data. The true graph is unknown. Which one do we prefer, using only the observed data?</a:t>
            </a:r>
            <a:endParaRPr lang="en-US" sz="1400" dirty="0"/>
          </a:p>
        </p:txBody>
      </p:sp>
      <p:sp>
        <p:nvSpPr>
          <p:cNvPr id="6" name="Shape 4"/>
          <p:cNvSpPr/>
          <p:nvPr/>
        </p:nvSpPr>
        <p:spPr>
          <a:xfrm>
            <a:off x="640080" y="3108960"/>
            <a:ext cx="3429000" cy="2286000"/>
          </a:xfrm>
          <a:prstGeom prst="roundRect">
            <a:avLst>
              <a:gd name="adj" fmla="val 3200"/>
            </a:avLst>
          </a:prstGeom>
          <a:solidFill>
            <a:srgbClr val="F0F3F5"/>
          </a:solidFill>
          <a:ln w="12700">
            <a:solidFill>
              <a:srgbClr val="F0F3F5"/>
            </a:solidFill>
            <a:prstDash val="solid"/>
          </a:ln>
        </p:spPr>
      </p:sp>
      <p:sp>
        <p:nvSpPr>
          <p:cNvPr id="7" name="Shape 5"/>
          <p:cNvSpPr/>
          <p:nvPr/>
        </p:nvSpPr>
        <p:spPr>
          <a:xfrm>
            <a:off x="914400" y="3337560"/>
            <a:ext cx="384048" cy="384048"/>
          </a:xfrm>
          <a:prstGeom prst="ellipse">
            <a:avLst/>
          </a:prstGeom>
          <a:solidFill>
            <a:srgbClr val="2E7D8A"/>
          </a:solidFill>
          <a:ln/>
        </p:spPr>
      </p:sp>
      <p:sp>
        <p:nvSpPr>
          <p:cNvPr id="8" name="Text 6"/>
          <p:cNvSpPr/>
          <p:nvPr/>
        </p:nvSpPr>
        <p:spPr>
          <a:xfrm>
            <a:off x="914400" y="33375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914400" y="3858768"/>
            <a:ext cx="2880360" cy="365760"/>
          </a:xfrm>
          <a:prstGeom prst="rect">
            <a:avLst/>
          </a:prstGeom>
          <a:noFill/>
          <a:ln/>
        </p:spPr>
        <p:txBody>
          <a:bodyPr wrap="square" lIns="0" tIns="0" rIns="0" bIns="0" rtlCol="0" anchor="ctr"/>
          <a:lstStyle/>
          <a:p>
            <a:pPr indent="0" marL="0">
              <a:buNone/>
            </a:pPr>
            <a:r>
              <a:rPr lang="en-US" sz="1700" b="1" dirty="0">
                <a:solidFill>
                  <a:srgbClr val="16232E"/>
                </a:solidFill>
                <a:latin typeface="Cambria" pitchFamily="34" charset="0"/>
                <a:ea typeface="Cambria" pitchFamily="34" charset="-122"/>
                <a:cs typeface="Cambria" pitchFamily="34" charset="-120"/>
              </a:rPr>
              <a:t>Markov Checker</a:t>
            </a:r>
            <a:endParaRPr lang="en-US" sz="1700" dirty="0"/>
          </a:p>
        </p:txBody>
      </p:sp>
      <p:sp>
        <p:nvSpPr>
          <p:cNvPr id="10" name="Text 8"/>
          <p:cNvSpPr/>
          <p:nvPr/>
        </p:nvSpPr>
        <p:spPr>
          <a:xfrm>
            <a:off x="914400" y="4279392"/>
            <a:ext cx="2880360" cy="640080"/>
          </a:xfrm>
          <a:prstGeom prst="rect">
            <a:avLst/>
          </a:prstGeom>
          <a:noFill/>
          <a:ln/>
        </p:spPr>
        <p:txBody>
          <a:bodyPr wrap="square" lIns="0" tIns="0" rIns="0" bIns="0" rtlCol="0" anchor="t"/>
          <a:lstStyle/>
          <a:p>
            <a:pPr indent="0" marL="0">
              <a:lnSpc>
                <a:spcPts val="1700"/>
              </a:lnSpc>
              <a:buNone/>
            </a:pPr>
            <a:r>
              <a:rPr lang="en-US" sz="1250" dirty="0">
                <a:solidFill>
                  <a:srgbClr val="24363F"/>
                </a:solidFill>
                <a:latin typeface="Calibri" pitchFamily="34" charset="0"/>
                <a:ea typeface="Calibri" pitchFamily="34" charset="-122"/>
                <a:cs typeface="Calibri" pitchFamily="34" charset="-120"/>
              </a:rPr>
              <a:t>Grades the edges the graph leaves out.</a:t>
            </a:r>
            <a:endParaRPr lang="en-US" sz="1250" dirty="0"/>
          </a:p>
        </p:txBody>
      </p:sp>
      <p:sp>
        <p:nvSpPr>
          <p:cNvPr id="11" name="Text 9"/>
          <p:cNvSpPr/>
          <p:nvPr/>
        </p:nvSpPr>
        <p:spPr>
          <a:xfrm>
            <a:off x="914400" y="4956048"/>
            <a:ext cx="2880360" cy="274320"/>
          </a:xfrm>
          <a:prstGeom prst="rect">
            <a:avLst/>
          </a:prstGeom>
          <a:noFill/>
          <a:ln/>
        </p:spPr>
        <p:txBody>
          <a:bodyPr wrap="square" lIns="0" tIns="0" rIns="0" bIns="0" rtlCol="0" anchor="ctr"/>
          <a:lstStyle/>
          <a:p>
            <a:pPr indent="0" marL="0">
              <a:buNone/>
            </a:pPr>
            <a:r>
              <a:rPr lang="en-US" sz="1150" b="1" dirty="0">
                <a:solidFill>
                  <a:srgbClr val="2E7D8A"/>
                </a:solidFill>
                <a:latin typeface="Calibri" pitchFamily="34" charset="0"/>
                <a:ea typeface="Calibri" pitchFamily="34" charset="-122"/>
                <a:cs typeface="Calibri" pitchFamily="34" charset="-120"/>
              </a:rPr>
              <a:t>Higher is better</a:t>
            </a:r>
            <a:endParaRPr lang="en-US" sz="1150" dirty="0"/>
          </a:p>
        </p:txBody>
      </p:sp>
      <p:sp>
        <p:nvSpPr>
          <p:cNvPr id="12" name="Shape 10"/>
          <p:cNvSpPr/>
          <p:nvPr/>
        </p:nvSpPr>
        <p:spPr>
          <a:xfrm>
            <a:off x="4361688" y="3108960"/>
            <a:ext cx="3429000" cy="2286000"/>
          </a:xfrm>
          <a:prstGeom prst="roundRect">
            <a:avLst>
              <a:gd name="adj" fmla="val 3200"/>
            </a:avLst>
          </a:prstGeom>
          <a:solidFill>
            <a:srgbClr val="F0F3F5"/>
          </a:solidFill>
          <a:ln w="12700">
            <a:solidFill>
              <a:srgbClr val="F0F3F5"/>
            </a:solidFill>
            <a:prstDash val="solid"/>
          </a:ln>
        </p:spPr>
      </p:sp>
      <p:sp>
        <p:nvSpPr>
          <p:cNvPr id="13" name="Shape 11"/>
          <p:cNvSpPr/>
          <p:nvPr/>
        </p:nvSpPr>
        <p:spPr>
          <a:xfrm>
            <a:off x="4636008" y="3337560"/>
            <a:ext cx="384048" cy="384048"/>
          </a:xfrm>
          <a:prstGeom prst="ellipse">
            <a:avLst/>
          </a:prstGeom>
          <a:solidFill>
            <a:srgbClr val="2E7D8A"/>
          </a:solidFill>
          <a:ln/>
        </p:spPr>
      </p:sp>
      <p:sp>
        <p:nvSpPr>
          <p:cNvPr id="14" name="Text 12"/>
          <p:cNvSpPr/>
          <p:nvPr/>
        </p:nvSpPr>
        <p:spPr>
          <a:xfrm>
            <a:off x="4636008" y="33375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p:nvPr/>
        </p:nvSpPr>
        <p:spPr>
          <a:xfrm>
            <a:off x="4636008" y="3858768"/>
            <a:ext cx="2880360" cy="365760"/>
          </a:xfrm>
          <a:prstGeom prst="rect">
            <a:avLst/>
          </a:prstGeom>
          <a:noFill/>
          <a:ln/>
        </p:spPr>
        <p:txBody>
          <a:bodyPr wrap="square" lIns="0" tIns="0" rIns="0" bIns="0" rtlCol="0" anchor="ctr"/>
          <a:lstStyle/>
          <a:p>
            <a:pPr indent="0" marL="0">
              <a:buNone/>
            </a:pPr>
            <a:r>
              <a:rPr lang="en-US" sz="1700" b="1" dirty="0">
                <a:solidFill>
                  <a:srgbClr val="16232E"/>
                </a:solidFill>
                <a:latin typeface="Cambria" pitchFamily="34" charset="0"/>
                <a:ea typeface="Cambria" pitchFamily="34" charset="-122"/>
                <a:cs typeface="Cambria" pitchFamily="34" charset="-120"/>
              </a:rPr>
              <a:t>Out-of-sample score</a:t>
            </a:r>
            <a:endParaRPr lang="en-US" sz="1700" dirty="0"/>
          </a:p>
        </p:txBody>
      </p:sp>
      <p:sp>
        <p:nvSpPr>
          <p:cNvPr id="16" name="Text 14"/>
          <p:cNvSpPr/>
          <p:nvPr/>
        </p:nvSpPr>
        <p:spPr>
          <a:xfrm>
            <a:off x="4636008" y="4279392"/>
            <a:ext cx="2880360" cy="640080"/>
          </a:xfrm>
          <a:prstGeom prst="rect">
            <a:avLst/>
          </a:prstGeom>
          <a:noFill/>
          <a:ln/>
        </p:spPr>
        <p:txBody>
          <a:bodyPr wrap="square" lIns="0" tIns="0" rIns="0" bIns="0" rtlCol="0" anchor="t"/>
          <a:lstStyle/>
          <a:p>
            <a:pPr indent="0" marL="0">
              <a:lnSpc>
                <a:spcPts val="1700"/>
              </a:lnSpc>
              <a:buNone/>
            </a:pPr>
            <a:r>
              <a:rPr lang="en-US" sz="1250" dirty="0">
                <a:solidFill>
                  <a:srgbClr val="24363F"/>
                </a:solidFill>
                <a:latin typeface="Calibri" pitchFamily="34" charset="0"/>
                <a:ea typeface="Calibri" pitchFamily="34" charset="-122"/>
                <a:cs typeface="Calibri" pitchFamily="34" charset="-120"/>
              </a:rPr>
              <a:t>Grades the edges the graph puts in.</a:t>
            </a:r>
            <a:endParaRPr lang="en-US" sz="1250" dirty="0"/>
          </a:p>
        </p:txBody>
      </p:sp>
      <p:sp>
        <p:nvSpPr>
          <p:cNvPr id="17" name="Text 15"/>
          <p:cNvSpPr/>
          <p:nvPr/>
        </p:nvSpPr>
        <p:spPr>
          <a:xfrm>
            <a:off x="4636008" y="4956048"/>
            <a:ext cx="2880360" cy="274320"/>
          </a:xfrm>
          <a:prstGeom prst="rect">
            <a:avLst/>
          </a:prstGeom>
          <a:noFill/>
          <a:ln/>
        </p:spPr>
        <p:txBody>
          <a:bodyPr wrap="square" lIns="0" tIns="0" rIns="0" bIns="0" rtlCol="0" anchor="ctr"/>
          <a:lstStyle/>
          <a:p>
            <a:pPr indent="0" marL="0">
              <a:buNone/>
            </a:pPr>
            <a:r>
              <a:rPr lang="en-US" sz="1150" b="1" dirty="0">
                <a:solidFill>
                  <a:srgbClr val="2E7D8A"/>
                </a:solidFill>
                <a:latin typeface="Calibri" pitchFamily="34" charset="0"/>
                <a:ea typeface="Calibri" pitchFamily="34" charset="-122"/>
                <a:cs typeface="Calibri" pitchFamily="34" charset="-120"/>
              </a:rPr>
              <a:t>Lower is better</a:t>
            </a:r>
            <a:endParaRPr lang="en-US" sz="1150" dirty="0"/>
          </a:p>
        </p:txBody>
      </p:sp>
      <p:sp>
        <p:nvSpPr>
          <p:cNvPr id="18" name="Shape 16"/>
          <p:cNvSpPr/>
          <p:nvPr/>
        </p:nvSpPr>
        <p:spPr>
          <a:xfrm>
            <a:off x="8083296" y="3108960"/>
            <a:ext cx="3429000" cy="2286000"/>
          </a:xfrm>
          <a:prstGeom prst="roundRect">
            <a:avLst>
              <a:gd name="adj" fmla="val 3200"/>
            </a:avLst>
          </a:prstGeom>
          <a:solidFill>
            <a:srgbClr val="F0F3F5"/>
          </a:solidFill>
          <a:ln w="12700">
            <a:solidFill>
              <a:srgbClr val="F0F3F5"/>
            </a:solidFill>
            <a:prstDash val="solid"/>
          </a:ln>
        </p:spPr>
      </p:sp>
      <p:sp>
        <p:nvSpPr>
          <p:cNvPr id="19" name="Shape 17"/>
          <p:cNvSpPr/>
          <p:nvPr/>
        </p:nvSpPr>
        <p:spPr>
          <a:xfrm>
            <a:off x="8357616" y="3337560"/>
            <a:ext cx="384048" cy="384048"/>
          </a:xfrm>
          <a:prstGeom prst="ellipse">
            <a:avLst/>
          </a:prstGeom>
          <a:solidFill>
            <a:srgbClr val="E07A28"/>
          </a:solidFill>
          <a:ln/>
        </p:spPr>
      </p:sp>
      <p:sp>
        <p:nvSpPr>
          <p:cNvPr id="20" name="Text 18"/>
          <p:cNvSpPr/>
          <p:nvPr/>
        </p:nvSpPr>
        <p:spPr>
          <a:xfrm>
            <a:off x="8357616" y="33375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9"/>
          <p:cNvSpPr/>
          <p:nvPr/>
        </p:nvSpPr>
        <p:spPr>
          <a:xfrm>
            <a:off x="8357616" y="3858768"/>
            <a:ext cx="2880360" cy="365760"/>
          </a:xfrm>
          <a:prstGeom prst="rect">
            <a:avLst/>
          </a:prstGeom>
          <a:noFill/>
          <a:ln/>
        </p:spPr>
        <p:txBody>
          <a:bodyPr wrap="square" lIns="0" tIns="0" rIns="0" bIns="0" rtlCol="0" anchor="ctr"/>
          <a:lstStyle/>
          <a:p>
            <a:pPr indent="0" marL="0">
              <a:buNone/>
            </a:pPr>
            <a:r>
              <a:rPr lang="en-US" sz="1700" b="1" dirty="0">
                <a:solidFill>
                  <a:srgbClr val="16232E"/>
                </a:solidFill>
                <a:latin typeface="Cambria" pitchFamily="34" charset="0"/>
                <a:ea typeface="Cambria" pitchFamily="34" charset="-122"/>
                <a:cs typeface="Cambria" pitchFamily="34" charset="-120"/>
              </a:rPr>
              <a:t>Bootstrap stability</a:t>
            </a:r>
            <a:endParaRPr lang="en-US" sz="1700" dirty="0"/>
          </a:p>
        </p:txBody>
      </p:sp>
      <p:sp>
        <p:nvSpPr>
          <p:cNvPr id="22" name="Text 20"/>
          <p:cNvSpPr/>
          <p:nvPr/>
        </p:nvSpPr>
        <p:spPr>
          <a:xfrm>
            <a:off x="8357616" y="4279392"/>
            <a:ext cx="2880360" cy="640080"/>
          </a:xfrm>
          <a:prstGeom prst="rect">
            <a:avLst/>
          </a:prstGeom>
          <a:noFill/>
          <a:ln/>
        </p:spPr>
        <p:txBody>
          <a:bodyPr wrap="square" lIns="0" tIns="0" rIns="0" bIns="0" rtlCol="0" anchor="t"/>
          <a:lstStyle/>
          <a:p>
            <a:pPr indent="0" marL="0">
              <a:lnSpc>
                <a:spcPts val="1700"/>
              </a:lnSpc>
              <a:buNone/>
            </a:pPr>
            <a:r>
              <a:rPr lang="en-US" sz="1250" dirty="0">
                <a:solidFill>
                  <a:srgbClr val="24363F"/>
                </a:solidFill>
                <a:latin typeface="Calibri" pitchFamily="34" charset="0"/>
                <a:ea typeface="Calibri" pitchFamily="34" charset="-122"/>
                <a:cs typeface="Calibri" pitchFamily="34" charset="-120"/>
              </a:rPr>
              <a:t>Grades whether the graph repeats.</a:t>
            </a:r>
            <a:endParaRPr lang="en-US" sz="1250" dirty="0"/>
          </a:p>
        </p:txBody>
      </p:sp>
      <p:sp>
        <p:nvSpPr>
          <p:cNvPr id="23" name="Text 21"/>
          <p:cNvSpPr/>
          <p:nvPr/>
        </p:nvSpPr>
        <p:spPr>
          <a:xfrm>
            <a:off x="8357616" y="4956048"/>
            <a:ext cx="2880360" cy="274320"/>
          </a:xfrm>
          <a:prstGeom prst="rect">
            <a:avLst/>
          </a:prstGeom>
          <a:noFill/>
          <a:ln/>
        </p:spPr>
        <p:txBody>
          <a:bodyPr wrap="square" lIns="0" tIns="0" rIns="0" bIns="0" rtlCol="0" anchor="ctr"/>
          <a:lstStyle/>
          <a:p>
            <a:pPr indent="0" marL="0">
              <a:buNone/>
            </a:pPr>
            <a:r>
              <a:rPr lang="en-US" sz="1150" b="1" dirty="0">
                <a:solidFill>
                  <a:srgbClr val="E07A28"/>
                </a:solidFill>
                <a:latin typeface="Calibri" pitchFamily="34" charset="0"/>
                <a:ea typeface="Calibri" pitchFamily="34" charset="-122"/>
                <a:cs typeface="Calibri" pitchFamily="34" charset="-120"/>
              </a:rPr>
              <a:t>Higher is better</a:t>
            </a:r>
            <a:endParaRPr lang="en-US" sz="1150" dirty="0"/>
          </a:p>
        </p:txBody>
      </p:sp>
      <p:sp>
        <p:nvSpPr>
          <p:cNvPr id="24" name="Text 22"/>
          <p:cNvSpPr/>
          <p:nvPr/>
        </p:nvSpPr>
        <p:spPr>
          <a:xfrm>
            <a:off x="640080" y="5623560"/>
            <a:ext cx="10881360" cy="365760"/>
          </a:xfrm>
          <a:prstGeom prst="rect">
            <a:avLst/>
          </a:prstGeom>
          <a:noFill/>
          <a:ln/>
        </p:spPr>
        <p:txBody>
          <a:bodyPr wrap="square" lIns="0" tIns="0" rIns="0" bIns="0" rtlCol="0" anchor="ctr"/>
          <a:lstStyle/>
          <a:p>
            <a:pPr indent="0" marL="0">
              <a:buNone/>
            </a:pPr>
            <a:r>
              <a:rPr lang="en-US" sz="1300" i="1" dirty="0">
                <a:solidFill>
                  <a:srgbClr val="6B7A85"/>
                </a:solidFill>
                <a:latin typeface="Calibri" pitchFamily="34" charset="0"/>
                <a:ea typeface="Calibri" pitchFamily="34" charset="-122"/>
                <a:cs typeface="Calibri" pitchFamily="34" charset="-120"/>
              </a:rPr>
              <a:t>A graph makes two kinds of claim. It says some variables are connected, and it says others are not. Method 1 tests the second kind. Method 2 tests the first.</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2E7D8A"/>
                </a:solidFill>
                <a:latin typeface="Calibri" pitchFamily="34" charset="0"/>
                <a:ea typeface="Calibri" pitchFamily="34" charset="-122"/>
                <a:cs typeface="Calibri" pitchFamily="34" charset="-120"/>
              </a:rPr>
              <a:t>QUESTION 3 - METHOD 1</a:t>
            </a:r>
            <a:endParaRPr lang="en-US" sz="1100" dirty="0"/>
          </a:p>
        </p:txBody>
      </p:sp>
      <p:sp>
        <p:nvSpPr>
          <p:cNvPr id="3" name="Text 1"/>
          <p:cNvSpPr/>
          <p:nvPr/>
        </p:nvSpPr>
        <p:spPr>
          <a:xfrm>
            <a:off x="640080" y="658368"/>
            <a:ext cx="10881360" cy="868680"/>
          </a:xfrm>
          <a:prstGeom prst="rect">
            <a:avLst/>
          </a:prstGeom>
          <a:noFill/>
          <a:ln/>
        </p:spPr>
        <p:txBody>
          <a:bodyPr wrap="square" lIns="0" tIns="0" rIns="0" bIns="0" rtlCol="0" anchor="t"/>
          <a:lstStyle/>
          <a:p>
            <a:pPr indent="0" marL="0">
              <a:buNone/>
            </a:pPr>
            <a:r>
              <a:rPr lang="en-US" sz="3000" b="1" dirty="0">
                <a:solidFill>
                  <a:srgbClr val="16232E"/>
                </a:solidFill>
                <a:latin typeface="Cambria" pitchFamily="34" charset="0"/>
                <a:ea typeface="Cambria" pitchFamily="34" charset="-122"/>
                <a:cs typeface="Cambria" pitchFamily="34" charset="-120"/>
              </a:rPr>
              <a:t>Every missing edge is a testable claim. Test them all at once.</a:t>
            </a:r>
            <a:endParaRPr lang="en-US" sz="3000" dirty="0"/>
          </a:p>
        </p:txBody>
      </p:sp>
      <p:sp>
        <p:nvSpPr>
          <p:cNvPr id="4" name="Shape 2"/>
          <p:cNvSpPr/>
          <p:nvPr/>
        </p:nvSpPr>
        <p:spPr>
          <a:xfrm>
            <a:off x="640080" y="1828800"/>
            <a:ext cx="5577840" cy="731520"/>
          </a:xfrm>
          <a:prstGeom prst="roundRect">
            <a:avLst>
              <a:gd name="adj" fmla="val 10000"/>
            </a:avLst>
          </a:prstGeom>
          <a:solidFill>
            <a:srgbClr val="F0F3F5"/>
          </a:solidFill>
          <a:ln w="12700">
            <a:solidFill>
              <a:srgbClr val="F0F3F5"/>
            </a:solidFill>
            <a:prstDash val="solid"/>
          </a:ln>
        </p:spPr>
      </p:sp>
      <p:sp>
        <p:nvSpPr>
          <p:cNvPr id="5" name="Shape 3"/>
          <p:cNvSpPr/>
          <p:nvPr/>
        </p:nvSpPr>
        <p:spPr>
          <a:xfrm>
            <a:off x="868680" y="2002536"/>
            <a:ext cx="384048" cy="384048"/>
          </a:xfrm>
          <a:prstGeom prst="ellipse">
            <a:avLst/>
          </a:prstGeom>
          <a:solidFill>
            <a:srgbClr val="2E7D8A"/>
          </a:solidFill>
          <a:ln/>
        </p:spPr>
      </p:sp>
      <p:sp>
        <p:nvSpPr>
          <p:cNvPr id="6" name="Text 4"/>
          <p:cNvSpPr/>
          <p:nvPr/>
        </p:nvSpPr>
        <p:spPr>
          <a:xfrm>
            <a:off x="868680" y="200253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417320" y="1883664"/>
            <a:ext cx="4572000" cy="310896"/>
          </a:xfrm>
          <a:prstGeom prst="rect">
            <a:avLst/>
          </a:prstGeom>
          <a:noFill/>
          <a:ln/>
        </p:spPr>
        <p:txBody>
          <a:bodyPr wrap="square" lIns="0" tIns="0" rIns="0" bIns="0" rtlCol="0" anchor="ctr"/>
          <a:lstStyle/>
          <a:p>
            <a:pPr indent="0" marL="0">
              <a:buNone/>
            </a:pPr>
            <a:r>
              <a:rPr lang="en-US" sz="1450" b="1" dirty="0">
                <a:solidFill>
                  <a:srgbClr val="16232E"/>
                </a:solidFill>
                <a:latin typeface="Cambria" pitchFamily="34" charset="0"/>
                <a:ea typeface="Cambria" pitchFamily="34" charset="-122"/>
                <a:cs typeface="Cambria" pitchFamily="34" charset="-120"/>
              </a:rPr>
              <a:t>Build the claim list</a:t>
            </a:r>
            <a:endParaRPr lang="en-US" sz="1450" dirty="0"/>
          </a:p>
        </p:txBody>
      </p:sp>
      <p:sp>
        <p:nvSpPr>
          <p:cNvPr id="8" name="Text 6"/>
          <p:cNvSpPr/>
          <p:nvPr/>
        </p:nvSpPr>
        <p:spPr>
          <a:xfrm>
            <a:off x="1417320" y="2194560"/>
            <a:ext cx="4572000" cy="310896"/>
          </a:xfrm>
          <a:prstGeom prst="rect">
            <a:avLst/>
          </a:prstGeom>
          <a:noFill/>
          <a:ln/>
        </p:spPr>
        <p:txBody>
          <a:bodyPr wrap="square" lIns="0" tIns="0" rIns="0" bIns="0" rtlCol="0" anchor="ctr"/>
          <a:lstStyle/>
          <a:p>
            <a:pPr indent="0" marL="0">
              <a:buNone/>
            </a:pPr>
            <a:r>
              <a:rPr lang="en-US" sz="1100" dirty="0">
                <a:solidFill>
                  <a:srgbClr val="6B7A85"/>
                </a:solidFill>
                <a:latin typeface="Calibri" pitchFamily="34" charset="0"/>
                <a:ea typeface="Calibri" pitchFamily="34" charset="-122"/>
                <a:cs typeface="Calibri" pitchFamily="34" charset="-120"/>
              </a:rPr>
              <a:t>Read the missing edges off the graph as conditional independence claims. The basis set is small.</a:t>
            </a:r>
            <a:endParaRPr lang="en-US" sz="1100" dirty="0"/>
          </a:p>
        </p:txBody>
      </p:sp>
      <p:sp>
        <p:nvSpPr>
          <p:cNvPr id="9" name="Shape 7"/>
          <p:cNvSpPr/>
          <p:nvPr/>
        </p:nvSpPr>
        <p:spPr>
          <a:xfrm>
            <a:off x="640080" y="2697480"/>
            <a:ext cx="5577840" cy="731520"/>
          </a:xfrm>
          <a:prstGeom prst="roundRect">
            <a:avLst>
              <a:gd name="adj" fmla="val 10000"/>
            </a:avLst>
          </a:prstGeom>
          <a:solidFill>
            <a:srgbClr val="F0F3F5"/>
          </a:solidFill>
          <a:ln w="12700">
            <a:solidFill>
              <a:srgbClr val="F0F3F5"/>
            </a:solidFill>
            <a:prstDash val="solid"/>
          </a:ln>
        </p:spPr>
      </p:sp>
      <p:sp>
        <p:nvSpPr>
          <p:cNvPr id="10" name="Shape 8"/>
          <p:cNvSpPr/>
          <p:nvPr/>
        </p:nvSpPr>
        <p:spPr>
          <a:xfrm>
            <a:off x="868680" y="2871216"/>
            <a:ext cx="384048" cy="384048"/>
          </a:xfrm>
          <a:prstGeom prst="ellipse">
            <a:avLst/>
          </a:prstGeom>
          <a:solidFill>
            <a:srgbClr val="2E7D8A"/>
          </a:solidFill>
          <a:ln/>
        </p:spPr>
      </p:sp>
      <p:sp>
        <p:nvSpPr>
          <p:cNvPr id="11" name="Text 9"/>
          <p:cNvSpPr/>
          <p:nvPr/>
        </p:nvSpPr>
        <p:spPr>
          <a:xfrm>
            <a:off x="868680" y="28712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417320" y="2752344"/>
            <a:ext cx="4572000" cy="310896"/>
          </a:xfrm>
          <a:prstGeom prst="rect">
            <a:avLst/>
          </a:prstGeom>
          <a:noFill/>
          <a:ln/>
        </p:spPr>
        <p:txBody>
          <a:bodyPr wrap="square" lIns="0" tIns="0" rIns="0" bIns="0" rtlCol="0" anchor="ctr"/>
          <a:lstStyle/>
          <a:p>
            <a:pPr indent="0" marL="0">
              <a:buNone/>
            </a:pPr>
            <a:r>
              <a:rPr lang="en-US" sz="1450" b="1" dirty="0">
                <a:solidFill>
                  <a:srgbClr val="16232E"/>
                </a:solidFill>
                <a:latin typeface="Cambria" pitchFamily="34" charset="0"/>
                <a:ea typeface="Cambria" pitchFamily="34" charset="-122"/>
                <a:cs typeface="Cambria" pitchFamily="34" charset="-120"/>
              </a:rPr>
              <a:t>Test each claim</a:t>
            </a:r>
            <a:endParaRPr lang="en-US" sz="1450" dirty="0"/>
          </a:p>
        </p:txBody>
      </p:sp>
      <p:sp>
        <p:nvSpPr>
          <p:cNvPr id="13" name="Text 11"/>
          <p:cNvSpPr/>
          <p:nvPr/>
        </p:nvSpPr>
        <p:spPr>
          <a:xfrm>
            <a:off x="1417320" y="3063240"/>
            <a:ext cx="4572000" cy="310896"/>
          </a:xfrm>
          <a:prstGeom prst="rect">
            <a:avLst/>
          </a:prstGeom>
          <a:noFill/>
          <a:ln/>
        </p:spPr>
        <p:txBody>
          <a:bodyPr wrap="square" lIns="0" tIns="0" rIns="0" bIns="0" rtlCol="0" anchor="ctr"/>
          <a:lstStyle/>
          <a:p>
            <a:pPr indent="0" marL="0">
              <a:buNone/>
            </a:pPr>
            <a:r>
              <a:rPr lang="en-US" sz="1100" dirty="0">
                <a:solidFill>
                  <a:srgbClr val="6B7A85"/>
                </a:solidFill>
                <a:latin typeface="Calibri" pitchFamily="34" charset="0"/>
                <a:ea typeface="Calibri" pitchFamily="34" charset="-122"/>
                <a:cs typeface="Calibri" pitchFamily="34" charset="-120"/>
              </a:rPr>
              <a:t>Run a partial correlation test. Collect one p-value for each claim.</a:t>
            </a:r>
            <a:endParaRPr lang="en-US" sz="1100" dirty="0"/>
          </a:p>
        </p:txBody>
      </p:sp>
      <p:sp>
        <p:nvSpPr>
          <p:cNvPr id="14" name="Shape 12"/>
          <p:cNvSpPr/>
          <p:nvPr/>
        </p:nvSpPr>
        <p:spPr>
          <a:xfrm>
            <a:off x="640080" y="3566160"/>
            <a:ext cx="5577840" cy="731520"/>
          </a:xfrm>
          <a:prstGeom prst="roundRect">
            <a:avLst>
              <a:gd name="adj" fmla="val 10000"/>
            </a:avLst>
          </a:prstGeom>
          <a:solidFill>
            <a:srgbClr val="F0F3F5"/>
          </a:solidFill>
          <a:ln w="12700">
            <a:solidFill>
              <a:srgbClr val="F0F3F5"/>
            </a:solidFill>
            <a:prstDash val="solid"/>
          </a:ln>
        </p:spPr>
      </p:sp>
      <p:sp>
        <p:nvSpPr>
          <p:cNvPr id="15" name="Shape 13"/>
          <p:cNvSpPr/>
          <p:nvPr/>
        </p:nvSpPr>
        <p:spPr>
          <a:xfrm>
            <a:off x="868680" y="3739896"/>
            <a:ext cx="384048" cy="384048"/>
          </a:xfrm>
          <a:prstGeom prst="ellipse">
            <a:avLst/>
          </a:prstGeom>
          <a:solidFill>
            <a:srgbClr val="2E7D8A"/>
          </a:solidFill>
          <a:ln/>
        </p:spPr>
      </p:sp>
      <p:sp>
        <p:nvSpPr>
          <p:cNvPr id="16" name="Text 14"/>
          <p:cNvSpPr/>
          <p:nvPr/>
        </p:nvSpPr>
        <p:spPr>
          <a:xfrm>
            <a:off x="868680" y="373989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417320" y="3621024"/>
            <a:ext cx="4572000" cy="310896"/>
          </a:xfrm>
          <a:prstGeom prst="rect">
            <a:avLst/>
          </a:prstGeom>
          <a:noFill/>
          <a:ln/>
        </p:spPr>
        <p:txBody>
          <a:bodyPr wrap="square" lIns="0" tIns="0" rIns="0" bIns="0" rtlCol="0" anchor="ctr"/>
          <a:lstStyle/>
          <a:p>
            <a:pPr indent="0" marL="0">
              <a:buNone/>
            </a:pPr>
            <a:r>
              <a:rPr lang="en-US" sz="1450" b="1" dirty="0">
                <a:solidFill>
                  <a:srgbClr val="16232E"/>
                </a:solidFill>
                <a:latin typeface="Cambria" pitchFamily="34" charset="0"/>
                <a:ea typeface="Cambria" pitchFamily="34" charset="-122"/>
                <a:cs typeface="Cambria" pitchFamily="34" charset="-120"/>
              </a:rPr>
              <a:t>Check the shape</a:t>
            </a:r>
            <a:endParaRPr lang="en-US" sz="1450" dirty="0"/>
          </a:p>
        </p:txBody>
      </p:sp>
      <p:sp>
        <p:nvSpPr>
          <p:cNvPr id="18" name="Text 16"/>
          <p:cNvSpPr/>
          <p:nvPr/>
        </p:nvSpPr>
        <p:spPr>
          <a:xfrm>
            <a:off x="1417320" y="3931920"/>
            <a:ext cx="4572000" cy="310896"/>
          </a:xfrm>
          <a:prstGeom prst="rect">
            <a:avLst/>
          </a:prstGeom>
          <a:noFill/>
          <a:ln/>
        </p:spPr>
        <p:txBody>
          <a:bodyPr wrap="square" lIns="0" tIns="0" rIns="0" bIns="0" rtlCol="0" anchor="ctr"/>
          <a:lstStyle/>
          <a:p>
            <a:pPr indent="0" marL="0">
              <a:buNone/>
            </a:pPr>
            <a:r>
              <a:rPr lang="en-US" sz="1100" dirty="0">
                <a:solidFill>
                  <a:srgbClr val="6B7A85"/>
                </a:solidFill>
                <a:latin typeface="Calibri" pitchFamily="34" charset="0"/>
                <a:ea typeface="Calibri" pitchFamily="34" charset="-122"/>
                <a:cs typeface="Calibri" pitchFamily="34" charset="-120"/>
              </a:rPr>
              <a:t>True claims give p-values spread evenly over 0 to 1. Test that shape with a KS test.</a:t>
            </a:r>
            <a:endParaRPr lang="en-US" sz="1100" dirty="0"/>
          </a:p>
        </p:txBody>
      </p:sp>
      <p:sp>
        <p:nvSpPr>
          <p:cNvPr id="19" name="Shape 17"/>
          <p:cNvSpPr/>
          <p:nvPr/>
        </p:nvSpPr>
        <p:spPr>
          <a:xfrm>
            <a:off x="6446520" y="1828800"/>
            <a:ext cx="5074920" cy="2468880"/>
          </a:xfrm>
          <a:prstGeom prst="roundRect">
            <a:avLst>
              <a:gd name="adj" fmla="val 2963"/>
            </a:avLst>
          </a:prstGeom>
          <a:solidFill>
            <a:srgbClr val="E6EDF0"/>
          </a:solidFill>
          <a:ln w="12700">
            <a:solidFill>
              <a:srgbClr val="E6EDF0"/>
            </a:solidFill>
            <a:prstDash val="solid"/>
          </a:ln>
        </p:spPr>
      </p:sp>
      <p:sp>
        <p:nvSpPr>
          <p:cNvPr id="20" name="Text 18"/>
          <p:cNvSpPr/>
          <p:nvPr/>
        </p:nvSpPr>
        <p:spPr>
          <a:xfrm>
            <a:off x="6720840" y="1965960"/>
            <a:ext cx="4572000" cy="320040"/>
          </a:xfrm>
          <a:prstGeom prst="rect">
            <a:avLst/>
          </a:prstGeom>
          <a:noFill/>
          <a:ln/>
        </p:spPr>
        <p:txBody>
          <a:bodyPr wrap="square" lIns="0" tIns="0" rIns="0" bIns="0" rtlCol="0" anchor="ctr"/>
          <a:lstStyle/>
          <a:p>
            <a:pPr indent="0" marL="0">
              <a:buNone/>
            </a:pPr>
            <a:r>
              <a:rPr lang="en-US" sz="1150" b="1" spc="100" kern="0" dirty="0">
                <a:solidFill>
                  <a:srgbClr val="2E7D8A"/>
                </a:solidFill>
                <a:latin typeface="Calibri" pitchFamily="34" charset="0"/>
                <a:ea typeface="Calibri" pitchFamily="34" charset="-122"/>
                <a:cs typeface="Calibri" pitchFamily="34" charset="-120"/>
              </a:rPr>
              <a:t>Worked example, 40 claims</a:t>
            </a:r>
            <a:endParaRPr lang="en-US" sz="1150" dirty="0"/>
          </a:p>
        </p:txBody>
      </p:sp>
      <p:sp>
        <p:nvSpPr>
          <p:cNvPr id="21" name="Text 19"/>
          <p:cNvSpPr/>
          <p:nvPr/>
        </p:nvSpPr>
        <p:spPr>
          <a:xfrm>
            <a:off x="6720840" y="2377440"/>
            <a:ext cx="1371600" cy="640080"/>
          </a:xfrm>
          <a:prstGeom prst="rect">
            <a:avLst/>
          </a:prstGeom>
          <a:noFill/>
          <a:ln/>
        </p:spPr>
        <p:txBody>
          <a:bodyPr wrap="square" lIns="0" tIns="0" rIns="0" bIns="0" rtlCol="0" anchor="ctr"/>
          <a:lstStyle/>
          <a:p>
            <a:pPr indent="0" marL="0">
              <a:buNone/>
            </a:pPr>
            <a:r>
              <a:rPr lang="en-US" sz="1300" b="1" dirty="0">
                <a:solidFill>
                  <a:srgbClr val="16232E"/>
                </a:solidFill>
                <a:latin typeface="Calibri" pitchFamily="34" charset="0"/>
                <a:ea typeface="Calibri" pitchFamily="34" charset="-122"/>
                <a:cs typeface="Calibri" pitchFamily="34" charset="-120"/>
              </a:rPr>
              <a:t>Graph A</a:t>
            </a:r>
            <a:endParaRPr lang="en-US" sz="1300" dirty="0"/>
          </a:p>
        </p:txBody>
      </p:sp>
      <p:sp>
        <p:nvSpPr>
          <p:cNvPr id="22" name="Text 20"/>
          <p:cNvSpPr/>
          <p:nvPr/>
        </p:nvSpPr>
        <p:spPr>
          <a:xfrm>
            <a:off x="8092440" y="2377440"/>
            <a:ext cx="1371600" cy="640080"/>
          </a:xfrm>
          <a:prstGeom prst="rect">
            <a:avLst/>
          </a:prstGeom>
          <a:noFill/>
          <a:ln/>
        </p:spPr>
        <p:txBody>
          <a:bodyPr wrap="square" lIns="0" tIns="0" rIns="0" bIns="0" rtlCol="0" anchor="ctr"/>
          <a:lstStyle/>
          <a:p>
            <a:pPr indent="0" marL="0">
              <a:buNone/>
            </a:pPr>
            <a:r>
              <a:rPr lang="en-US" sz="2600" b="1" dirty="0">
                <a:solidFill>
                  <a:srgbClr val="3E7C59"/>
                </a:solidFill>
                <a:latin typeface="Cambria" pitchFamily="34" charset="0"/>
                <a:ea typeface="Cambria" pitchFamily="34" charset="-122"/>
                <a:cs typeface="Cambria" pitchFamily="34" charset="-120"/>
              </a:rPr>
              <a:t>0.42</a:t>
            </a:r>
            <a:endParaRPr lang="en-US" sz="2600" dirty="0"/>
          </a:p>
        </p:txBody>
      </p:sp>
      <p:sp>
        <p:nvSpPr>
          <p:cNvPr id="23" name="Text 21"/>
          <p:cNvSpPr/>
          <p:nvPr/>
        </p:nvSpPr>
        <p:spPr>
          <a:xfrm>
            <a:off x="9509760" y="2377440"/>
            <a:ext cx="1828800" cy="640080"/>
          </a:xfrm>
          <a:prstGeom prst="rect">
            <a:avLst/>
          </a:prstGeom>
          <a:noFill/>
          <a:ln/>
        </p:spPr>
        <p:txBody>
          <a:bodyPr wrap="square" lIns="0" tIns="0" rIns="0" bIns="0" rtlCol="0" anchor="ctr"/>
          <a:lstStyle/>
          <a:p>
            <a:pPr indent="0" marL="0">
              <a:buNone/>
            </a:pPr>
            <a:r>
              <a:rPr lang="en-US" sz="1100" dirty="0">
                <a:solidFill>
                  <a:srgbClr val="6B7A85"/>
                </a:solidFill>
                <a:latin typeface="Calibri" pitchFamily="34" charset="0"/>
                <a:ea typeface="Calibri" pitchFamily="34" charset="-122"/>
                <a:cs typeface="Calibri" pitchFamily="34" charset="-120"/>
              </a:rPr>
              <a:t>3 of 40 claims reject</a:t>
            </a:r>
            <a:endParaRPr lang="en-US" sz="1100" dirty="0"/>
          </a:p>
        </p:txBody>
      </p:sp>
      <p:sp>
        <p:nvSpPr>
          <p:cNvPr id="24" name="Text 22"/>
          <p:cNvSpPr/>
          <p:nvPr/>
        </p:nvSpPr>
        <p:spPr>
          <a:xfrm>
            <a:off x="6720840" y="3291840"/>
            <a:ext cx="1371600" cy="640080"/>
          </a:xfrm>
          <a:prstGeom prst="rect">
            <a:avLst/>
          </a:prstGeom>
          <a:noFill/>
          <a:ln/>
        </p:spPr>
        <p:txBody>
          <a:bodyPr wrap="square" lIns="0" tIns="0" rIns="0" bIns="0" rtlCol="0" anchor="ctr"/>
          <a:lstStyle/>
          <a:p>
            <a:pPr indent="0" marL="0">
              <a:buNone/>
            </a:pPr>
            <a:r>
              <a:rPr lang="en-US" sz="1300" b="1" dirty="0">
                <a:solidFill>
                  <a:srgbClr val="16232E"/>
                </a:solidFill>
                <a:latin typeface="Calibri" pitchFamily="34" charset="0"/>
                <a:ea typeface="Calibri" pitchFamily="34" charset="-122"/>
                <a:cs typeface="Calibri" pitchFamily="34" charset="-120"/>
              </a:rPr>
              <a:t>Graph B</a:t>
            </a:r>
            <a:endParaRPr lang="en-US" sz="1300" dirty="0"/>
          </a:p>
        </p:txBody>
      </p:sp>
      <p:sp>
        <p:nvSpPr>
          <p:cNvPr id="25" name="Text 23"/>
          <p:cNvSpPr/>
          <p:nvPr/>
        </p:nvSpPr>
        <p:spPr>
          <a:xfrm>
            <a:off x="8092440" y="3291840"/>
            <a:ext cx="1371600" cy="640080"/>
          </a:xfrm>
          <a:prstGeom prst="rect">
            <a:avLst/>
          </a:prstGeom>
          <a:noFill/>
          <a:ln/>
        </p:spPr>
        <p:txBody>
          <a:bodyPr wrap="square" lIns="0" tIns="0" rIns="0" bIns="0" rtlCol="0" anchor="ctr"/>
          <a:lstStyle/>
          <a:p>
            <a:pPr indent="0" marL="0">
              <a:buNone/>
            </a:pPr>
            <a:r>
              <a:rPr lang="en-US" sz="2600" b="1" dirty="0">
                <a:solidFill>
                  <a:srgbClr val="B03A2E"/>
                </a:solidFill>
                <a:latin typeface="Cambria" pitchFamily="34" charset="0"/>
                <a:ea typeface="Cambria" pitchFamily="34" charset="-122"/>
                <a:cs typeface="Cambria" pitchFamily="34" charset="-120"/>
              </a:rPr>
              <a:t>0.001</a:t>
            </a:r>
            <a:endParaRPr lang="en-US" sz="2600" dirty="0"/>
          </a:p>
        </p:txBody>
      </p:sp>
      <p:sp>
        <p:nvSpPr>
          <p:cNvPr id="26" name="Text 24"/>
          <p:cNvSpPr/>
          <p:nvPr/>
        </p:nvSpPr>
        <p:spPr>
          <a:xfrm>
            <a:off x="9509760" y="3291840"/>
            <a:ext cx="1828800" cy="640080"/>
          </a:xfrm>
          <a:prstGeom prst="rect">
            <a:avLst/>
          </a:prstGeom>
          <a:noFill/>
          <a:ln/>
        </p:spPr>
        <p:txBody>
          <a:bodyPr wrap="square" lIns="0" tIns="0" rIns="0" bIns="0" rtlCol="0" anchor="ctr"/>
          <a:lstStyle/>
          <a:p>
            <a:pPr indent="0" marL="0">
              <a:buNone/>
            </a:pPr>
            <a:r>
              <a:rPr lang="en-US" sz="1100" dirty="0">
                <a:solidFill>
                  <a:srgbClr val="6B7A85"/>
                </a:solidFill>
                <a:latin typeface="Calibri" pitchFamily="34" charset="0"/>
                <a:ea typeface="Calibri" pitchFamily="34" charset="-122"/>
                <a:cs typeface="Calibri" pitchFamily="34" charset="-120"/>
              </a:rPr>
              <a:t>19 of 40 claims reject</a:t>
            </a:r>
            <a:endParaRPr lang="en-US" sz="1100" dirty="0"/>
          </a:p>
        </p:txBody>
      </p:sp>
      <p:sp>
        <p:nvSpPr>
          <p:cNvPr id="27" name="Text 25"/>
          <p:cNvSpPr/>
          <p:nvPr/>
        </p:nvSpPr>
        <p:spPr>
          <a:xfrm>
            <a:off x="6720840" y="3931920"/>
            <a:ext cx="4572000" cy="274320"/>
          </a:xfrm>
          <a:prstGeom prst="rect">
            <a:avLst/>
          </a:prstGeom>
          <a:noFill/>
          <a:ln/>
        </p:spPr>
        <p:txBody>
          <a:bodyPr wrap="square" lIns="0" tIns="0" rIns="0" bIns="0" rtlCol="0" anchor="ctr"/>
          <a:lstStyle/>
          <a:p>
            <a:pPr indent="0" marL="0">
              <a:buNone/>
            </a:pPr>
            <a:r>
              <a:rPr lang="en-US" sz="1100" i="1" dirty="0">
                <a:solidFill>
                  <a:srgbClr val="24363F"/>
                </a:solidFill>
                <a:latin typeface="Calibri" pitchFamily="34" charset="0"/>
                <a:ea typeface="Calibri" pitchFamily="34" charset="-122"/>
                <a:cs typeface="Calibri" pitchFamily="34" charset="-120"/>
              </a:rPr>
              <a:t>KS p-value. Graph B is rejected: the data contradicts the edges it left out.</a:t>
            </a:r>
            <a:endParaRPr lang="en-US" sz="1100" dirty="0"/>
          </a:p>
        </p:txBody>
      </p:sp>
      <p:sp>
        <p:nvSpPr>
          <p:cNvPr id="28" name="Shape 26"/>
          <p:cNvSpPr/>
          <p:nvPr/>
        </p:nvSpPr>
        <p:spPr>
          <a:xfrm>
            <a:off x="640080" y="4526280"/>
            <a:ext cx="10881360" cy="1371600"/>
          </a:xfrm>
          <a:prstGeom prst="roundRect">
            <a:avLst>
              <a:gd name="adj" fmla="val 5333"/>
            </a:avLst>
          </a:prstGeom>
          <a:solidFill>
            <a:srgbClr val="24363F"/>
          </a:solidFill>
          <a:ln w="12700">
            <a:solidFill>
              <a:srgbClr val="24363F"/>
            </a:solidFill>
            <a:prstDash val="solid"/>
          </a:ln>
        </p:spPr>
      </p:sp>
      <p:sp>
        <p:nvSpPr>
          <p:cNvPr id="29" name="Text 27"/>
          <p:cNvSpPr/>
          <p:nvPr/>
        </p:nvSpPr>
        <p:spPr>
          <a:xfrm>
            <a:off x="914400" y="4663440"/>
            <a:ext cx="5486400" cy="320040"/>
          </a:xfrm>
          <a:prstGeom prst="rect">
            <a:avLst/>
          </a:prstGeom>
          <a:noFill/>
          <a:ln/>
        </p:spPr>
        <p:txBody>
          <a:bodyPr wrap="square" lIns="0" tIns="0" rIns="0" bIns="0" rtlCol="0" anchor="ctr"/>
          <a:lstStyle/>
          <a:p>
            <a:pPr indent="0" marL="0">
              <a:buNone/>
            </a:pPr>
            <a:r>
              <a:rPr lang="en-US" sz="1200" b="1" dirty="0">
                <a:solidFill>
                  <a:srgbClr val="E07A28"/>
                </a:solidFill>
                <a:latin typeface="Calibri" pitchFamily="34" charset="0"/>
                <a:ea typeface="Calibri" pitchFamily="34" charset="-122"/>
                <a:cs typeface="Calibri" pitchFamily="34" charset="-120"/>
              </a:rPr>
              <a:t>The tiebreaker that stops the test rewarding density</a:t>
            </a:r>
            <a:endParaRPr lang="en-US" sz="1200" dirty="0"/>
          </a:p>
        </p:txBody>
      </p:sp>
      <p:sp>
        <p:nvSpPr>
          <p:cNvPr id="30" name="Text 28"/>
          <p:cNvSpPr/>
          <p:nvPr/>
        </p:nvSpPr>
        <p:spPr>
          <a:xfrm>
            <a:off x="914400" y="5010912"/>
            <a:ext cx="10332720" cy="731520"/>
          </a:xfrm>
          <a:prstGeom prst="rect">
            <a:avLst/>
          </a:prstGeom>
          <a:noFill/>
          <a:ln/>
        </p:spPr>
        <p:txBody>
          <a:bodyPr wrap="square" lIns="0" tIns="0" rIns="0" bIns="0" rtlCol="0" anchor="t"/>
          <a:lstStyle/>
          <a:p>
            <a:pPr indent="0" marL="0">
              <a:lnSpc>
                <a:spcPts val="1800"/>
              </a:lnSpc>
              <a:buNone/>
            </a:pPr>
            <a:r>
              <a:rPr lang="en-US" sz="1300" dirty="0">
                <a:solidFill>
                  <a:srgbClr val="FFFFFF"/>
                </a:solidFill>
                <a:latin typeface="Calibri" pitchFamily="34" charset="0"/>
                <a:ea typeface="Calibri" pitchFamily="34" charset="-122"/>
                <a:cs typeface="Calibri" pitchFamily="34" charset="-120"/>
              </a:rPr>
              <a:t>A fully connected graph makes no independence claims, so it passes with nothing tested. Fix this with edge count. Among the graphs that pass, keep the one with fewer edges.</a:t>
            </a:r>
            <a:endParaRPr lang="en-US" sz="1300" dirty="0"/>
          </a:p>
        </p:txBody>
      </p:sp>
      <p:sp>
        <p:nvSpPr>
          <p:cNvPr id="31" name="Text 29"/>
          <p:cNvSpPr/>
          <p:nvPr/>
        </p:nvSpPr>
        <p:spPr>
          <a:xfrm>
            <a:off x="640080" y="6327648"/>
            <a:ext cx="10881360" cy="274320"/>
          </a:xfrm>
          <a:prstGeom prst="rect">
            <a:avLst/>
          </a:prstGeom>
          <a:noFill/>
          <a:ln/>
        </p:spPr>
        <p:txBody>
          <a:bodyPr wrap="square" lIns="0" tIns="0" rIns="0" bIns="0" rtlCol="0" anchor="ctr"/>
          <a:lstStyle/>
          <a:p>
            <a:pPr indent="0" marL="0">
              <a:buNone/>
            </a:pPr>
            <a:r>
              <a:rPr lang="en-US" sz="900" dirty="0">
                <a:solidFill>
                  <a:srgbClr val="6B7A85"/>
                </a:solidFill>
                <a:latin typeface="Calibri" pitchFamily="34" charset="0"/>
                <a:ea typeface="Calibri" pitchFamily="34" charset="-122"/>
                <a:cs typeface="Calibri" pitchFamily="34" charset="-120"/>
              </a:rPr>
              <a:t>Ramsey, Andrews &amp; Spirtes, arXiv:2409.20187, 2024 - arxiv.org/abs/2409.20187 | Caveat: the claims share conditioning sets, so treat the KS p-value as a comparison, not an exact test.</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2E7D8A"/>
                </a:solidFill>
                <a:latin typeface="Calibri" pitchFamily="34" charset="0"/>
                <a:ea typeface="Calibri" pitchFamily="34" charset="-122"/>
                <a:cs typeface="Calibri" pitchFamily="34" charset="-120"/>
              </a:rPr>
              <a:t>QUESTION 3 - METHOD 1 IN DETAIL</a:t>
            </a:r>
            <a:endParaRPr lang="en-US" sz="1100" dirty="0"/>
          </a:p>
        </p:txBody>
      </p:sp>
      <p:sp>
        <p:nvSpPr>
          <p:cNvPr id="3" name="Text 1"/>
          <p:cNvSpPr/>
          <p:nvPr/>
        </p:nvSpPr>
        <p:spPr>
          <a:xfrm>
            <a:off x="640080" y="658368"/>
            <a:ext cx="10881360" cy="868680"/>
          </a:xfrm>
          <a:prstGeom prst="rect">
            <a:avLst/>
          </a:prstGeom>
          <a:noFill/>
          <a:ln/>
        </p:spPr>
        <p:txBody>
          <a:bodyPr wrap="square" lIns="0" tIns="0" rIns="0" bIns="0" rtlCol="0" anchor="t"/>
          <a:lstStyle/>
          <a:p>
            <a:pPr indent="0" marL="0">
              <a:buNone/>
            </a:pPr>
            <a:r>
              <a:rPr lang="en-US" sz="3000" b="1" dirty="0">
                <a:solidFill>
                  <a:srgbClr val="16232E"/>
                </a:solidFill>
                <a:latin typeface="Cambria" pitchFamily="34" charset="0"/>
                <a:ea typeface="Cambria" pitchFamily="34" charset="-122"/>
                <a:cs typeface="Cambria" pitchFamily="34" charset="-120"/>
              </a:rPr>
              <a:t>The KS test turns one distance into one p-value</a:t>
            </a:r>
            <a:endParaRPr lang="en-US" sz="3000" dirty="0"/>
          </a:p>
        </p:txBody>
      </p:sp>
      <p:sp>
        <p:nvSpPr>
          <p:cNvPr id="4" name="Text 2"/>
          <p:cNvSpPr/>
          <p:nvPr/>
        </p:nvSpPr>
        <p:spPr>
          <a:xfrm>
            <a:off x="640080" y="1737360"/>
            <a:ext cx="5394960" cy="274320"/>
          </a:xfrm>
          <a:prstGeom prst="rect">
            <a:avLst/>
          </a:prstGeom>
          <a:noFill/>
          <a:ln/>
        </p:spPr>
        <p:txBody>
          <a:bodyPr wrap="square" lIns="0" tIns="0" rIns="0" bIns="0" rtlCol="0" anchor="ctr"/>
          <a:lstStyle/>
          <a:p>
            <a:pPr indent="0" marL="0">
              <a:buNone/>
            </a:pPr>
            <a:r>
              <a:rPr lang="en-US" sz="1150" b="1" dirty="0">
                <a:solidFill>
                  <a:srgbClr val="2E7D8A"/>
                </a:solidFill>
                <a:latin typeface="Calibri" pitchFamily="34" charset="0"/>
                <a:ea typeface="Calibri" pitchFamily="34" charset="-122"/>
                <a:cs typeface="Calibri" pitchFamily="34" charset="-120"/>
              </a:rPr>
              <a:t>Cumulative share of claims at or below each p-value</a:t>
            </a:r>
            <a:endParaRPr lang="en-US" sz="1150" dirty="0"/>
          </a:p>
        </p:txBody>
      </p:sp>
      <p:sp>
        <p:nvSpPr>
          <p:cNvPr id="5" name="Shape 3"/>
          <p:cNvSpPr/>
          <p:nvPr/>
        </p:nvSpPr>
        <p:spPr>
          <a:xfrm>
            <a:off x="1143000" y="2084832"/>
            <a:ext cx="0" cy="2761488"/>
          </a:xfrm>
          <a:prstGeom prst="line">
            <a:avLst/>
          </a:prstGeom>
          <a:noFill/>
          <a:ln w="9525">
            <a:solidFill>
              <a:srgbClr val="B4B2A9"/>
            </a:solidFill>
            <a:prstDash val="solid"/>
          </a:ln>
        </p:spPr>
      </p:sp>
      <p:sp>
        <p:nvSpPr>
          <p:cNvPr id="6" name="Shape 4"/>
          <p:cNvSpPr/>
          <p:nvPr/>
        </p:nvSpPr>
        <p:spPr>
          <a:xfrm>
            <a:off x="1143000" y="4846320"/>
            <a:ext cx="4754880" cy="0"/>
          </a:xfrm>
          <a:prstGeom prst="line">
            <a:avLst/>
          </a:prstGeom>
          <a:noFill/>
          <a:ln w="9525">
            <a:solidFill>
              <a:srgbClr val="B4B2A9"/>
            </a:solidFill>
            <a:prstDash val="solid"/>
          </a:ln>
        </p:spPr>
      </p:sp>
      <p:sp>
        <p:nvSpPr>
          <p:cNvPr id="7" name="Shape 5"/>
          <p:cNvSpPr/>
          <p:nvPr/>
        </p:nvSpPr>
        <p:spPr>
          <a:xfrm flipV="1">
            <a:off x="1143000" y="2103120"/>
            <a:ext cx="4617720" cy="2743200"/>
          </a:xfrm>
          <a:prstGeom prst="line">
            <a:avLst/>
          </a:prstGeom>
          <a:noFill/>
          <a:ln w="19050">
            <a:solidFill>
              <a:srgbClr val="888780"/>
            </a:solidFill>
            <a:prstDash val="dash"/>
          </a:ln>
        </p:spPr>
      </p:sp>
      <p:sp>
        <p:nvSpPr>
          <p:cNvPr id="8" name="Shape 6"/>
          <p:cNvSpPr/>
          <p:nvPr/>
        </p:nvSpPr>
        <p:spPr>
          <a:xfrm flipV="1">
            <a:off x="1143000" y="4297680"/>
            <a:ext cx="692658" cy="548640"/>
          </a:xfrm>
          <a:prstGeom prst="line">
            <a:avLst/>
          </a:prstGeom>
          <a:noFill/>
          <a:ln w="28575">
            <a:solidFill>
              <a:srgbClr val="2E7D8A"/>
            </a:solidFill>
            <a:prstDash val="solid"/>
          </a:ln>
        </p:spPr>
      </p:sp>
      <p:sp>
        <p:nvSpPr>
          <p:cNvPr id="9" name="Shape 7"/>
          <p:cNvSpPr/>
          <p:nvPr/>
        </p:nvSpPr>
        <p:spPr>
          <a:xfrm flipV="1">
            <a:off x="1835658" y="3803904"/>
            <a:ext cx="923544" cy="493776"/>
          </a:xfrm>
          <a:prstGeom prst="line">
            <a:avLst/>
          </a:prstGeom>
          <a:noFill/>
          <a:ln w="28575">
            <a:solidFill>
              <a:srgbClr val="2E7D8A"/>
            </a:solidFill>
            <a:prstDash val="solid"/>
          </a:ln>
        </p:spPr>
      </p:sp>
      <p:sp>
        <p:nvSpPr>
          <p:cNvPr id="10" name="Shape 8"/>
          <p:cNvSpPr/>
          <p:nvPr/>
        </p:nvSpPr>
        <p:spPr>
          <a:xfrm flipV="1">
            <a:off x="2759202" y="3255264"/>
            <a:ext cx="923544" cy="548640"/>
          </a:xfrm>
          <a:prstGeom prst="line">
            <a:avLst/>
          </a:prstGeom>
          <a:noFill/>
          <a:ln w="28575">
            <a:solidFill>
              <a:srgbClr val="2E7D8A"/>
            </a:solidFill>
            <a:prstDash val="solid"/>
          </a:ln>
        </p:spPr>
      </p:sp>
      <p:sp>
        <p:nvSpPr>
          <p:cNvPr id="11" name="Shape 9"/>
          <p:cNvSpPr/>
          <p:nvPr/>
        </p:nvSpPr>
        <p:spPr>
          <a:xfrm flipV="1">
            <a:off x="3682746" y="2816352"/>
            <a:ext cx="923544" cy="438912"/>
          </a:xfrm>
          <a:prstGeom prst="line">
            <a:avLst/>
          </a:prstGeom>
          <a:noFill/>
          <a:ln w="28575">
            <a:solidFill>
              <a:srgbClr val="2E7D8A"/>
            </a:solidFill>
            <a:prstDash val="solid"/>
          </a:ln>
        </p:spPr>
      </p:sp>
      <p:sp>
        <p:nvSpPr>
          <p:cNvPr id="12" name="Shape 10"/>
          <p:cNvSpPr/>
          <p:nvPr/>
        </p:nvSpPr>
        <p:spPr>
          <a:xfrm flipV="1">
            <a:off x="4606290" y="2103120"/>
            <a:ext cx="1154430" cy="713232"/>
          </a:xfrm>
          <a:prstGeom prst="line">
            <a:avLst/>
          </a:prstGeom>
          <a:noFill/>
          <a:ln w="28575">
            <a:solidFill>
              <a:srgbClr val="2E7D8A"/>
            </a:solidFill>
            <a:prstDash val="solid"/>
          </a:ln>
        </p:spPr>
      </p:sp>
      <p:sp>
        <p:nvSpPr>
          <p:cNvPr id="13" name="Shape 11"/>
          <p:cNvSpPr/>
          <p:nvPr/>
        </p:nvSpPr>
        <p:spPr>
          <a:xfrm flipV="1">
            <a:off x="1143000" y="3543300"/>
            <a:ext cx="230886" cy="1303020"/>
          </a:xfrm>
          <a:prstGeom prst="line">
            <a:avLst/>
          </a:prstGeom>
          <a:noFill/>
          <a:ln w="28575">
            <a:solidFill>
              <a:srgbClr val="E07A28"/>
            </a:solidFill>
            <a:prstDash val="solid"/>
          </a:ln>
        </p:spPr>
      </p:sp>
      <p:sp>
        <p:nvSpPr>
          <p:cNvPr id="14" name="Shape 12"/>
          <p:cNvSpPr/>
          <p:nvPr/>
        </p:nvSpPr>
        <p:spPr>
          <a:xfrm flipV="1">
            <a:off x="1373886" y="3200400"/>
            <a:ext cx="692658" cy="342900"/>
          </a:xfrm>
          <a:prstGeom prst="line">
            <a:avLst/>
          </a:prstGeom>
          <a:noFill/>
          <a:ln w="28575">
            <a:solidFill>
              <a:srgbClr val="E07A28"/>
            </a:solidFill>
            <a:prstDash val="solid"/>
          </a:ln>
        </p:spPr>
      </p:sp>
      <p:sp>
        <p:nvSpPr>
          <p:cNvPr id="15" name="Shape 13"/>
          <p:cNvSpPr/>
          <p:nvPr/>
        </p:nvSpPr>
        <p:spPr>
          <a:xfrm flipV="1">
            <a:off x="2066544" y="2871216"/>
            <a:ext cx="923544" cy="329184"/>
          </a:xfrm>
          <a:prstGeom prst="line">
            <a:avLst/>
          </a:prstGeom>
          <a:noFill/>
          <a:ln w="28575">
            <a:solidFill>
              <a:srgbClr val="E07A28"/>
            </a:solidFill>
            <a:prstDash val="solid"/>
          </a:ln>
        </p:spPr>
      </p:sp>
      <p:sp>
        <p:nvSpPr>
          <p:cNvPr id="16" name="Shape 14"/>
          <p:cNvSpPr/>
          <p:nvPr/>
        </p:nvSpPr>
        <p:spPr>
          <a:xfrm flipV="1">
            <a:off x="2990088" y="2596896"/>
            <a:ext cx="923544" cy="274320"/>
          </a:xfrm>
          <a:prstGeom prst="line">
            <a:avLst/>
          </a:prstGeom>
          <a:noFill/>
          <a:ln w="28575">
            <a:solidFill>
              <a:srgbClr val="E07A28"/>
            </a:solidFill>
            <a:prstDash val="solid"/>
          </a:ln>
        </p:spPr>
      </p:sp>
      <p:sp>
        <p:nvSpPr>
          <p:cNvPr id="17" name="Shape 15"/>
          <p:cNvSpPr/>
          <p:nvPr/>
        </p:nvSpPr>
        <p:spPr>
          <a:xfrm flipV="1">
            <a:off x="3913632" y="2377440"/>
            <a:ext cx="923544" cy="219456"/>
          </a:xfrm>
          <a:prstGeom prst="line">
            <a:avLst/>
          </a:prstGeom>
          <a:noFill/>
          <a:ln w="28575">
            <a:solidFill>
              <a:srgbClr val="E07A28"/>
            </a:solidFill>
            <a:prstDash val="solid"/>
          </a:ln>
        </p:spPr>
      </p:sp>
      <p:sp>
        <p:nvSpPr>
          <p:cNvPr id="18" name="Shape 16"/>
          <p:cNvSpPr/>
          <p:nvPr/>
        </p:nvSpPr>
        <p:spPr>
          <a:xfrm flipV="1">
            <a:off x="4837176" y="2103120"/>
            <a:ext cx="923544" cy="274320"/>
          </a:xfrm>
          <a:prstGeom prst="line">
            <a:avLst/>
          </a:prstGeom>
          <a:noFill/>
          <a:ln w="28575">
            <a:solidFill>
              <a:srgbClr val="E07A28"/>
            </a:solidFill>
            <a:prstDash val="solid"/>
          </a:ln>
        </p:spPr>
      </p:sp>
      <p:sp>
        <p:nvSpPr>
          <p:cNvPr id="19" name="Shape 17"/>
          <p:cNvSpPr/>
          <p:nvPr/>
        </p:nvSpPr>
        <p:spPr>
          <a:xfrm>
            <a:off x="1373886" y="3543300"/>
            <a:ext cx="0" cy="1165860"/>
          </a:xfrm>
          <a:prstGeom prst="line">
            <a:avLst/>
          </a:prstGeom>
          <a:noFill/>
          <a:ln w="15875">
            <a:solidFill>
              <a:srgbClr val="B03A2E"/>
            </a:solidFill>
            <a:prstDash val="solid"/>
            <a:headEnd type="triangle"/>
            <a:tailEnd type="triangle"/>
          </a:ln>
        </p:spPr>
      </p:sp>
      <p:sp>
        <p:nvSpPr>
          <p:cNvPr id="20" name="Text 18"/>
          <p:cNvSpPr/>
          <p:nvPr/>
        </p:nvSpPr>
        <p:spPr>
          <a:xfrm>
            <a:off x="1428750" y="4041648"/>
            <a:ext cx="274320" cy="228600"/>
          </a:xfrm>
          <a:prstGeom prst="rect">
            <a:avLst/>
          </a:prstGeom>
          <a:noFill/>
          <a:ln/>
        </p:spPr>
        <p:txBody>
          <a:bodyPr wrap="square" lIns="0" tIns="0" rIns="0" bIns="0" rtlCol="0" anchor="ctr"/>
          <a:lstStyle/>
          <a:p>
            <a:pPr indent="0" marL="0">
              <a:buNone/>
            </a:pPr>
            <a:r>
              <a:rPr lang="en-US" sz="1200" b="1" dirty="0">
                <a:solidFill>
                  <a:srgbClr val="B03A2E"/>
                </a:solidFill>
                <a:latin typeface="Courier New" pitchFamily="34" charset="0"/>
                <a:ea typeface="Courier New" pitchFamily="34" charset="-122"/>
                <a:cs typeface="Courier New" pitchFamily="34" charset="-120"/>
              </a:rPr>
              <a:t>D</a:t>
            </a:r>
            <a:endParaRPr lang="en-US" sz="1200" dirty="0"/>
          </a:p>
        </p:txBody>
      </p:sp>
      <p:sp>
        <p:nvSpPr>
          <p:cNvPr id="21" name="Text 19"/>
          <p:cNvSpPr/>
          <p:nvPr/>
        </p:nvSpPr>
        <p:spPr>
          <a:xfrm>
            <a:off x="566928" y="1975104"/>
            <a:ext cx="502920" cy="228600"/>
          </a:xfrm>
          <a:prstGeom prst="rect">
            <a:avLst/>
          </a:prstGeom>
          <a:noFill/>
          <a:ln/>
        </p:spPr>
        <p:txBody>
          <a:bodyPr wrap="square" lIns="0" tIns="0" rIns="0" bIns="0" rtlCol="0" anchor="ctr"/>
          <a:lstStyle/>
          <a:p>
            <a:pPr algn="r" indent="0" marL="0">
              <a:buNone/>
            </a:pPr>
            <a:r>
              <a:rPr lang="en-US" sz="1000" dirty="0">
                <a:solidFill>
                  <a:srgbClr val="6B7A85"/>
                </a:solidFill>
                <a:latin typeface="Calibri" pitchFamily="34" charset="0"/>
                <a:ea typeface="Calibri" pitchFamily="34" charset="-122"/>
                <a:cs typeface="Calibri" pitchFamily="34" charset="-120"/>
              </a:rPr>
              <a:t>1.0</a:t>
            </a:r>
            <a:endParaRPr lang="en-US" sz="1000" dirty="0"/>
          </a:p>
        </p:txBody>
      </p:sp>
      <p:sp>
        <p:nvSpPr>
          <p:cNvPr id="22" name="Text 20"/>
          <p:cNvSpPr/>
          <p:nvPr/>
        </p:nvSpPr>
        <p:spPr>
          <a:xfrm>
            <a:off x="566928" y="4736592"/>
            <a:ext cx="502920" cy="228600"/>
          </a:xfrm>
          <a:prstGeom prst="rect">
            <a:avLst/>
          </a:prstGeom>
          <a:noFill/>
          <a:ln/>
        </p:spPr>
        <p:txBody>
          <a:bodyPr wrap="square" lIns="0" tIns="0" rIns="0" bIns="0" rtlCol="0" anchor="ctr"/>
          <a:lstStyle/>
          <a:p>
            <a:pPr algn="r" indent="0" marL="0">
              <a:buNone/>
            </a:pPr>
            <a:r>
              <a:rPr lang="en-US" sz="1000" dirty="0">
                <a:solidFill>
                  <a:srgbClr val="6B7A85"/>
                </a:solidFill>
                <a:latin typeface="Calibri" pitchFamily="34" charset="0"/>
                <a:ea typeface="Calibri" pitchFamily="34" charset="-122"/>
                <a:cs typeface="Calibri" pitchFamily="34" charset="-120"/>
              </a:rPr>
              <a:t>0</a:t>
            </a:r>
            <a:endParaRPr lang="en-US" sz="1000" dirty="0"/>
          </a:p>
        </p:txBody>
      </p:sp>
      <p:sp>
        <p:nvSpPr>
          <p:cNvPr id="23" name="Text 21"/>
          <p:cNvSpPr/>
          <p:nvPr/>
        </p:nvSpPr>
        <p:spPr>
          <a:xfrm>
            <a:off x="914400" y="4882896"/>
            <a:ext cx="457200" cy="228600"/>
          </a:xfrm>
          <a:prstGeom prst="rect">
            <a:avLst/>
          </a:prstGeom>
          <a:noFill/>
          <a:ln/>
        </p:spPr>
        <p:txBody>
          <a:bodyPr wrap="square" lIns="0" tIns="0" rIns="0" bIns="0" rtlCol="0" anchor="ctr"/>
          <a:lstStyle/>
          <a:p>
            <a:pPr algn="ctr" indent="0" marL="0">
              <a:buNone/>
            </a:pPr>
            <a:r>
              <a:rPr lang="en-US" sz="1000" dirty="0">
                <a:solidFill>
                  <a:srgbClr val="6B7A85"/>
                </a:solidFill>
                <a:latin typeface="Calibri" pitchFamily="34" charset="0"/>
                <a:ea typeface="Calibri" pitchFamily="34" charset="-122"/>
                <a:cs typeface="Calibri" pitchFamily="34" charset="-120"/>
              </a:rPr>
              <a:t>0</a:t>
            </a:r>
            <a:endParaRPr lang="en-US" sz="1000" dirty="0"/>
          </a:p>
        </p:txBody>
      </p:sp>
      <p:sp>
        <p:nvSpPr>
          <p:cNvPr id="24" name="Text 22"/>
          <p:cNvSpPr/>
          <p:nvPr/>
        </p:nvSpPr>
        <p:spPr>
          <a:xfrm>
            <a:off x="3223260" y="4882896"/>
            <a:ext cx="457200" cy="228600"/>
          </a:xfrm>
          <a:prstGeom prst="rect">
            <a:avLst/>
          </a:prstGeom>
          <a:noFill/>
          <a:ln/>
        </p:spPr>
        <p:txBody>
          <a:bodyPr wrap="square" lIns="0" tIns="0" rIns="0" bIns="0" rtlCol="0" anchor="ctr"/>
          <a:lstStyle/>
          <a:p>
            <a:pPr algn="ctr" indent="0" marL="0">
              <a:buNone/>
            </a:pPr>
            <a:r>
              <a:rPr lang="en-US" sz="1000" dirty="0">
                <a:solidFill>
                  <a:srgbClr val="6B7A85"/>
                </a:solidFill>
                <a:latin typeface="Calibri" pitchFamily="34" charset="0"/>
                <a:ea typeface="Calibri" pitchFamily="34" charset="-122"/>
                <a:cs typeface="Calibri" pitchFamily="34" charset="-120"/>
              </a:rPr>
              <a:t>0.5</a:t>
            </a:r>
            <a:endParaRPr lang="en-US" sz="1000" dirty="0"/>
          </a:p>
        </p:txBody>
      </p:sp>
      <p:sp>
        <p:nvSpPr>
          <p:cNvPr id="25" name="Text 23"/>
          <p:cNvSpPr/>
          <p:nvPr/>
        </p:nvSpPr>
        <p:spPr>
          <a:xfrm>
            <a:off x="5532120" y="4882896"/>
            <a:ext cx="457200" cy="228600"/>
          </a:xfrm>
          <a:prstGeom prst="rect">
            <a:avLst/>
          </a:prstGeom>
          <a:noFill/>
          <a:ln/>
        </p:spPr>
        <p:txBody>
          <a:bodyPr wrap="square" lIns="0" tIns="0" rIns="0" bIns="0" rtlCol="0" anchor="ctr"/>
          <a:lstStyle/>
          <a:p>
            <a:pPr algn="ctr" indent="0" marL="0">
              <a:buNone/>
            </a:pPr>
            <a:r>
              <a:rPr lang="en-US" sz="1000" dirty="0">
                <a:solidFill>
                  <a:srgbClr val="6B7A85"/>
                </a:solidFill>
                <a:latin typeface="Calibri" pitchFamily="34" charset="0"/>
                <a:ea typeface="Calibri" pitchFamily="34" charset="-122"/>
                <a:cs typeface="Calibri" pitchFamily="34" charset="-120"/>
              </a:rPr>
              <a:t>1.0</a:t>
            </a:r>
            <a:endParaRPr lang="en-US" sz="1000" dirty="0"/>
          </a:p>
        </p:txBody>
      </p:sp>
      <p:sp>
        <p:nvSpPr>
          <p:cNvPr id="26" name="Text 24"/>
          <p:cNvSpPr/>
          <p:nvPr/>
        </p:nvSpPr>
        <p:spPr>
          <a:xfrm>
            <a:off x="1143000" y="5120640"/>
            <a:ext cx="4754880" cy="228600"/>
          </a:xfrm>
          <a:prstGeom prst="rect">
            <a:avLst/>
          </a:prstGeom>
          <a:noFill/>
          <a:ln/>
        </p:spPr>
        <p:txBody>
          <a:bodyPr wrap="square" lIns="0" tIns="0" rIns="0" bIns="0" rtlCol="0" anchor="ctr"/>
          <a:lstStyle/>
          <a:p>
            <a:pPr algn="ctr" indent="0" marL="0">
              <a:buNone/>
            </a:pPr>
            <a:r>
              <a:rPr lang="en-US" sz="1050" dirty="0">
                <a:solidFill>
                  <a:srgbClr val="6B7A85"/>
                </a:solidFill>
                <a:latin typeface="Calibri" pitchFamily="34" charset="0"/>
                <a:ea typeface="Calibri" pitchFamily="34" charset="-122"/>
                <a:cs typeface="Calibri" pitchFamily="34" charset="-120"/>
              </a:rPr>
              <a:t>p-value of each independence claim</a:t>
            </a:r>
            <a:endParaRPr lang="en-US" sz="1050" dirty="0"/>
          </a:p>
        </p:txBody>
      </p:sp>
      <p:sp>
        <p:nvSpPr>
          <p:cNvPr id="27" name="Shape 25"/>
          <p:cNvSpPr/>
          <p:nvPr/>
        </p:nvSpPr>
        <p:spPr>
          <a:xfrm>
            <a:off x="685800" y="5596128"/>
            <a:ext cx="310896" cy="0"/>
          </a:xfrm>
          <a:prstGeom prst="line">
            <a:avLst/>
          </a:prstGeom>
          <a:noFill/>
          <a:ln w="19050">
            <a:solidFill>
              <a:srgbClr val="888780"/>
            </a:solidFill>
            <a:prstDash val="dash"/>
          </a:ln>
        </p:spPr>
      </p:sp>
      <p:sp>
        <p:nvSpPr>
          <p:cNvPr id="28" name="Text 26"/>
          <p:cNvSpPr/>
          <p:nvPr/>
        </p:nvSpPr>
        <p:spPr>
          <a:xfrm>
            <a:off x="1069848" y="5486400"/>
            <a:ext cx="1737360" cy="228600"/>
          </a:xfrm>
          <a:prstGeom prst="rect">
            <a:avLst/>
          </a:prstGeom>
          <a:noFill/>
          <a:ln/>
        </p:spPr>
        <p:txBody>
          <a:bodyPr wrap="square" lIns="0" tIns="0" rIns="0" bIns="0" rtlCol="0" anchor="ctr"/>
          <a:lstStyle/>
          <a:p>
            <a:pPr indent="0" marL="0">
              <a:buNone/>
            </a:pPr>
            <a:r>
              <a:rPr lang="en-US" sz="1050" dirty="0">
                <a:solidFill>
                  <a:srgbClr val="6B7A85"/>
                </a:solidFill>
                <a:latin typeface="Calibri" pitchFamily="34" charset="0"/>
                <a:ea typeface="Calibri" pitchFamily="34" charset="-122"/>
                <a:cs typeface="Calibri" pitchFamily="34" charset="-120"/>
              </a:rPr>
              <a:t>Flat spread expected</a:t>
            </a:r>
            <a:endParaRPr lang="en-US" sz="1050" dirty="0"/>
          </a:p>
        </p:txBody>
      </p:sp>
      <p:sp>
        <p:nvSpPr>
          <p:cNvPr id="29" name="Shape 27"/>
          <p:cNvSpPr/>
          <p:nvPr/>
        </p:nvSpPr>
        <p:spPr>
          <a:xfrm>
            <a:off x="3063240" y="5596128"/>
            <a:ext cx="310896" cy="0"/>
          </a:xfrm>
          <a:prstGeom prst="line">
            <a:avLst/>
          </a:prstGeom>
          <a:noFill/>
          <a:ln w="28575">
            <a:solidFill>
              <a:srgbClr val="2E7D8A"/>
            </a:solidFill>
            <a:prstDash val="solid"/>
          </a:ln>
        </p:spPr>
      </p:sp>
      <p:sp>
        <p:nvSpPr>
          <p:cNvPr id="30" name="Text 28"/>
          <p:cNvSpPr/>
          <p:nvPr/>
        </p:nvSpPr>
        <p:spPr>
          <a:xfrm>
            <a:off x="3447288" y="5486400"/>
            <a:ext cx="1737360" cy="228600"/>
          </a:xfrm>
          <a:prstGeom prst="rect">
            <a:avLst/>
          </a:prstGeom>
          <a:noFill/>
          <a:ln/>
        </p:spPr>
        <p:txBody>
          <a:bodyPr wrap="square" lIns="0" tIns="0" rIns="0" bIns="0" rtlCol="0" anchor="ctr"/>
          <a:lstStyle/>
          <a:p>
            <a:pPr indent="0" marL="0">
              <a:buNone/>
            </a:pPr>
            <a:r>
              <a:rPr lang="en-US" sz="1050" dirty="0">
                <a:solidFill>
                  <a:srgbClr val="6B7A85"/>
                </a:solidFill>
                <a:latin typeface="Calibri" pitchFamily="34" charset="0"/>
                <a:ea typeface="Calibri" pitchFamily="34" charset="-122"/>
                <a:cs typeface="Calibri" pitchFamily="34" charset="-120"/>
              </a:rPr>
              <a:t>Graph A</a:t>
            </a:r>
            <a:endParaRPr lang="en-US" sz="1050" dirty="0"/>
          </a:p>
        </p:txBody>
      </p:sp>
      <p:sp>
        <p:nvSpPr>
          <p:cNvPr id="31" name="Shape 29"/>
          <p:cNvSpPr/>
          <p:nvPr/>
        </p:nvSpPr>
        <p:spPr>
          <a:xfrm>
            <a:off x="4343400" y="5596128"/>
            <a:ext cx="310896" cy="0"/>
          </a:xfrm>
          <a:prstGeom prst="line">
            <a:avLst/>
          </a:prstGeom>
          <a:noFill/>
          <a:ln w="28575">
            <a:solidFill>
              <a:srgbClr val="E07A28"/>
            </a:solidFill>
            <a:prstDash val="solid"/>
          </a:ln>
        </p:spPr>
      </p:sp>
      <p:sp>
        <p:nvSpPr>
          <p:cNvPr id="32" name="Text 30"/>
          <p:cNvSpPr/>
          <p:nvPr/>
        </p:nvSpPr>
        <p:spPr>
          <a:xfrm>
            <a:off x="4727448" y="5486400"/>
            <a:ext cx="1737360" cy="228600"/>
          </a:xfrm>
          <a:prstGeom prst="rect">
            <a:avLst/>
          </a:prstGeom>
          <a:noFill/>
          <a:ln/>
        </p:spPr>
        <p:txBody>
          <a:bodyPr wrap="square" lIns="0" tIns="0" rIns="0" bIns="0" rtlCol="0" anchor="ctr"/>
          <a:lstStyle/>
          <a:p>
            <a:pPr indent="0" marL="0">
              <a:buNone/>
            </a:pPr>
            <a:r>
              <a:rPr lang="en-US" sz="1050" dirty="0">
                <a:solidFill>
                  <a:srgbClr val="6B7A85"/>
                </a:solidFill>
                <a:latin typeface="Calibri" pitchFamily="34" charset="0"/>
                <a:ea typeface="Calibri" pitchFamily="34" charset="-122"/>
                <a:cs typeface="Calibri" pitchFamily="34" charset="-120"/>
              </a:rPr>
              <a:t>Graph B</a:t>
            </a:r>
            <a:endParaRPr lang="en-US" sz="1050" dirty="0"/>
          </a:p>
        </p:txBody>
      </p:sp>
      <p:sp>
        <p:nvSpPr>
          <p:cNvPr id="33" name="Text 31"/>
          <p:cNvSpPr/>
          <p:nvPr/>
        </p:nvSpPr>
        <p:spPr>
          <a:xfrm>
            <a:off x="640080" y="5870448"/>
            <a:ext cx="5394960" cy="274320"/>
          </a:xfrm>
          <a:prstGeom prst="rect">
            <a:avLst/>
          </a:prstGeom>
          <a:noFill/>
          <a:ln/>
        </p:spPr>
        <p:txBody>
          <a:bodyPr wrap="square" lIns="0" tIns="0" rIns="0" bIns="0" rtlCol="0" anchor="ctr"/>
          <a:lstStyle/>
          <a:p>
            <a:pPr indent="0" marL="0">
              <a:buNone/>
            </a:pPr>
            <a:r>
              <a:rPr lang="en-US" sz="1100" i="1" dirty="0">
                <a:solidFill>
                  <a:srgbClr val="24363F"/>
                </a:solidFill>
                <a:latin typeface="Calibri" pitchFamily="34" charset="0"/>
                <a:ea typeface="Calibri" pitchFamily="34" charset="-122"/>
                <a:cs typeface="Calibri" pitchFamily="34" charset="-120"/>
              </a:rPr>
              <a:t>The red arrow is D, the widest gap between Graph B and the flat line. Graph B leans hard toward zero.</a:t>
            </a:r>
            <a:endParaRPr lang="en-US" sz="1100" dirty="0"/>
          </a:p>
        </p:txBody>
      </p:sp>
      <p:sp>
        <p:nvSpPr>
          <p:cNvPr id="34" name="Shape 32"/>
          <p:cNvSpPr/>
          <p:nvPr/>
        </p:nvSpPr>
        <p:spPr>
          <a:xfrm>
            <a:off x="6309360" y="1737360"/>
            <a:ext cx="5212080" cy="960120"/>
          </a:xfrm>
          <a:prstGeom prst="roundRect">
            <a:avLst>
              <a:gd name="adj" fmla="val 7619"/>
            </a:avLst>
          </a:prstGeom>
          <a:solidFill>
            <a:srgbClr val="F0F3F5"/>
          </a:solidFill>
          <a:ln w="12700">
            <a:solidFill>
              <a:srgbClr val="F0F3F5"/>
            </a:solidFill>
            <a:prstDash val="solid"/>
          </a:ln>
        </p:spPr>
      </p:sp>
      <p:sp>
        <p:nvSpPr>
          <p:cNvPr id="35" name="Shape 33"/>
          <p:cNvSpPr/>
          <p:nvPr/>
        </p:nvSpPr>
        <p:spPr>
          <a:xfrm>
            <a:off x="6510528" y="1874520"/>
            <a:ext cx="384048" cy="384048"/>
          </a:xfrm>
          <a:prstGeom prst="ellipse">
            <a:avLst/>
          </a:prstGeom>
          <a:solidFill>
            <a:srgbClr val="2E7D8A"/>
          </a:solidFill>
          <a:ln/>
        </p:spPr>
      </p:sp>
      <p:sp>
        <p:nvSpPr>
          <p:cNvPr id="36" name="Text 34"/>
          <p:cNvSpPr/>
          <p:nvPr/>
        </p:nvSpPr>
        <p:spPr>
          <a:xfrm>
            <a:off x="6510528" y="1874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37" name="Text 35"/>
          <p:cNvSpPr/>
          <p:nvPr/>
        </p:nvSpPr>
        <p:spPr>
          <a:xfrm>
            <a:off x="7040880" y="1810512"/>
            <a:ext cx="4297680" cy="256032"/>
          </a:xfrm>
          <a:prstGeom prst="rect">
            <a:avLst/>
          </a:prstGeom>
          <a:noFill/>
          <a:ln/>
        </p:spPr>
        <p:txBody>
          <a:bodyPr wrap="square" lIns="0" tIns="0" rIns="0" bIns="0" rtlCol="0" anchor="ctr"/>
          <a:lstStyle/>
          <a:p>
            <a:pPr indent="0" marL="0">
              <a:buNone/>
            </a:pPr>
            <a:r>
              <a:rPr lang="en-US" sz="1400" b="1" dirty="0">
                <a:solidFill>
                  <a:srgbClr val="16232E"/>
                </a:solidFill>
                <a:latin typeface="Cambria" pitchFamily="34" charset="0"/>
                <a:ea typeface="Cambria" pitchFamily="34" charset="-122"/>
                <a:cs typeface="Cambria" pitchFamily="34" charset="-120"/>
              </a:rPr>
              <a:t>Draw the running share</a:t>
            </a:r>
            <a:endParaRPr lang="en-US" sz="1400" dirty="0"/>
          </a:p>
        </p:txBody>
      </p:sp>
      <p:sp>
        <p:nvSpPr>
          <p:cNvPr id="38" name="Text 36"/>
          <p:cNvSpPr/>
          <p:nvPr/>
        </p:nvSpPr>
        <p:spPr>
          <a:xfrm>
            <a:off x="7040880" y="2066544"/>
            <a:ext cx="4343400" cy="237744"/>
          </a:xfrm>
          <a:prstGeom prst="rect">
            <a:avLst/>
          </a:prstGeom>
          <a:noFill/>
          <a:ln/>
        </p:spPr>
        <p:txBody>
          <a:bodyPr wrap="square" lIns="0" tIns="0" rIns="0" bIns="0" rtlCol="0" anchor="ctr"/>
          <a:lstStyle/>
          <a:p>
            <a:pPr indent="0" marL="0">
              <a:buNone/>
            </a:pPr>
            <a:r>
              <a:rPr lang="en-US" sz="1050" dirty="0">
                <a:solidFill>
                  <a:srgbClr val="6B7A85"/>
                </a:solidFill>
                <a:latin typeface="Calibri" pitchFamily="34" charset="0"/>
                <a:ea typeface="Calibri" pitchFamily="34" charset="-122"/>
                <a:cs typeface="Calibri" pitchFamily="34" charset="-120"/>
              </a:rPr>
              <a:t>Sort the p-values. Plot the share at or below each one.</a:t>
            </a:r>
            <a:endParaRPr lang="en-US" sz="1050" dirty="0"/>
          </a:p>
        </p:txBody>
      </p:sp>
      <p:sp>
        <p:nvSpPr>
          <p:cNvPr id="39" name="Text 37"/>
          <p:cNvSpPr/>
          <p:nvPr/>
        </p:nvSpPr>
        <p:spPr>
          <a:xfrm>
            <a:off x="7040880" y="2340864"/>
            <a:ext cx="4389120" cy="256032"/>
          </a:xfrm>
          <a:prstGeom prst="rect">
            <a:avLst/>
          </a:prstGeom>
          <a:noFill/>
          <a:ln/>
        </p:spPr>
        <p:txBody>
          <a:bodyPr wrap="square" lIns="0" tIns="0" rIns="0" bIns="0" rtlCol="0" anchor="ctr"/>
          <a:lstStyle/>
          <a:p>
            <a:pPr indent="0" marL="0">
              <a:buNone/>
            </a:pPr>
            <a:r>
              <a:rPr lang="en-US" sz="1100" b="1" dirty="0">
                <a:solidFill>
                  <a:srgbClr val="2E7D8A"/>
                </a:solidFill>
                <a:latin typeface="Courier New" pitchFamily="34" charset="0"/>
                <a:ea typeface="Courier New" pitchFamily="34" charset="-122"/>
                <a:cs typeface="Courier New" pitchFamily="34" charset="-120"/>
              </a:rPr>
              <a:t>F(p)  =  #{ p-values &lt;= p } / m</a:t>
            </a:r>
            <a:endParaRPr lang="en-US" sz="1100" dirty="0"/>
          </a:p>
        </p:txBody>
      </p:sp>
      <p:sp>
        <p:nvSpPr>
          <p:cNvPr id="40" name="Shape 38"/>
          <p:cNvSpPr/>
          <p:nvPr/>
        </p:nvSpPr>
        <p:spPr>
          <a:xfrm>
            <a:off x="6309360" y="2816352"/>
            <a:ext cx="5212080" cy="960120"/>
          </a:xfrm>
          <a:prstGeom prst="roundRect">
            <a:avLst>
              <a:gd name="adj" fmla="val 7619"/>
            </a:avLst>
          </a:prstGeom>
          <a:solidFill>
            <a:srgbClr val="E6EDF0"/>
          </a:solidFill>
          <a:ln w="12700">
            <a:solidFill>
              <a:srgbClr val="E6EDF0"/>
            </a:solidFill>
            <a:prstDash val="solid"/>
          </a:ln>
        </p:spPr>
      </p:sp>
      <p:sp>
        <p:nvSpPr>
          <p:cNvPr id="41" name="Shape 39"/>
          <p:cNvSpPr/>
          <p:nvPr/>
        </p:nvSpPr>
        <p:spPr>
          <a:xfrm>
            <a:off x="6510528" y="2953512"/>
            <a:ext cx="384048" cy="384048"/>
          </a:xfrm>
          <a:prstGeom prst="ellipse">
            <a:avLst/>
          </a:prstGeom>
          <a:solidFill>
            <a:srgbClr val="2E7D8A"/>
          </a:solidFill>
          <a:ln/>
        </p:spPr>
      </p:sp>
      <p:sp>
        <p:nvSpPr>
          <p:cNvPr id="42" name="Text 40"/>
          <p:cNvSpPr/>
          <p:nvPr/>
        </p:nvSpPr>
        <p:spPr>
          <a:xfrm>
            <a:off x="6510528" y="29535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43" name="Text 41"/>
          <p:cNvSpPr/>
          <p:nvPr/>
        </p:nvSpPr>
        <p:spPr>
          <a:xfrm>
            <a:off x="7040880" y="2889504"/>
            <a:ext cx="4297680" cy="256032"/>
          </a:xfrm>
          <a:prstGeom prst="rect">
            <a:avLst/>
          </a:prstGeom>
          <a:noFill/>
          <a:ln/>
        </p:spPr>
        <p:txBody>
          <a:bodyPr wrap="square" lIns="0" tIns="0" rIns="0" bIns="0" rtlCol="0" anchor="ctr"/>
          <a:lstStyle/>
          <a:p>
            <a:pPr indent="0" marL="0">
              <a:buNone/>
            </a:pPr>
            <a:r>
              <a:rPr lang="en-US" sz="1400" b="1" dirty="0">
                <a:solidFill>
                  <a:srgbClr val="16232E"/>
                </a:solidFill>
                <a:latin typeface="Cambria" pitchFamily="34" charset="0"/>
                <a:ea typeface="Cambria" pitchFamily="34" charset="-122"/>
                <a:cs typeface="Cambria" pitchFamily="34" charset="-120"/>
              </a:rPr>
              <a:t>Measure the largest gap</a:t>
            </a:r>
            <a:endParaRPr lang="en-US" sz="1400" dirty="0"/>
          </a:p>
        </p:txBody>
      </p:sp>
      <p:sp>
        <p:nvSpPr>
          <p:cNvPr id="44" name="Text 42"/>
          <p:cNvSpPr/>
          <p:nvPr/>
        </p:nvSpPr>
        <p:spPr>
          <a:xfrm>
            <a:off x="7040880" y="3145536"/>
            <a:ext cx="4343400" cy="237744"/>
          </a:xfrm>
          <a:prstGeom prst="rect">
            <a:avLst/>
          </a:prstGeom>
          <a:noFill/>
          <a:ln/>
        </p:spPr>
        <p:txBody>
          <a:bodyPr wrap="square" lIns="0" tIns="0" rIns="0" bIns="0" rtlCol="0" anchor="ctr"/>
          <a:lstStyle/>
          <a:p>
            <a:pPr indent="0" marL="0">
              <a:buNone/>
            </a:pPr>
            <a:r>
              <a:rPr lang="en-US" sz="1050" dirty="0">
                <a:solidFill>
                  <a:srgbClr val="6B7A85"/>
                </a:solidFill>
                <a:latin typeface="Calibri" pitchFamily="34" charset="0"/>
                <a:ea typeface="Calibri" pitchFamily="34" charset="-122"/>
                <a:cs typeface="Calibri" pitchFamily="34" charset="-120"/>
              </a:rPr>
              <a:t>True claims lie on the diagonal. Take the widest miss.</a:t>
            </a:r>
            <a:endParaRPr lang="en-US" sz="1050" dirty="0"/>
          </a:p>
        </p:txBody>
      </p:sp>
      <p:sp>
        <p:nvSpPr>
          <p:cNvPr id="45" name="Text 43"/>
          <p:cNvSpPr/>
          <p:nvPr/>
        </p:nvSpPr>
        <p:spPr>
          <a:xfrm>
            <a:off x="7040880" y="3419856"/>
            <a:ext cx="4389120" cy="256032"/>
          </a:xfrm>
          <a:prstGeom prst="rect">
            <a:avLst/>
          </a:prstGeom>
          <a:noFill/>
          <a:ln/>
        </p:spPr>
        <p:txBody>
          <a:bodyPr wrap="square" lIns="0" tIns="0" rIns="0" bIns="0" rtlCol="0" anchor="ctr"/>
          <a:lstStyle/>
          <a:p>
            <a:pPr indent="0" marL="0">
              <a:buNone/>
            </a:pPr>
            <a:r>
              <a:rPr lang="en-US" sz="1100" b="1" dirty="0">
                <a:solidFill>
                  <a:srgbClr val="2E7D8A"/>
                </a:solidFill>
                <a:latin typeface="Courier New" pitchFamily="34" charset="0"/>
                <a:ea typeface="Courier New" pitchFamily="34" charset="-122"/>
                <a:cs typeface="Courier New" pitchFamily="34" charset="-120"/>
              </a:rPr>
              <a:t>D  =  max over p of  | F(p) - p |</a:t>
            </a:r>
            <a:endParaRPr lang="en-US" sz="1100" dirty="0"/>
          </a:p>
        </p:txBody>
      </p:sp>
      <p:sp>
        <p:nvSpPr>
          <p:cNvPr id="46" name="Shape 44"/>
          <p:cNvSpPr/>
          <p:nvPr/>
        </p:nvSpPr>
        <p:spPr>
          <a:xfrm>
            <a:off x="6309360" y="3895344"/>
            <a:ext cx="5212080" cy="960120"/>
          </a:xfrm>
          <a:prstGeom prst="roundRect">
            <a:avLst>
              <a:gd name="adj" fmla="val 7619"/>
            </a:avLst>
          </a:prstGeom>
          <a:solidFill>
            <a:srgbClr val="F0F3F5"/>
          </a:solidFill>
          <a:ln w="12700">
            <a:solidFill>
              <a:srgbClr val="F0F3F5"/>
            </a:solidFill>
            <a:prstDash val="solid"/>
          </a:ln>
        </p:spPr>
      </p:sp>
      <p:sp>
        <p:nvSpPr>
          <p:cNvPr id="47" name="Shape 45"/>
          <p:cNvSpPr/>
          <p:nvPr/>
        </p:nvSpPr>
        <p:spPr>
          <a:xfrm>
            <a:off x="6510528" y="4032504"/>
            <a:ext cx="384048" cy="384048"/>
          </a:xfrm>
          <a:prstGeom prst="ellipse">
            <a:avLst/>
          </a:prstGeom>
          <a:solidFill>
            <a:srgbClr val="2E7D8A"/>
          </a:solidFill>
          <a:ln/>
        </p:spPr>
      </p:sp>
      <p:sp>
        <p:nvSpPr>
          <p:cNvPr id="48" name="Text 46"/>
          <p:cNvSpPr/>
          <p:nvPr/>
        </p:nvSpPr>
        <p:spPr>
          <a:xfrm>
            <a:off x="6510528" y="40325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49" name="Text 47"/>
          <p:cNvSpPr/>
          <p:nvPr/>
        </p:nvSpPr>
        <p:spPr>
          <a:xfrm>
            <a:off x="7040880" y="3968496"/>
            <a:ext cx="4297680" cy="256032"/>
          </a:xfrm>
          <a:prstGeom prst="rect">
            <a:avLst/>
          </a:prstGeom>
          <a:noFill/>
          <a:ln/>
        </p:spPr>
        <p:txBody>
          <a:bodyPr wrap="square" lIns="0" tIns="0" rIns="0" bIns="0" rtlCol="0" anchor="ctr"/>
          <a:lstStyle/>
          <a:p>
            <a:pPr indent="0" marL="0">
              <a:buNone/>
            </a:pPr>
            <a:r>
              <a:rPr lang="en-US" sz="1400" b="1" dirty="0">
                <a:solidFill>
                  <a:srgbClr val="16232E"/>
                </a:solidFill>
                <a:latin typeface="Cambria" pitchFamily="34" charset="0"/>
                <a:ea typeface="Cambria" pitchFamily="34" charset="-122"/>
                <a:cs typeface="Cambria" pitchFamily="34" charset="-120"/>
              </a:rPr>
              <a:t>Scale by the sample size</a:t>
            </a:r>
            <a:endParaRPr lang="en-US" sz="1400" dirty="0"/>
          </a:p>
        </p:txBody>
      </p:sp>
      <p:sp>
        <p:nvSpPr>
          <p:cNvPr id="50" name="Text 48"/>
          <p:cNvSpPr/>
          <p:nvPr/>
        </p:nvSpPr>
        <p:spPr>
          <a:xfrm>
            <a:off x="7040880" y="4224528"/>
            <a:ext cx="4343400" cy="237744"/>
          </a:xfrm>
          <a:prstGeom prst="rect">
            <a:avLst/>
          </a:prstGeom>
          <a:noFill/>
          <a:ln/>
        </p:spPr>
        <p:txBody>
          <a:bodyPr wrap="square" lIns="0" tIns="0" rIns="0" bIns="0" rtlCol="0" anchor="ctr"/>
          <a:lstStyle/>
          <a:p>
            <a:pPr indent="0" marL="0">
              <a:buNone/>
            </a:pPr>
            <a:r>
              <a:rPr lang="en-US" sz="1050" dirty="0">
                <a:solidFill>
                  <a:srgbClr val="6B7A85"/>
                </a:solidFill>
                <a:latin typeface="Calibri" pitchFamily="34" charset="0"/>
                <a:ea typeface="Calibri" pitchFamily="34" charset="-122"/>
                <a:cs typeface="Calibri" pitchFamily="34" charset="-120"/>
              </a:rPr>
              <a:t>The same gap means more in a bigger sample.</a:t>
            </a:r>
            <a:endParaRPr lang="en-US" sz="1050" dirty="0"/>
          </a:p>
        </p:txBody>
      </p:sp>
      <p:sp>
        <p:nvSpPr>
          <p:cNvPr id="51" name="Text 49"/>
          <p:cNvSpPr/>
          <p:nvPr/>
        </p:nvSpPr>
        <p:spPr>
          <a:xfrm>
            <a:off x="7040880" y="4498848"/>
            <a:ext cx="4389120" cy="256032"/>
          </a:xfrm>
          <a:prstGeom prst="rect">
            <a:avLst/>
          </a:prstGeom>
          <a:noFill/>
          <a:ln/>
        </p:spPr>
        <p:txBody>
          <a:bodyPr wrap="square" lIns="0" tIns="0" rIns="0" bIns="0" rtlCol="0" anchor="ctr"/>
          <a:lstStyle/>
          <a:p>
            <a:pPr indent="0" marL="0">
              <a:buNone/>
            </a:pPr>
            <a:r>
              <a:rPr lang="en-US" sz="1100" b="1" dirty="0">
                <a:solidFill>
                  <a:srgbClr val="2E7D8A"/>
                </a:solidFill>
                <a:latin typeface="Courier New" pitchFamily="34" charset="0"/>
                <a:ea typeface="Courier New" pitchFamily="34" charset="-122"/>
                <a:cs typeface="Courier New" pitchFamily="34" charset="-120"/>
              </a:rPr>
              <a:t>lambda  =  sqrt(m)  x  D</a:t>
            </a:r>
            <a:endParaRPr lang="en-US" sz="1100" dirty="0"/>
          </a:p>
        </p:txBody>
      </p:sp>
      <p:sp>
        <p:nvSpPr>
          <p:cNvPr id="52" name="Shape 50"/>
          <p:cNvSpPr/>
          <p:nvPr/>
        </p:nvSpPr>
        <p:spPr>
          <a:xfrm>
            <a:off x="6309360" y="4974336"/>
            <a:ext cx="5212080" cy="960120"/>
          </a:xfrm>
          <a:prstGeom prst="roundRect">
            <a:avLst>
              <a:gd name="adj" fmla="val 7619"/>
            </a:avLst>
          </a:prstGeom>
          <a:solidFill>
            <a:srgbClr val="E6EDF0"/>
          </a:solidFill>
          <a:ln w="12700">
            <a:solidFill>
              <a:srgbClr val="E6EDF0"/>
            </a:solidFill>
            <a:prstDash val="solid"/>
          </a:ln>
        </p:spPr>
      </p:sp>
      <p:sp>
        <p:nvSpPr>
          <p:cNvPr id="53" name="Shape 51"/>
          <p:cNvSpPr/>
          <p:nvPr/>
        </p:nvSpPr>
        <p:spPr>
          <a:xfrm>
            <a:off x="6510528" y="5111496"/>
            <a:ext cx="384048" cy="384048"/>
          </a:xfrm>
          <a:prstGeom prst="ellipse">
            <a:avLst/>
          </a:prstGeom>
          <a:solidFill>
            <a:srgbClr val="2E7D8A"/>
          </a:solidFill>
          <a:ln/>
        </p:spPr>
      </p:sp>
      <p:sp>
        <p:nvSpPr>
          <p:cNvPr id="54" name="Text 52"/>
          <p:cNvSpPr/>
          <p:nvPr/>
        </p:nvSpPr>
        <p:spPr>
          <a:xfrm>
            <a:off x="6510528" y="511149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55" name="Text 53"/>
          <p:cNvSpPr/>
          <p:nvPr/>
        </p:nvSpPr>
        <p:spPr>
          <a:xfrm>
            <a:off x="7040880" y="5047488"/>
            <a:ext cx="4297680" cy="256032"/>
          </a:xfrm>
          <a:prstGeom prst="rect">
            <a:avLst/>
          </a:prstGeom>
          <a:noFill/>
          <a:ln/>
        </p:spPr>
        <p:txBody>
          <a:bodyPr wrap="square" lIns="0" tIns="0" rIns="0" bIns="0" rtlCol="0" anchor="ctr"/>
          <a:lstStyle/>
          <a:p>
            <a:pPr indent="0" marL="0">
              <a:buNone/>
            </a:pPr>
            <a:r>
              <a:rPr lang="en-US" sz="1400" b="1" dirty="0">
                <a:solidFill>
                  <a:srgbClr val="16232E"/>
                </a:solidFill>
                <a:latin typeface="Cambria" pitchFamily="34" charset="0"/>
                <a:ea typeface="Cambria" pitchFamily="34" charset="-122"/>
                <a:cs typeface="Cambria" pitchFamily="34" charset="-120"/>
              </a:rPr>
              <a:t>Convert to a p-value</a:t>
            </a:r>
            <a:endParaRPr lang="en-US" sz="1400" dirty="0"/>
          </a:p>
        </p:txBody>
      </p:sp>
      <p:sp>
        <p:nvSpPr>
          <p:cNvPr id="56" name="Text 54"/>
          <p:cNvSpPr/>
          <p:nvPr/>
        </p:nvSpPr>
        <p:spPr>
          <a:xfrm>
            <a:off x="7040880" y="5303520"/>
            <a:ext cx="4343400" cy="237744"/>
          </a:xfrm>
          <a:prstGeom prst="rect">
            <a:avLst/>
          </a:prstGeom>
          <a:noFill/>
          <a:ln/>
        </p:spPr>
        <p:txBody>
          <a:bodyPr wrap="square" lIns="0" tIns="0" rIns="0" bIns="0" rtlCol="0" anchor="ctr"/>
          <a:lstStyle/>
          <a:p>
            <a:pPr indent="0" marL="0">
              <a:buNone/>
            </a:pPr>
            <a:r>
              <a:rPr lang="en-US" sz="1050" dirty="0">
                <a:solidFill>
                  <a:srgbClr val="6B7A85"/>
                </a:solidFill>
                <a:latin typeface="Calibri" pitchFamily="34" charset="0"/>
                <a:ea typeface="Calibri" pitchFamily="34" charset="-122"/>
                <a:cs typeface="Calibri" pitchFamily="34" charset="-120"/>
              </a:rPr>
              <a:t>The first term dominates: P is about 2*exp(-2*lambda^2).</a:t>
            </a:r>
            <a:endParaRPr lang="en-US" sz="1050" dirty="0"/>
          </a:p>
        </p:txBody>
      </p:sp>
      <p:sp>
        <p:nvSpPr>
          <p:cNvPr id="57" name="Text 55"/>
          <p:cNvSpPr/>
          <p:nvPr/>
        </p:nvSpPr>
        <p:spPr>
          <a:xfrm>
            <a:off x="7040880" y="5577840"/>
            <a:ext cx="4389120" cy="256032"/>
          </a:xfrm>
          <a:prstGeom prst="rect">
            <a:avLst/>
          </a:prstGeom>
          <a:noFill/>
          <a:ln/>
        </p:spPr>
        <p:txBody>
          <a:bodyPr wrap="square" lIns="0" tIns="0" rIns="0" bIns="0" rtlCol="0" anchor="ctr"/>
          <a:lstStyle/>
          <a:p>
            <a:pPr indent="0" marL="0">
              <a:buNone/>
            </a:pPr>
            <a:r>
              <a:rPr lang="en-US" sz="950" b="1" dirty="0">
                <a:solidFill>
                  <a:srgbClr val="2E7D8A"/>
                </a:solidFill>
                <a:latin typeface="Courier New" pitchFamily="34" charset="0"/>
                <a:ea typeface="Courier New" pitchFamily="34" charset="-122"/>
                <a:cs typeface="Courier New" pitchFamily="34" charset="-120"/>
              </a:rPr>
              <a:t>P = 2 * SUM(k=1..inf) (-1)^(k-1) * exp(-2 k^2 lambda^2)</a:t>
            </a:r>
            <a:endParaRPr lang="en-US" sz="950" dirty="0"/>
          </a:p>
        </p:txBody>
      </p:sp>
      <p:sp>
        <p:nvSpPr>
          <p:cNvPr id="58" name="Text 56"/>
          <p:cNvSpPr/>
          <p:nvPr/>
        </p:nvSpPr>
        <p:spPr>
          <a:xfrm>
            <a:off x="640080" y="6327648"/>
            <a:ext cx="10881360" cy="274320"/>
          </a:xfrm>
          <a:prstGeom prst="rect">
            <a:avLst/>
          </a:prstGeom>
          <a:noFill/>
          <a:ln/>
        </p:spPr>
        <p:txBody>
          <a:bodyPr wrap="square" lIns="0" tIns="0" rIns="0" bIns="0" rtlCol="0" anchor="ctr"/>
          <a:lstStyle/>
          <a:p>
            <a:pPr indent="0" marL="0">
              <a:buNone/>
            </a:pPr>
            <a:r>
              <a:rPr lang="en-US" sz="900" dirty="0">
                <a:solidFill>
                  <a:srgbClr val="6B7A85"/>
                </a:solidFill>
                <a:latin typeface="Calibri" pitchFamily="34" charset="0"/>
                <a:ea typeface="Calibri" pitchFamily="34" charset="-122"/>
                <a:cs typeface="Calibri" pitchFamily="34" charset="-120"/>
              </a:rPr>
              <a:t>The series is the Kolmogorov limiting distribution. Implementation: scipy.stats.kstest against a uniform reference. Our claims share conditioning sets, so read P as a ranking between graphs, not as an exact level.</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2E7D8A"/>
                </a:solidFill>
                <a:latin typeface="Calibri" pitchFamily="34" charset="0"/>
                <a:ea typeface="Calibri" pitchFamily="34" charset="-122"/>
                <a:cs typeface="Calibri" pitchFamily="34" charset="-120"/>
              </a:rPr>
              <a:t>QUESTION 3 - METHOD 2</a:t>
            </a:r>
            <a:endParaRPr lang="en-US" sz="1100" dirty="0"/>
          </a:p>
        </p:txBody>
      </p:sp>
      <p:sp>
        <p:nvSpPr>
          <p:cNvPr id="3" name="Text 1"/>
          <p:cNvSpPr/>
          <p:nvPr/>
        </p:nvSpPr>
        <p:spPr>
          <a:xfrm>
            <a:off x="640080" y="658368"/>
            <a:ext cx="10881360" cy="868680"/>
          </a:xfrm>
          <a:prstGeom prst="rect">
            <a:avLst/>
          </a:prstGeom>
          <a:noFill/>
          <a:ln/>
        </p:spPr>
        <p:txBody>
          <a:bodyPr wrap="square" lIns="0" tIns="0" rIns="0" bIns="0" rtlCol="0" anchor="t"/>
          <a:lstStyle/>
          <a:p>
            <a:pPr indent="0" marL="0">
              <a:buNone/>
            </a:pPr>
            <a:r>
              <a:rPr lang="en-US" sz="3000" b="1" dirty="0">
                <a:solidFill>
                  <a:srgbClr val="16232E"/>
                </a:solidFill>
                <a:latin typeface="Cambria" pitchFamily="34" charset="0"/>
                <a:ea typeface="Cambria" pitchFamily="34" charset="-122"/>
                <a:cs typeface="Cambria" pitchFamily="34" charset="-120"/>
              </a:rPr>
              <a:t>If the edges are right, they predict data the graph never saw</a:t>
            </a:r>
            <a:endParaRPr lang="en-US" sz="3000" dirty="0"/>
          </a:p>
        </p:txBody>
      </p:sp>
      <p:graphicFrame>
        <p:nvGraphicFramePr>
          <p:cNvPr id="4" name="Chart 0" descr=""/>
          <p:cNvGraphicFramePr/>
          <p:nvPr/>
        </p:nvGraphicFramePr>
        <p:xfrm>
          <a:off x="640080" y="1783080"/>
          <a:ext cx="5943600" cy="30175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858000" y="1783080"/>
            <a:ext cx="4663440" cy="1417320"/>
          </a:xfrm>
          <a:prstGeom prst="roundRect">
            <a:avLst>
              <a:gd name="adj" fmla="val 5161"/>
            </a:avLst>
          </a:prstGeom>
          <a:solidFill>
            <a:srgbClr val="E6EDF0"/>
          </a:solidFill>
          <a:ln w="12700">
            <a:solidFill>
              <a:srgbClr val="E6EDF0"/>
            </a:solidFill>
            <a:prstDash val="solid"/>
          </a:ln>
        </p:spPr>
      </p:sp>
      <p:sp>
        <p:nvSpPr>
          <p:cNvPr id="6" name="Text 3"/>
          <p:cNvSpPr/>
          <p:nvPr/>
        </p:nvSpPr>
        <p:spPr>
          <a:xfrm>
            <a:off x="7132320" y="1920240"/>
            <a:ext cx="4114800" cy="320040"/>
          </a:xfrm>
          <a:prstGeom prst="rect">
            <a:avLst/>
          </a:prstGeom>
          <a:noFill/>
          <a:ln/>
        </p:spPr>
        <p:txBody>
          <a:bodyPr wrap="square" lIns="0" tIns="0" rIns="0" bIns="0" rtlCol="0" anchor="ctr"/>
          <a:lstStyle/>
          <a:p>
            <a:pPr indent="0" marL="0">
              <a:buNone/>
            </a:pPr>
            <a:r>
              <a:rPr lang="en-US" sz="1200" b="1" dirty="0">
                <a:solidFill>
                  <a:srgbClr val="2E7D8A"/>
                </a:solidFill>
                <a:latin typeface="Calibri" pitchFamily="34" charset="0"/>
                <a:ea typeface="Calibri" pitchFamily="34" charset="-122"/>
                <a:cs typeface="Calibri" pitchFamily="34" charset="-120"/>
              </a:rPr>
              <a:t>Split the data by time, never at random</a:t>
            </a:r>
            <a:endParaRPr lang="en-US" sz="1200" dirty="0"/>
          </a:p>
        </p:txBody>
      </p:sp>
      <p:sp>
        <p:nvSpPr>
          <p:cNvPr id="7" name="Text 4"/>
          <p:cNvSpPr/>
          <p:nvPr/>
        </p:nvSpPr>
        <p:spPr>
          <a:xfrm>
            <a:off x="7132320" y="2267712"/>
            <a:ext cx="4160520" cy="822960"/>
          </a:xfrm>
          <a:prstGeom prst="rect">
            <a:avLst/>
          </a:prstGeom>
          <a:noFill/>
          <a:ln/>
        </p:spPr>
        <p:txBody>
          <a:bodyPr wrap="square" lIns="0" tIns="0" rIns="0" bIns="0" rtlCol="0" anchor="t"/>
          <a:lstStyle/>
          <a:p>
            <a:pPr indent="0" marL="0">
              <a:lnSpc>
                <a:spcPts val="1600"/>
              </a:lnSpc>
              <a:buNone/>
            </a:pPr>
            <a:r>
              <a:rPr lang="en-US" sz="1200" dirty="0">
                <a:solidFill>
                  <a:srgbClr val="24363F"/>
                </a:solidFill>
                <a:latin typeface="Calibri" pitchFamily="34" charset="0"/>
                <a:ea typeface="Calibri" pitchFamily="34" charset="-122"/>
                <a:cs typeface="Calibri" pitchFamily="34" charset="-120"/>
              </a:rPr>
              <a:t>Random folds put row t in training and row t+1 in testing. Those two rows are near copies, so the error looks better than it is.</a:t>
            </a:r>
            <a:endParaRPr lang="en-US" sz="1200" dirty="0"/>
          </a:p>
        </p:txBody>
      </p:sp>
      <p:sp>
        <p:nvSpPr>
          <p:cNvPr id="8" name="Shape 5"/>
          <p:cNvSpPr/>
          <p:nvPr/>
        </p:nvSpPr>
        <p:spPr>
          <a:xfrm>
            <a:off x="6858000" y="3383280"/>
            <a:ext cx="4663440" cy="1417320"/>
          </a:xfrm>
          <a:prstGeom prst="roundRect">
            <a:avLst>
              <a:gd name="adj" fmla="val 5161"/>
            </a:avLst>
          </a:prstGeom>
          <a:solidFill>
            <a:srgbClr val="F7E6D6"/>
          </a:solidFill>
          <a:ln w="12700">
            <a:solidFill>
              <a:srgbClr val="F7E6D6"/>
            </a:solidFill>
            <a:prstDash val="solid"/>
          </a:ln>
        </p:spPr>
      </p:sp>
      <p:sp>
        <p:nvSpPr>
          <p:cNvPr id="9" name="Text 6"/>
          <p:cNvSpPr/>
          <p:nvPr/>
        </p:nvSpPr>
        <p:spPr>
          <a:xfrm>
            <a:off x="7132320" y="3520440"/>
            <a:ext cx="4114800" cy="320040"/>
          </a:xfrm>
          <a:prstGeom prst="rect">
            <a:avLst/>
          </a:prstGeom>
          <a:noFill/>
          <a:ln/>
        </p:spPr>
        <p:txBody>
          <a:bodyPr wrap="square" lIns="0" tIns="0" rIns="0" bIns="0" rtlCol="0" anchor="ctr"/>
          <a:lstStyle/>
          <a:p>
            <a:pPr indent="0" marL="0">
              <a:buNone/>
            </a:pPr>
            <a:r>
              <a:rPr lang="en-US" sz="1200" b="1" dirty="0">
                <a:solidFill>
                  <a:srgbClr val="8A4A16"/>
                </a:solidFill>
                <a:latin typeface="Calibri" pitchFamily="34" charset="0"/>
                <a:ea typeface="Calibri" pitchFamily="34" charset="-122"/>
                <a:cs typeface="Calibri" pitchFamily="34" charset="-120"/>
              </a:rPr>
              <a:t>The density penalty is not optional</a:t>
            </a:r>
            <a:endParaRPr lang="en-US" sz="1200" dirty="0"/>
          </a:p>
        </p:txBody>
      </p:sp>
      <p:sp>
        <p:nvSpPr>
          <p:cNvPr id="10" name="Text 7"/>
          <p:cNvSpPr/>
          <p:nvPr/>
        </p:nvSpPr>
        <p:spPr>
          <a:xfrm>
            <a:off x="7132320" y="3867912"/>
            <a:ext cx="4160520" cy="822960"/>
          </a:xfrm>
          <a:prstGeom prst="rect">
            <a:avLst/>
          </a:prstGeom>
          <a:noFill/>
          <a:ln/>
        </p:spPr>
        <p:txBody>
          <a:bodyPr wrap="square" lIns="0" tIns="0" rIns="0" bIns="0" rtlCol="0" anchor="t"/>
          <a:lstStyle/>
          <a:p>
            <a:pPr indent="0" marL="0">
              <a:lnSpc>
                <a:spcPts val="1600"/>
              </a:lnSpc>
              <a:buNone/>
            </a:pPr>
            <a:r>
              <a:rPr lang="en-US" sz="1200" dirty="0">
                <a:solidFill>
                  <a:srgbClr val="6E3D14"/>
                </a:solidFill>
                <a:latin typeface="Calibri" pitchFamily="34" charset="0"/>
                <a:ea typeface="Calibri" pitchFamily="34" charset="-122"/>
                <a:cs typeface="Calibri" pitchFamily="34" charset="-120"/>
              </a:rPr>
              <a:t>A denser graph gives every node more predictors, so it always predicts better. Add lambda times the edge count, with lambda = log(n) / 2.</a:t>
            </a:r>
            <a:endParaRPr lang="en-US" sz="1200" dirty="0"/>
          </a:p>
        </p:txBody>
      </p:sp>
      <p:sp>
        <p:nvSpPr>
          <p:cNvPr id="11" name="Shape 8"/>
          <p:cNvSpPr/>
          <p:nvPr/>
        </p:nvSpPr>
        <p:spPr>
          <a:xfrm>
            <a:off x="640080" y="4983480"/>
            <a:ext cx="10881360" cy="1005840"/>
          </a:xfrm>
          <a:prstGeom prst="roundRect">
            <a:avLst>
              <a:gd name="adj" fmla="val 7273"/>
            </a:avLst>
          </a:prstGeom>
          <a:solidFill>
            <a:srgbClr val="24363F"/>
          </a:solidFill>
          <a:ln w="12700">
            <a:solidFill>
              <a:srgbClr val="24363F"/>
            </a:solidFill>
            <a:prstDash val="solid"/>
          </a:ln>
        </p:spPr>
      </p:sp>
      <p:sp>
        <p:nvSpPr>
          <p:cNvPr id="12" name="Text 9"/>
          <p:cNvSpPr/>
          <p:nvPr/>
        </p:nvSpPr>
        <p:spPr>
          <a:xfrm>
            <a:off x="914400" y="5102352"/>
            <a:ext cx="10332720" cy="777240"/>
          </a:xfrm>
          <a:prstGeom prst="rect">
            <a:avLst/>
          </a:prstGeom>
          <a:noFill/>
          <a:ln/>
        </p:spPr>
        <p:txBody>
          <a:bodyPr wrap="square" lIns="0" tIns="0" rIns="0" bIns="0" rtlCol="0" anchor="ctr"/>
          <a:lstStyle/>
          <a:p>
            <a:pPr indent="0" marL="0">
              <a:lnSpc>
                <a:spcPts val="1800"/>
              </a:lnSpc>
              <a:buNone/>
            </a:pPr>
            <a:r>
              <a:rPr lang="en-US" sz="1300" dirty="0">
                <a:solidFill>
                  <a:srgbClr val="FFFFFF"/>
                </a:solidFill>
                <a:latin typeface="Calibri" pitchFamily="34" charset="0"/>
                <a:ea typeface="Calibri" pitchFamily="34" charset="-122"/>
                <a:cs typeface="Calibri" pitchFamily="34" charset="-120"/>
              </a:rPr>
              <a:t>Graph A scores 2.08. Graph B scores 2.11. Graph A wins by 0.03. Move lambda from 0.05 to 0.04 and Graph B wins instead. Report the range of lambda over which the ranking holds, or the result is not a result.</a:t>
            </a:r>
            <a:endParaRPr lang="en-US" sz="1300" dirty="0"/>
          </a:p>
        </p:txBody>
      </p:sp>
      <p:sp>
        <p:nvSpPr>
          <p:cNvPr id="13" name="Text 10"/>
          <p:cNvSpPr/>
          <p:nvPr/>
        </p:nvSpPr>
        <p:spPr>
          <a:xfrm>
            <a:off x="640080" y="6327648"/>
            <a:ext cx="10881360" cy="274320"/>
          </a:xfrm>
          <a:prstGeom prst="rect">
            <a:avLst/>
          </a:prstGeom>
          <a:noFill/>
          <a:ln/>
        </p:spPr>
        <p:txBody>
          <a:bodyPr wrap="square" lIns="0" tIns="0" rIns="0" bIns="0" rtlCol="0" anchor="ctr"/>
          <a:lstStyle/>
          <a:p>
            <a:pPr indent="0" marL="0">
              <a:buNone/>
            </a:pPr>
            <a:r>
              <a:rPr lang="en-US" sz="900" dirty="0">
                <a:solidFill>
                  <a:srgbClr val="6B7A85"/>
                </a:solidFill>
                <a:latin typeface="Calibri" pitchFamily="34" charset="0"/>
                <a:ea typeface="Calibri" pitchFamily="34" charset="-122"/>
                <a:cs typeface="Calibri" pitchFamily="34" charset="-120"/>
              </a:rPr>
              <a:t>Biza, Tsamardinos &amp; Triantafillou, IEEE TNNLS 35(4):4963-4973, 2024 | Chobtham &amp; Constantinou, arXiv:2306.13932, 2024 - arxiv.org/abs/2306.13932</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2E7D8A"/>
                </a:solidFill>
                <a:latin typeface="Calibri" pitchFamily="34" charset="0"/>
                <a:ea typeface="Calibri" pitchFamily="34" charset="-122"/>
                <a:cs typeface="Calibri" pitchFamily="34" charset="-120"/>
              </a:rPr>
              <a:t>QUESTION 3 - METHOD 3</a:t>
            </a:r>
            <a:endParaRPr lang="en-US" sz="1100" dirty="0"/>
          </a:p>
        </p:txBody>
      </p:sp>
      <p:sp>
        <p:nvSpPr>
          <p:cNvPr id="3" name="Text 1"/>
          <p:cNvSpPr/>
          <p:nvPr/>
        </p:nvSpPr>
        <p:spPr>
          <a:xfrm>
            <a:off x="640080" y="658368"/>
            <a:ext cx="10881360" cy="868680"/>
          </a:xfrm>
          <a:prstGeom prst="rect">
            <a:avLst/>
          </a:prstGeom>
          <a:noFill/>
          <a:ln/>
        </p:spPr>
        <p:txBody>
          <a:bodyPr wrap="square" lIns="0" tIns="0" rIns="0" bIns="0" rtlCol="0" anchor="t"/>
          <a:lstStyle/>
          <a:p>
            <a:pPr indent="0" marL="0">
              <a:buNone/>
            </a:pPr>
            <a:r>
              <a:rPr lang="en-US" sz="3000" b="1" dirty="0">
                <a:solidFill>
                  <a:srgbClr val="16232E"/>
                </a:solidFill>
                <a:latin typeface="Cambria" pitchFamily="34" charset="0"/>
                <a:ea typeface="Cambria" pitchFamily="34" charset="-122"/>
                <a:cs typeface="Cambria" pitchFamily="34" charset="-120"/>
              </a:rPr>
              <a:t>Resample the data and ask whether the same graph comes back</a:t>
            </a:r>
            <a:endParaRPr lang="en-US" sz="3000" dirty="0"/>
          </a:p>
        </p:txBody>
      </p:sp>
      <p:sp>
        <p:nvSpPr>
          <p:cNvPr id="4" name="Shape 2"/>
          <p:cNvSpPr/>
          <p:nvPr/>
        </p:nvSpPr>
        <p:spPr>
          <a:xfrm>
            <a:off x="640080" y="1783080"/>
            <a:ext cx="5120640" cy="594360"/>
          </a:xfrm>
          <a:prstGeom prst="roundRect">
            <a:avLst>
              <a:gd name="adj" fmla="val 12308"/>
            </a:avLst>
          </a:prstGeom>
          <a:solidFill>
            <a:srgbClr val="F0F3F5"/>
          </a:solidFill>
          <a:ln w="12700">
            <a:solidFill>
              <a:srgbClr val="F0F3F5"/>
            </a:solidFill>
            <a:prstDash val="solid"/>
          </a:ln>
        </p:spPr>
      </p:sp>
      <p:sp>
        <p:nvSpPr>
          <p:cNvPr id="5" name="Text 3"/>
          <p:cNvSpPr/>
          <p:nvPr/>
        </p:nvSpPr>
        <p:spPr>
          <a:xfrm>
            <a:off x="914400" y="1783080"/>
            <a:ext cx="2011680" cy="594360"/>
          </a:xfrm>
          <a:prstGeom prst="rect">
            <a:avLst/>
          </a:prstGeom>
          <a:noFill/>
          <a:ln/>
        </p:spPr>
        <p:txBody>
          <a:bodyPr wrap="square" lIns="0" tIns="0" rIns="0" bIns="0" rtlCol="0" anchor="ctr"/>
          <a:lstStyle/>
          <a:p>
            <a:pPr indent="0" marL="0">
              <a:buNone/>
            </a:pPr>
            <a:r>
              <a:rPr lang="en-US" sz="1250" b="1" dirty="0">
                <a:solidFill>
                  <a:srgbClr val="16232E"/>
                </a:solidFill>
                <a:latin typeface="Calibri" pitchFamily="34" charset="0"/>
                <a:ea typeface="Calibri" pitchFamily="34" charset="-122"/>
                <a:cs typeface="Calibri" pitchFamily="34" charset="-120"/>
              </a:rPr>
              <a:t>No edge</a:t>
            </a:r>
            <a:endParaRPr lang="en-US" sz="1250" dirty="0"/>
          </a:p>
        </p:txBody>
      </p:sp>
      <p:sp>
        <p:nvSpPr>
          <p:cNvPr id="6" name="Text 4"/>
          <p:cNvSpPr/>
          <p:nvPr/>
        </p:nvSpPr>
        <p:spPr>
          <a:xfrm>
            <a:off x="2926080" y="1783080"/>
            <a:ext cx="2651760" cy="594360"/>
          </a:xfrm>
          <a:prstGeom prst="rect">
            <a:avLst/>
          </a:prstGeom>
          <a:noFill/>
          <a:ln/>
        </p:spPr>
        <p:txBody>
          <a:bodyPr wrap="square" lIns="0" tIns="0" rIns="0" bIns="0" rtlCol="0" anchor="ctr"/>
          <a:lstStyle/>
          <a:p>
            <a:pPr indent="0" marL="0">
              <a:buNone/>
            </a:pPr>
            <a:r>
              <a:rPr lang="en-US" sz="1150" dirty="0">
                <a:solidFill>
                  <a:srgbClr val="6B7A85"/>
                </a:solidFill>
                <a:latin typeface="Calibri" pitchFamily="34" charset="0"/>
                <a:ea typeface="Calibri" pitchFamily="34" charset="-122"/>
                <a:cs typeface="Calibri" pitchFamily="34" charset="-120"/>
              </a:rPr>
              <a:t>The pair is not connected.</a:t>
            </a:r>
            <a:endParaRPr lang="en-US" sz="1150" dirty="0"/>
          </a:p>
        </p:txBody>
      </p:sp>
      <p:sp>
        <p:nvSpPr>
          <p:cNvPr id="7" name="Shape 5"/>
          <p:cNvSpPr/>
          <p:nvPr/>
        </p:nvSpPr>
        <p:spPr>
          <a:xfrm>
            <a:off x="640080" y="2496312"/>
            <a:ext cx="5120640" cy="594360"/>
          </a:xfrm>
          <a:prstGeom prst="roundRect">
            <a:avLst>
              <a:gd name="adj" fmla="val 12308"/>
            </a:avLst>
          </a:prstGeom>
          <a:solidFill>
            <a:srgbClr val="E6EDF0"/>
          </a:solidFill>
          <a:ln w="12700">
            <a:solidFill>
              <a:srgbClr val="E6EDF0"/>
            </a:solidFill>
            <a:prstDash val="solid"/>
          </a:ln>
        </p:spPr>
      </p:sp>
      <p:sp>
        <p:nvSpPr>
          <p:cNvPr id="8" name="Text 6"/>
          <p:cNvSpPr/>
          <p:nvPr/>
        </p:nvSpPr>
        <p:spPr>
          <a:xfrm>
            <a:off x="914400" y="2496312"/>
            <a:ext cx="2011680" cy="594360"/>
          </a:xfrm>
          <a:prstGeom prst="rect">
            <a:avLst/>
          </a:prstGeom>
          <a:noFill/>
          <a:ln/>
        </p:spPr>
        <p:txBody>
          <a:bodyPr wrap="square" lIns="0" tIns="0" rIns="0" bIns="0" rtlCol="0" anchor="ctr"/>
          <a:lstStyle/>
          <a:p>
            <a:pPr indent="0" marL="0">
              <a:buNone/>
            </a:pPr>
            <a:r>
              <a:rPr lang="en-US" sz="1250" b="1" dirty="0">
                <a:solidFill>
                  <a:srgbClr val="16232E"/>
                </a:solidFill>
                <a:latin typeface="Calibri" pitchFamily="34" charset="0"/>
                <a:ea typeface="Calibri" pitchFamily="34" charset="-122"/>
                <a:cs typeface="Calibri" pitchFamily="34" charset="-120"/>
              </a:rPr>
              <a:t>Undirected</a:t>
            </a:r>
            <a:endParaRPr lang="en-US" sz="1250" dirty="0"/>
          </a:p>
        </p:txBody>
      </p:sp>
      <p:sp>
        <p:nvSpPr>
          <p:cNvPr id="9" name="Text 7"/>
          <p:cNvSpPr/>
          <p:nvPr/>
        </p:nvSpPr>
        <p:spPr>
          <a:xfrm>
            <a:off x="2926080" y="2496312"/>
            <a:ext cx="2651760" cy="594360"/>
          </a:xfrm>
          <a:prstGeom prst="rect">
            <a:avLst/>
          </a:prstGeom>
          <a:noFill/>
          <a:ln/>
        </p:spPr>
        <p:txBody>
          <a:bodyPr wrap="square" lIns="0" tIns="0" rIns="0" bIns="0" rtlCol="0" anchor="ctr"/>
          <a:lstStyle/>
          <a:p>
            <a:pPr indent="0" marL="0">
              <a:buNone/>
            </a:pPr>
            <a:r>
              <a:rPr lang="en-US" sz="1150" dirty="0">
                <a:solidFill>
                  <a:srgbClr val="6B7A85"/>
                </a:solidFill>
                <a:latin typeface="Calibri" pitchFamily="34" charset="0"/>
                <a:ea typeface="Calibri" pitchFamily="34" charset="-122"/>
                <a:cs typeface="Calibri" pitchFamily="34" charset="-120"/>
              </a:rPr>
              <a:t>Connected, direction not assigned.</a:t>
            </a:r>
            <a:endParaRPr lang="en-US" sz="1150" dirty="0"/>
          </a:p>
        </p:txBody>
      </p:sp>
      <p:sp>
        <p:nvSpPr>
          <p:cNvPr id="10" name="Shape 8"/>
          <p:cNvSpPr/>
          <p:nvPr/>
        </p:nvSpPr>
        <p:spPr>
          <a:xfrm>
            <a:off x="640080" y="3209544"/>
            <a:ext cx="5120640" cy="594360"/>
          </a:xfrm>
          <a:prstGeom prst="roundRect">
            <a:avLst>
              <a:gd name="adj" fmla="val 12308"/>
            </a:avLst>
          </a:prstGeom>
          <a:solidFill>
            <a:srgbClr val="F0F3F5"/>
          </a:solidFill>
          <a:ln w="12700">
            <a:solidFill>
              <a:srgbClr val="F0F3F5"/>
            </a:solidFill>
            <a:prstDash val="solid"/>
          </a:ln>
        </p:spPr>
      </p:sp>
      <p:sp>
        <p:nvSpPr>
          <p:cNvPr id="11" name="Text 9"/>
          <p:cNvSpPr/>
          <p:nvPr/>
        </p:nvSpPr>
        <p:spPr>
          <a:xfrm>
            <a:off x="914400" y="3209544"/>
            <a:ext cx="2011680" cy="594360"/>
          </a:xfrm>
          <a:prstGeom prst="rect">
            <a:avLst/>
          </a:prstGeom>
          <a:noFill/>
          <a:ln/>
        </p:spPr>
        <p:txBody>
          <a:bodyPr wrap="square" lIns="0" tIns="0" rIns="0" bIns="0" rtlCol="0" anchor="ctr"/>
          <a:lstStyle/>
          <a:p>
            <a:pPr indent="0" marL="0">
              <a:buNone/>
            </a:pPr>
            <a:r>
              <a:rPr lang="en-US" sz="1250" b="1" dirty="0">
                <a:solidFill>
                  <a:srgbClr val="16232E"/>
                </a:solidFill>
                <a:latin typeface="Calibri" pitchFamily="34" charset="0"/>
                <a:ea typeface="Calibri" pitchFamily="34" charset="-122"/>
                <a:cs typeface="Calibri" pitchFamily="34" charset="-120"/>
              </a:rPr>
              <a:t>Points one way</a:t>
            </a:r>
            <a:endParaRPr lang="en-US" sz="1250" dirty="0"/>
          </a:p>
        </p:txBody>
      </p:sp>
      <p:sp>
        <p:nvSpPr>
          <p:cNvPr id="12" name="Text 10"/>
          <p:cNvSpPr/>
          <p:nvPr/>
        </p:nvSpPr>
        <p:spPr>
          <a:xfrm>
            <a:off x="2926080" y="3209544"/>
            <a:ext cx="2651760" cy="594360"/>
          </a:xfrm>
          <a:prstGeom prst="rect">
            <a:avLst/>
          </a:prstGeom>
          <a:noFill/>
          <a:ln/>
        </p:spPr>
        <p:txBody>
          <a:bodyPr wrap="square" lIns="0" tIns="0" rIns="0" bIns="0" rtlCol="0" anchor="ctr"/>
          <a:lstStyle/>
          <a:p>
            <a:pPr indent="0" marL="0">
              <a:buNone/>
            </a:pPr>
            <a:r>
              <a:rPr lang="en-US" sz="1150" dirty="0">
                <a:solidFill>
                  <a:srgbClr val="6B7A85"/>
                </a:solidFill>
                <a:latin typeface="Calibri" pitchFamily="34" charset="0"/>
                <a:ea typeface="Calibri" pitchFamily="34" charset="-122"/>
                <a:cs typeface="Calibri" pitchFamily="34" charset="-120"/>
              </a:rPr>
              <a:t>Oriented left to right.</a:t>
            </a:r>
            <a:endParaRPr lang="en-US" sz="1150" dirty="0"/>
          </a:p>
        </p:txBody>
      </p:sp>
      <p:sp>
        <p:nvSpPr>
          <p:cNvPr id="13" name="Shape 11"/>
          <p:cNvSpPr/>
          <p:nvPr/>
        </p:nvSpPr>
        <p:spPr>
          <a:xfrm>
            <a:off x="640080" y="3922776"/>
            <a:ext cx="5120640" cy="594360"/>
          </a:xfrm>
          <a:prstGeom prst="roundRect">
            <a:avLst>
              <a:gd name="adj" fmla="val 12308"/>
            </a:avLst>
          </a:prstGeom>
          <a:solidFill>
            <a:srgbClr val="E6EDF0"/>
          </a:solidFill>
          <a:ln w="12700">
            <a:solidFill>
              <a:srgbClr val="E6EDF0"/>
            </a:solidFill>
            <a:prstDash val="solid"/>
          </a:ln>
        </p:spPr>
      </p:sp>
      <p:sp>
        <p:nvSpPr>
          <p:cNvPr id="14" name="Text 12"/>
          <p:cNvSpPr/>
          <p:nvPr/>
        </p:nvSpPr>
        <p:spPr>
          <a:xfrm>
            <a:off x="914400" y="3922776"/>
            <a:ext cx="2011680" cy="594360"/>
          </a:xfrm>
          <a:prstGeom prst="rect">
            <a:avLst/>
          </a:prstGeom>
          <a:noFill/>
          <a:ln/>
        </p:spPr>
        <p:txBody>
          <a:bodyPr wrap="square" lIns="0" tIns="0" rIns="0" bIns="0" rtlCol="0" anchor="ctr"/>
          <a:lstStyle/>
          <a:p>
            <a:pPr indent="0" marL="0">
              <a:buNone/>
            </a:pPr>
            <a:r>
              <a:rPr lang="en-US" sz="1250" b="1" dirty="0">
                <a:solidFill>
                  <a:srgbClr val="16232E"/>
                </a:solidFill>
                <a:latin typeface="Calibri" pitchFamily="34" charset="0"/>
                <a:ea typeface="Calibri" pitchFamily="34" charset="-122"/>
                <a:cs typeface="Calibri" pitchFamily="34" charset="-120"/>
              </a:rPr>
              <a:t>Points the other way</a:t>
            </a:r>
            <a:endParaRPr lang="en-US" sz="1250" dirty="0"/>
          </a:p>
        </p:txBody>
      </p:sp>
      <p:sp>
        <p:nvSpPr>
          <p:cNvPr id="15" name="Text 13"/>
          <p:cNvSpPr/>
          <p:nvPr/>
        </p:nvSpPr>
        <p:spPr>
          <a:xfrm>
            <a:off x="2926080" y="3922776"/>
            <a:ext cx="2651760" cy="594360"/>
          </a:xfrm>
          <a:prstGeom prst="rect">
            <a:avLst/>
          </a:prstGeom>
          <a:noFill/>
          <a:ln/>
        </p:spPr>
        <p:txBody>
          <a:bodyPr wrap="square" lIns="0" tIns="0" rIns="0" bIns="0" rtlCol="0" anchor="ctr"/>
          <a:lstStyle/>
          <a:p>
            <a:pPr indent="0" marL="0">
              <a:buNone/>
            </a:pPr>
            <a:r>
              <a:rPr lang="en-US" sz="1150" dirty="0">
                <a:solidFill>
                  <a:srgbClr val="6B7A85"/>
                </a:solidFill>
                <a:latin typeface="Calibri" pitchFamily="34" charset="0"/>
                <a:ea typeface="Calibri" pitchFamily="34" charset="-122"/>
                <a:cs typeface="Calibri" pitchFamily="34" charset="-120"/>
              </a:rPr>
              <a:t>Oriented right to left.</a:t>
            </a:r>
            <a:endParaRPr lang="en-US" sz="1150" dirty="0"/>
          </a:p>
        </p:txBody>
      </p:sp>
      <p:sp>
        <p:nvSpPr>
          <p:cNvPr id="16" name="Text 14"/>
          <p:cNvSpPr/>
          <p:nvPr/>
        </p:nvSpPr>
        <p:spPr>
          <a:xfrm>
            <a:off x="640080" y="4663440"/>
            <a:ext cx="5120640" cy="548640"/>
          </a:xfrm>
          <a:prstGeom prst="rect">
            <a:avLst/>
          </a:prstGeom>
          <a:noFill/>
          <a:ln/>
        </p:spPr>
        <p:txBody>
          <a:bodyPr wrap="square" lIns="0" tIns="0" rIns="0" bIns="0" rtlCol="0" anchor="t"/>
          <a:lstStyle/>
          <a:p>
            <a:pPr indent="0" marL="0">
              <a:lnSpc>
                <a:spcPts val="1600"/>
              </a:lnSpc>
              <a:buNone/>
            </a:pPr>
            <a:r>
              <a:rPr lang="en-US" sz="1200" i="1" dirty="0">
                <a:solidFill>
                  <a:srgbClr val="2E7D8A"/>
                </a:solidFill>
                <a:latin typeface="Calibri" pitchFamily="34" charset="0"/>
                <a:ea typeface="Calibri" pitchFamily="34" charset="-122"/>
                <a:cs typeface="Calibri" pitchFamily="34" charset="-120"/>
              </a:rPr>
              <a:t>Do not merge undirected with reversed. One is abstention. The other is contradiction.</a:t>
            </a:r>
            <a:endParaRPr lang="en-US" sz="1200" dirty="0"/>
          </a:p>
        </p:txBody>
      </p:sp>
      <p:graphicFrame>
        <p:nvGraphicFramePr>
          <p:cNvPr id="17" name="Chart 0" descr=""/>
          <p:cNvGraphicFramePr/>
          <p:nvPr/>
        </p:nvGraphicFramePr>
        <p:xfrm>
          <a:off x="6035040" y="1737360"/>
          <a:ext cx="3108960" cy="2926080"/>
        </p:xfrm>
        <a:graphic xmlns:a="http://schemas.openxmlformats.org/drawingml/2006/main">
          <a:graphicData uri="http://schemas.openxmlformats.org/drawingml/2006/chart">
            <c:chart xmlns:c="http://schemas.openxmlformats.org/drawingml/2006/chart" r:id="rId1"/>
          </a:graphicData>
        </a:graphic>
      </p:graphicFrame>
      <p:sp>
        <p:nvSpPr>
          <p:cNvPr id="18" name="Shape 15"/>
          <p:cNvSpPr/>
          <p:nvPr/>
        </p:nvSpPr>
        <p:spPr>
          <a:xfrm>
            <a:off x="9281160" y="1737360"/>
            <a:ext cx="2240280" cy="2926080"/>
          </a:xfrm>
          <a:prstGeom prst="roundRect">
            <a:avLst>
              <a:gd name="adj" fmla="val 3265"/>
            </a:avLst>
          </a:prstGeom>
          <a:solidFill>
            <a:srgbClr val="E6EDF0"/>
          </a:solidFill>
          <a:ln w="12700">
            <a:solidFill>
              <a:srgbClr val="E6EDF0"/>
            </a:solidFill>
            <a:prstDash val="solid"/>
          </a:ln>
        </p:spPr>
      </p:sp>
      <p:sp>
        <p:nvSpPr>
          <p:cNvPr id="19" name="Text 16"/>
          <p:cNvSpPr/>
          <p:nvPr/>
        </p:nvSpPr>
        <p:spPr>
          <a:xfrm>
            <a:off x="9509760" y="1965960"/>
            <a:ext cx="1828800" cy="274320"/>
          </a:xfrm>
          <a:prstGeom prst="rect">
            <a:avLst/>
          </a:prstGeom>
          <a:noFill/>
          <a:ln/>
        </p:spPr>
        <p:txBody>
          <a:bodyPr wrap="square" lIns="0" tIns="0" rIns="0" bIns="0" rtlCol="0" anchor="ctr"/>
          <a:lstStyle/>
          <a:p>
            <a:pPr indent="0" marL="0">
              <a:buNone/>
            </a:pPr>
            <a:r>
              <a:rPr lang="en-US" sz="1100" b="1" spc="100" kern="0" dirty="0">
                <a:solidFill>
                  <a:srgbClr val="2E7D8A"/>
                </a:solidFill>
                <a:latin typeface="Calibri" pitchFamily="34" charset="0"/>
                <a:ea typeface="Calibri" pitchFamily="34" charset="-122"/>
                <a:cs typeface="Calibri" pitchFamily="34" charset="-120"/>
              </a:rPr>
              <a:t>Stability score</a:t>
            </a:r>
            <a:endParaRPr lang="en-US" sz="1100" dirty="0"/>
          </a:p>
        </p:txBody>
      </p:sp>
      <p:sp>
        <p:nvSpPr>
          <p:cNvPr id="20" name="Text 17"/>
          <p:cNvSpPr/>
          <p:nvPr/>
        </p:nvSpPr>
        <p:spPr>
          <a:xfrm>
            <a:off x="9509760" y="2286000"/>
            <a:ext cx="1828800" cy="731520"/>
          </a:xfrm>
          <a:prstGeom prst="rect">
            <a:avLst/>
          </a:prstGeom>
          <a:noFill/>
          <a:ln/>
        </p:spPr>
        <p:txBody>
          <a:bodyPr wrap="square" lIns="0" tIns="0" rIns="0" bIns="0" rtlCol="0" anchor="ctr"/>
          <a:lstStyle/>
          <a:p>
            <a:pPr indent="0" marL="0">
              <a:buNone/>
            </a:pPr>
            <a:r>
              <a:rPr lang="en-US" sz="4000" b="1" dirty="0">
                <a:solidFill>
                  <a:srgbClr val="16232E"/>
                </a:solidFill>
                <a:latin typeface="Cambria" pitchFamily="34" charset="0"/>
                <a:ea typeface="Cambria" pitchFamily="34" charset="-122"/>
                <a:cs typeface="Cambria" pitchFamily="34" charset="-120"/>
              </a:rPr>
              <a:t>0.42</a:t>
            </a:r>
            <a:endParaRPr lang="en-US" sz="4000" dirty="0"/>
          </a:p>
        </p:txBody>
      </p:sp>
      <p:sp>
        <p:nvSpPr>
          <p:cNvPr id="21" name="Text 18"/>
          <p:cNvSpPr/>
          <p:nvPr/>
        </p:nvSpPr>
        <p:spPr>
          <a:xfrm>
            <a:off x="9509760" y="3108960"/>
            <a:ext cx="1828800" cy="1371600"/>
          </a:xfrm>
          <a:prstGeom prst="rect">
            <a:avLst/>
          </a:prstGeom>
          <a:noFill/>
          <a:ln/>
        </p:spPr>
        <p:txBody>
          <a:bodyPr wrap="square" lIns="0" tIns="0" rIns="0" bIns="0" rtlCol="0" anchor="t"/>
          <a:lstStyle/>
          <a:p>
            <a:pPr indent="0" marL="0">
              <a:lnSpc>
                <a:spcPts val="1500"/>
              </a:lnSpc>
              <a:buNone/>
            </a:pPr>
            <a:r>
              <a:rPr lang="en-US" sz="1100" dirty="0">
                <a:solidFill>
                  <a:srgbClr val="24363F"/>
                </a:solidFill>
                <a:latin typeface="Calibri" pitchFamily="34" charset="0"/>
                <a:ea typeface="Calibri" pitchFamily="34" charset="-122"/>
                <a:cs typeface="Calibri" pitchFamily="34" charset="-120"/>
              </a:rPr>
              <a:t>1.0 means every run agreed. 0 means the four states came out equally often, so the algorithm is guessing.</a:t>
            </a:r>
            <a:endParaRPr lang="en-US" sz="1100" dirty="0"/>
          </a:p>
        </p:txBody>
      </p:sp>
      <p:sp>
        <p:nvSpPr>
          <p:cNvPr id="22" name="Shape 19"/>
          <p:cNvSpPr/>
          <p:nvPr/>
        </p:nvSpPr>
        <p:spPr>
          <a:xfrm>
            <a:off x="6035040" y="4800600"/>
            <a:ext cx="5486400" cy="1143000"/>
          </a:xfrm>
          <a:prstGeom prst="roundRect">
            <a:avLst>
              <a:gd name="adj" fmla="val 6400"/>
            </a:avLst>
          </a:prstGeom>
          <a:solidFill>
            <a:srgbClr val="F7E6D6"/>
          </a:solidFill>
          <a:ln w="12700">
            <a:solidFill>
              <a:srgbClr val="F7E6D6"/>
            </a:solidFill>
            <a:prstDash val="solid"/>
          </a:ln>
        </p:spPr>
      </p:sp>
      <p:sp>
        <p:nvSpPr>
          <p:cNvPr id="23" name="Text 20"/>
          <p:cNvSpPr/>
          <p:nvPr/>
        </p:nvSpPr>
        <p:spPr>
          <a:xfrm>
            <a:off x="6309360" y="4919472"/>
            <a:ext cx="4937760" cy="274320"/>
          </a:xfrm>
          <a:prstGeom prst="rect">
            <a:avLst/>
          </a:prstGeom>
          <a:noFill/>
          <a:ln/>
        </p:spPr>
        <p:txBody>
          <a:bodyPr wrap="square" lIns="0" tIns="0" rIns="0" bIns="0" rtlCol="0" anchor="ctr"/>
          <a:lstStyle/>
          <a:p>
            <a:pPr indent="0" marL="0">
              <a:buNone/>
            </a:pPr>
            <a:r>
              <a:rPr lang="en-US" sz="1200" b="1" dirty="0">
                <a:solidFill>
                  <a:srgbClr val="8A4A16"/>
                </a:solidFill>
                <a:latin typeface="Calibri" pitchFamily="34" charset="0"/>
                <a:ea typeface="Calibri" pitchFamily="34" charset="-122"/>
                <a:cs typeface="Calibri" pitchFamily="34" charset="-120"/>
              </a:rPr>
              <a:t>Stability is not correctness</a:t>
            </a:r>
            <a:endParaRPr lang="en-US" sz="1200" dirty="0"/>
          </a:p>
        </p:txBody>
      </p:sp>
      <p:sp>
        <p:nvSpPr>
          <p:cNvPr id="24" name="Text 21"/>
          <p:cNvSpPr/>
          <p:nvPr/>
        </p:nvSpPr>
        <p:spPr>
          <a:xfrm>
            <a:off x="6309360" y="5212080"/>
            <a:ext cx="4983480" cy="640080"/>
          </a:xfrm>
          <a:prstGeom prst="rect">
            <a:avLst/>
          </a:prstGeom>
          <a:noFill/>
          <a:ln/>
        </p:spPr>
        <p:txBody>
          <a:bodyPr wrap="square" lIns="0" tIns="0" rIns="0" bIns="0" rtlCol="0" anchor="t"/>
          <a:lstStyle/>
          <a:p>
            <a:pPr indent="0" marL="0">
              <a:lnSpc>
                <a:spcPts val="1500"/>
              </a:lnSpc>
              <a:buNone/>
            </a:pPr>
            <a:r>
              <a:rPr lang="en-US" sz="1150" dirty="0">
                <a:solidFill>
                  <a:srgbClr val="6E3D14"/>
                </a:solidFill>
                <a:latin typeface="Calibri" pitchFamily="34" charset="0"/>
                <a:ea typeface="Calibri" pitchFamily="34" charset="-122"/>
                <a:cs typeface="Calibri" pitchFamily="34" charset="-120"/>
              </a:rPr>
              <a:t>A spurious edge created by autocorrelation appears in every resample and scores as perfectly stable. Use this as evidence about sample size, never as evidence that an edge is real.</a:t>
            </a:r>
            <a:endParaRPr lang="en-US" sz="1150" dirty="0"/>
          </a:p>
        </p:txBody>
      </p:sp>
      <p:sp>
        <p:nvSpPr>
          <p:cNvPr id="25" name="Text 22"/>
          <p:cNvSpPr/>
          <p:nvPr/>
        </p:nvSpPr>
        <p:spPr>
          <a:xfrm>
            <a:off x="640080" y="6327648"/>
            <a:ext cx="10881360" cy="274320"/>
          </a:xfrm>
          <a:prstGeom prst="rect">
            <a:avLst/>
          </a:prstGeom>
          <a:noFill/>
          <a:ln/>
        </p:spPr>
        <p:txBody>
          <a:bodyPr wrap="square" lIns="0" tIns="0" rIns="0" bIns="0" rtlCol="0" anchor="ctr"/>
          <a:lstStyle/>
          <a:p>
            <a:pPr indent="0" marL="0">
              <a:buNone/>
            </a:pPr>
            <a:r>
              <a:rPr lang="en-US" sz="900" dirty="0">
                <a:solidFill>
                  <a:srgbClr val="6B7A85"/>
                </a:solidFill>
                <a:latin typeface="Calibri" pitchFamily="34" charset="0"/>
                <a:ea typeface="Calibri" pitchFamily="34" charset="-122"/>
                <a:cs typeface="Calibri" pitchFamily="34" charset="-120"/>
              </a:rPr>
              <a:t>Friedman, Goldszmidt &amp; Wyner, UAI 1999 - arxiv.org/abs/1301.6695 | Scutari &amp; Nagarajan, Artificial Intelligence in Medicine 57(3):207-217, 2013 | Use a block bootstrap, B = 200 to 500.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6232E"/>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E07A28"/>
                </a:solidFill>
                <a:latin typeface="Calibri" pitchFamily="34" charset="0"/>
                <a:ea typeface="Calibri" pitchFamily="34" charset="-122"/>
                <a:cs typeface="Calibri" pitchFamily="34" charset="-120"/>
              </a:rPr>
              <a:t>QUESTION 3 - THE PLAN</a:t>
            </a:r>
            <a:endParaRPr lang="en-US" sz="1100" dirty="0"/>
          </a:p>
        </p:txBody>
      </p:sp>
      <p:sp>
        <p:nvSpPr>
          <p:cNvPr id="3" name="Text 1"/>
          <p:cNvSpPr/>
          <p:nvPr/>
        </p:nvSpPr>
        <p:spPr>
          <a:xfrm>
            <a:off x="640080" y="658368"/>
            <a:ext cx="10881360" cy="86868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Run them in order, and fix the decision rule before you see the numbers</a:t>
            </a:r>
            <a:endParaRPr lang="en-US" sz="3000" dirty="0"/>
          </a:p>
        </p:txBody>
      </p:sp>
      <p:sp>
        <p:nvSpPr>
          <p:cNvPr id="4" name="Shape 2"/>
          <p:cNvSpPr/>
          <p:nvPr/>
        </p:nvSpPr>
        <p:spPr>
          <a:xfrm>
            <a:off x="640080" y="1783080"/>
            <a:ext cx="384048" cy="384048"/>
          </a:xfrm>
          <a:prstGeom prst="ellipse">
            <a:avLst/>
          </a:prstGeom>
          <a:solidFill>
            <a:srgbClr val="2E7D8A"/>
          </a:solidFill>
          <a:ln/>
        </p:spPr>
      </p:sp>
      <p:sp>
        <p:nvSpPr>
          <p:cNvPr id="5" name="Text 3"/>
          <p:cNvSpPr/>
          <p:nvPr/>
        </p:nvSpPr>
        <p:spPr>
          <a:xfrm>
            <a:off x="640080" y="17830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188720" y="1728216"/>
            <a:ext cx="5120640" cy="502920"/>
          </a:xfrm>
          <a:prstGeom prst="rect">
            <a:avLst/>
          </a:prstGeom>
          <a:noFill/>
          <a:ln/>
        </p:spPr>
        <p:txBody>
          <a:bodyPr wrap="square" lIns="0" tIns="0" rIns="0" bIns="0" rtlCol="0" anchor="ctr"/>
          <a:lstStyle/>
          <a:p>
            <a:pPr indent="0" marL="0">
              <a:lnSpc>
                <a:spcPts val="1700"/>
              </a:lnSpc>
              <a:buNone/>
            </a:pPr>
            <a:r>
              <a:rPr lang="en-US" sz="1300" dirty="0">
                <a:solidFill>
                  <a:srgbClr val="FFFFFF"/>
                </a:solidFill>
                <a:latin typeface="Calibri" pitchFamily="34" charset="0"/>
                <a:ea typeface="Calibri" pitchFamily="34" charset="-122"/>
                <a:cs typeface="Calibri" pitchFamily="34" charset="-120"/>
              </a:rPr>
              <a:t>Standardize every variable.</a:t>
            </a:r>
            <a:endParaRPr lang="en-US" sz="1300" dirty="0"/>
          </a:p>
        </p:txBody>
      </p:sp>
      <p:sp>
        <p:nvSpPr>
          <p:cNvPr id="7" name="Shape 5"/>
          <p:cNvSpPr/>
          <p:nvPr/>
        </p:nvSpPr>
        <p:spPr>
          <a:xfrm>
            <a:off x="640080" y="2441448"/>
            <a:ext cx="384048" cy="384048"/>
          </a:xfrm>
          <a:prstGeom prst="ellipse">
            <a:avLst/>
          </a:prstGeom>
          <a:solidFill>
            <a:srgbClr val="2E7D8A"/>
          </a:solidFill>
          <a:ln/>
        </p:spPr>
      </p:sp>
      <p:sp>
        <p:nvSpPr>
          <p:cNvPr id="8" name="Text 6"/>
          <p:cNvSpPr/>
          <p:nvPr/>
        </p:nvSpPr>
        <p:spPr>
          <a:xfrm>
            <a:off x="640080" y="24414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1188720" y="2386584"/>
            <a:ext cx="5120640" cy="502920"/>
          </a:xfrm>
          <a:prstGeom prst="rect">
            <a:avLst/>
          </a:prstGeom>
          <a:noFill/>
          <a:ln/>
        </p:spPr>
        <p:txBody>
          <a:bodyPr wrap="square" lIns="0" tIns="0" rIns="0" bIns="0" rtlCol="0" anchor="ctr"/>
          <a:lstStyle/>
          <a:p>
            <a:pPr indent="0" marL="0">
              <a:lnSpc>
                <a:spcPts val="1700"/>
              </a:lnSpc>
              <a:buNone/>
            </a:pPr>
            <a:r>
              <a:rPr lang="en-US" sz="1300" dirty="0">
                <a:solidFill>
                  <a:srgbClr val="FFFFFF"/>
                </a:solidFill>
                <a:latin typeface="Calibri" pitchFamily="34" charset="0"/>
                <a:ea typeface="Calibri" pitchFamily="34" charset="-122"/>
                <a:cs typeface="Calibri" pitchFamily="34" charset="-120"/>
              </a:rPr>
              <a:t>Run method 1 on both graphs. If one fails the Markov test, stop there.</a:t>
            </a:r>
            <a:endParaRPr lang="en-US" sz="1300" dirty="0"/>
          </a:p>
        </p:txBody>
      </p:sp>
      <p:sp>
        <p:nvSpPr>
          <p:cNvPr id="10" name="Shape 8"/>
          <p:cNvSpPr/>
          <p:nvPr/>
        </p:nvSpPr>
        <p:spPr>
          <a:xfrm>
            <a:off x="640080" y="3099816"/>
            <a:ext cx="384048" cy="384048"/>
          </a:xfrm>
          <a:prstGeom prst="ellipse">
            <a:avLst/>
          </a:prstGeom>
          <a:solidFill>
            <a:srgbClr val="2E7D8A"/>
          </a:solidFill>
          <a:ln/>
        </p:spPr>
      </p:sp>
      <p:sp>
        <p:nvSpPr>
          <p:cNvPr id="11" name="Text 9"/>
          <p:cNvSpPr/>
          <p:nvPr/>
        </p:nvSpPr>
        <p:spPr>
          <a:xfrm>
            <a:off x="640080" y="30998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1188720" y="3044952"/>
            <a:ext cx="5120640" cy="502920"/>
          </a:xfrm>
          <a:prstGeom prst="rect">
            <a:avLst/>
          </a:prstGeom>
          <a:noFill/>
          <a:ln/>
        </p:spPr>
        <p:txBody>
          <a:bodyPr wrap="square" lIns="0" tIns="0" rIns="0" bIns="0" rtlCol="0" anchor="ctr"/>
          <a:lstStyle/>
          <a:p>
            <a:pPr indent="0" marL="0">
              <a:lnSpc>
                <a:spcPts val="1700"/>
              </a:lnSpc>
              <a:buNone/>
            </a:pPr>
            <a:r>
              <a:rPr lang="en-US" sz="1300" dirty="0">
                <a:solidFill>
                  <a:srgbClr val="FFFFFF"/>
                </a:solidFill>
                <a:latin typeface="Calibri" pitchFamily="34" charset="0"/>
                <a:ea typeface="Calibri" pitchFamily="34" charset="-122"/>
                <a:cs typeface="Calibri" pitchFamily="34" charset="-120"/>
              </a:rPr>
              <a:t>Run method 2. Report the per-node table and the lambda range.</a:t>
            </a:r>
            <a:endParaRPr lang="en-US" sz="1300" dirty="0"/>
          </a:p>
        </p:txBody>
      </p:sp>
      <p:sp>
        <p:nvSpPr>
          <p:cNvPr id="13" name="Shape 11"/>
          <p:cNvSpPr/>
          <p:nvPr/>
        </p:nvSpPr>
        <p:spPr>
          <a:xfrm>
            <a:off x="640080" y="3758184"/>
            <a:ext cx="384048" cy="384048"/>
          </a:xfrm>
          <a:prstGeom prst="ellipse">
            <a:avLst/>
          </a:prstGeom>
          <a:solidFill>
            <a:srgbClr val="2E7D8A"/>
          </a:solidFill>
          <a:ln/>
        </p:spPr>
      </p:sp>
      <p:sp>
        <p:nvSpPr>
          <p:cNvPr id="14" name="Text 12"/>
          <p:cNvSpPr/>
          <p:nvPr/>
        </p:nvSpPr>
        <p:spPr>
          <a:xfrm>
            <a:off x="640080" y="37581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5" name="Text 13"/>
          <p:cNvSpPr/>
          <p:nvPr/>
        </p:nvSpPr>
        <p:spPr>
          <a:xfrm>
            <a:off x="1188720" y="3703320"/>
            <a:ext cx="5120640" cy="502920"/>
          </a:xfrm>
          <a:prstGeom prst="rect">
            <a:avLst/>
          </a:prstGeom>
          <a:noFill/>
          <a:ln/>
        </p:spPr>
        <p:txBody>
          <a:bodyPr wrap="square" lIns="0" tIns="0" rIns="0" bIns="0" rtlCol="0" anchor="ctr"/>
          <a:lstStyle/>
          <a:p>
            <a:pPr indent="0" marL="0">
              <a:lnSpc>
                <a:spcPts val="1700"/>
              </a:lnSpc>
              <a:buNone/>
            </a:pPr>
            <a:r>
              <a:rPr lang="en-US" sz="1300" dirty="0">
                <a:solidFill>
                  <a:srgbClr val="FFFFFF"/>
                </a:solidFill>
                <a:latin typeface="Calibri" pitchFamily="34" charset="0"/>
                <a:ea typeface="Calibri" pitchFamily="34" charset="-122"/>
                <a:cs typeface="Calibri" pitchFamily="34" charset="-120"/>
              </a:rPr>
              <a:t>Run method 3. Report all five stability numbers and the per-edge table.</a:t>
            </a:r>
            <a:endParaRPr lang="en-US" sz="1300" dirty="0"/>
          </a:p>
        </p:txBody>
      </p:sp>
      <p:sp>
        <p:nvSpPr>
          <p:cNvPr id="16" name="Shape 14"/>
          <p:cNvSpPr/>
          <p:nvPr/>
        </p:nvSpPr>
        <p:spPr>
          <a:xfrm>
            <a:off x="6583680" y="1737360"/>
            <a:ext cx="4937760" cy="2651760"/>
          </a:xfrm>
          <a:prstGeom prst="roundRect">
            <a:avLst>
              <a:gd name="adj" fmla="val 2759"/>
            </a:avLst>
          </a:prstGeom>
          <a:solidFill>
            <a:srgbClr val="2C3E48"/>
          </a:solidFill>
          <a:ln w="12700">
            <a:solidFill>
              <a:srgbClr val="2C3E48"/>
            </a:solidFill>
            <a:prstDash val="solid"/>
          </a:ln>
        </p:spPr>
      </p:sp>
      <p:sp>
        <p:nvSpPr>
          <p:cNvPr id="17" name="Text 15"/>
          <p:cNvSpPr/>
          <p:nvPr/>
        </p:nvSpPr>
        <p:spPr>
          <a:xfrm>
            <a:off x="6858000" y="1874520"/>
            <a:ext cx="4389120" cy="32004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Decision rule</a:t>
            </a:r>
            <a:endParaRPr lang="en-US" sz="1700" dirty="0"/>
          </a:p>
        </p:txBody>
      </p:sp>
      <p:sp>
        <p:nvSpPr>
          <p:cNvPr id="18" name="Text 16"/>
          <p:cNvSpPr/>
          <p:nvPr/>
        </p:nvSpPr>
        <p:spPr>
          <a:xfrm>
            <a:off x="6858000" y="2286000"/>
            <a:ext cx="4434840" cy="1920240"/>
          </a:xfrm>
          <a:prstGeom prst="rect">
            <a:avLst/>
          </a:prstGeom>
          <a:noFill/>
          <a:ln/>
        </p:spPr>
        <p:txBody>
          <a:bodyPr wrap="square" lIns="0" tIns="0" rIns="0" bIns="0" rtlCol="0" anchor="t"/>
          <a:lstStyle/>
          <a:p>
            <a:pPr indent="0" marL="0">
              <a:lnSpc>
                <a:spcPts val="1700"/>
              </a:lnSpc>
              <a:buNone/>
            </a:pPr>
            <a:r>
              <a:rPr lang="en-US" sz="1250" dirty="0">
                <a:solidFill>
                  <a:srgbClr val="CBD8DE"/>
                </a:solidFill>
                <a:latin typeface="Calibri" pitchFamily="34" charset="0"/>
                <a:ea typeface="Calibri" pitchFamily="34" charset="-122"/>
                <a:cs typeface="Calibri" pitchFamily="34" charset="-120"/>
              </a:rPr>
              <a:t>If one graph wins on methods 1 and 2, choose it.</a:t>
            </a:r>
            <a:endParaRPr lang="en-US" sz="1250" dirty="0"/>
          </a:p>
          <a:p>
            <a:pPr indent="0" marL="0">
              <a:lnSpc>
                <a:spcPts val="1700"/>
              </a:lnSpc>
              <a:buNone/>
            </a:pPr>
            <a:endParaRPr lang="en-US" sz="1250" dirty="0"/>
          </a:p>
          <a:p>
            <a:pPr indent="0" marL="0">
              <a:lnSpc>
                <a:spcPts val="1700"/>
              </a:lnSpc>
              <a:buNone/>
            </a:pPr>
            <a:r>
              <a:rPr lang="en-US" sz="1250" dirty="0">
                <a:solidFill>
                  <a:srgbClr val="CBD8DE"/>
                </a:solidFill>
                <a:latin typeface="Calibri" pitchFamily="34" charset="0"/>
                <a:ea typeface="Calibri" pitchFamily="34" charset="-122"/>
                <a:cs typeface="Calibri" pitchFamily="34" charset="-120"/>
              </a:rPr>
              <a:t>If methods 1 and 2 disagree, report both. One graph explains the connections better. The other explains the disconnections better.</a:t>
            </a:r>
            <a:endParaRPr lang="en-US" sz="1250" dirty="0"/>
          </a:p>
          <a:p>
            <a:pPr indent="0" marL="0">
              <a:lnSpc>
                <a:spcPts val="1700"/>
              </a:lnSpc>
              <a:buNone/>
            </a:pPr>
            <a:endParaRPr lang="en-US" sz="1250" dirty="0"/>
          </a:p>
          <a:p>
            <a:pPr indent="0" marL="0">
              <a:lnSpc>
                <a:spcPts val="1700"/>
              </a:lnSpc>
              <a:buNone/>
            </a:pPr>
            <a:r>
              <a:rPr lang="en-US" sz="1250" dirty="0">
                <a:solidFill>
                  <a:srgbClr val="CBD8DE"/>
                </a:solidFill>
                <a:latin typeface="Calibri" pitchFamily="34" charset="0"/>
                <a:ea typeface="Calibri" pitchFamily="34" charset="-122"/>
                <a:cs typeface="Calibri" pitchFamily="34" charset="-120"/>
              </a:rPr>
              <a:t>Never let method 3 overrule methods 1 and 2.</a:t>
            </a:r>
            <a:endParaRPr lang="en-US" sz="1250" dirty="0"/>
          </a:p>
        </p:txBody>
      </p:sp>
      <p:sp>
        <p:nvSpPr>
          <p:cNvPr id="19" name="Shape 17"/>
          <p:cNvSpPr/>
          <p:nvPr/>
        </p:nvSpPr>
        <p:spPr>
          <a:xfrm>
            <a:off x="640080" y="4663440"/>
            <a:ext cx="10881360" cy="1234440"/>
          </a:xfrm>
          <a:prstGeom prst="roundRect">
            <a:avLst>
              <a:gd name="adj" fmla="val 5926"/>
            </a:avLst>
          </a:prstGeom>
          <a:solidFill>
            <a:srgbClr val="3A2C1E"/>
          </a:solidFill>
          <a:ln w="12700">
            <a:solidFill>
              <a:srgbClr val="3A2C1E"/>
            </a:solidFill>
            <a:prstDash val="solid"/>
          </a:ln>
        </p:spPr>
      </p:sp>
      <p:sp>
        <p:nvSpPr>
          <p:cNvPr id="20" name="Text 18"/>
          <p:cNvSpPr/>
          <p:nvPr/>
        </p:nvSpPr>
        <p:spPr>
          <a:xfrm>
            <a:off x="914400" y="4791456"/>
            <a:ext cx="5486400" cy="274320"/>
          </a:xfrm>
          <a:prstGeom prst="rect">
            <a:avLst/>
          </a:prstGeom>
          <a:noFill/>
          <a:ln/>
        </p:spPr>
        <p:txBody>
          <a:bodyPr wrap="square" lIns="0" tIns="0" rIns="0" bIns="0" rtlCol="0" anchor="ctr"/>
          <a:lstStyle/>
          <a:p>
            <a:pPr indent="0" marL="0">
              <a:buNone/>
            </a:pPr>
            <a:r>
              <a:rPr lang="en-US" sz="1150" b="1" spc="100" kern="0" dirty="0">
                <a:solidFill>
                  <a:srgbClr val="E07A28"/>
                </a:solidFill>
                <a:latin typeface="Calibri" pitchFamily="34" charset="0"/>
                <a:ea typeface="Calibri" pitchFamily="34" charset="-122"/>
                <a:cs typeface="Calibri" pitchFamily="34" charset="-120"/>
              </a:rPr>
              <a:t>The limit we must state in any result</a:t>
            </a:r>
            <a:endParaRPr lang="en-US" sz="1150" dirty="0"/>
          </a:p>
        </p:txBody>
      </p:sp>
      <p:sp>
        <p:nvSpPr>
          <p:cNvPr id="21" name="Text 19"/>
          <p:cNvSpPr/>
          <p:nvPr/>
        </p:nvSpPr>
        <p:spPr>
          <a:xfrm>
            <a:off x="914400" y="5120640"/>
            <a:ext cx="10332720" cy="731520"/>
          </a:xfrm>
          <a:prstGeom prst="rect">
            <a:avLst/>
          </a:prstGeom>
          <a:noFill/>
          <a:ln/>
        </p:spPr>
        <p:txBody>
          <a:bodyPr wrap="square" lIns="0" tIns="0" rIns="0" bIns="0" rtlCol="0" anchor="t"/>
          <a:lstStyle/>
          <a:p>
            <a:pPr indent="0" marL="0">
              <a:lnSpc>
                <a:spcPts val="1900"/>
              </a:lnSpc>
              <a:buNone/>
            </a:pPr>
            <a:r>
              <a:rPr lang="en-US" sz="1350" dirty="0">
                <a:solidFill>
                  <a:srgbClr val="FFFFFF"/>
                </a:solidFill>
                <a:latin typeface="Calibri" pitchFamily="34" charset="0"/>
                <a:ea typeface="Calibri" pitchFamily="34" charset="-122"/>
                <a:cs typeface="Calibri" pitchFamily="34" charset="-120"/>
              </a:rPr>
              <a:t>None of the three methods finds the causally correct graph. All three use observational data, and observational data cannot separate graphs that imply the same independence structure. Only an intervention settles that.</a:t>
            </a:r>
            <a:endParaRPr lang="en-US" sz="1350" dirty="0"/>
          </a:p>
        </p:txBody>
      </p:sp>
      <p:sp>
        <p:nvSpPr>
          <p:cNvPr id="22" name="Text 20"/>
          <p:cNvSpPr/>
          <p:nvPr/>
        </p:nvSpPr>
        <p:spPr>
          <a:xfrm>
            <a:off x="640080" y="6327648"/>
            <a:ext cx="10881360" cy="274320"/>
          </a:xfrm>
          <a:prstGeom prst="rect">
            <a:avLst/>
          </a:prstGeom>
          <a:noFill/>
          <a:ln/>
        </p:spPr>
        <p:txBody>
          <a:bodyPr wrap="square" lIns="0" tIns="0" rIns="0" bIns="0" rtlCol="0" anchor="ctr"/>
          <a:lstStyle/>
          <a:p>
            <a:pPr indent="0" marL="0">
              <a:buNone/>
            </a:pPr>
            <a:r>
              <a:rPr lang="en-US" sz="900" dirty="0">
                <a:solidFill>
                  <a:srgbClr val="6B7A85"/>
                </a:solidFill>
                <a:latin typeface="Calibri" pitchFamily="34" charset="0"/>
                <a:ea typeface="Calibri" pitchFamily="34" charset="-122"/>
                <a:cs typeface="Calibri" pitchFamily="34" charset="-120"/>
              </a:rPr>
              <a:t>A permutation-based falsification test is an alternative to method 1: Eulig et al., AAAI 2025 - arxiv.org/abs/2305.09565, available as dowhy.gcm.falsify.</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6232E"/>
        </a:solidFill>
      </p:bgPr>
    </p:bg>
    <p:spTree>
      <p:nvGrpSpPr>
        <p:cNvPr id="1" name=""/>
        <p:cNvGrpSpPr/>
        <p:nvPr/>
      </p:nvGrpSpPr>
      <p:grpSpPr>
        <a:xfrm>
          <a:off x="0" y="0"/>
          <a:ext cx="0" cy="0"/>
          <a:chOff x="0" y="0"/>
          <a:chExt cx="0" cy="0"/>
        </a:xfrm>
      </p:grpSpPr>
      <p:sp>
        <p:nvSpPr>
          <p:cNvPr id="2" name="Text 0"/>
          <p:cNvSpPr/>
          <p:nvPr/>
        </p:nvSpPr>
        <p:spPr>
          <a:xfrm>
            <a:off x="1005840" y="1920240"/>
            <a:ext cx="10058400" cy="274320"/>
          </a:xfrm>
          <a:prstGeom prst="rect">
            <a:avLst/>
          </a:prstGeom>
          <a:noFill/>
          <a:ln/>
        </p:spPr>
        <p:txBody>
          <a:bodyPr wrap="square" lIns="0" tIns="0" rIns="0" bIns="0" rtlCol="0" anchor="ctr"/>
          <a:lstStyle/>
          <a:p>
            <a:pPr indent="0" marL="0">
              <a:buNone/>
            </a:pPr>
            <a:r>
              <a:rPr lang="en-US" sz="1200" b="1" spc="300" kern="0" dirty="0">
                <a:solidFill>
                  <a:srgbClr val="E07A28"/>
                </a:solidFill>
                <a:latin typeface="Calibri" pitchFamily="34" charset="0"/>
                <a:ea typeface="Calibri" pitchFamily="34" charset="-122"/>
                <a:cs typeface="Calibri" pitchFamily="34" charset="-120"/>
              </a:rPr>
              <a:t>QUESTION 4 OF 4</a:t>
            </a:r>
            <a:endParaRPr lang="en-US" sz="1200" dirty="0"/>
          </a:p>
        </p:txBody>
      </p:sp>
      <p:sp>
        <p:nvSpPr>
          <p:cNvPr id="3" name="Text 1"/>
          <p:cNvSpPr/>
          <p:nvPr/>
        </p:nvSpPr>
        <p:spPr>
          <a:xfrm>
            <a:off x="1005840" y="2377440"/>
            <a:ext cx="9692640" cy="1828800"/>
          </a:xfrm>
          <a:prstGeom prst="rect">
            <a:avLst/>
          </a:prstGeom>
          <a:noFill/>
          <a:ln/>
        </p:spPr>
        <p:txBody>
          <a:bodyPr wrap="square" lIns="0" tIns="0" rIns="0" bIns="0" rtlCol="0" anchor="t"/>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What Python library should we use?</a:t>
            </a:r>
            <a:endParaRPr lang="en-US" sz="4000" dirty="0"/>
          </a:p>
        </p:txBody>
      </p:sp>
      <p:sp>
        <p:nvSpPr>
          <p:cNvPr id="4" name="Text 2"/>
          <p:cNvSpPr/>
          <p:nvPr/>
        </p:nvSpPr>
        <p:spPr>
          <a:xfrm>
            <a:off x="1005840" y="4434840"/>
            <a:ext cx="9144000" cy="365760"/>
          </a:xfrm>
          <a:prstGeom prst="rect">
            <a:avLst/>
          </a:prstGeom>
          <a:noFill/>
          <a:ln/>
        </p:spPr>
        <p:txBody>
          <a:bodyPr wrap="square" lIns="0" tIns="0" rIns="0" bIns="0" rtlCol="0" anchor="ctr"/>
          <a:lstStyle/>
          <a:p>
            <a:pPr indent="0" marL="0">
              <a:buNone/>
            </a:pPr>
            <a:r>
              <a:rPr lang="en-US" sz="1400" dirty="0">
                <a:solidFill>
                  <a:srgbClr val="9FB2BC"/>
                </a:solidFill>
                <a:latin typeface="Calibri" pitchFamily="34" charset="0"/>
                <a:ea typeface="Calibri" pitchFamily="34" charset="-122"/>
                <a:cs typeface="Calibri" pitchFamily="34" charset="-120"/>
              </a:rPr>
              <a:t>Investigation is not finished. The answer depends on the algorithms we choose.</a:t>
            </a:r>
            <a:endParaRPr lang="en-US" sz="1400" dirty="0"/>
          </a:p>
        </p:txBody>
      </p:sp>
      <p:sp>
        <p:nvSpPr>
          <p:cNvPr id="5" name="Shape 3"/>
          <p:cNvSpPr/>
          <p:nvPr/>
        </p:nvSpPr>
        <p:spPr>
          <a:xfrm>
            <a:off x="1005840" y="4224528"/>
            <a:ext cx="1005840" cy="32004"/>
          </a:xfrm>
          <a:prstGeom prst="rect">
            <a:avLst/>
          </a:prstGeom>
          <a:solidFill>
            <a:srgbClr val="E07A28"/>
          </a:solidFill>
          <a:ln/>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2E7D8A"/>
                </a:solidFill>
                <a:latin typeface="Calibri" pitchFamily="34" charset="0"/>
                <a:ea typeface="Calibri" pitchFamily="34" charset="-122"/>
                <a:cs typeface="Calibri" pitchFamily="34" charset="-120"/>
              </a:rPr>
              <a:t>QUESTION 4 - THE OPTIONS</a:t>
            </a:r>
            <a:endParaRPr lang="en-US" sz="1100" dirty="0"/>
          </a:p>
        </p:txBody>
      </p:sp>
      <p:sp>
        <p:nvSpPr>
          <p:cNvPr id="3" name="Text 1"/>
          <p:cNvSpPr/>
          <p:nvPr/>
        </p:nvSpPr>
        <p:spPr>
          <a:xfrm>
            <a:off x="640080" y="658368"/>
            <a:ext cx="10881360" cy="868680"/>
          </a:xfrm>
          <a:prstGeom prst="rect">
            <a:avLst/>
          </a:prstGeom>
          <a:noFill/>
          <a:ln/>
        </p:spPr>
        <p:txBody>
          <a:bodyPr wrap="square" lIns="0" tIns="0" rIns="0" bIns="0" rtlCol="0" anchor="t"/>
          <a:lstStyle/>
          <a:p>
            <a:pPr indent="0" marL="0">
              <a:buNone/>
            </a:pPr>
            <a:r>
              <a:rPr lang="en-US" sz="3000" b="1" dirty="0">
                <a:solidFill>
                  <a:srgbClr val="16232E"/>
                </a:solidFill>
                <a:latin typeface="Cambria" pitchFamily="34" charset="0"/>
                <a:ea typeface="Cambria" pitchFamily="34" charset="-122"/>
                <a:cs typeface="Cambria" pitchFamily="34" charset="-120"/>
              </a:rPr>
              <a:t>Two packages cover every algorithm on our shortlist</a:t>
            </a:r>
            <a:endParaRPr lang="en-US" sz="3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881360" cy="914400"/>
        </p:xfrm>
        <a:graphic>
          <a:graphicData uri="http://schemas.openxmlformats.org/drawingml/2006/table">
            <a:tbl>
              <a:tblPr/>
              <a:tblGrid>
                <a:gridCol w="2011680"/>
                <a:gridCol w="2971800"/>
                <a:gridCol w="2926080"/>
                <a:gridCol w="2971800"/>
              </a:tblGrid>
              <a:tr h="484632">
                <a:tc>
                  <a:txBody>
                    <a:bodyPr/>
                    <a:lstStyle/>
                    <a:p>
                      <a:pPr indent="0" marL="0">
                        <a:buNone/>
                      </a:pP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solidFill>
                      <a:srgbClr val="24363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tigramite</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solidFill>
                      <a:srgbClr val="24363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lingam</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solidFill>
                      <a:srgbClr val="24363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causal-learn</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solidFill>
                      <a:srgbClr val="24363F"/>
                    </a:solidFill>
                  </a:tcPr>
                </a:tc>
              </a:tr>
              <a:tr h="484632">
                <a:tc>
                  <a:txBody>
                    <a:bodyPr/>
                    <a:lstStyle/>
                    <a:p>
                      <a:pPr indent="0" marL="0">
                        <a:buNone/>
                      </a:pPr>
                      <a:r>
                        <a:rPr lang="en-US" sz="1200" b="1" dirty="0">
                          <a:solidFill>
                            <a:srgbClr val="16232E"/>
                          </a:solidFill>
                          <a:latin typeface="Calibri" pitchFamily="34" charset="0"/>
                          <a:ea typeface="Calibri" pitchFamily="34" charset="-122"/>
                          <a:cs typeface="Calibri" pitchFamily="34" charset="-120"/>
                        </a:rPr>
                        <a:t>Written by</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The Runge lab</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The Shimizu lab</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py-why</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r>
              <a:tr h="484632">
                <a:tc>
                  <a:txBody>
                    <a:bodyPr/>
                    <a:lstStyle/>
                    <a:p>
                      <a:pPr indent="0" marL="0">
                        <a:buNone/>
                      </a:pPr>
                      <a:r>
                        <a:rPr lang="en-US" sz="1200" b="1" dirty="0">
                          <a:solidFill>
                            <a:srgbClr val="16232E"/>
                          </a:solidFill>
                          <a:latin typeface="Calibri" pitchFamily="34" charset="0"/>
                          <a:ea typeface="Calibri" pitchFamily="34" charset="-122"/>
                          <a:cs typeface="Calibri" pitchFamily="34" charset="-120"/>
                        </a:rPr>
                        <a:t>Main methods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PCMCI, PCMCI+, LPCMCI, RPCMCI</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VARLiNGAM, DirectLiNGAM, ICALiNGAM, RCD</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PC, FCI, GES, GRaSP, Granger, VARLiNGAM</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r>
              <a:tr h="484632">
                <a:tc>
                  <a:txBody>
                    <a:bodyPr/>
                    <a:lstStyle/>
                    <a:p>
                      <a:pPr indent="0" marL="0">
                        <a:buNone/>
                      </a:pPr>
                      <a:r>
                        <a:rPr lang="en-US" sz="1200" b="1" dirty="0">
                          <a:solidFill>
                            <a:srgbClr val="16232E"/>
                          </a:solidFill>
                          <a:latin typeface="Calibri" pitchFamily="34" charset="0"/>
                          <a:ea typeface="Calibri" pitchFamily="34" charset="-122"/>
                          <a:cs typeface="Calibri" pitchFamily="34" charset="-120"/>
                        </a:rPr>
                        <a:t>Time-series native</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b="1" dirty="0">
                          <a:solidFill>
                            <a:srgbClr val="3E7C59"/>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b="1" dirty="0">
                          <a:solidFill>
                            <a:srgbClr val="3E7C59"/>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B03A2E"/>
                          </a:solidFill>
                          <a:latin typeface="Calibri" pitchFamily="34" charset="0"/>
                          <a:ea typeface="Calibri" pitchFamily="34" charset="-122"/>
                          <a:cs typeface="Calibri" pitchFamily="34" charset="-120"/>
                        </a:rPr>
                        <a:t>No. Build the lagged matrix yourself.</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r>
              <a:tr h="484632">
                <a:tc>
                  <a:txBody>
                    <a:bodyPr/>
                    <a:lstStyle/>
                    <a:p>
                      <a:pPr indent="0" marL="0">
                        <a:buNone/>
                      </a:pPr>
                      <a:r>
                        <a:rPr lang="en-US" sz="1200" b="1" dirty="0">
                          <a:solidFill>
                            <a:srgbClr val="16232E"/>
                          </a:solidFill>
                          <a:latin typeface="Calibri" pitchFamily="34" charset="0"/>
                          <a:ea typeface="Calibri" pitchFamily="34" charset="-122"/>
                          <a:cs typeface="Calibri" pitchFamily="34" charset="-120"/>
                        </a:rPr>
                        <a:t>CI test</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A pluggable object: ParCorr, GPDC, CMIknn</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Not applicable</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A string name: fisherz, kci, chisq</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r>
              <a:tr h="484632">
                <a:tc>
                  <a:txBody>
                    <a:bodyPr/>
                    <a:lstStyle/>
                    <a:p>
                      <a:pPr indent="0" marL="0">
                        <a:buNone/>
                      </a:pPr>
                      <a:r>
                        <a:rPr lang="en-US" sz="1200" b="1" dirty="0">
                          <a:solidFill>
                            <a:srgbClr val="16232E"/>
                          </a:solidFill>
                          <a:latin typeface="Calibri" pitchFamily="34" charset="0"/>
                          <a:ea typeface="Calibri" pitchFamily="34" charset="-122"/>
                          <a:cs typeface="Calibri" pitchFamily="34" charset="-120"/>
                        </a:rPr>
                        <a:t>Prior knowledge</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Per link and per lag. The most exact of the three.</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A matrix on the inner model. Binds lag 0 only.</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A BackgroundKnowledge object with tiers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r>
              <a:tr h="484632">
                <a:tc>
                  <a:txBody>
                    <a:bodyPr/>
                    <a:lstStyle/>
                    <a:p>
                      <a:pPr indent="0" marL="0">
                        <a:buNone/>
                      </a:pPr>
                      <a:r>
                        <a:rPr lang="en-US" sz="1200" b="1" dirty="0">
                          <a:solidFill>
                            <a:srgbClr val="16232E"/>
                          </a:solidFill>
                          <a:latin typeface="Calibri" pitchFamily="34" charset="0"/>
                          <a:ea typeface="Calibri" pitchFamily="34" charset="-122"/>
                          <a:cs typeface="Calibri" pitchFamily="34" charset="-120"/>
                        </a:rPr>
                        <a:t>Bootstrap built in</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r>
              <a:tr h="484632">
                <a:tc>
                  <a:txBody>
                    <a:bodyPr/>
                    <a:lstStyle/>
                    <a:p>
                      <a:pPr indent="0" marL="0">
                        <a:buNone/>
                      </a:pPr>
                      <a:r>
                        <a:rPr lang="en-US" sz="1200" b="1" dirty="0">
                          <a:solidFill>
                            <a:srgbClr val="16232E"/>
                          </a:solidFill>
                          <a:latin typeface="Calibri" pitchFamily="34" charset="0"/>
                          <a:ea typeface="Calibri" pitchFamily="34" charset="-122"/>
                          <a:cs typeface="Calibri" pitchFamily="34" charset="-120"/>
                        </a:rPr>
                        <a:t>License</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b="1" dirty="0">
                          <a:solidFill>
                            <a:srgbClr val="E07A28"/>
                          </a:solidFill>
                          <a:latin typeface="Calibri" pitchFamily="34" charset="0"/>
                          <a:ea typeface="Calibri" pitchFamily="34" charset="-122"/>
                          <a:cs typeface="Calibri" pitchFamily="34" charset="-120"/>
                        </a:rPr>
                        <a:t>GPL-3</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MIT</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MIT</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r>
            </a:tbl>
          </a:graphicData>
        </a:graphic>
      </p:graphicFrame>
      <p:sp>
        <p:nvSpPr>
          <p:cNvPr id="5" name="Text 2"/>
          <p:cNvSpPr/>
          <p:nvPr/>
        </p:nvSpPr>
        <p:spPr>
          <a:xfrm>
            <a:off x="640080" y="5760720"/>
            <a:ext cx="10881360" cy="365760"/>
          </a:xfrm>
          <a:prstGeom prst="rect">
            <a:avLst/>
          </a:prstGeom>
          <a:noFill/>
          <a:ln/>
        </p:spPr>
        <p:txBody>
          <a:bodyPr wrap="square" lIns="0" tIns="0" rIns="0" bIns="0" rtlCol="0" anchor="ctr"/>
          <a:lstStyle/>
          <a:p>
            <a:pPr indent="0" marL="0">
              <a:buNone/>
            </a:pPr>
            <a:r>
              <a:rPr lang="en-US" sz="1250" i="1" dirty="0">
                <a:solidFill>
                  <a:srgbClr val="2E7D8A"/>
                </a:solidFill>
                <a:latin typeface="Calibri" pitchFamily="34" charset="0"/>
                <a:ea typeface="Calibri" pitchFamily="34" charset="-122"/>
                <a:cs typeface="Calibri" pitchFamily="34" charset="-120"/>
              </a:rPr>
              <a:t>Tigramite has no LiNGAM method. Causal-learn has no PCMCI method. Each lab maintains only its own family, so more than one package is likely.</a:t>
            </a:r>
            <a:endParaRPr lang="en-US" sz="1250" dirty="0"/>
          </a:p>
        </p:txBody>
      </p:sp>
      <p:sp>
        <p:nvSpPr>
          <p:cNvPr id="6" name="Text 3"/>
          <p:cNvSpPr/>
          <p:nvPr/>
        </p:nvSpPr>
        <p:spPr>
          <a:xfrm>
            <a:off x="640080" y="6327648"/>
            <a:ext cx="10881360" cy="274320"/>
          </a:xfrm>
          <a:prstGeom prst="rect">
            <a:avLst/>
          </a:prstGeom>
          <a:noFill/>
          <a:ln/>
        </p:spPr>
        <p:txBody>
          <a:bodyPr wrap="square" lIns="0" tIns="0" rIns="0" bIns="0" rtlCol="0" anchor="ctr"/>
          <a:lstStyle/>
          <a:p>
            <a:pPr indent="0" marL="0">
              <a:buNone/>
            </a:pPr>
            <a:r>
              <a:rPr lang="en-US" sz="900" dirty="0">
                <a:solidFill>
                  <a:srgbClr val="6B7A85"/>
                </a:solidFill>
                <a:latin typeface="Calibri" pitchFamily="34" charset="0"/>
                <a:ea typeface="Calibri" pitchFamily="34" charset="-122"/>
                <a:cs typeface="Calibri" pitchFamily="34" charset="-120"/>
              </a:rPr>
              <a:t>jakobrunge.github.io/tigramite | lingam.readthedocs.io | causal-learn.readthedocs.io</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2E7D8A"/>
                </a:solidFill>
                <a:latin typeface="Calibri" pitchFamily="34" charset="0"/>
                <a:ea typeface="Calibri" pitchFamily="34" charset="-122"/>
                <a:cs typeface="Calibri" pitchFamily="34" charset="-120"/>
              </a:rPr>
              <a:t>QUESTION 4 - HOW YOU DRIVE THEM</a:t>
            </a:r>
            <a:endParaRPr lang="en-US" sz="1100" dirty="0"/>
          </a:p>
        </p:txBody>
      </p:sp>
      <p:sp>
        <p:nvSpPr>
          <p:cNvPr id="3" name="Text 1"/>
          <p:cNvSpPr/>
          <p:nvPr/>
        </p:nvSpPr>
        <p:spPr>
          <a:xfrm>
            <a:off x="640080" y="658368"/>
            <a:ext cx="10881360" cy="868680"/>
          </a:xfrm>
          <a:prstGeom prst="rect">
            <a:avLst/>
          </a:prstGeom>
          <a:noFill/>
          <a:ln/>
        </p:spPr>
        <p:txBody>
          <a:bodyPr wrap="square" lIns="0" tIns="0" rIns="0" bIns="0" rtlCol="0" anchor="t"/>
          <a:lstStyle/>
          <a:p>
            <a:pPr indent="0" marL="0">
              <a:buNone/>
            </a:pPr>
            <a:r>
              <a:rPr lang="en-US" sz="3000" b="1" dirty="0">
                <a:solidFill>
                  <a:srgbClr val="16232E"/>
                </a:solidFill>
                <a:latin typeface="Cambria" pitchFamily="34" charset="0"/>
                <a:ea typeface="Cambria" pitchFamily="34" charset="-122"/>
                <a:cs typeface="Cambria" pitchFamily="34" charset="-120"/>
              </a:rPr>
              <a:t>What each library takes in, what you tune, and what comes back</a:t>
            </a:r>
            <a:endParaRPr lang="en-US" sz="3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881360" cy="914400"/>
        </p:xfrm>
        <a:graphic>
          <a:graphicData uri="http://schemas.openxmlformats.org/drawingml/2006/table">
            <a:tbl>
              <a:tblPr/>
              <a:tblGrid>
                <a:gridCol w="1828800"/>
                <a:gridCol w="3063240"/>
                <a:gridCol w="2971800"/>
                <a:gridCol w="3017520"/>
              </a:tblGrid>
              <a:tr h="411480">
                <a:tc>
                  <a:txBody>
                    <a:bodyPr/>
                    <a:lstStyle/>
                    <a:p>
                      <a:pPr indent="0" marL="0">
                        <a:buNone/>
                      </a:pP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solidFill>
                      <a:srgbClr val="24363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tigramite</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solidFill>
                      <a:srgbClr val="24363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lingam</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solidFill>
                      <a:srgbClr val="24363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causal-learn</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solidFill>
                      <a:srgbClr val="24363F"/>
                    </a:solidFill>
                  </a:tcPr>
                </a:tc>
              </a:tr>
              <a:tr h="932688">
                <a:tc>
                  <a:txBody>
                    <a:bodyPr/>
                    <a:lstStyle/>
                    <a:p>
                      <a:pPr indent="0" marL="0">
                        <a:buNone/>
                      </a:pPr>
                      <a:r>
                        <a:rPr lang="en-US" sz="1200" b="1" dirty="0">
                          <a:solidFill>
                            <a:srgbClr val="16232E"/>
                          </a:solidFill>
                          <a:latin typeface="Calibri" pitchFamily="34" charset="0"/>
                          <a:ea typeface="Calibri" pitchFamily="34" charset="-122"/>
                          <a:cs typeface="Calibri" pitchFamily="34" charset="-120"/>
                        </a:rPr>
                        <a:t>Input</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An array of shape (T, N) wrapped in pp.DataFrame. The wrapper also carries a mask and a missing-value flag.</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A plain array of shape (samples, features). No wrapper. The data must be stationary.</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A plain NumPy array of shape (samples, features). For lags, build the lagged matrix yourself.</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r>
              <a:tr h="932688">
                <a:tc>
                  <a:txBody>
                    <a:bodyPr/>
                    <a:lstStyle/>
                    <a:p>
                      <a:pPr indent="0" marL="0">
                        <a:buNone/>
                      </a:pPr>
                      <a:r>
                        <a:rPr lang="en-US" sz="1200" b="1" dirty="0">
                          <a:solidFill>
                            <a:srgbClr val="16232E"/>
                          </a:solidFill>
                          <a:latin typeface="Calibri" pitchFamily="34" charset="0"/>
                          <a:ea typeface="Calibri" pitchFamily="34" charset="-122"/>
                          <a:cs typeface="Calibri" pitchFamily="34" charset="-120"/>
                        </a:rPr>
                        <a:t>Parameters</a:t>
                      </a:r>
                      <a:endParaRPr lang="en-US" sz="1200" dirty="0">
                        <a:latin typeface="Calibri" charset="0"/>
                        <a:ea typeface="Calibri" charset="0"/>
                        <a:cs typeface="Calibri" charset="0"/>
                      </a:endParaRPr>
                    </a:p>
                    <a:p>
                      <a:pPr indent="0" marL="0">
                        <a:buNone/>
                      </a:pPr>
                      <a:r>
                        <a:rPr lang="en-US" sz="1200" b="1" dirty="0">
                          <a:solidFill>
                            <a:srgbClr val="16232E"/>
                          </a:solidFill>
                          <a:latin typeface="Calibri" pitchFamily="34" charset="0"/>
                          <a:ea typeface="Calibri" pitchFamily="34" charset="-122"/>
                          <a:cs typeface="Calibri" pitchFamily="34" charset="-120"/>
                        </a:rPr>
                        <a:t>that matter</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cond_ind_test object, tau_min, tau_max, pc_alpha, alpha_level, fdr_method, contemp_collider_rule, link_assumptions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lags, criterion, prune, random_state, and a prior-knowledge matrix passed to the inner LiNGAM model</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alpha, indep_test, stable, uc_rule, uc_priority, background_knowledge, cache_path</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r>
              <a:tr h="932688">
                <a:tc>
                  <a:txBody>
                    <a:bodyPr/>
                    <a:lstStyle/>
                    <a:p>
                      <a:pPr indent="0" marL="0">
                        <a:buNone/>
                      </a:pPr>
                      <a:r>
                        <a:rPr lang="en-US" sz="1200" b="1" dirty="0">
                          <a:solidFill>
                            <a:srgbClr val="16232E"/>
                          </a:solidFill>
                          <a:latin typeface="Calibri" pitchFamily="34" charset="0"/>
                          <a:ea typeface="Calibri" pitchFamily="34" charset="-122"/>
                          <a:cs typeface="Calibri" pitchFamily="34" charset="-120"/>
                        </a:rPr>
                        <a:t>Output</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A dictionary. graph, val_matrix and p_matrix all have shape (N, N, tau_max+1).</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causal_order_, adjacency_matrices_ of shape (lags+1, N, N), and residuals_</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A CausalGraph object. Read the direction from the sign pattern in cg.G.graph.</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r>
            </a:tbl>
          </a:graphicData>
        </a:graphic>
      </p:graphicFrame>
      <p:sp>
        <p:nvSpPr>
          <p:cNvPr id="5" name="Shape 2"/>
          <p:cNvSpPr/>
          <p:nvPr/>
        </p:nvSpPr>
        <p:spPr>
          <a:xfrm>
            <a:off x="640080" y="5230368"/>
            <a:ext cx="5349240" cy="822960"/>
          </a:xfrm>
          <a:prstGeom prst="roundRect">
            <a:avLst>
              <a:gd name="adj" fmla="val 8889"/>
            </a:avLst>
          </a:prstGeom>
          <a:solidFill>
            <a:srgbClr val="E6EDF0"/>
          </a:solidFill>
          <a:ln w="12700">
            <a:solidFill>
              <a:srgbClr val="E6EDF0"/>
            </a:solidFill>
            <a:prstDash val="solid"/>
          </a:ln>
        </p:spPr>
      </p:sp>
      <p:sp>
        <p:nvSpPr>
          <p:cNvPr id="6" name="Text 3"/>
          <p:cNvSpPr/>
          <p:nvPr/>
        </p:nvSpPr>
        <p:spPr>
          <a:xfrm>
            <a:off x="914400" y="5321808"/>
            <a:ext cx="4846320" cy="640080"/>
          </a:xfrm>
          <a:prstGeom prst="rect">
            <a:avLst/>
          </a:prstGeom>
          <a:noFill/>
          <a:ln/>
        </p:spPr>
        <p:txBody>
          <a:bodyPr wrap="square" lIns="0" tIns="0" rIns="0" bIns="0" rtlCol="0" anchor="ctr"/>
          <a:lstStyle/>
          <a:p>
            <a:pPr indent="0" marL="0">
              <a:lnSpc>
                <a:spcPts val="1600"/>
              </a:lnSpc>
              <a:buNone/>
            </a:pPr>
            <a:r>
              <a:rPr lang="en-US" sz="1200" dirty="0">
                <a:solidFill>
                  <a:srgbClr val="16232E"/>
                </a:solidFill>
                <a:latin typeface="Calibri" pitchFamily="34" charset="0"/>
                <a:ea typeface="Calibri" pitchFamily="34" charset="-122"/>
                <a:cs typeface="Calibri" pitchFamily="34" charset="-120"/>
              </a:rPr>
              <a:t>The exact list changes with the algorithm. Treat this as the shape of the work, not a specification.</a:t>
            </a:r>
            <a:endParaRPr lang="en-US" sz="1200" dirty="0"/>
          </a:p>
        </p:txBody>
      </p:sp>
      <p:sp>
        <p:nvSpPr>
          <p:cNvPr id="7" name="Shape 4"/>
          <p:cNvSpPr/>
          <p:nvPr/>
        </p:nvSpPr>
        <p:spPr>
          <a:xfrm>
            <a:off x="6172200" y="5230368"/>
            <a:ext cx="5349240" cy="822960"/>
          </a:xfrm>
          <a:prstGeom prst="roundRect">
            <a:avLst>
              <a:gd name="adj" fmla="val 8889"/>
            </a:avLst>
          </a:prstGeom>
          <a:solidFill>
            <a:srgbClr val="F7E6D6"/>
          </a:solidFill>
          <a:ln w="12700">
            <a:solidFill>
              <a:srgbClr val="F7E6D6"/>
            </a:solidFill>
            <a:prstDash val="solid"/>
          </a:ln>
        </p:spPr>
      </p:sp>
      <p:sp>
        <p:nvSpPr>
          <p:cNvPr id="8" name="Text 5"/>
          <p:cNvSpPr/>
          <p:nvPr/>
        </p:nvSpPr>
        <p:spPr>
          <a:xfrm>
            <a:off x="6446520" y="5321808"/>
            <a:ext cx="4846320" cy="640080"/>
          </a:xfrm>
          <a:prstGeom prst="rect">
            <a:avLst/>
          </a:prstGeom>
          <a:noFill/>
          <a:ln/>
        </p:spPr>
        <p:txBody>
          <a:bodyPr wrap="square" lIns="0" tIns="0" rIns="0" bIns="0" rtlCol="0" anchor="ctr"/>
          <a:lstStyle/>
          <a:p>
            <a:pPr indent="0" marL="0">
              <a:lnSpc>
                <a:spcPts val="1600"/>
              </a:lnSpc>
              <a:buNone/>
            </a:pPr>
            <a:r>
              <a:rPr lang="en-US" sz="1200" dirty="0">
                <a:solidFill>
                  <a:srgbClr val="6E3D14"/>
                </a:solidFill>
                <a:latin typeface="Calibri" pitchFamily="34" charset="0"/>
                <a:ea typeface="Calibri" pitchFamily="34" charset="-122"/>
                <a:cs typeface="Calibri" pitchFamily="34" charset="-120"/>
              </a:rPr>
              <a:t>Read a tigramite link as graph[i, j, tau]: variable i at time t-tau acts on variable j at time t.</a:t>
            </a:r>
            <a:endParaRPr lang="en-US" sz="1200" dirty="0"/>
          </a:p>
        </p:txBody>
      </p:sp>
      <p:sp>
        <p:nvSpPr>
          <p:cNvPr id="9" name="Text 6"/>
          <p:cNvSpPr/>
          <p:nvPr/>
        </p:nvSpPr>
        <p:spPr>
          <a:xfrm>
            <a:off x="640080" y="6327648"/>
            <a:ext cx="10881360" cy="274320"/>
          </a:xfrm>
          <a:prstGeom prst="rect">
            <a:avLst/>
          </a:prstGeom>
          <a:noFill/>
          <a:ln/>
        </p:spPr>
        <p:txBody>
          <a:bodyPr wrap="square" lIns="0" tIns="0" rIns="0" bIns="0" rtlCol="0" anchor="ctr"/>
          <a:lstStyle/>
          <a:p>
            <a:pPr indent="0" marL="0">
              <a:buNone/>
            </a:pPr>
            <a:r>
              <a:rPr lang="en-US" sz="900" dirty="0">
                <a:solidFill>
                  <a:srgbClr val="6B7A85"/>
                </a:solidFill>
                <a:latin typeface="Calibri" pitchFamily="34" charset="0"/>
                <a:ea typeface="Calibri" pitchFamily="34" charset="-122"/>
                <a:cs typeface="Calibri" pitchFamily="34" charset="-120"/>
              </a:rPr>
              <a:t>Taken from the official documentation of each package, as recorded in our library review.</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2E7D8A"/>
                </a:solidFill>
                <a:latin typeface="Calibri" pitchFamily="34" charset="0"/>
                <a:ea typeface="Calibri" pitchFamily="34" charset="-122"/>
                <a:cs typeface="Calibri" pitchFamily="34" charset="-120"/>
              </a:rPr>
              <a:t>QUESTION 4 - HOW TO CHOOSE</a:t>
            </a:r>
            <a:endParaRPr lang="en-US" sz="1100" dirty="0"/>
          </a:p>
        </p:txBody>
      </p:sp>
      <p:sp>
        <p:nvSpPr>
          <p:cNvPr id="3" name="Text 1"/>
          <p:cNvSpPr/>
          <p:nvPr/>
        </p:nvSpPr>
        <p:spPr>
          <a:xfrm>
            <a:off x="640080" y="658368"/>
            <a:ext cx="10881360" cy="868680"/>
          </a:xfrm>
          <a:prstGeom prst="rect">
            <a:avLst/>
          </a:prstGeom>
          <a:noFill/>
          <a:ln/>
        </p:spPr>
        <p:txBody>
          <a:bodyPr wrap="square" lIns="0" tIns="0" rIns="0" bIns="0" rtlCol="0" anchor="t"/>
          <a:lstStyle/>
          <a:p>
            <a:pPr indent="0" marL="0">
              <a:buNone/>
            </a:pPr>
            <a:r>
              <a:rPr lang="en-US" sz="3000" b="1" dirty="0">
                <a:solidFill>
                  <a:srgbClr val="16232E"/>
                </a:solidFill>
                <a:latin typeface="Cambria" pitchFamily="34" charset="0"/>
                <a:ea typeface="Cambria" pitchFamily="34" charset="-122"/>
                <a:cs typeface="Cambria" pitchFamily="34" charset="-120"/>
              </a:rPr>
              <a:t>Test the data first. The data picks the method, and the method picks the library.</a:t>
            </a:r>
            <a:endParaRPr lang="en-US" sz="3000" dirty="0"/>
          </a:p>
        </p:txBody>
      </p:sp>
      <p:sp>
        <p:nvSpPr>
          <p:cNvPr id="4" name="Shape 2"/>
          <p:cNvSpPr/>
          <p:nvPr/>
        </p:nvSpPr>
        <p:spPr>
          <a:xfrm>
            <a:off x="640080" y="1783080"/>
            <a:ext cx="3108960" cy="1371600"/>
          </a:xfrm>
          <a:prstGeom prst="roundRect">
            <a:avLst>
              <a:gd name="adj" fmla="val 5333"/>
            </a:avLst>
          </a:prstGeom>
          <a:solidFill>
            <a:srgbClr val="24363F"/>
          </a:solidFill>
          <a:ln w="12700">
            <a:solidFill>
              <a:srgbClr val="24363F"/>
            </a:solidFill>
            <a:prstDash val="solid"/>
          </a:ln>
        </p:spPr>
      </p:sp>
      <p:sp>
        <p:nvSpPr>
          <p:cNvPr id="5" name="Text 3"/>
          <p:cNvSpPr/>
          <p:nvPr/>
        </p:nvSpPr>
        <p:spPr>
          <a:xfrm>
            <a:off x="914400" y="1920240"/>
            <a:ext cx="2560320" cy="274320"/>
          </a:xfrm>
          <a:prstGeom prst="rect">
            <a:avLst/>
          </a:prstGeom>
          <a:noFill/>
          <a:ln/>
        </p:spPr>
        <p:txBody>
          <a:bodyPr wrap="square" lIns="0" tIns="0" rIns="0" bIns="0" rtlCol="0" anchor="ctr"/>
          <a:lstStyle/>
          <a:p>
            <a:pPr indent="0" marL="0">
              <a:buNone/>
            </a:pPr>
            <a:r>
              <a:rPr lang="en-US" sz="1100" b="1" spc="200" kern="0" dirty="0">
                <a:solidFill>
                  <a:srgbClr val="E07A28"/>
                </a:solidFill>
                <a:latin typeface="Calibri" pitchFamily="34" charset="0"/>
                <a:ea typeface="Calibri" pitchFamily="34" charset="-122"/>
                <a:cs typeface="Calibri" pitchFamily="34" charset="-120"/>
              </a:rPr>
              <a:t>Step 1</a:t>
            </a:r>
            <a:endParaRPr lang="en-US" sz="1100" dirty="0"/>
          </a:p>
        </p:txBody>
      </p:sp>
      <p:sp>
        <p:nvSpPr>
          <p:cNvPr id="6" name="Text 4"/>
          <p:cNvSpPr/>
          <p:nvPr/>
        </p:nvSpPr>
        <p:spPr>
          <a:xfrm>
            <a:off x="914400" y="2240280"/>
            <a:ext cx="2606040" cy="777240"/>
          </a:xfrm>
          <a:prstGeom prst="rect">
            <a:avLst/>
          </a:prstGeom>
          <a:noFill/>
          <a:ln/>
        </p:spPr>
        <p:txBody>
          <a:bodyPr wrap="square" lIns="0" tIns="0" rIns="0" bIns="0" rtlCol="0" anchor="t"/>
          <a:lstStyle/>
          <a:p>
            <a:pPr indent="0" marL="0">
              <a:lnSpc>
                <a:spcPts val="1700"/>
              </a:lnSpc>
              <a:buNone/>
            </a:pPr>
            <a:r>
              <a:rPr lang="en-US" sz="1250" dirty="0">
                <a:solidFill>
                  <a:srgbClr val="FFFFFF"/>
                </a:solidFill>
                <a:latin typeface="Calibri" pitchFamily="34" charset="0"/>
                <a:ea typeface="Calibri" pitchFamily="34" charset="-122"/>
                <a:cs typeface="Calibri" pitchFamily="34" charset="-120"/>
              </a:rPr>
              <a:t>Test the residuals for Gaussianity and the relations for linearity.</a:t>
            </a:r>
            <a:endParaRPr lang="en-US" sz="1250" dirty="0"/>
          </a:p>
        </p:txBody>
      </p:sp>
      <p:sp>
        <p:nvSpPr>
          <p:cNvPr id="7" name="Shape 5"/>
          <p:cNvSpPr/>
          <p:nvPr/>
        </p:nvSpPr>
        <p:spPr>
          <a:xfrm>
            <a:off x="3840480" y="2377440"/>
            <a:ext cx="320040" cy="201168"/>
          </a:xfrm>
          <a:prstGeom prst="rightArrow">
            <a:avLst/>
          </a:prstGeom>
          <a:solidFill>
            <a:srgbClr val="B9C6CC"/>
          </a:solidFill>
          <a:ln/>
        </p:spPr>
      </p:sp>
      <p:sp>
        <p:nvSpPr>
          <p:cNvPr id="8" name="Shape 6"/>
          <p:cNvSpPr/>
          <p:nvPr/>
        </p:nvSpPr>
        <p:spPr>
          <a:xfrm>
            <a:off x="4343400" y="1783080"/>
            <a:ext cx="7178040" cy="548640"/>
          </a:xfrm>
          <a:prstGeom prst="roundRect">
            <a:avLst>
              <a:gd name="adj" fmla="val 13333"/>
            </a:avLst>
          </a:prstGeom>
          <a:solidFill>
            <a:srgbClr val="F0F3F5"/>
          </a:solidFill>
          <a:ln w="12700">
            <a:solidFill>
              <a:srgbClr val="F0F3F5"/>
            </a:solidFill>
            <a:prstDash val="solid"/>
          </a:ln>
        </p:spPr>
      </p:sp>
      <p:sp>
        <p:nvSpPr>
          <p:cNvPr id="9" name="Text 7"/>
          <p:cNvSpPr/>
          <p:nvPr/>
        </p:nvSpPr>
        <p:spPr>
          <a:xfrm>
            <a:off x="4572000" y="1783080"/>
            <a:ext cx="2743200" cy="548640"/>
          </a:xfrm>
          <a:prstGeom prst="rect">
            <a:avLst/>
          </a:prstGeom>
          <a:noFill/>
          <a:ln/>
        </p:spPr>
        <p:txBody>
          <a:bodyPr wrap="square" lIns="0" tIns="0" rIns="0" bIns="0" rtlCol="0" anchor="ctr"/>
          <a:lstStyle/>
          <a:p>
            <a:pPr indent="0" marL="0">
              <a:buNone/>
            </a:pPr>
            <a:r>
              <a:rPr lang="en-US" sz="1200" b="1" dirty="0">
                <a:solidFill>
                  <a:srgbClr val="16232E"/>
                </a:solidFill>
                <a:latin typeface="Calibri" pitchFamily="34" charset="0"/>
                <a:ea typeface="Calibri" pitchFamily="34" charset="-122"/>
                <a:cs typeface="Calibri" pitchFamily="34" charset="-120"/>
              </a:rPr>
              <a:t>Non-Gaussian and linear</a:t>
            </a:r>
            <a:endParaRPr lang="en-US" sz="1200" dirty="0"/>
          </a:p>
        </p:txBody>
      </p:sp>
      <p:sp>
        <p:nvSpPr>
          <p:cNvPr id="10" name="Text 8"/>
          <p:cNvSpPr/>
          <p:nvPr/>
        </p:nvSpPr>
        <p:spPr>
          <a:xfrm>
            <a:off x="7360920" y="1783080"/>
            <a:ext cx="2743200" cy="548640"/>
          </a:xfrm>
          <a:prstGeom prst="rect">
            <a:avLst/>
          </a:prstGeom>
          <a:noFill/>
          <a:ln/>
        </p:spPr>
        <p:txBody>
          <a:bodyPr wrap="square" lIns="0" tIns="0" rIns="0" bIns="0" rtlCol="0" anchor="ctr"/>
          <a:lstStyle/>
          <a:p>
            <a:pPr indent="0" marL="0">
              <a:buNone/>
            </a:pPr>
            <a:r>
              <a:rPr lang="en-US" sz="1200" dirty="0">
                <a:solidFill>
                  <a:srgbClr val="24363F"/>
                </a:solidFill>
                <a:latin typeface="Calibri" pitchFamily="34" charset="0"/>
                <a:ea typeface="Calibri" pitchFamily="34" charset="-122"/>
                <a:cs typeface="Calibri" pitchFamily="34" charset="-120"/>
              </a:rPr>
              <a:t>VAR-LiNGAM</a:t>
            </a:r>
            <a:endParaRPr lang="en-US" sz="1200" dirty="0"/>
          </a:p>
        </p:txBody>
      </p:sp>
      <p:sp>
        <p:nvSpPr>
          <p:cNvPr id="11" name="Text 9"/>
          <p:cNvSpPr/>
          <p:nvPr/>
        </p:nvSpPr>
        <p:spPr>
          <a:xfrm>
            <a:off x="10149840" y="1783080"/>
            <a:ext cx="1280160" cy="548640"/>
          </a:xfrm>
          <a:prstGeom prst="rect">
            <a:avLst/>
          </a:prstGeom>
          <a:noFill/>
          <a:ln/>
        </p:spPr>
        <p:txBody>
          <a:bodyPr wrap="square" lIns="0" tIns="0" rIns="0" bIns="0" rtlCol="0" anchor="ctr"/>
          <a:lstStyle/>
          <a:p>
            <a:pPr indent="0" marL="0">
              <a:buNone/>
            </a:pPr>
            <a:r>
              <a:rPr lang="en-US" sz="1200" b="1" dirty="0">
                <a:solidFill>
                  <a:srgbClr val="2E7D8A"/>
                </a:solidFill>
                <a:latin typeface="Calibri" pitchFamily="34" charset="0"/>
                <a:ea typeface="Calibri" pitchFamily="34" charset="-122"/>
                <a:cs typeface="Calibri" pitchFamily="34" charset="-120"/>
              </a:rPr>
              <a:t>lingam</a:t>
            </a:r>
            <a:endParaRPr lang="en-US" sz="1200" dirty="0"/>
          </a:p>
        </p:txBody>
      </p:sp>
      <p:sp>
        <p:nvSpPr>
          <p:cNvPr id="12" name="Shape 10"/>
          <p:cNvSpPr/>
          <p:nvPr/>
        </p:nvSpPr>
        <p:spPr>
          <a:xfrm>
            <a:off x="4343400" y="2441448"/>
            <a:ext cx="7178040" cy="548640"/>
          </a:xfrm>
          <a:prstGeom prst="roundRect">
            <a:avLst>
              <a:gd name="adj" fmla="val 13333"/>
            </a:avLst>
          </a:prstGeom>
          <a:solidFill>
            <a:srgbClr val="E6EDF0"/>
          </a:solidFill>
          <a:ln w="12700">
            <a:solidFill>
              <a:srgbClr val="E6EDF0"/>
            </a:solidFill>
            <a:prstDash val="solid"/>
          </a:ln>
        </p:spPr>
      </p:sp>
      <p:sp>
        <p:nvSpPr>
          <p:cNvPr id="13" name="Text 11"/>
          <p:cNvSpPr/>
          <p:nvPr/>
        </p:nvSpPr>
        <p:spPr>
          <a:xfrm>
            <a:off x="4572000" y="2441448"/>
            <a:ext cx="2743200" cy="548640"/>
          </a:xfrm>
          <a:prstGeom prst="rect">
            <a:avLst/>
          </a:prstGeom>
          <a:noFill/>
          <a:ln/>
        </p:spPr>
        <p:txBody>
          <a:bodyPr wrap="square" lIns="0" tIns="0" rIns="0" bIns="0" rtlCol="0" anchor="ctr"/>
          <a:lstStyle/>
          <a:p>
            <a:pPr indent="0" marL="0">
              <a:buNone/>
            </a:pPr>
            <a:r>
              <a:rPr lang="en-US" sz="1200" b="1" dirty="0">
                <a:solidFill>
                  <a:srgbClr val="16232E"/>
                </a:solidFill>
                <a:latin typeface="Calibri" pitchFamily="34" charset="0"/>
                <a:ea typeface="Calibri" pitchFamily="34" charset="-122"/>
                <a:cs typeface="Calibri" pitchFamily="34" charset="-120"/>
              </a:rPr>
              <a:t>Non-Gaussian and nonlinear</a:t>
            </a:r>
            <a:endParaRPr lang="en-US" sz="1200" dirty="0"/>
          </a:p>
        </p:txBody>
      </p:sp>
      <p:sp>
        <p:nvSpPr>
          <p:cNvPr id="14" name="Text 12"/>
          <p:cNvSpPr/>
          <p:nvPr/>
        </p:nvSpPr>
        <p:spPr>
          <a:xfrm>
            <a:off x="7360920" y="2441448"/>
            <a:ext cx="2743200" cy="548640"/>
          </a:xfrm>
          <a:prstGeom prst="rect">
            <a:avLst/>
          </a:prstGeom>
          <a:noFill/>
          <a:ln/>
        </p:spPr>
        <p:txBody>
          <a:bodyPr wrap="square" lIns="0" tIns="0" rIns="0" bIns="0" rtlCol="0" anchor="ctr"/>
          <a:lstStyle/>
          <a:p>
            <a:pPr indent="0" marL="0">
              <a:buNone/>
            </a:pPr>
            <a:r>
              <a:rPr lang="en-US" sz="1200" dirty="0">
                <a:solidFill>
                  <a:srgbClr val="24363F"/>
                </a:solidFill>
                <a:latin typeface="Calibri" pitchFamily="34" charset="0"/>
                <a:ea typeface="Calibri" pitchFamily="34" charset="-122"/>
                <a:cs typeface="Calibri" pitchFamily="34" charset="-120"/>
              </a:rPr>
              <a:t>PCMCI+ with CMIknn or GPDC</a:t>
            </a:r>
            <a:endParaRPr lang="en-US" sz="1200" dirty="0"/>
          </a:p>
        </p:txBody>
      </p:sp>
      <p:sp>
        <p:nvSpPr>
          <p:cNvPr id="15" name="Text 13"/>
          <p:cNvSpPr/>
          <p:nvPr/>
        </p:nvSpPr>
        <p:spPr>
          <a:xfrm>
            <a:off x="10149840" y="2441448"/>
            <a:ext cx="1280160" cy="548640"/>
          </a:xfrm>
          <a:prstGeom prst="rect">
            <a:avLst/>
          </a:prstGeom>
          <a:noFill/>
          <a:ln/>
        </p:spPr>
        <p:txBody>
          <a:bodyPr wrap="square" lIns="0" tIns="0" rIns="0" bIns="0" rtlCol="0" anchor="ctr"/>
          <a:lstStyle/>
          <a:p>
            <a:pPr indent="0" marL="0">
              <a:buNone/>
            </a:pPr>
            <a:r>
              <a:rPr lang="en-US" sz="1200" b="1" dirty="0">
                <a:solidFill>
                  <a:srgbClr val="2E7D8A"/>
                </a:solidFill>
                <a:latin typeface="Calibri" pitchFamily="34" charset="0"/>
                <a:ea typeface="Calibri" pitchFamily="34" charset="-122"/>
                <a:cs typeface="Calibri" pitchFamily="34" charset="-120"/>
              </a:rPr>
              <a:t>tigramite</a:t>
            </a:r>
            <a:endParaRPr lang="en-US" sz="1200" dirty="0"/>
          </a:p>
        </p:txBody>
      </p:sp>
      <p:sp>
        <p:nvSpPr>
          <p:cNvPr id="16" name="Shape 14"/>
          <p:cNvSpPr/>
          <p:nvPr/>
        </p:nvSpPr>
        <p:spPr>
          <a:xfrm>
            <a:off x="4343400" y="3099816"/>
            <a:ext cx="7178040" cy="548640"/>
          </a:xfrm>
          <a:prstGeom prst="roundRect">
            <a:avLst>
              <a:gd name="adj" fmla="val 13333"/>
            </a:avLst>
          </a:prstGeom>
          <a:solidFill>
            <a:srgbClr val="F0F3F5"/>
          </a:solidFill>
          <a:ln w="12700">
            <a:solidFill>
              <a:srgbClr val="F0F3F5"/>
            </a:solidFill>
            <a:prstDash val="solid"/>
          </a:ln>
        </p:spPr>
      </p:sp>
      <p:sp>
        <p:nvSpPr>
          <p:cNvPr id="17" name="Text 15"/>
          <p:cNvSpPr/>
          <p:nvPr/>
        </p:nvSpPr>
        <p:spPr>
          <a:xfrm>
            <a:off x="4572000" y="3099816"/>
            <a:ext cx="2743200" cy="548640"/>
          </a:xfrm>
          <a:prstGeom prst="rect">
            <a:avLst/>
          </a:prstGeom>
          <a:noFill/>
          <a:ln/>
        </p:spPr>
        <p:txBody>
          <a:bodyPr wrap="square" lIns="0" tIns="0" rIns="0" bIns="0" rtlCol="0" anchor="ctr"/>
          <a:lstStyle/>
          <a:p>
            <a:pPr indent="0" marL="0">
              <a:buNone/>
            </a:pPr>
            <a:r>
              <a:rPr lang="en-US" sz="1200" b="1" dirty="0">
                <a:solidFill>
                  <a:srgbClr val="16232E"/>
                </a:solidFill>
                <a:latin typeface="Calibri" pitchFamily="34" charset="0"/>
                <a:ea typeface="Calibri" pitchFamily="34" charset="-122"/>
                <a:cs typeface="Calibri" pitchFamily="34" charset="-120"/>
              </a:rPr>
              <a:t>Gaussian and linear</a:t>
            </a:r>
            <a:endParaRPr lang="en-US" sz="1200" dirty="0"/>
          </a:p>
        </p:txBody>
      </p:sp>
      <p:sp>
        <p:nvSpPr>
          <p:cNvPr id="18" name="Text 16"/>
          <p:cNvSpPr/>
          <p:nvPr/>
        </p:nvSpPr>
        <p:spPr>
          <a:xfrm>
            <a:off x="7360920" y="3099816"/>
            <a:ext cx="2743200" cy="548640"/>
          </a:xfrm>
          <a:prstGeom prst="rect">
            <a:avLst/>
          </a:prstGeom>
          <a:noFill/>
          <a:ln/>
        </p:spPr>
        <p:txBody>
          <a:bodyPr wrap="square" lIns="0" tIns="0" rIns="0" bIns="0" rtlCol="0" anchor="ctr"/>
          <a:lstStyle/>
          <a:p>
            <a:pPr indent="0" marL="0">
              <a:buNone/>
            </a:pPr>
            <a:r>
              <a:rPr lang="en-US" sz="1200" dirty="0">
                <a:solidFill>
                  <a:srgbClr val="24363F"/>
                </a:solidFill>
                <a:latin typeface="Calibri" pitchFamily="34" charset="0"/>
                <a:ea typeface="Calibri" pitchFamily="34" charset="-122"/>
                <a:cs typeface="Calibri" pitchFamily="34" charset="-120"/>
              </a:rPr>
              <a:t>PCMCI+ with ParCorr</a:t>
            </a:r>
            <a:endParaRPr lang="en-US" sz="1200" dirty="0"/>
          </a:p>
        </p:txBody>
      </p:sp>
      <p:sp>
        <p:nvSpPr>
          <p:cNvPr id="19" name="Text 17"/>
          <p:cNvSpPr/>
          <p:nvPr/>
        </p:nvSpPr>
        <p:spPr>
          <a:xfrm>
            <a:off x="10149840" y="3099816"/>
            <a:ext cx="1280160" cy="548640"/>
          </a:xfrm>
          <a:prstGeom prst="rect">
            <a:avLst/>
          </a:prstGeom>
          <a:noFill/>
          <a:ln/>
        </p:spPr>
        <p:txBody>
          <a:bodyPr wrap="square" lIns="0" tIns="0" rIns="0" bIns="0" rtlCol="0" anchor="ctr"/>
          <a:lstStyle/>
          <a:p>
            <a:pPr indent="0" marL="0">
              <a:buNone/>
            </a:pPr>
            <a:r>
              <a:rPr lang="en-US" sz="1200" b="1" dirty="0">
                <a:solidFill>
                  <a:srgbClr val="2E7D8A"/>
                </a:solidFill>
                <a:latin typeface="Calibri" pitchFamily="34" charset="0"/>
                <a:ea typeface="Calibri" pitchFamily="34" charset="-122"/>
                <a:cs typeface="Calibri" pitchFamily="34" charset="-120"/>
              </a:rPr>
              <a:t>tigramite</a:t>
            </a:r>
            <a:endParaRPr lang="en-US" sz="1200" dirty="0"/>
          </a:p>
        </p:txBody>
      </p:sp>
      <p:sp>
        <p:nvSpPr>
          <p:cNvPr id="20" name="Shape 18"/>
          <p:cNvSpPr/>
          <p:nvPr/>
        </p:nvSpPr>
        <p:spPr>
          <a:xfrm>
            <a:off x="4343400" y="3758184"/>
            <a:ext cx="7178040" cy="548640"/>
          </a:xfrm>
          <a:prstGeom prst="roundRect">
            <a:avLst>
              <a:gd name="adj" fmla="val 13333"/>
            </a:avLst>
          </a:prstGeom>
          <a:solidFill>
            <a:srgbClr val="E6EDF0"/>
          </a:solidFill>
          <a:ln w="12700">
            <a:solidFill>
              <a:srgbClr val="E6EDF0"/>
            </a:solidFill>
            <a:prstDash val="solid"/>
          </a:ln>
        </p:spPr>
      </p:sp>
      <p:sp>
        <p:nvSpPr>
          <p:cNvPr id="21" name="Text 19"/>
          <p:cNvSpPr/>
          <p:nvPr/>
        </p:nvSpPr>
        <p:spPr>
          <a:xfrm>
            <a:off x="4572000" y="3758184"/>
            <a:ext cx="2743200" cy="548640"/>
          </a:xfrm>
          <a:prstGeom prst="rect">
            <a:avLst/>
          </a:prstGeom>
          <a:noFill/>
          <a:ln/>
        </p:spPr>
        <p:txBody>
          <a:bodyPr wrap="square" lIns="0" tIns="0" rIns="0" bIns="0" rtlCol="0" anchor="ctr"/>
          <a:lstStyle/>
          <a:p>
            <a:pPr indent="0" marL="0">
              <a:buNone/>
            </a:pPr>
            <a:r>
              <a:rPr lang="en-US" sz="1200" b="1" dirty="0">
                <a:solidFill>
                  <a:srgbClr val="16232E"/>
                </a:solidFill>
                <a:latin typeface="Calibri" pitchFamily="34" charset="0"/>
                <a:ea typeface="Calibri" pitchFamily="34" charset="-122"/>
                <a:cs typeface="Calibri" pitchFamily="34" charset="-120"/>
              </a:rPr>
              <a:t>Latent confounders suspected</a:t>
            </a:r>
            <a:endParaRPr lang="en-US" sz="1200" dirty="0"/>
          </a:p>
        </p:txBody>
      </p:sp>
      <p:sp>
        <p:nvSpPr>
          <p:cNvPr id="22" name="Text 20"/>
          <p:cNvSpPr/>
          <p:nvPr/>
        </p:nvSpPr>
        <p:spPr>
          <a:xfrm>
            <a:off x="7360920" y="3758184"/>
            <a:ext cx="2743200" cy="548640"/>
          </a:xfrm>
          <a:prstGeom prst="rect">
            <a:avLst/>
          </a:prstGeom>
          <a:noFill/>
          <a:ln/>
        </p:spPr>
        <p:txBody>
          <a:bodyPr wrap="square" lIns="0" tIns="0" rIns="0" bIns="0" rtlCol="0" anchor="ctr"/>
          <a:lstStyle/>
          <a:p>
            <a:pPr indent="0" marL="0">
              <a:buNone/>
            </a:pPr>
            <a:r>
              <a:rPr lang="en-US" sz="1200" dirty="0">
                <a:solidFill>
                  <a:srgbClr val="24363F"/>
                </a:solidFill>
                <a:latin typeface="Calibri" pitchFamily="34" charset="0"/>
                <a:ea typeface="Calibri" pitchFamily="34" charset="-122"/>
                <a:cs typeface="Calibri" pitchFamily="34" charset="-120"/>
              </a:rPr>
              <a:t>LPCMCI</a:t>
            </a:r>
            <a:endParaRPr lang="en-US" sz="1200" dirty="0"/>
          </a:p>
        </p:txBody>
      </p:sp>
      <p:sp>
        <p:nvSpPr>
          <p:cNvPr id="23" name="Text 21"/>
          <p:cNvSpPr/>
          <p:nvPr/>
        </p:nvSpPr>
        <p:spPr>
          <a:xfrm>
            <a:off x="10149840" y="3758184"/>
            <a:ext cx="1280160" cy="548640"/>
          </a:xfrm>
          <a:prstGeom prst="rect">
            <a:avLst/>
          </a:prstGeom>
          <a:noFill/>
          <a:ln/>
        </p:spPr>
        <p:txBody>
          <a:bodyPr wrap="square" lIns="0" tIns="0" rIns="0" bIns="0" rtlCol="0" anchor="ctr"/>
          <a:lstStyle/>
          <a:p>
            <a:pPr indent="0" marL="0">
              <a:buNone/>
            </a:pPr>
            <a:r>
              <a:rPr lang="en-US" sz="1200" b="1" dirty="0">
                <a:solidFill>
                  <a:srgbClr val="2E7D8A"/>
                </a:solidFill>
                <a:latin typeface="Calibri" pitchFamily="34" charset="0"/>
                <a:ea typeface="Calibri" pitchFamily="34" charset="-122"/>
                <a:cs typeface="Calibri" pitchFamily="34" charset="-120"/>
              </a:rPr>
              <a:t>tigramite</a:t>
            </a:r>
            <a:endParaRPr lang="en-US" sz="1200" dirty="0"/>
          </a:p>
        </p:txBody>
      </p:sp>
      <p:sp>
        <p:nvSpPr>
          <p:cNvPr id="24" name="Text 22"/>
          <p:cNvSpPr/>
          <p:nvPr/>
        </p:nvSpPr>
        <p:spPr>
          <a:xfrm>
            <a:off x="4572000" y="4370832"/>
            <a:ext cx="2377440" cy="274320"/>
          </a:xfrm>
          <a:prstGeom prst="rect">
            <a:avLst/>
          </a:prstGeom>
          <a:noFill/>
          <a:ln/>
        </p:spPr>
        <p:txBody>
          <a:bodyPr wrap="square" lIns="0" tIns="0" rIns="0" bIns="0" rtlCol="0" anchor="ctr"/>
          <a:lstStyle/>
          <a:p>
            <a:pPr indent="0" marL="0">
              <a:buNone/>
            </a:pPr>
            <a:r>
              <a:rPr lang="en-US" sz="950" b="1" spc="150" kern="0" dirty="0">
                <a:solidFill>
                  <a:srgbClr val="6B7A85"/>
                </a:solidFill>
                <a:latin typeface="Calibri" pitchFamily="34" charset="0"/>
                <a:ea typeface="Calibri" pitchFamily="34" charset="-122"/>
                <a:cs typeface="Calibri" pitchFamily="34" charset="-120"/>
              </a:rPr>
              <a:t>DATA</a:t>
            </a:r>
            <a:endParaRPr lang="en-US" sz="950" dirty="0"/>
          </a:p>
        </p:txBody>
      </p:sp>
      <p:sp>
        <p:nvSpPr>
          <p:cNvPr id="25" name="Text 23"/>
          <p:cNvSpPr/>
          <p:nvPr/>
        </p:nvSpPr>
        <p:spPr>
          <a:xfrm>
            <a:off x="7360920" y="4370832"/>
            <a:ext cx="2377440" cy="274320"/>
          </a:xfrm>
          <a:prstGeom prst="rect">
            <a:avLst/>
          </a:prstGeom>
          <a:noFill/>
          <a:ln/>
        </p:spPr>
        <p:txBody>
          <a:bodyPr wrap="square" lIns="0" tIns="0" rIns="0" bIns="0" rtlCol="0" anchor="ctr"/>
          <a:lstStyle/>
          <a:p>
            <a:pPr indent="0" marL="0">
              <a:buNone/>
            </a:pPr>
            <a:r>
              <a:rPr lang="en-US" sz="950" b="1" spc="150" kern="0" dirty="0">
                <a:solidFill>
                  <a:srgbClr val="6B7A85"/>
                </a:solidFill>
                <a:latin typeface="Calibri" pitchFamily="34" charset="0"/>
                <a:ea typeface="Calibri" pitchFamily="34" charset="-122"/>
                <a:cs typeface="Calibri" pitchFamily="34" charset="-120"/>
              </a:rPr>
              <a:t>METHOD</a:t>
            </a:r>
            <a:endParaRPr lang="en-US" sz="950" dirty="0"/>
          </a:p>
        </p:txBody>
      </p:sp>
      <p:sp>
        <p:nvSpPr>
          <p:cNvPr id="26" name="Text 24"/>
          <p:cNvSpPr/>
          <p:nvPr/>
        </p:nvSpPr>
        <p:spPr>
          <a:xfrm>
            <a:off x="10149840" y="4370832"/>
            <a:ext cx="2377440" cy="274320"/>
          </a:xfrm>
          <a:prstGeom prst="rect">
            <a:avLst/>
          </a:prstGeom>
          <a:noFill/>
          <a:ln/>
        </p:spPr>
        <p:txBody>
          <a:bodyPr wrap="square" lIns="0" tIns="0" rIns="0" bIns="0" rtlCol="0" anchor="ctr"/>
          <a:lstStyle/>
          <a:p>
            <a:pPr indent="0" marL="0">
              <a:buNone/>
            </a:pPr>
            <a:r>
              <a:rPr lang="en-US" sz="950" b="1" spc="150" kern="0" dirty="0">
                <a:solidFill>
                  <a:srgbClr val="6B7A85"/>
                </a:solidFill>
                <a:latin typeface="Calibri" pitchFamily="34" charset="0"/>
                <a:ea typeface="Calibri" pitchFamily="34" charset="-122"/>
                <a:cs typeface="Calibri" pitchFamily="34" charset="-120"/>
              </a:rPr>
              <a:t>LIBRARY</a:t>
            </a:r>
            <a:endParaRPr lang="en-US" sz="950" dirty="0"/>
          </a:p>
        </p:txBody>
      </p:sp>
      <p:sp>
        <p:nvSpPr>
          <p:cNvPr id="27" name="Shape 25"/>
          <p:cNvSpPr/>
          <p:nvPr/>
        </p:nvSpPr>
        <p:spPr>
          <a:xfrm>
            <a:off x="640080" y="4800600"/>
            <a:ext cx="5349240" cy="1188720"/>
          </a:xfrm>
          <a:prstGeom prst="roundRect">
            <a:avLst>
              <a:gd name="adj" fmla="val 6154"/>
            </a:avLst>
          </a:prstGeom>
          <a:solidFill>
            <a:srgbClr val="E6EDF0"/>
          </a:solidFill>
          <a:ln w="12700">
            <a:solidFill>
              <a:srgbClr val="E6EDF0"/>
            </a:solidFill>
            <a:prstDash val="solid"/>
          </a:ln>
        </p:spPr>
      </p:sp>
      <p:sp>
        <p:nvSpPr>
          <p:cNvPr id="28" name="Text 26"/>
          <p:cNvSpPr/>
          <p:nvPr/>
        </p:nvSpPr>
        <p:spPr>
          <a:xfrm>
            <a:off x="914400" y="4919472"/>
            <a:ext cx="4754880" cy="274320"/>
          </a:xfrm>
          <a:prstGeom prst="rect">
            <a:avLst/>
          </a:prstGeom>
          <a:noFill/>
          <a:ln/>
        </p:spPr>
        <p:txBody>
          <a:bodyPr wrap="square" lIns="0" tIns="0" rIns="0" bIns="0" rtlCol="0" anchor="ctr"/>
          <a:lstStyle/>
          <a:p>
            <a:pPr indent="0" marL="0">
              <a:buNone/>
            </a:pPr>
            <a:r>
              <a:rPr lang="en-US" sz="1200" b="1" dirty="0">
                <a:solidFill>
                  <a:srgbClr val="2E7D8A"/>
                </a:solidFill>
                <a:latin typeface="Calibri" pitchFamily="34" charset="0"/>
                <a:ea typeface="Calibri" pitchFamily="34" charset="-122"/>
                <a:cs typeface="Calibri" pitchFamily="34" charset="-120"/>
              </a:rPr>
              <a:t>Start values for process data</a:t>
            </a:r>
            <a:endParaRPr lang="en-US" sz="1200" dirty="0"/>
          </a:p>
        </p:txBody>
      </p:sp>
      <p:sp>
        <p:nvSpPr>
          <p:cNvPr id="29" name="Text 27"/>
          <p:cNvSpPr/>
          <p:nvPr/>
        </p:nvSpPr>
        <p:spPr>
          <a:xfrm>
            <a:off x="914400" y="5212080"/>
            <a:ext cx="4846320" cy="685800"/>
          </a:xfrm>
          <a:prstGeom prst="rect">
            <a:avLst/>
          </a:prstGeom>
          <a:noFill/>
          <a:ln/>
        </p:spPr>
        <p:txBody>
          <a:bodyPr wrap="square" lIns="0" tIns="0" rIns="0" bIns="0" rtlCol="0" anchor="t"/>
          <a:lstStyle/>
          <a:p>
            <a:pPr indent="0" marL="0">
              <a:lnSpc>
                <a:spcPts val="1500"/>
              </a:lnSpc>
              <a:buNone/>
            </a:pPr>
            <a:r>
              <a:rPr lang="en-US" sz="1150" dirty="0">
                <a:solidFill>
                  <a:srgbClr val="24363F"/>
                </a:solidFill>
                <a:latin typeface="Calibri" pitchFamily="34" charset="0"/>
                <a:ea typeface="Calibri" pitchFamily="34" charset="-122"/>
                <a:cs typeface="Calibri" pitchFamily="34" charset="-120"/>
              </a:rPr>
              <a:t>Set tau_max from the longest known transport delay, then confirm it with get_lagged_dependencies. Pass pc_alpha as a list and let tigramite select.</a:t>
            </a:r>
            <a:endParaRPr lang="en-US" sz="1150" dirty="0"/>
          </a:p>
        </p:txBody>
      </p:sp>
      <p:sp>
        <p:nvSpPr>
          <p:cNvPr id="30" name="Shape 28"/>
          <p:cNvSpPr/>
          <p:nvPr/>
        </p:nvSpPr>
        <p:spPr>
          <a:xfrm>
            <a:off x="6172200" y="4800600"/>
            <a:ext cx="5349240" cy="1188720"/>
          </a:xfrm>
          <a:prstGeom prst="roundRect">
            <a:avLst>
              <a:gd name="adj" fmla="val 6154"/>
            </a:avLst>
          </a:prstGeom>
          <a:solidFill>
            <a:srgbClr val="F7E6D6"/>
          </a:solidFill>
          <a:ln w="12700">
            <a:solidFill>
              <a:srgbClr val="F7E6D6"/>
            </a:solidFill>
            <a:prstDash val="solid"/>
          </a:ln>
        </p:spPr>
      </p:sp>
      <p:sp>
        <p:nvSpPr>
          <p:cNvPr id="31" name="Text 29"/>
          <p:cNvSpPr/>
          <p:nvPr/>
        </p:nvSpPr>
        <p:spPr>
          <a:xfrm>
            <a:off x="6446520" y="4919472"/>
            <a:ext cx="4754880" cy="274320"/>
          </a:xfrm>
          <a:prstGeom prst="rect">
            <a:avLst/>
          </a:prstGeom>
          <a:noFill/>
          <a:ln/>
        </p:spPr>
        <p:txBody>
          <a:bodyPr wrap="square" lIns="0" tIns="0" rIns="0" bIns="0" rtlCol="0" anchor="ctr"/>
          <a:lstStyle/>
          <a:p>
            <a:pPr indent="0" marL="0">
              <a:buNone/>
            </a:pPr>
            <a:r>
              <a:rPr lang="en-US" sz="1200" b="1" dirty="0">
                <a:solidFill>
                  <a:srgbClr val="8A4A16"/>
                </a:solidFill>
                <a:latin typeface="Calibri" pitchFamily="34" charset="0"/>
                <a:ea typeface="Calibri" pitchFamily="34" charset="-122"/>
                <a:cs typeface="Calibri" pitchFamily="34" charset="-120"/>
              </a:rPr>
              <a:t>Two traps we will hit</a:t>
            </a:r>
            <a:endParaRPr lang="en-US" sz="1200" dirty="0"/>
          </a:p>
        </p:txBody>
      </p:sp>
      <p:sp>
        <p:nvSpPr>
          <p:cNvPr id="32" name="Text 30"/>
          <p:cNvSpPr/>
          <p:nvPr/>
        </p:nvSpPr>
        <p:spPr>
          <a:xfrm>
            <a:off x="6446520" y="5212080"/>
            <a:ext cx="4846320" cy="685800"/>
          </a:xfrm>
          <a:prstGeom prst="rect">
            <a:avLst/>
          </a:prstGeom>
          <a:noFill/>
          <a:ln/>
        </p:spPr>
        <p:txBody>
          <a:bodyPr wrap="square" lIns="0" tIns="0" rIns="0" bIns="0" rtlCol="0" anchor="t"/>
          <a:lstStyle/>
          <a:p>
            <a:pPr indent="0" marL="0">
              <a:lnSpc>
                <a:spcPts val="1500"/>
              </a:lnSpc>
              <a:buNone/>
            </a:pPr>
            <a:r>
              <a:rPr lang="en-US" sz="1150" dirty="0">
                <a:solidFill>
                  <a:srgbClr val="6E3D14"/>
                </a:solidFill>
                <a:latin typeface="Calibri" pitchFamily="34" charset="0"/>
                <a:ea typeface="Calibri" pitchFamily="34" charset="-122"/>
                <a:cs typeface="Calibri" pitchFamily="34" charset="-120"/>
              </a:rPr>
              <a:t>The adjacency conventions are transposed between lingam and tigramite. The prune default differs between lingam and causal-learn.</a:t>
            </a:r>
            <a:endParaRPr lang="en-US" sz="1150" dirty="0"/>
          </a:p>
        </p:txBody>
      </p:sp>
      <p:sp>
        <p:nvSpPr>
          <p:cNvPr id="33" name="Text 31"/>
          <p:cNvSpPr/>
          <p:nvPr/>
        </p:nvSpPr>
        <p:spPr>
          <a:xfrm>
            <a:off x="640080" y="6327648"/>
            <a:ext cx="10881360" cy="274320"/>
          </a:xfrm>
          <a:prstGeom prst="rect">
            <a:avLst/>
          </a:prstGeom>
          <a:noFill/>
          <a:ln/>
        </p:spPr>
        <p:txBody>
          <a:bodyPr wrap="square" lIns="0" tIns="0" rIns="0" bIns="0" rtlCol="0" anchor="ctr"/>
          <a:lstStyle/>
          <a:p>
            <a:pPr indent="0" marL="0">
              <a:buNone/>
            </a:pPr>
            <a:r>
              <a:rPr lang="en-US" sz="900" dirty="0">
                <a:solidFill>
                  <a:srgbClr val="6B7A85"/>
                </a:solidFill>
                <a:latin typeface="Calibri" pitchFamily="34" charset="0"/>
                <a:ea typeface="Calibri" pitchFamily="34" charset="-122"/>
                <a:cs typeface="Calibri" pitchFamily="34" charset="-120"/>
              </a:rPr>
              <a:t>Guidance taken from the official documentation of each package, as recorded in our library review.</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6232E"/>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E07A28"/>
                </a:solidFill>
                <a:latin typeface="Calibri" pitchFamily="34" charset="0"/>
                <a:ea typeface="Calibri" pitchFamily="34" charset="-122"/>
                <a:cs typeface="Calibri" pitchFamily="34" charset="-120"/>
              </a:rPr>
              <a:t>WHERE WE STAND</a:t>
            </a:r>
            <a:endParaRPr lang="en-US" sz="1100" dirty="0"/>
          </a:p>
        </p:txBody>
      </p:sp>
      <p:sp>
        <p:nvSpPr>
          <p:cNvPr id="3" name="Text 1"/>
          <p:cNvSpPr/>
          <p:nvPr/>
        </p:nvSpPr>
        <p:spPr>
          <a:xfrm>
            <a:off x="640080" y="658368"/>
            <a:ext cx="10881360" cy="86868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The library choice stays open. Here is what has to happen first.</a:t>
            </a:r>
            <a:endParaRPr lang="en-US" sz="3000" dirty="0"/>
          </a:p>
        </p:txBody>
      </p:sp>
      <p:sp>
        <p:nvSpPr>
          <p:cNvPr id="4" name="Shape 2"/>
          <p:cNvSpPr/>
          <p:nvPr/>
        </p:nvSpPr>
        <p:spPr>
          <a:xfrm>
            <a:off x="640080" y="1965960"/>
            <a:ext cx="3429000" cy="2377440"/>
          </a:xfrm>
          <a:prstGeom prst="roundRect">
            <a:avLst>
              <a:gd name="adj" fmla="val 3077"/>
            </a:avLst>
          </a:prstGeom>
          <a:solidFill>
            <a:srgbClr val="2C3E48"/>
          </a:solidFill>
          <a:ln w="12700">
            <a:solidFill>
              <a:srgbClr val="2C3E48"/>
            </a:solidFill>
            <a:prstDash val="solid"/>
          </a:ln>
        </p:spPr>
      </p:sp>
      <p:sp>
        <p:nvSpPr>
          <p:cNvPr id="5" name="Shape 3"/>
          <p:cNvSpPr/>
          <p:nvPr/>
        </p:nvSpPr>
        <p:spPr>
          <a:xfrm>
            <a:off x="914400" y="2258568"/>
            <a:ext cx="237744" cy="237744"/>
          </a:xfrm>
          <a:prstGeom prst="ellipse">
            <a:avLst/>
          </a:prstGeom>
          <a:solidFill>
            <a:srgbClr val="E07A28"/>
          </a:solidFill>
          <a:ln/>
        </p:spPr>
      </p:sp>
      <p:sp>
        <p:nvSpPr>
          <p:cNvPr id="6" name="Text 4"/>
          <p:cNvSpPr/>
          <p:nvPr/>
        </p:nvSpPr>
        <p:spPr>
          <a:xfrm>
            <a:off x="914400" y="2651760"/>
            <a:ext cx="2880360" cy="685800"/>
          </a:xfrm>
          <a:prstGeom prst="rect">
            <a:avLst/>
          </a:prstGeom>
          <a:noFill/>
          <a:ln/>
        </p:spPr>
        <p:txBody>
          <a:bodyPr wrap="square" lIns="0" tIns="0" rIns="0" bIns="0" rtlCol="0" anchor="t"/>
          <a:lstStyle/>
          <a:p>
            <a:pPr indent="0" marL="0">
              <a:lnSpc>
                <a:spcPts val="2200"/>
              </a:lnSpc>
              <a:buNone/>
            </a:pPr>
            <a:r>
              <a:rPr lang="en-US" sz="1700" b="1" dirty="0">
                <a:solidFill>
                  <a:srgbClr val="FFFFFF"/>
                </a:solidFill>
                <a:latin typeface="Cambria" pitchFamily="34" charset="0"/>
                <a:ea typeface="Cambria" pitchFamily="34" charset="-122"/>
                <a:cs typeface="Cambria" pitchFamily="34" charset="-120"/>
              </a:rPr>
              <a:t>Decide the algorithm set</a:t>
            </a:r>
            <a:endParaRPr lang="en-US" sz="1700" dirty="0"/>
          </a:p>
        </p:txBody>
      </p:sp>
      <p:sp>
        <p:nvSpPr>
          <p:cNvPr id="7" name="Text 5"/>
          <p:cNvSpPr/>
          <p:nvPr/>
        </p:nvSpPr>
        <p:spPr>
          <a:xfrm>
            <a:off x="914400" y="3383280"/>
            <a:ext cx="2880360" cy="822960"/>
          </a:xfrm>
          <a:prstGeom prst="rect">
            <a:avLst/>
          </a:prstGeom>
          <a:noFill/>
          <a:ln/>
        </p:spPr>
        <p:txBody>
          <a:bodyPr wrap="square" lIns="0" tIns="0" rIns="0" bIns="0" rtlCol="0" anchor="t"/>
          <a:lstStyle/>
          <a:p>
            <a:pPr indent="0" marL="0">
              <a:lnSpc>
                <a:spcPts val="1700"/>
              </a:lnSpc>
              <a:buNone/>
            </a:pPr>
            <a:r>
              <a:rPr lang="en-US" sz="1200" dirty="0">
                <a:solidFill>
                  <a:srgbClr val="9FB2BC"/>
                </a:solidFill>
                <a:latin typeface="Calibri" pitchFamily="34" charset="0"/>
                <a:ea typeface="Calibri" pitchFamily="34" charset="-122"/>
                <a:cs typeface="Calibri" pitchFamily="34" charset="-120"/>
              </a:rPr>
              <a:t>The library follows the method. PCMCI+ alone means tigramite alone.</a:t>
            </a:r>
            <a:endParaRPr lang="en-US" sz="1200" dirty="0"/>
          </a:p>
        </p:txBody>
      </p:sp>
      <p:sp>
        <p:nvSpPr>
          <p:cNvPr id="8" name="Shape 6"/>
          <p:cNvSpPr/>
          <p:nvPr/>
        </p:nvSpPr>
        <p:spPr>
          <a:xfrm>
            <a:off x="4361688" y="1965960"/>
            <a:ext cx="3429000" cy="2377440"/>
          </a:xfrm>
          <a:prstGeom prst="roundRect">
            <a:avLst>
              <a:gd name="adj" fmla="val 3077"/>
            </a:avLst>
          </a:prstGeom>
          <a:solidFill>
            <a:srgbClr val="2C3E48"/>
          </a:solidFill>
          <a:ln w="12700">
            <a:solidFill>
              <a:srgbClr val="2C3E48"/>
            </a:solidFill>
            <a:prstDash val="solid"/>
          </a:ln>
        </p:spPr>
      </p:sp>
      <p:sp>
        <p:nvSpPr>
          <p:cNvPr id="9" name="Shape 7"/>
          <p:cNvSpPr/>
          <p:nvPr/>
        </p:nvSpPr>
        <p:spPr>
          <a:xfrm>
            <a:off x="4636008" y="2258568"/>
            <a:ext cx="237744" cy="237744"/>
          </a:xfrm>
          <a:prstGeom prst="ellipse">
            <a:avLst/>
          </a:prstGeom>
          <a:solidFill>
            <a:srgbClr val="5FD0A8"/>
          </a:solidFill>
          <a:ln/>
        </p:spPr>
      </p:sp>
      <p:sp>
        <p:nvSpPr>
          <p:cNvPr id="10" name="Text 8"/>
          <p:cNvSpPr/>
          <p:nvPr/>
        </p:nvSpPr>
        <p:spPr>
          <a:xfrm>
            <a:off x="4636008" y="2651760"/>
            <a:ext cx="2880360" cy="685800"/>
          </a:xfrm>
          <a:prstGeom prst="rect">
            <a:avLst/>
          </a:prstGeom>
          <a:noFill/>
          <a:ln/>
        </p:spPr>
        <p:txBody>
          <a:bodyPr wrap="square" lIns="0" tIns="0" rIns="0" bIns="0" rtlCol="0" anchor="t"/>
          <a:lstStyle/>
          <a:p>
            <a:pPr indent="0" marL="0">
              <a:lnSpc>
                <a:spcPts val="2200"/>
              </a:lnSpc>
              <a:buNone/>
            </a:pPr>
            <a:r>
              <a:rPr lang="en-US" sz="1700" b="1" dirty="0">
                <a:solidFill>
                  <a:srgbClr val="FFFFFF"/>
                </a:solidFill>
                <a:latin typeface="Cambria" pitchFamily="34" charset="0"/>
                <a:ea typeface="Cambria" pitchFamily="34" charset="-122"/>
                <a:cs typeface="Cambria" pitchFamily="34" charset="-120"/>
              </a:rPr>
              <a:t>Test the data</a:t>
            </a:r>
            <a:endParaRPr lang="en-US" sz="1700" dirty="0"/>
          </a:p>
        </p:txBody>
      </p:sp>
      <p:sp>
        <p:nvSpPr>
          <p:cNvPr id="11" name="Text 9"/>
          <p:cNvSpPr/>
          <p:nvPr/>
        </p:nvSpPr>
        <p:spPr>
          <a:xfrm>
            <a:off x="4636008" y="3383280"/>
            <a:ext cx="2880360" cy="822960"/>
          </a:xfrm>
          <a:prstGeom prst="rect">
            <a:avLst/>
          </a:prstGeom>
          <a:noFill/>
          <a:ln/>
        </p:spPr>
        <p:txBody>
          <a:bodyPr wrap="square" lIns="0" tIns="0" rIns="0" bIns="0" rtlCol="0" anchor="t"/>
          <a:lstStyle/>
          <a:p>
            <a:pPr indent="0" marL="0">
              <a:lnSpc>
                <a:spcPts val="1700"/>
              </a:lnSpc>
              <a:buNone/>
            </a:pPr>
            <a:r>
              <a:rPr lang="en-US" sz="1200" dirty="0">
                <a:solidFill>
                  <a:srgbClr val="9FB2BC"/>
                </a:solidFill>
                <a:latin typeface="Calibri" pitchFamily="34" charset="0"/>
                <a:ea typeface="Calibri" pitchFamily="34" charset="-122"/>
                <a:cs typeface="Calibri" pitchFamily="34" charset="-120"/>
              </a:rPr>
              <a:t>Check Gaussianity, linearity and stationarity before we commit to a method.</a:t>
            </a:r>
            <a:endParaRPr lang="en-US" sz="1200" dirty="0"/>
          </a:p>
        </p:txBody>
      </p:sp>
      <p:sp>
        <p:nvSpPr>
          <p:cNvPr id="12" name="Shape 10"/>
          <p:cNvSpPr/>
          <p:nvPr/>
        </p:nvSpPr>
        <p:spPr>
          <a:xfrm>
            <a:off x="8083296" y="1965960"/>
            <a:ext cx="3429000" cy="2377440"/>
          </a:xfrm>
          <a:prstGeom prst="roundRect">
            <a:avLst>
              <a:gd name="adj" fmla="val 3077"/>
            </a:avLst>
          </a:prstGeom>
          <a:solidFill>
            <a:srgbClr val="2C3E48"/>
          </a:solidFill>
          <a:ln w="12700">
            <a:solidFill>
              <a:srgbClr val="2C3E48"/>
            </a:solidFill>
            <a:prstDash val="solid"/>
          </a:ln>
        </p:spPr>
      </p:sp>
      <p:sp>
        <p:nvSpPr>
          <p:cNvPr id="13" name="Shape 11"/>
          <p:cNvSpPr/>
          <p:nvPr/>
        </p:nvSpPr>
        <p:spPr>
          <a:xfrm>
            <a:off x="8357616" y="2258568"/>
            <a:ext cx="237744" cy="237744"/>
          </a:xfrm>
          <a:prstGeom prst="ellipse">
            <a:avLst/>
          </a:prstGeom>
          <a:solidFill>
            <a:srgbClr val="5FD0A8"/>
          </a:solidFill>
          <a:ln/>
        </p:spPr>
      </p:sp>
      <p:sp>
        <p:nvSpPr>
          <p:cNvPr id="14" name="Text 12"/>
          <p:cNvSpPr/>
          <p:nvPr/>
        </p:nvSpPr>
        <p:spPr>
          <a:xfrm>
            <a:off x="8357616" y="2651760"/>
            <a:ext cx="2880360" cy="685800"/>
          </a:xfrm>
          <a:prstGeom prst="rect">
            <a:avLst/>
          </a:prstGeom>
          <a:noFill/>
          <a:ln/>
        </p:spPr>
        <p:txBody>
          <a:bodyPr wrap="square" lIns="0" tIns="0" rIns="0" bIns="0" rtlCol="0" anchor="t"/>
          <a:lstStyle/>
          <a:p>
            <a:pPr indent="0" marL="0">
              <a:lnSpc>
                <a:spcPts val="2200"/>
              </a:lnSpc>
              <a:buNone/>
            </a:pPr>
            <a:r>
              <a:rPr lang="en-US" sz="1700" b="1" dirty="0">
                <a:solidFill>
                  <a:srgbClr val="FFFFFF"/>
                </a:solidFill>
                <a:latin typeface="Cambria" pitchFamily="34" charset="0"/>
                <a:ea typeface="Cambria" pitchFamily="34" charset="-122"/>
                <a:cs typeface="Cambria" pitchFamily="34" charset="-120"/>
              </a:rPr>
              <a:t>Fix the collider rule</a:t>
            </a:r>
            <a:endParaRPr lang="en-US" sz="1700" dirty="0"/>
          </a:p>
        </p:txBody>
      </p:sp>
      <p:sp>
        <p:nvSpPr>
          <p:cNvPr id="15" name="Text 13"/>
          <p:cNvSpPr/>
          <p:nvPr/>
        </p:nvSpPr>
        <p:spPr>
          <a:xfrm>
            <a:off x="8357616" y="3383280"/>
            <a:ext cx="2880360" cy="822960"/>
          </a:xfrm>
          <a:prstGeom prst="rect">
            <a:avLst/>
          </a:prstGeom>
          <a:noFill/>
          <a:ln/>
        </p:spPr>
        <p:txBody>
          <a:bodyPr wrap="square" lIns="0" tIns="0" rIns="0" bIns="0" rtlCol="0" anchor="t"/>
          <a:lstStyle/>
          <a:p>
            <a:pPr indent="0" marL="0">
              <a:lnSpc>
                <a:spcPts val="1700"/>
              </a:lnSpc>
              <a:buNone/>
            </a:pPr>
            <a:r>
              <a:rPr lang="en-US" sz="1200" dirty="0">
                <a:solidFill>
                  <a:srgbClr val="9FB2BC"/>
                </a:solidFill>
                <a:latin typeface="Calibri" pitchFamily="34" charset="0"/>
                <a:ea typeface="Calibri" pitchFamily="34" charset="-122"/>
                <a:cs typeface="Calibri" pitchFamily="34" charset="-120"/>
              </a:rPr>
              <a:t>Choose majority rule or MaxP, and record how many triples stay ambiguous.</a:t>
            </a:r>
            <a:endParaRPr lang="en-US" sz="1200" dirty="0"/>
          </a:p>
        </p:txBody>
      </p:sp>
      <p:sp>
        <p:nvSpPr>
          <p:cNvPr id="16" name="Text 14"/>
          <p:cNvSpPr/>
          <p:nvPr/>
        </p:nvSpPr>
        <p:spPr>
          <a:xfrm>
            <a:off x="640080" y="4526280"/>
            <a:ext cx="10881360" cy="320040"/>
          </a:xfrm>
          <a:prstGeom prst="rect">
            <a:avLst/>
          </a:prstGeom>
          <a:noFill/>
          <a:ln/>
        </p:spPr>
        <p:txBody>
          <a:bodyPr wrap="square" lIns="0" tIns="0" rIns="0" bIns="0" rtlCol="0" anchor="ctr"/>
          <a:lstStyle/>
          <a:p>
            <a:pPr indent="0" marL="0">
              <a:buNone/>
            </a:pPr>
            <a:r>
              <a:rPr lang="en-US" sz="1300" i="1" dirty="0">
                <a:solidFill>
                  <a:srgbClr val="9FB2BC"/>
                </a:solidFill>
                <a:latin typeface="Calibri" pitchFamily="34" charset="0"/>
                <a:ea typeface="Calibri" pitchFamily="34" charset="-122"/>
                <a:cs typeface="Calibri" pitchFamily="34" charset="-120"/>
              </a:rPr>
              <a:t>The Tennessee Eastman set is a test bench. We use it to learn the tools before we point them at our own data.</a:t>
            </a:r>
            <a:endParaRPr lang="en-US" sz="1300" dirty="0"/>
          </a:p>
        </p:txBody>
      </p:sp>
      <p:sp>
        <p:nvSpPr>
          <p:cNvPr id="17" name="Shape 15"/>
          <p:cNvSpPr/>
          <p:nvPr/>
        </p:nvSpPr>
        <p:spPr>
          <a:xfrm>
            <a:off x="640080" y="4937760"/>
            <a:ext cx="10881360" cy="1051560"/>
          </a:xfrm>
          <a:prstGeom prst="roundRect">
            <a:avLst>
              <a:gd name="adj" fmla="val 6957"/>
            </a:avLst>
          </a:prstGeom>
          <a:solidFill>
            <a:srgbClr val="3A2C1E"/>
          </a:solidFill>
          <a:ln w="12700">
            <a:solidFill>
              <a:srgbClr val="3A2C1E"/>
            </a:solidFill>
            <a:prstDash val="solid"/>
          </a:ln>
        </p:spPr>
      </p:sp>
      <p:sp>
        <p:nvSpPr>
          <p:cNvPr id="18" name="Text 16"/>
          <p:cNvSpPr/>
          <p:nvPr/>
        </p:nvSpPr>
        <p:spPr>
          <a:xfrm>
            <a:off x="914400" y="5056632"/>
            <a:ext cx="5486400" cy="274320"/>
          </a:xfrm>
          <a:prstGeom prst="rect">
            <a:avLst/>
          </a:prstGeom>
          <a:noFill/>
          <a:ln/>
        </p:spPr>
        <p:txBody>
          <a:bodyPr wrap="square" lIns="0" tIns="0" rIns="0" bIns="0" rtlCol="0" anchor="ctr"/>
          <a:lstStyle/>
          <a:p>
            <a:pPr indent="0" marL="0">
              <a:buNone/>
            </a:pPr>
            <a:r>
              <a:rPr lang="en-US" sz="1150" b="1" spc="100" kern="0" dirty="0">
                <a:solidFill>
                  <a:srgbClr val="E07A28"/>
                </a:solidFill>
                <a:latin typeface="Calibri" pitchFamily="34" charset="0"/>
                <a:ea typeface="Calibri" pitchFamily="34" charset="-122"/>
                <a:cs typeface="Calibri" pitchFamily="34" charset="-120"/>
              </a:rPr>
              <a:t>Gap in this week's material</a:t>
            </a:r>
            <a:endParaRPr lang="en-US" sz="1150" dirty="0"/>
          </a:p>
        </p:txBody>
      </p:sp>
      <p:sp>
        <p:nvSpPr>
          <p:cNvPr id="19" name="Text 17"/>
          <p:cNvSpPr/>
          <p:nvPr/>
        </p:nvSpPr>
        <p:spPr>
          <a:xfrm>
            <a:off x="914400" y="5349240"/>
            <a:ext cx="10332720" cy="548640"/>
          </a:xfrm>
          <a:prstGeom prst="rect">
            <a:avLst/>
          </a:prstGeom>
          <a:noFill/>
          <a:ln/>
        </p:spPr>
        <p:txBody>
          <a:bodyPr wrap="square" lIns="0" tIns="0" rIns="0" bIns="0" rtlCol="0" anchor="t"/>
          <a:lstStyle/>
          <a:p>
            <a:pPr indent="0" marL="0">
              <a:lnSpc>
                <a:spcPts val="1800"/>
              </a:lnSpc>
              <a:buNone/>
            </a:pPr>
            <a:r>
              <a:rPr lang="en-US" sz="1300" dirty="0">
                <a:solidFill>
                  <a:srgbClr val="FFFFFF"/>
                </a:solidFill>
                <a:latin typeface="Calibri" pitchFamily="34" charset="0"/>
                <a:ea typeface="Calibri" pitchFamily="34" charset="-122"/>
                <a:cs typeface="Calibri" pitchFamily="34" charset="-120"/>
              </a:rPr>
              <a:t>Our review carries no runtime or memory measurement for any package on 31 variables, and no benchmark of the three evaluation methods on our own data. Both need an experiment, not more reading.</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Causal AI - What We Did Over the Past Week</dc:title>
  <dc:subject>PptxGenJS Presentation</dc:subject>
  <dc:creator>Causal AI research</dc:creator>
  <cp:lastModifiedBy>Causal AI research</cp:lastModifiedBy>
  <cp:revision>1</cp:revision>
  <dcterms:created xsi:type="dcterms:W3CDTF">2026-08-25T04:42:50Z</dcterms:created>
  <dcterms:modified xsi:type="dcterms:W3CDTF">2026-08-25T04:42:50Z</dcterms:modified>
</cp:coreProperties>
</file>